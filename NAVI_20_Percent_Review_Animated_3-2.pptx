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B815AD8-FC1B-964E-BDD7-DCB95D7F4E09}">
          <p14:sldIdLst>
            <p14:sldId id="256"/>
          </p14:sldIdLst>
        </p14:section>
        <p14:section name="Problem &amp; objectives" id="{0A68D8FD-3F19-0F19-2EF8-7F995C414764}">
          <p14:sldIdLst>
            <p14:sldId id="257"/>
            <p14:sldId id="258"/>
            <p14:sldId id="259"/>
          </p14:sldIdLst>
        </p14:section>
        <p14:section name="Literature &amp; concept" id="{D263604D-751E-3049-2373-23BC365D80D4}">
          <p14:sldIdLst>
            <p14:sldId id="260"/>
            <p14:sldId id="261"/>
            <p14:sldId id="262"/>
            <p14:sldId id="263"/>
            <p14:sldId id="264"/>
          </p14:sldIdLst>
        </p14:section>
        <p14:section name="System design" id="{15933B83-358D-6801-29CD-B554CCDB1691}">
          <p14:sldIdLst>
            <p14:sldId id="265"/>
            <p14:sldId id="266"/>
            <p14:sldId id="267"/>
          </p14:sldIdLst>
        </p14:section>
        <p14:section name="Results &amp; analysis" id="{DDC2F6D0-BE83-BEE8-9FAD-2070370C6366}">
          <p14:sldIdLst>
            <p14:sldId id="268"/>
            <p14:sldId id="269"/>
            <p14:sldId id="270"/>
            <p14:sldId id="271"/>
          </p14:sldIdLst>
        </p14:section>
        <p14:section name="Plan &amp; conclusion" id="{EE16161E-57D6-0797-5292-267D00D918EB}">
          <p14:sldIdLst>
            <p14:sldId id="272"/>
            <p14:sldId id="273"/>
          </p14:sldIdLst>
        </p14:section>
        <p14:section name="Appendix" id="{0893B0A2-9954-2CBE-B3BB-15166801D19E}">
          <p14:sldIdLst>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
          <c:y val="0.12"/>
          <c:w val="0.88"/>
          <c:h val="0.62"/>
        </c:manualLayout>
      </c:layout>
      <c:barChart>
        <c:barDir val="col"/>
        <c:grouping val="clustered"/>
        <c:varyColors val="0"/>
        <c:ser>
          <c:idx val="0"/>
          <c:order val="0"/>
          <c:tx>
            <c:strRef>
              <c:f>Sheet1!$B$1</c:f>
              <c:strCache>
                <c:ptCount val="1"/>
                <c:pt idx="0">
                  <c:v>From main gate (m)</c:v>
                </c:pt>
              </c:strCache>
            </c:strRef>
          </c:tx>
          <c:spPr>
            <a:solidFill>
              <a:srgbClr val="3B82F6"/>
            </a:solidFill>
            <a:effectLst/>
          </c:spPr>
          <c:invertIfNegative val="0"/>
          <c:dLbls>
            <c:numFmt formatCode="#,##0" sourceLinked="0"/>
            <c:spPr>
              <a:noFill/>
              <a:ln>
                <a:noFill/>
              </a:ln>
              <a:effectLst/>
            </c:spPr>
            <c:txPr>
              <a:bodyPr/>
              <a:lstStyle/>
              <a:p>
                <a:pPr>
                  <a:defRPr sz="1100" b="0" i="0" u="none" strike="noStrike">
                    <a:solidFill>
                      <a:srgbClr val="F8FAF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Academic Block 2</c:v>
                </c:pt>
                <c:pt idx="1">
                  <c:v>Academic Block 4</c:v>
                </c:pt>
                <c:pt idx="2">
                  <c:v>C Block Hostel</c:v>
                </c:pt>
                <c:pt idx="3">
                  <c:v>E Block Hostel</c:v>
                </c:pt>
                <c:pt idx="4">
                  <c:v>Staff Parking 1</c:v>
                </c:pt>
                <c:pt idx="5">
                  <c:v>VIT-SEDAXIS</c:v>
                </c:pt>
              </c:strCache>
            </c:strRef>
          </c:cat>
          <c:val>
            <c:numRef>
              <c:f>Sheet1!$B$2:$B$7</c:f>
              <c:numCache>
                <c:formatCode>General</c:formatCode>
                <c:ptCount val="6"/>
                <c:pt idx="0">
                  <c:v>610</c:v>
                </c:pt>
                <c:pt idx="1">
                  <c:v>670</c:v>
                </c:pt>
                <c:pt idx="2">
                  <c:v>684</c:v>
                </c:pt>
                <c:pt idx="3">
                  <c:v>1264</c:v>
                </c:pt>
                <c:pt idx="4">
                  <c:v>667</c:v>
                </c:pt>
                <c:pt idx="5">
                  <c:v>742</c:v>
                </c:pt>
              </c:numCache>
            </c:numRef>
          </c:val>
          <c:extLst>
            <c:ext xmlns:c16="http://schemas.microsoft.com/office/drawing/2014/chart" uri="{C3380CC4-5D6E-409C-BE32-E72D297353CC}">
              <c16:uniqueId val="{00000000-2001-534A-BB96-7543586B565D}"/>
            </c:ext>
          </c:extLst>
        </c:ser>
        <c:ser>
          <c:idx val="1"/>
          <c:order val="1"/>
          <c:tx>
            <c:strRef>
              <c:f>Sheet1!$C$1</c:f>
              <c:strCache>
                <c:ptCount val="1"/>
                <c:pt idx="0">
                  <c:v>From nearest pad (m)</c:v>
                </c:pt>
              </c:strCache>
            </c:strRef>
          </c:tx>
          <c:spPr>
            <a:solidFill>
              <a:srgbClr val="00F0FF"/>
            </a:solidFill>
            <a:effectLst/>
          </c:spPr>
          <c:invertIfNegative val="0"/>
          <c:dLbls>
            <c:numFmt formatCode="#,##0" sourceLinked="0"/>
            <c:spPr>
              <a:noFill/>
              <a:ln>
                <a:noFill/>
              </a:ln>
              <a:effectLst/>
            </c:spPr>
            <c:txPr>
              <a:bodyPr/>
              <a:lstStyle/>
              <a:p>
                <a:pPr>
                  <a:defRPr sz="1100" b="0" i="0" u="none" strike="noStrike">
                    <a:solidFill>
                      <a:srgbClr val="F8FAF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Academic Block 2</c:v>
                </c:pt>
                <c:pt idx="1">
                  <c:v>Academic Block 4</c:v>
                </c:pt>
                <c:pt idx="2">
                  <c:v>C Block Hostel</c:v>
                </c:pt>
                <c:pt idx="3">
                  <c:v>E Block Hostel</c:v>
                </c:pt>
                <c:pt idx="4">
                  <c:v>Staff Parking 1</c:v>
                </c:pt>
                <c:pt idx="5">
                  <c:v>VIT-SEDAXIS</c:v>
                </c:pt>
              </c:strCache>
            </c:strRef>
          </c:cat>
          <c:val>
            <c:numRef>
              <c:f>Sheet1!$C$2:$C$7</c:f>
              <c:numCache>
                <c:formatCode>General</c:formatCode>
                <c:ptCount val="6"/>
                <c:pt idx="0">
                  <c:v>184</c:v>
                </c:pt>
                <c:pt idx="1">
                  <c:v>230</c:v>
                </c:pt>
                <c:pt idx="2">
                  <c:v>259</c:v>
                </c:pt>
                <c:pt idx="3">
                  <c:v>0</c:v>
                </c:pt>
                <c:pt idx="4">
                  <c:v>276</c:v>
                </c:pt>
                <c:pt idx="5">
                  <c:v>316</c:v>
                </c:pt>
              </c:numCache>
            </c:numRef>
          </c:val>
          <c:extLst>
            <c:ext xmlns:c16="http://schemas.microsoft.com/office/drawing/2014/chart" uri="{C3380CC4-5D6E-409C-BE32-E72D297353CC}">
              <c16:uniqueId val="{00000001-2001-534A-BB96-7543586B565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4A3B8"/>
                </a:solidFill>
                <a:latin typeface="+mn-lt"/>
              </a:defRPr>
            </a:pPr>
            <a:endParaRPr lang="en-US"/>
          </a:p>
        </c:txPr>
        <c:crossAx val="2094734552"/>
        <c:crosses val="autoZero"/>
        <c:auto val="1"/>
        <c:lblAlgn val="ctr"/>
        <c:lblOffset val="100"/>
        <c:noMultiLvlLbl val="1"/>
      </c:catAx>
      <c:valAx>
        <c:axId val="2094734552"/>
        <c:scaling>
          <c:orientation val="minMax"/>
          <c:max val="1400"/>
          <c:min val="0"/>
        </c:scaling>
        <c:delete val="0"/>
        <c:axPos val="l"/>
        <c:majorGridlines>
          <c:spPr>
            <a:ln w="6350" cap="flat">
              <a:solidFill>
                <a:srgbClr val="1E293B"/>
              </a:solidFill>
              <a:prstDash val="solid"/>
              <a:round/>
            </a:ln>
          </c:spPr>
        </c:majorGridlines>
        <c:title>
          <c:tx>
            <c:rich>
              <a:bodyPr/>
              <a:lstStyle/>
              <a:p>
                <a:pPr>
                  <a:defRPr sz="1100" b="0" i="0" u="none" strike="noStrike">
                    <a:solidFill>
                      <a:srgbClr val="94A3B8"/>
                    </a:solidFill>
                    <a:latin typeface="+mn-lt"/>
                  </a:defRPr>
                </a:pPr>
                <a:r>
                  <a:rPr lang="en-IN" sz="1100" b="0" i="0" u="none" strike="noStrike">
                    <a:solidFill>
                      <a:srgbClr val="94A3B8"/>
                    </a:solidFill>
                    <a:latin typeface="+mn-lt"/>
                  </a:rPr>
                  <a:t>metres (computed graph distance)</a:t>
                </a:r>
              </a:p>
            </c:rich>
          </c:tx>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majorUnit val="200"/>
      </c:valAx>
      <c:spPr>
        <a:noFill/>
        <a:ln>
          <a:noFill/>
        </a:ln>
        <a:effectLst/>
      </c:spPr>
    </c:plotArea>
    <c:legend>
      <c:legendPos val="t"/>
      <c:overlay val="0"/>
      <c:txPr>
        <a:bodyPr/>
        <a:lstStyle/>
        <a:p>
          <a:pPr>
            <a:defRPr sz="1200">
              <a:solidFill>
                <a:srgbClr val="F8FAF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0668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0:30 · SUGGESTED SPEAKER: Sayanjeet Das (suggestion, team to confirm)]
SAY: Good morning. We are presenting NAVI, the Navigation Assistant for Visitor Interaction: a proposed GPS quadcopter that leads a walking visitor along mapped, inspected outdoor campus routes. This is our 20% work-completion review: what is designed, computed and simulated so far, and what still needs physical validation.
INTRODUCE TEAM (names/registrations on slide). Proposed workstreams are in backup A09.
CLICKS: none. Title slide is static so the signing area always prints.
SIGNATURE: The box at bottom-right is deliberately blank for a real pen signature. No faculty signature has been supplied, so the signed-and-scanned Slide 1 remains pending. Do not trace or generate a signature. If a genuine signed scan is supplied, insert it as Slide 1 and keep this editable cover in backup.
PLACEHOLDERS: [COURSE CODE], [REVIEW DATE], [FACULTY NAME / PROJECT GUIDE] must be filled by the team.
SOURCES: Team names, registration numbers and schools are from NAVI_Project_Summary.pdf (status date 12 Oct 2026), p.1 and §2 (pp.3–4). The aircraft image is the supplied NAVI CAD design model (NAVI_CAD/models/navi_f450.glb, rendered for this deck). It is not a photograph of a built aircraft.
TERMINOLOGY: NAVI leads the visitor. Where older material says "follow-me", say "leads", because the aircraft flies ahead.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 SUGGESTED SPEAKER: Sayanjeet Das (suggestion)]
SAY: The users are first-time visitors, mostly visiting parents and guests. Every wayfinding aid we have today, from signs to phone maps, asks the visitor to do one step first: find themselves on the map, then turn that into a sequence of turns. That self-localisation step is the friction NAVI targets.
CLICK 1: journey nodes 01→05 rise in sequence; step 03 (self-localise) is amber because it is the friction point.
CLICK 2: the three context cards and campus image appear.
CAVEAT: The journey is a conceptual illustration, not observed visitor data. We have not measured how often visitors get lost. The summary describes the problem qualitatively. A visitor study is part of validation.
NUMBERS (COMPUTED / SOURCE-REPORTED, Summary §9 p8): campus 42.2 ha; median graph distance from main gate 453 m, max 1,264 m (E Block Hostel); 36 mapped destinations. These are computed graph distances, not walked measurements.
IMAGE: NAVI software live-map screenshot (webpage1.png) on Esri World Imagery; it shows simulation state ("NO FIX · SIMULATION").
LIKELY QUESTION: "Is getting lost really a problem?" → We have not measured it. We will report it as a hypothesis and include a short visitor survey or observation in trials.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 SUGGESTED SPEAKER: Sayanjeet Das (suggestion)]
SAY: Each existing approach works, but each leaves a step to the visitor. The official VIT Chennai wayfinder has excellent building data and 3D geometry. It is still a map, so the visitor must still self-localise. NAVI is complementary. Its route graph is built from the wayfinder's own path dataset.
CLICK 1: the four cards stagger in (0.08 s apart).
CLICK 2: the shared-data line traces from the wayfinder card into the NAVI card, then the NAVI card appears.
CAVEAT: We do not claim maps fail or that NAVI improves outcomes. Both are untested. The comparison is structural (what step each approach leaves to the visitor).
SOURCES: Summary §1 (p3) for the four approaches; §9 (p8) for path.json: 278 waypoints, connection lists, 36 building entrances, one-way constraints. Attribution: path graph and building entrances derived from the VIT Chennai Way Finder dataset (Summary App. B).
LIKELY QUESTION: "The campus already has a wayfinder." → Yes, and its data is our source. NAVI targets the self-localisation step that any map leaves.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 · SUGGESTED SPEAKER: Sayanjeet Das (suggestion)]
SAY (problem statement): Design and demonstrate an outdoor campus guidance system in which a GPS quadcopter leads a visitor along mapped, inspected routes, adapts to walking pace, and responds predictably to stale position, link loss and other faults under supervised operation.
CLICK 1: objectives O1–O3 appear. CLICK 2: O4–O5. CLICK 3: scope strip.
EXPLAIN each objective's VERIFY-BY line: these are proposed acceptance targets, not achieved specifications. O1 is partly met computationally (one connected graph, all 36 destinations reachable; Summary §9). Everything involving the aircraft is pending.
SCOPE (Summary §1 p3): in scope: outdoor flight over surveyed paths, pre-generated inspected routes to 36 destinations, one visitor or small group, daytime fair weather, supervised operation. Out of scope: indoor, night/bad weather, multiple simultaneous visitors, charging docks, payloads, and live obstacle detection or dynamic re-routing.
SOURCES: Summary §1 (p3) scope; §12 (p11) failsafe responses; §16 (p13) verification gates.
LIKELY QUESTION: "Why not live obstacle detection?" → Out of scope at this stage. Routes are pre-inspected, cruise altitude is surveyed per segment (pending), and a safety operator holds an independent RC link. See A15.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 SUGGESTED SPEAKER: Sayanjeet Das (suggestion)]
RECENT-LITERATURE WINDOW: 2021–2026 (declared for this October 2026 review). Cyan chips = recent; grey = foundational.
CLICK 1: the four cards rise together (0.08 s stagger) and hold.
[U05] Avila Soto et al., ASSETS 2017, DOI 10.1145/3132525.3132556. Read: abstract, apparatus, results and conclusion. 14 visually impaired participants; repeated-measures comparison of free-floating quadcopter (Wizard-of-Oz, ~1 m ahead at shoulder height), leashed quadcopter, and audio navigation on three indoor routes. Task time: free-floating M=82.29 s vs audio M=98.57 s (significant, p&lt;.05). Navigation errors: audio M=0.86 vs both quadcopter modes M=0.14. Workload (RTLX) not significantly different. 8 of 14 still preferred audio, and rotor noise was a complaint. Boundary: different population, tiny 20 g indoor drone, 1 m distance, operator-flown.
[U04] Tezza &amp; Andujar, IEEE Access 2019, DOI 10.1109/ACCESS.2019.2953900. Read: abstract, proxemics and challenges sections, conclusion. Survey of HDI: control modalities, communication, proxemics, prototypes. Reported proxemics studies show culture and drone design change approach distance (e.g. a "social" prototype was allowed ~30% closer). Challenges: propeller safety, short flight time.
[S01] Wögerbauer, von Castell, Welsch &amp; Hecht, Vision 8(4):59, 2024, DOI 10.3390/vision8040059. Full text read. Exp.1 N=28 (HoloLens 2 AR), Exp.2 N=20 (video pass-through), virtual 25 cm sphere drone. Preferred distance grand means 1.84 m and 1.62 m; larger above eye level (1.93 vs 1.78 m, Exp.1); approach angle no effect. Limits: virtual drone, young samples, close range. It does NOT validate NAVI's 15 m lead, which comes from GPS error.
[S02] Gómez-López et al., Drones 10(5):389, 2026, DOI 10.3390/drones10050389. Read: methods, results, conclusions (final ~3% of page not loaded). PRISMA 2020 review, 13 included studies (2016–2025), adults ≥65, health and social contexts. Acceptance linked to usability, perceived safety, familiarity; concerns about noise, airflow, size, privacy. Authors call the field "in its infancy". Do not transfer healthcare/home findings to campus results.
LIKELY QUESTION: "Is 15 m based on comfort research?" → No. 15 m is a design target driven by combined GPS error (Summary §8, §14). Comfort literature (S01) works at 1–2 m in AR. Comfort at NAVI's distances and altitude must be measured in trials.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 SUGGESTED SPEAKER: Muhammed Farhan (suggestion)]
CLICK 1: column headers, then rows rise in sequence. CLICK 2: the decision column wipes in from the left.
[U01] Kuys, Haig &amp; Mridha, Applied Sciences 14(17):7814, 2024, DOI 10.3390/app14177814. Read: abstract, method summary, discussion and conclusions. 30 participants in three groups (landmark photo booklet, Google Maps screenshots, paper map) on a 1.7 km pre-set route. The landmark group acquired more initial survey knowledge; landmarks helped on short pre-set routes. Ethics approval dates to 2016, so the data are older than the 2024 publication. Limits: small sample, paper aids, no aerial guide.
[U07] Rousell &amp; Zipf, ISPRS IJGI 6(3):64, 2017, DOI 10.3390/ijgi6030064. Read: abstract, introduction, conclusions. Prototype server extracting landmarks from OSM for Android pedestrian instructions; effectiveness falls where OSM completeness is low. NAVI uses OSM only for the campus boundary; the route graph comes from the wayfinder dataset.
[U08] Selvi, Bildirici &amp; Ulugtekin, IOP Conf. Ser.: Earth Environ. Sci. 44:042027, 2016, DOI 10.1088/1755-1315/44/4/042027. Full text read (short paper). Campus pedestrian navigation prototype with Voronoi-based landmark orientation; usability questionnaire with 14 first-time visitors to the campus. Questionnaire only, single route.
[S03] Singamaneni et al., IJRR 2024, DOI 10.1177/02783649241230562 (arXiv 2311.06922v4). Partial read: taxonomy sections of the arXiv HTML; evaluation and future-challenge sections were truncated. Four taxonomies: robot type; planning &amp; decision-making; situation awareness &amp; assessment; evaluation &amp; tools. About 18 surveyed works concern aerial robots; rotor noise and wind can lower perceived safety. Mostly ground robots.
CAVEAT: The decision column describes design intent. "Arrival cue names the entrance or landmark" is a proposed interface feature, not built.
LIKELY QUESTION: "Why do landmarks matter if a drone leads?" → The arrival step still needs a recognisable reference (entrance name or landmark), and visitors should keep some spatial knowledge for the return trip.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 SUGGESTED SPEAKER: N Arun (suggestion)]
CLICK 1: the position-channel strip traces from the aircraft to the ground station to the visitor. CLICK 2: headers and rows rise. CLICK 3: the decision column wipes in.
KEY MESSAGE: Each work reports accuracy under its own sensor and environment. We do not merge these into one benchmark.
[U03] Son, Kim &amp; Kim, IAES IJRA 11(3):233–249, 2022, DOI 10.11591/ijra.v11i3.pp233-249. Read: abstract, method, results, conclusion. Indoor GPS-denied drone with DWM1000 UWB trilateration (2D projection + altimeter); position error within 0.12 m; single-camera CNN corridor flight at 1.4 m/s, 90% success to destination. Indoor, anchor-based. Does not transfer to outdoor M8N GNSS.
[U09] Newson &amp; Krumm, ACM SIGSPATIAL GIS 2009, DOI 10.1145/1653771.1653818. Read: abstract, method overview, results, conclusions. HMM map matching tested on an 80 km drive; matched ground truth at 1 s sampling and stayed accurate with 30 s gaps; robust to large added noise at longer sampling periods. Vehicle GPS on a road network. NAVI's planned snapping is simpler (project to route + consistency checks). NAVI has NOT implemented an HMM.
[U10] Ebeid, Skriver &amp; Jin, Euromicro DSD 2017 (survey of open-source flight control platforms). Read: abstract, platform comparison, conclusion. Compares more than 15 open hardware and software flight-control platforms (ArduPilot, PX4, Paparazzi, LibrePilot…). From 2017, so current board support must be checked on firmware.ardupilot.org.
[S06] Yi, Zorzi, Jin &amp; Su, Sensors 24(16):5247, 2024, DOI 10.3390/s24165247. Read: MDPI abstract/introduction plus the authors' manuscript on the University of Padova repository (experiment and conclusions). Switched adaptive Kalman filter: GNSS-aided when available, IMU with stored average bias when GNSS is lost. One Huawei Mate 50, ~150 m route with an underpass; 2D RMSE 0.78 m and 0.89 m in the two GNSS-lost segments, 0.31 m whole trajectory, against the planned path as reference. Needs raw IMU and GNSS logging (MATLAB Mobile). Browser geolocation does not expose this.
LIKELY QUESTION: "Why not use the phone's IMU like S06?" → Our zero-install browser interface receives only fused position fixes, not raw IMU or GNSS. Using S06/S07-style fusion would need a native app; it is logged as an option, not a current feature.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 SUGGESTED SPEAKER: N Arun or Muhammed Farhan (suggestion)]
CLICK 1: headers then evidence rows rise. CLICK 2: NAVI-consequence column wipes in.
[U02] Merei, Mcheick, Ghaddar &amp; Rebaine, Drones 9(3):203, 2025, DOI 10.3390/drones9030203. Read: abstract, structure, conclusions. Survey of UAV obstacle detection &amp; avoidance: 66% of studies address 3D environments, fewer than half (47%) handle both static and dynamic obstacles, only 7.35% are energy-aware. NAVI has no live obstacle sensing, so obstacle detection is out of scope; routes are inspected instead.
[U06] Kruse, Pandey, Alami &amp; Kirsch, Robotics and Autonomous Systems 61(12):1726–1743, 2013, DOI 10.1016/j.robot.2013.05.007 (HAL deposit 2018 does not change the year). Read: abstract, evaluation section, conclusion. Human-aware navigation features: comfort, naturalness, sociability. Evaluation by simulation models of discomfort or by participant questionnaires. Wheeled robots.
[S04] Karwowski, Szynkiewicz &amp; Niewiadomska-Szynkiewicz, Sensors 24(9):2794, 2024, DOI 10.3390/s24092794. PARTIAL READ: §1–3.5 (requirements taxonomy); planning, evaluation and gap sections were not accessible in the fetched text. Requirements: physical safety, perceived safety (personal zones, approach direction/speed, legibility…), naturalness (no oscillation or erratic motion), social norms. Focus: ground-wheeled robots.
[S05] Ghambari, Golabi, Jourdan, Lepagnot &amp; Idoumghar, RAIRO-Oper. Res. 58:2951–2989, 2024, DOI 10.1051/ro/2024073. Full PDF read. Families: classical/exact (roadmaps, cell decomposition, graph search incl. Dijkstra/A*, potential fields, sampling) vs soft computing vs hybrid. "No path planning algorithm can guarantee the discovery of an optimal path in all scenarios." Dijkstra complexity O(|E|+|V|log|V|).
[S07] Zhang, Yu, Ge, Gao &amp; Sheng, Sensors 24(5):1452, 2024, DOI 10.3390/s24051452. PARTIAL READ: §1–2 only. Fusion results (§3 onward) could not be accessed: the MDPI text truncates, PMC returned a captcha, and Europe PMC rate-limited. Reported PDR components: step detection &gt;96% in most cases; Weinberg step-length error 1.553 m over 48.3 m average walk; Mahony heading error 5.25°. Android 10 app CUMT-POS. We do NOT cite its fusion accuracy. This is an unresolved literature gap to close or replace before the final report.
LIKELY QUESTION: "Is Dijkstra enough?" → For a known, static, inspected graph of 260 nodes, an exact shortest-path search is appropriate (S05). Dynamic replanning around live obstacles is out of scope.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 SUGGESTED SPEAKER: Muhammed Farhan (suggestion)]
SAY: One guided trip. The visitor chooses a destination; the ground station finds the nearest launch pad and the shortest path to the destination's nearest entrance, checks it against the geofence and the surveyed-waypoint whitelist, and uploads it as a mission. The aircraft takes off, flies about 15 m ahead (design target), holds if the visitor stops, and lands at a pad near the destination.
CLICK 1: route traces in three sections with mission-step labels. CLICK 2: HOLD marker appears where the visitor stops. CLICK 3: integration-gap statement.
INTEGRATION GAP (careful wording): The selected literature informs a system combining mapped campus routes, launch-pad coverage, a physical aerial guide, phone-position pacing, and defined fault responses on affordable hardware. This is a project concept and a validation task. We do not claim that aerial guidance or waypoint flight is new: U05 already guided people with quadcopters, and waypoint flight is solved (Summary §1 "Where the technical contribution lies").
CAVEAT: The route drawing is conceptual, not a real campus path. 15 m lead and 0.8 m/s are design targets.
LIKELY QUESTION: "What is your contribution if waypoint flight exists?" → Coupling an autonomous aircraft to the unpredictable pace of a walking person, together with the campus graph, pad coverage, geofence and zero-install guidance. Flight stabilisation is off-the-shelf ArduPilot by choice.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 · SUGGESTED SPEAKERS: Utkarsh Ghorpade (links, power) → N Arun (autonomy) (suggestion)]
SAY: All planning runs on the ground station: route planner, mission validator, pacing controller and live status. The aircraft runs ArduPilot on the F405 for stabilisation, waypoint flight and onboard failsafes. There is no companion computer, which saves weight, power and cost.
CLICK 1 (cyan): visitor destination and position flow into the ground station over HTTPS (secure context needed for phone location; local intake server certificate and connectivity still to be verified).
CLICK 2 (cyan): planner → validator → MAVLink over the SiK 433 MHz pair → F405 (mission upload, pacing commands). ESP32 Wi-Fi bridge is the short-range alternative (~20–30 m, walking-operator mode only).
CLICK 3 (blue): aircraft position and status return on the reverse path to the live map.
CLICK 4 (amber): the independent RC link: FS-i6X transmitter on the ground to iA6B receiver onboard, so the safety operator can take over, hold or land if the laptop, telemetry or bridge fails. ArduPilot by default will not arm without RC.
CAVEATS: The current app simulates telemetry. MAVLink delivery and pacing against real positions are pending. Static HTTPS hosting (GitLab Pages) does not by itself give secure access to a local position-intake server. Browser geolocation is throttled when the screen locks. Wiring here is conceptual; final pinout, ports, receiver protocol and power-module calibration come from product documentation.
SOURCES: Summary §4 (p5) platform; §5 (p5) architecture and data flow; §11 (p10) software and hosting; §13 (p11) RC radio rationale.
LIKELY QUESTION: "Why keep the RC radio?" → It is an independent second link, gives instant takeover and a safe arming/kill switch, is needed for first manual flights and tuning, and ArduPilot expects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 · SUGGESTED SPEAKER: Carollo Aradhan V (suggestion)]
SAY: This is the assembled design model: a nominal F450 layout from our parametric CAD (NAVI_CAD/navi_drone.py), not a photograph and not a measured build.
CLICK 1 (flight control): SpeedyBee F405 V3, bought as the FC board only, because the F450 kit already includes four separate 30A ESCs. The vendor photo also shows a 4-in-1 ESC (BLS 50A); that board is reference-only and not in our BOM. FlySky iA6B receiver onboard (iBUS).
CLICK 2 (propulsion): F450 frame with integrated power distribution, 4× A2212 1000KV motors, 4× 30A SimonK ESCs (one-time calibration with ArduPilot over PWM), 1045 props, planned 3S 3300 mAh LiPo with XT60. The pictured battery is a reference image whose connector differs from XT60; the final pack must use XT60, and discharge rating is subject to exact-pack verification.
CLICK 3 (positioning &amp; links): NEO-M8N GPS with compass on a rear mast; SiK 433 MHz onboard radio; XT60 power module for voltage/current sensing and regulated 5 V (electrical compatibility to confirm).
GROUND SUPPORT (not on aircraft): FS-i6X transmitter, SiK ground radio, iMAX B6AC balance charger, LiPo safe bag, laptop or Raspberry Pi ground station.
WHAT NOT TO SAY: no RTK, no Pixhawk, no Jetson/RealSense, no onboard Raspberry Pi in the current plan.
SOURCES: Summary §4 (p5), §6 BOM (pp5–7), §7 buying rules (p7: FC alone, not an FC + 4-in-1 stack; receiver must output iBUS/SBUS/PPM; GPS must include compass). CAD README: dimensions nominal (450 mm wheelbase, A2212, 1045, 30A ESC, F405, M8N on mast, iA6B, SiK, 3S 3300, tall gear).
LIKELY QUESTION: "Why the F405 FC only?" → The kit already provides four discrete ESCs; a stack would duplicate them and add cost. The exact board name must appear on firmware.ardupilot.org before ordering.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 · SUGGESTED SPEAKER: Carollo Aradhan V (suggestion)]
SAY: The slide opens on the assembled model. On the first click, the real CAD component groups separate along the model's own explode offsets (props +200 mm, motors +125, avionics +75, top plate +40, arms 0, ESCs −30, lower plate −45, battery −105, landing gear −175; from navi_drone.py). Each group is a separate transparent layer rendered from the same camera, so this is genuine component separation, not a sliced image.
CLICK 1: nine CAD layers move vertically together (0.6 s, ease-out).
CLICK 2: numbered labels 1–13, the avionics inset and the legend appear.
WALK THROUGH: 1 props (1045 ×4) · 2 adapters + A2212 1000KV motors ×4 · 3 GPS/compass puck and mast · 4 F405 FC on vibration-isolation dampers · 5 iA6B receiver · 6 SiK onboard radio and antenna · 7 XT60 power module · 8 upper frame plate · 9 F450 arms and motor mounts ×4 · 10 30A discrete ESCs ×4 (under the arms) · 11 lower plate / power distribution · 12 3S 3300 mAh battery and straps · 13 tall landing gear. Items 3–7 are small, so they are labelled in the enlarged avionics inset rather than forced onto the main view.
GROUND SUPPORT stays outside the assembly: FS-i6X transmitter, SiK ground radio, B6AC charger, LiPo safe bag.
CAVEAT (keep visible): DESIGN MODEL: nominal component geometry and proposed layout. Physical assembly and dimensional verification pending. Shapes are approximate (e.g. ESCs as boxes, battery as a block). No tolerances, mass, structural or aerodynamic analysis are claimed. Black parts are tone-lifted slightly for contrast on the dark slide.
FALLBACK: The static PDF shows the exploded end-state. If animation does not play, describe the separation verbally.
LIKELY QUESTION: "Is this built?" → No. Procurement and assembly are Phase 0–1. The CAD is a layout and integration check.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 SUGGESTED SPEAKERS: Muhammed Farhan (routing) → N Arun (pacing) (suggestion)]
LEFT, routing pipeline (source-reported as implemented and running in simulation, Summary §11 p10):
• Haversine distances computed at runtime, so editing a coordinate updates all distances, times and battery estimates.
• Dijkstra over the adjacency list, from the chosen pad to the destination's nearest entrance.
• Greedy leg splitting: add segments until 350 m would be exceeded, then break at the last node. 350 m is a provisional limit.
• Pad coverage: greedy set cover gives six pads. That is a greedy solution, not a proven global minimum.
• Geofence in the app: ray-casting point-in-polygon plus point-to-segment distance; breach declared beyond 40 m outside the OSM polygon (a proposed application rule). Export to ArduPilot's own fence and rally points is pending. A buffered hand-traced polygon is not proof of authorised airspace or obstacle clearance.
RIGHT, proposed pacing logic (not built against real positions):
CLICK 2 reveals it. Visitor samples are checked for age and accuracy; implausible jumps are rejected; the position is projected onto the route to get progress s_v (route progress, not straight-line distance). Gap = s_a − s_v. Hysteresis: HOLD when the gap exceeds L_hold, RESUME only when it falls below L_resume &lt; L_hold, so the aircraft does not oscillate. A stale position (&gt;30 s, design target) forces HOLD and then RTL. Precedence: ArduPilot failsafes &gt; geofence &gt; stale data &gt; pacing. L_hold and L_resume are symbolic until measured phone error is available (Summary §17 measurement 5).
CLICK 1: pipeline nodes trace left to right. CLICK 2: pacing state logic. CLICK 3: precedence bar.
LIKELY QUESTION: "Is snapping to the nearest point an HMM?" → No. Nearest-point projection with consistency checks is simpler than U09's HMM; we cite U09 as the reason sequence-aware matching may be needed if simple projection proves unstable.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 · SUGGESTED SPEAKER: Sayanjeet Das (suggestion)]
EVIDENCE: The screenshots are the NAVI app's Destinations view (webpage2.png) and Live Map route panel (webpage1.png). The status chips read SYSTEM ONLINE · NO FIX · SIMULATION. The route panel shows Gazebo from South Pad: 157 m, 3 m 16 s walking time, 9 nodes, 1 leg. 157 m ÷ 0.8 m/s = 196 s = 3 m 16 s, consistent with the 0.8 m/s planning speed.
DELIVERED (source-reported, Summary §11): full NAVI application (navi_app.html), visitor kiosk (navi_kiosk.html), mission control (navi_control.html), campus map (navi_campus.html). These HTML files were NOT in the supplied mdp folder, so this deck shows screenshots and pseudocode only. We do not claim code access we do not have.
PSEUDOCODE: "Proposed pacing logic: pseudocode". It is not the implemented live controller. Thresholds are symbolic.
CLICK 1: an injected simulated fault, "visitor position stale &gt; 30 s", appears; the matching pseudocode line highlights. CLICK 2: the designed safety state advances SAFE → WARNING → HOLD → RETURN_TO_LAUNCH. The app's simulation reportedly injects six faults: visitor stopped, visitor delayed, GPS loss, telemetry loss, low battery, geofence breach (Summary §11).
STILL TO BUILD (Summary §11): MAVLink link (pymavlink or MAVSDK) replacing simulated telemetry; pacing controller against real positions, first in ArduPilot SITL; export of the 40 m-buffered fence and pads into ArduPilot fence and rally points; phone position intake over HTTPS with filtering, snapping and hysteresis.
DEFECTS FIXED (reported): startup crash from a global window.map clash, and a crash on unknown destination names; a global error handler was added.
LIKELY QUESTION: "What does the 20% review actually demonstrate?" → Software and design groundwork running in simulation: the route graph, coverage analysis, interfaces, and a fault-driven state machine. No live telemetry, no flight.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 · SUGGESTED SPEAKER: Muhammed Farhan (suggestion)]
CLICK 1: the campus map with the OSM boundary (red dashed line in the app). CLICK 2: pad markers 1–5 ring in, and pad 6 is flagged beneath the route panel. CLICK 3: one computed route (Gazebo from South Pad, 157 m) traces. CLICK 4: KPI values and the pad table.
RESULTS (COMPUTED / SOURCE-REPORTED, Summary §9–10): 278 source waypoints, 260 retained flight-graph nodes; 303 undirected segments, 8.24 km; 36 destinations in one connected component; 36-vertex OSM polygon (way 336095563), 42.2 ha. Pads placed by greedy set cover with a provisional 350 m leg limit gives six pads; the longest nearest-pad leg is 316 m to VIT-SEDAXIS.
WHAT IT DOES NOT SHOW: It is a greedy coverage solution, not a proven global minimum. Coverage means each destination has a qualifying nearest-pad route. It does not prove one continuous mission can guide every visitor from the main gate, or that inter-pad transfers are feasible. Distances are computed graph lengths, not flown or walked measurements. The 40 m buffer is a proposed application rule; field and geometric validation are pending. Pad clear areas of about 5 m × 5 m are a design target and do not prove landing containment.
MAP OVERLAY: Pad rings were placed by fitting the five visible markers' pixels to the summary's pad coordinates (residual under 1 px). Pad 6 (E Block, node 68, 12.844735, 80.160818) falls beneath the app's route panel in this capture.
ATTRIBUTION: Campus boundary © OpenStreetMap contributors, ODbL 1.0. Path graph and building entrances derived from the VIT Chennai Way Finder dataset. Imagery © Esri (Leaflet), as shown in the screenshot.
LIKELY QUESTION: "What assumptions could change the six-pad result?" → Measured endurance (leg limit), walking speed, stop allowance, reserve treatment, and pad site clearance. Re-run set cover after the timed hover.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 · SUGGESTED SPEAKER: Sayanjeet Das (suggestion)]
CHART: computed graph distances from Summary Appendix A for six selected destinations: main-gate distance vs nearest-pad distance (m). The amber line is the provisional 350 m leg limit. Labels: computed graph distances reported in the summary.
READ IT CORRECTLY: The nearest-pad comparison is about departure-pad selection. It is NOT a measured reduction in a visitor's walk from the gate, nor a flight duration or energy result. E Block Hostel at 0 m means graph co-location of pad and entrance, not landing precision. From the main gate, only 12 of 36 destinations lie within one 350 m leg (Summary §9); with six pads, every nearest-pad leg is ≤316 m.
WALKING TIMES (recalculated, t = d / v at 0.8 m/s, ideal, no allowances): 316 m ≈ 6.58 min; 350 m ≈ 7.29 min; 700 m ≈ 14.58 min. Stop allowance, launch/landing and reserve are additional and shown separately in backup A14.
CLICK 1: chart wipes in from the bottom. CLICK 2: completed vs pending columns. CLICK 3: the 20% REVIEW MILESTONE marker appears once.
20%: This is the review milestone label, not an independently audited completion percentage. We have not invented per-module percentages.
LIKELY QUESTION: "Is the 350 m endurance validated?" → No. It is a provisional planning constraint. The F450 hover estimate of roughly 10–13 min is not measured. A timed hover to failsafe with the real payload will replace it, and the leg limit and pad layout will be recomputed.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0:35 · SUGGESTED SPEAKER: Utkarsh Ghorpade (hardware) or Sayanjeet Das (budget tracking) (suggestion)]
SAY: The original plan depended on ADAPT laboratory equipment (S500 with Pixhawk 2.4.8, an RTK F9P pair and a companion computer). That equipment, and the MDP/IDP store, turned out not to be available. After evaluating more than ten alternatives (backup A18), the team chose a self-funded F450 with an F405 FC, M8N GPS and ground-station computation. The test applied: if ArduPilot or PX4 cannot be flashed and the aircraft cannot be commanded over MAVLink, it cannot be NAVI.
BUDGET (PLANNING ESTIMATE, Summary §6): pool ₹25,000 (five × ₹5,000). Supervised-autonomy configuration ₹18,600–25,900 (≈₹20,000 at mid prices); with SiK telemetry ₹21,100–29,900 (≈₹23,500 midpoint). The upper end exceeds the pool, so budget compliance is not guaranteed. Only the airframe kit (₹4,059) was checked against a live listing. Hold back ₹1,500–2,000 as a crash reserve; buy in stages.
CLICK 1: phases 0–5 appear with their gates. All gates are pending.
IMMEDIATE MEASUREMENTS: timed hover to failsafe (replaces the endurance estimate behind 350 m and six pads); phone GPS error on a known route (sets lead and hold thresholds).
PERMISSION: WRITTEN PERMISSION PENDING. The summary reports permission is expected; get it in writing with its conditions (areas, hours, height, observer). Registration requirements for a 250 g–2 kg home-built aircraft must be checked against current official rules.
Details: budget A12, phases A16, alternatives A18.</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0:25 · SUGGESTED SPEAKER: N Arun (suggestion)]
SAY: At 20%, NAVI has a computed campus route graph and pad coverage, simulated interfaces with a fault-driven state machine, and a planned F450 platform with a design model. Nothing has flown. The next evidence comes from Phase 0–2: permission and purchase, props-off bench failsafes, and a timed hover that replaces our endurance estimate. Then we recompute the leg limit and pads before any autonomy. We welcome your questions.
CLICK 1: the three columns appear once, then the slide holds static for Q&amp;A.
BACKUP: A01–A02 references, A03–A08 evidence matrix, A09 roles, A10 photos, A11 BOM, A12 budget, A13 GPS &amp; separation, A14 endurance, A15 safety matrix, A16 phases, A17 CAD limits, A18 alternatives, A19–A21 prepared answers.
BACKUP PLATFORM: The team's existing 4WD ground robot can run the same navigation code if the aircraft is delayed (Summary §15); it would need an ESP32, GPS and compass add-ons (≈₹1,900–2,700).</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all 17 works. Recent window 2021–2026: U01, U02, U03, S01–S07 (ten recent papers). Foundational: U04–U10 (2009–2019). Kruse et al. is dated by its 2013 journal publication, not its 2018 HAL deposit. Bibliographic details were taken from the papers' first pages and publisher pages. Two details were not re-verified online and should be confirmed before the final report: U04's page range and U10's DSD page range/DOI. Uploaded PDFs are in the mdp folder; S01–S07 were read online (publisher pages; S06 via the authors' University of Padova repository manuscript; S03 via arXiv 2311.06922v4).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all 17 works. Recent window 2021–2026: U01, U02, U03, S01–S07 (ten recent papers). Foundational: U04–U10 (2009–2019). Kruse et al. is dated by its 2013 journal publication, not its 2018 HAL deposit. Bibliographic details were taken from the papers' first pages and publisher pages. Two details were not re-verified online and should be confirmed before the final report: U04's page range and U10's DSD page range/DOI. Uploaded PDFs are in the mdp folder; S01–S07 were read online (publisher pages; S06 via the authors' University of Padova repository manuscript; S03 via arXiv 2311.06922v4).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matrix rows 1–3. Numerical results are reported with their population, conditions and metric, and not merged across methods. "READ DEPTH" states honestly what was read: partial reads (S03, S04, S07) are not presented as detailed full-paper analyses. Unresolved gap: S07 fusion results were inaccessible (MDPI text truncated at §3; PMC captcha; Europe PMC rate-limited). Either obtain the full text or replace S07 with another verified recent paper before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matrix rows 4–6. Numerical results are reported with their population, conditions and metric, and not merged across methods. "READ DEPTH" states honestly what was read: partial reads (S03, S04, S07) are not presented as detailed full-paper analyses. Unresolved gap: S07 fusion results were inaccessible (MDPI text truncated at §3; PMC captcha; Europe PMC rate-limited). Either obtain the full text or replace S07 with another verified recent paper before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matrix rows 7–9. Numerical results are reported with their population, conditions and metric, and not merged across methods. "READ DEPTH" states honestly what was read: partial reads (S03, S04, S07) are not presented as detailed full-paper analyses. Unresolved gap: S07 fusion results were inaccessible (MDPI text truncated at §3; PMC captcha; Europe PMC rate-limited). Either obtain the full text or replace S07 with another verified recent paper before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matrix rows 10–12. Numerical results are reported with their population, conditions and metric, and not merged across methods. "READ DEPTH" states honestly what was read: partial reads (S03, S04, S07) are not presented as detailed full-paper analyses. Unresolved gap: S07 fusion results were inaccessible (MDPI text truncated at §3; PMC captcha; Europe PMC rate-limited). Either obtain the full text or replace S07 with another verified recent paper before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matrix rows 13–15. Numerical results are reported with their population, conditions and metric, and not merged across methods. "READ DEPTH" states honestly what was read: partial reads (S03, S04, S07) are not presented as detailed full-paper analyses. Unresolved gap: S07 fusion results were inaccessible (MDPI text truncated at §3; PMC captcha; Europe PMC rate-limited). Either obtain the full text or replace S07 with another verified recent paper before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matrix rows 16–17. Numerical results are reported with their population, conditions and metric, and not merged across methods. "READ DEPTH" states honestly what was read: partial reads (S03, S04, S07) are not presented as detailed full-paper analyses. Unresolved gap: S07 fusion results were inaccessible (MDPI text truncated at §3; PMC captcha; Europe PMC rate-limited). Either obtain the full text or replace S07 with another verified recent paper before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are the summary's suggested update for the self-funded build; the team should confirm them. Speaking handoffs are suggestions only. Do not present these responsibilities as completed individual achievements.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 are user-supplied component references; original suppliers not identifiable from the files. Mismatches: (1) F405 V3 photo also shows a BLS 50A 4-in-1 ESC: reference only, not in BOM, because the F450 kit already has four ESCs (Summary §7). (2) SiK photo is visibly marked 915 MHz; the planned link is 433 MHz, and the printed frequency is not retouched. (3) Battery photo (3300 mAh 50C) shows a non-XT60 connector; the final pack must use XT60. Connector compatibility is not inferred from the image. No photos are shown for the transmitter, receiver, power module, landing gear or safe bag, because none were supplied.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planning estimates from Indian hobby-store listings at the time of planning (Summary §6). Only the F450 kit price was confirmed against a live listing. Recheck every link before ordering. Stage 2 and 3 items are bought only after a steady manual hover.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compliance is not guaranteed: the SiK-inclusive range reaches ₹29,900 against a ₹25,000 pool. The ₹23,500 figure is a midpoint estimate, not a quotation, and prices have not been reconfirmed. Staged buying limits exposure: airframe, FC, radio and battery first; GPS, second battery and telemetry only after a steady manual hover. One person keeps a shared spending sheet with receipts.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Aircraft GPS error of about 2.5–5 m and phone error of about 7–13 m are contextual estimates from the summary (§14 attributes the phone figure to the team's literature review; the primary source is not in the supplied files). They are not guaranteed campus performance. A naive worst-case sum (5 + 13 = 18 m) already exceeds 15 m, so the lead alone cannot be claimed to absorb the error. Separation also depends on cruise altitude (the summary's flat 15 m altitude is a placeholder pending the per-segment obstruction survey). Thresholds must be set from measured data.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Recalculated with t_walk = distance / speed at 0.8 m/s. The summary's table value of 10.5 min for 350 m equals 7.29 min × 1.15 (stop allowance) ÷ 0.8 (25% reserve held back) ≈ 10.48 min. That is the battery time needed with reserve, not the walking time. The older statement "about 8 minutes of usable flight gives 350 m" does not state its assumptions consistently (7.29 × 1.15 = 8.39 min before reserve), so we do not present it as a derivation. Launch, climb, landing and any return leg are NOT included and must be added. The F450 hover estimate of roughly 10–13 min (3300 mAh) is an estimate, and hover is not the same as slow forward flight. Recompute pad coverage after the timed hover to failsafe.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designed responses from the summary, not verified firmware behaviour. GPS degradation may itself prevent a reliable hold or RTL, so we do not promise that every fault ends in a safe return. The response then is to land, with the safety operator ready on the RC link. Principles: hold then return, never continue on stale data; waypoint whitelist; road edges carry a cost multiplier so routes prefer verges and open ground; the visitor walks the footpath, never the carriageway; every failsafe is triggered deliberately, props-off first.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calendar dates were supplied, so phases are relative. Bring-up rule (Summary §16): assume nothing works until proven; check every connection; test with props removed; calibrate from scratch; get a steady manual hover before any autonomy; let the pacing code crash in SITL first.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Supplied renders navi_front.png, navi_side.png and navi_top.png. CAD convention: +X forward (red arms, orange props), Z up, units mm. Nominal values in navi_drone.py: 450 mm wheelbase, 254 mm (10 in) props, battery block 138 × 43 × 25 mm, landing gear 150 mm below the bottom plate, arm height 22 mm. These are approximations for layout and visualisation, not measurements of purchased parts. Underside clearance between battery and ground must be measured after assembly.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applied (Summary §3): if ArduPilot (or PX4) cannot be flashed and the aircraft cannot be commanded over MAVLink, it cannot be NAVI. Consumer drones run closed firmware, and their follow-me modes follow rather than lead.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AVI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VI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914400"/>
            <a:ext cx="11277295" cy="1143000"/>
          </a:xfrm>
          <a:prstGeom prst="rect">
            <a:avLst/>
          </a:prstGeom>
          <a:noFill/>
          <a:ln/>
        </p:spPr>
        <p:txBody>
          <a:bodyPr wrap="square" rtlCol="0"/>
          <a:lstStyle>
            <a:lvl1pPr marL="0" indent="0" algn="l">
              <a:lnSpc>
                <a:spcPct val="92000"/>
              </a:lnSpc>
              <a:buNone/>
              <a:defRPr lang="en-US" sz="4000" b="1" kern="0" spc="-50" dirty="0">
                <a:solidFill>
                  <a:srgbClr val="F8FAFC"/>
                </a:solidFill>
                <a:latin typeface="Space Grotesk" pitchFamily="34" charset="0"/>
                <a:ea typeface="Space Grotesk" pitchFamily="34" charset="-122"/>
                <a:cs typeface="Space Grotesk" pitchFamily="34" charset="-120"/>
              </a:defRPr>
            </a:lvl1pPr>
          </a:lstStyle>
          <a:p>
            <a:pPr marL="0" indent="0" algn="l">
              <a:lnSpc>
                <a:spcPct val="92000"/>
              </a:lnSpc>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AVI_APPENDI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960120"/>
            <a:ext cx="11277295" cy="566928"/>
          </a:xfrm>
          <a:prstGeom prst="rect">
            <a:avLst/>
          </a:prstGeom>
          <a:noFill/>
          <a:ln/>
        </p:spPr>
        <p:txBody>
          <a:bodyPr wrap="square" rtlCol="0"/>
          <a:lstStyle>
            <a:lvl1pPr marL="0" indent="0" algn="l">
              <a:buNone/>
              <a:defRPr lang="en-US" sz="3000" b="1" dirty="0">
                <a:solidFill>
                  <a:srgbClr val="F8FAFC"/>
                </a:solidFill>
                <a:latin typeface="Space Grotesk" pitchFamily="34" charset="0"/>
                <a:ea typeface="Space Grotesk" pitchFamily="34" charset="-122"/>
                <a:cs typeface="Space Grotesk"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6.jpg"/><Relationship Id="rId7" Type="http://schemas.openxmlformats.org/officeDocument/2006/relationships/image" Target="../media/image23.jp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22.jpg"/><Relationship Id="rId5" Type="http://schemas.openxmlformats.org/officeDocument/2006/relationships/image" Target="../media/image7.jpg"/><Relationship Id="rId4" Type="http://schemas.openxmlformats.org/officeDocument/2006/relationships/image" Target="../media/image21.jpg"/><Relationship Id="rId9" Type="http://schemas.openxmlformats.org/officeDocument/2006/relationships/image" Target="../media/image25.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28.jpg"/><Relationship Id="rId4" Type="http://schemas.openxmlformats.org/officeDocument/2006/relationships/image" Target="../media/image27.jp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xt_1"/>
          <p:cNvSpPr txBox="1"/>
          <p:nvPr/>
        </p:nvSpPr>
        <p:spPr>
          <a:xfrm>
            <a:off x="457200" y="274320"/>
            <a:ext cx="91440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20% WORK COMPLETION REVIEW</a:t>
            </a:r>
            <a:endParaRPr lang="en-US" sz="1100" dirty="0"/>
          </a:p>
        </p:txBody>
      </p:sp>
      <p:sp>
        <p:nvSpPr>
          <p:cNvPr id="3" name="chip_2"/>
          <p:cNvSpPr txBox="1"/>
          <p:nvPr/>
        </p:nvSpPr>
        <p:spPr>
          <a:xfrm>
            <a:off x="457200" y="603504"/>
            <a:ext cx="2218944" cy="292608"/>
          </a:xfrm>
          <a:prstGeom prst="roundRect">
            <a:avLst>
              <a:gd name="adj" fmla="val 15625"/>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300" b="1" dirty="0">
                <a:solidFill>
                  <a:srgbClr val="00F0FF"/>
                </a:solidFill>
                <a:latin typeface="JetBrains Mono" pitchFamily="34" charset="0"/>
                <a:ea typeface="JetBrains Mono" pitchFamily="34" charset="-122"/>
                <a:cs typeface="JetBrains Mono" pitchFamily="34" charset="-120"/>
              </a:rPr>
              <a:t>20% REVIEW MILESTONE</a:t>
            </a:r>
            <a:endParaRPr lang="en-US" sz="1300" dirty="0"/>
          </a:p>
        </p:txBody>
      </p:sp>
      <p:sp>
        <p:nvSpPr>
          <p:cNvPr id="4" name="txt_3"/>
          <p:cNvSpPr txBox="1"/>
          <p:nvPr/>
        </p:nvSpPr>
        <p:spPr>
          <a:xfrm>
            <a:off x="457200" y="969264"/>
            <a:ext cx="5029200" cy="914400"/>
          </a:xfrm>
          <a:prstGeom prst="rect">
            <a:avLst/>
          </a:prstGeom>
          <a:noFill/>
          <a:ln/>
        </p:spPr>
        <p:txBody>
          <a:bodyPr wrap="square" lIns="0" tIns="0" rIns="0" bIns="0" rtlCol="0" anchor="t"/>
          <a:lstStyle/>
          <a:p>
            <a:pPr marL="0" indent="0">
              <a:buNone/>
            </a:pPr>
            <a:r>
              <a:rPr lang="en-US" sz="7200" b="1" kern="0" spc="-100" dirty="0">
                <a:solidFill>
                  <a:srgbClr val="F8FAFC"/>
                </a:solidFill>
                <a:latin typeface="Space Grotesk" pitchFamily="34" charset="0"/>
                <a:ea typeface="Space Grotesk" pitchFamily="34" charset="-122"/>
                <a:cs typeface="Space Grotesk" pitchFamily="34" charset="-120"/>
              </a:rPr>
              <a:t>NAVI</a:t>
            </a:r>
            <a:endParaRPr lang="en-US" sz="7200" dirty="0"/>
          </a:p>
        </p:txBody>
      </p:sp>
      <p:sp>
        <p:nvSpPr>
          <p:cNvPr id="5" name="txt_4"/>
          <p:cNvSpPr txBox="1"/>
          <p:nvPr/>
        </p:nvSpPr>
        <p:spPr>
          <a:xfrm>
            <a:off x="457200" y="1920240"/>
            <a:ext cx="6035040" cy="384048"/>
          </a:xfrm>
          <a:prstGeom prst="rect">
            <a:avLst/>
          </a:prstGeom>
          <a:noFill/>
          <a:ln/>
        </p:spPr>
        <p:txBody>
          <a:bodyPr wrap="square" lIns="0" tIns="0" rIns="0" bIns="0" rtlCol="0" anchor="t"/>
          <a:lstStyle/>
          <a:p>
            <a:pPr marL="0" indent="0">
              <a:buNone/>
            </a:pPr>
            <a:r>
              <a:rPr lang="en-US" sz="2100" b="1" dirty="0">
                <a:solidFill>
                  <a:srgbClr val="00F0FF"/>
                </a:solidFill>
                <a:latin typeface="Space Grotesk" pitchFamily="34" charset="0"/>
                <a:ea typeface="Space Grotesk" pitchFamily="34" charset="-122"/>
                <a:cs typeface="Space Grotesk" pitchFamily="34" charset="-120"/>
              </a:rPr>
              <a:t>Navigation Assistant for Visitor Interaction</a:t>
            </a:r>
            <a:endParaRPr lang="en-US" sz="2100" dirty="0"/>
          </a:p>
        </p:txBody>
      </p:sp>
      <p:sp>
        <p:nvSpPr>
          <p:cNvPr id="6" name="txt_5"/>
          <p:cNvSpPr txBox="1"/>
          <p:nvPr/>
        </p:nvSpPr>
        <p:spPr>
          <a:xfrm>
            <a:off x="457200" y="2340864"/>
            <a:ext cx="5852160" cy="548640"/>
          </a:xfrm>
          <a:prstGeom prst="rect">
            <a:avLst/>
          </a:prstGeom>
          <a:noFill/>
          <a:ln/>
        </p:spPr>
        <p:txBody>
          <a:bodyPr wrap="square" lIns="0" tIns="0" rIns="0" bIns="0" rtlCol="0" anchor="t"/>
          <a:lstStyle/>
          <a:p>
            <a:pPr marL="0" indent="0">
              <a:buNone/>
            </a:pPr>
            <a:r>
              <a:rPr lang="en-US" sz="1700" dirty="0">
                <a:solidFill>
                  <a:srgbClr val="F8FAFC"/>
                </a:solidFill>
                <a:latin typeface="Inter" pitchFamily="34" charset="0"/>
                <a:ea typeface="Inter" pitchFamily="34" charset="-122"/>
                <a:cs typeface="Inter" pitchFamily="34" charset="-120"/>
              </a:rPr>
              <a:t>An Autonomous Micro Aerial Vehicle for Outdoor Campus Visitor Guidance</a:t>
            </a:r>
            <a:endParaRPr lang="en-US" sz="1700" dirty="0"/>
          </a:p>
        </p:txBody>
      </p:sp>
      <p:sp>
        <p:nvSpPr>
          <p:cNvPr id="7" name="txt_6"/>
          <p:cNvSpPr txBox="1"/>
          <p:nvPr/>
        </p:nvSpPr>
        <p:spPr>
          <a:xfrm>
            <a:off x="457200" y="2944368"/>
            <a:ext cx="5943600" cy="1298448"/>
          </a:xfrm>
          <a:prstGeom prst="rect">
            <a:avLst/>
          </a:prstGeom>
          <a:noFill/>
          <a:ln/>
        </p:spPr>
        <p:txBody>
          <a:bodyPr wrap="square" lIns="0" tIns="0" rIns="0" bIns="0" rtlCol="0" anchor="t"/>
          <a:lstStyle/>
          <a:p>
            <a:pPr marL="0" indent="0">
              <a:lnSpc>
                <a:spcPct val="108000"/>
              </a:lnSpc>
              <a:buNone/>
            </a:pPr>
            <a:r>
              <a:rPr lang="en-US" sz="1200" b="1" dirty="0">
                <a:solidFill>
                  <a:srgbClr val="94A3B8"/>
                </a:solidFill>
                <a:latin typeface="JetBrains Mono" pitchFamily="34" charset="0"/>
                <a:ea typeface="JetBrains Mono" pitchFamily="34" charset="-122"/>
                <a:cs typeface="JetBrains Mono" pitchFamily="34" charset="-120"/>
              </a:rPr>
              <a:t>REVIEW       </a:t>
            </a:r>
            <a:r>
              <a:rPr lang="en-US" sz="1400" dirty="0">
                <a:solidFill>
                  <a:srgbClr val="F8FAFC"/>
                </a:solidFill>
                <a:latin typeface="Inter" pitchFamily="34" charset="0"/>
                <a:ea typeface="Inter" pitchFamily="34" charset="-122"/>
                <a:cs typeface="Inter" pitchFamily="34" charset="-120"/>
              </a:rPr>
              <a:t>20% Work Completion Review</a:t>
            </a:r>
            <a:endParaRPr lang="en-US" sz="1500" dirty="0"/>
          </a:p>
          <a:p>
            <a:pPr marL="0" indent="0">
              <a:lnSpc>
                <a:spcPct val="108000"/>
              </a:lnSpc>
              <a:buNone/>
            </a:pPr>
            <a:r>
              <a:rPr lang="en-US" sz="1200" b="1" dirty="0">
                <a:solidFill>
                  <a:srgbClr val="94A3B8"/>
                </a:solidFill>
                <a:latin typeface="JetBrains Mono" pitchFamily="34" charset="0"/>
                <a:ea typeface="JetBrains Mono" pitchFamily="34" charset="-122"/>
                <a:cs typeface="JetBrains Mono" pitchFamily="34" charset="-120"/>
              </a:rPr>
              <a:t>INSTITUTION  </a:t>
            </a:r>
            <a:r>
              <a:rPr lang="en-US" sz="1400" dirty="0">
                <a:solidFill>
                  <a:srgbClr val="F8FAFC"/>
                </a:solidFill>
                <a:latin typeface="Inter" pitchFamily="34" charset="0"/>
                <a:ea typeface="Inter" pitchFamily="34" charset="-122"/>
                <a:cs typeface="Inter" pitchFamily="34" charset="-120"/>
              </a:rPr>
              <a:t>Vellore Institute of Technology, Chennai</a:t>
            </a:r>
            <a:endParaRPr lang="en-US" sz="1500" dirty="0"/>
          </a:p>
          <a:p>
            <a:pPr marL="0" indent="0">
              <a:lnSpc>
                <a:spcPct val="108000"/>
              </a:lnSpc>
              <a:buNone/>
            </a:pPr>
            <a:r>
              <a:rPr lang="en-US" sz="1200" b="1" dirty="0">
                <a:solidFill>
                  <a:srgbClr val="94A3B8"/>
                </a:solidFill>
                <a:latin typeface="JetBrains Mono" pitchFamily="34" charset="0"/>
                <a:ea typeface="JetBrains Mono" pitchFamily="34" charset="-122"/>
                <a:cs typeface="JetBrains Mono" pitchFamily="34" charset="-120"/>
              </a:rPr>
              <a:t>SCHOOLS      </a:t>
            </a:r>
            <a:r>
              <a:rPr lang="en-US" sz="1400" dirty="0">
                <a:solidFill>
                  <a:srgbClr val="F8FAFC"/>
                </a:solidFill>
                <a:latin typeface="Inter" pitchFamily="34" charset="0"/>
                <a:ea typeface="Inter" pitchFamily="34" charset="-122"/>
                <a:cs typeface="Inter" pitchFamily="34" charset="-120"/>
              </a:rPr>
              <a:t>SCOPE • SENSE • SMEC</a:t>
            </a:r>
            <a:endParaRPr lang="en-US" sz="1500" dirty="0"/>
          </a:p>
          <a:p>
            <a:pPr marL="0" indent="0">
              <a:lnSpc>
                <a:spcPct val="108000"/>
              </a:lnSpc>
              <a:buNone/>
            </a:pPr>
            <a:r>
              <a:rPr lang="en-US" sz="1200" b="1" dirty="0">
                <a:solidFill>
                  <a:srgbClr val="94A3B8"/>
                </a:solidFill>
                <a:latin typeface="JetBrains Mono" pitchFamily="34" charset="0"/>
                <a:ea typeface="JetBrains Mono" pitchFamily="34" charset="-122"/>
                <a:cs typeface="JetBrains Mono" pitchFamily="34" charset="-120"/>
              </a:rPr>
              <a:t>COURSE       </a:t>
            </a:r>
            <a:r>
              <a:rPr lang="en-US" sz="1400" dirty="0">
                <a:solidFill>
                  <a:srgbClr val="F8FAFC"/>
                </a:solidFill>
                <a:latin typeface="Inter" pitchFamily="34" charset="0"/>
                <a:ea typeface="Inter" pitchFamily="34" charset="-122"/>
                <a:cs typeface="Inter" pitchFamily="34" charset="-120"/>
              </a:rPr>
              <a:t>[COURSE CODE]   ·   DATE  [REVIEW DATE]</a:t>
            </a:r>
            <a:endParaRPr lang="en-US" sz="1500" dirty="0"/>
          </a:p>
          <a:p>
            <a:pPr marL="0" indent="0">
              <a:lnSpc>
                <a:spcPct val="108000"/>
              </a:lnSpc>
              <a:buNone/>
            </a:pPr>
            <a:r>
              <a:rPr lang="en-US" sz="1200" b="1" dirty="0">
                <a:solidFill>
                  <a:srgbClr val="94A3B8"/>
                </a:solidFill>
                <a:latin typeface="JetBrains Mono" pitchFamily="34" charset="0"/>
                <a:ea typeface="JetBrains Mono" pitchFamily="34" charset="-122"/>
                <a:cs typeface="JetBrains Mono" pitchFamily="34" charset="-120"/>
              </a:rPr>
              <a:t>GUIDE        </a:t>
            </a:r>
            <a:r>
              <a:rPr lang="en-US" sz="1400" dirty="0">
                <a:solidFill>
                  <a:srgbClr val="F8FAFC"/>
                </a:solidFill>
                <a:latin typeface="Inter" pitchFamily="34" charset="0"/>
                <a:ea typeface="Inter" pitchFamily="34" charset="-122"/>
                <a:cs typeface="Inter" pitchFamily="34" charset="-120"/>
              </a:rPr>
              <a:t>[FACULTY NAME / PROJECT GUIDE]</a:t>
            </a:r>
            <a:endParaRPr lang="en-US" sz="1500" dirty="0"/>
          </a:p>
        </p:txBody>
      </p:sp>
      <p:sp>
        <p:nvSpPr>
          <p:cNvPr id="8" name="box_7"/>
          <p:cNvSpPr/>
          <p:nvPr/>
        </p:nvSpPr>
        <p:spPr>
          <a:xfrm>
            <a:off x="457200" y="4297680"/>
            <a:ext cx="5989320" cy="2121408"/>
          </a:xfrm>
          <a:prstGeom prst="roundRect">
            <a:avLst>
              <a:gd name="adj" fmla="val 2586"/>
            </a:avLst>
          </a:prstGeom>
          <a:solidFill>
            <a:srgbClr val="131C2E">
              <a:alpha val="75000"/>
            </a:srgbClr>
          </a:solidFill>
          <a:ln w="9525">
            <a:solidFill>
              <a:srgbClr val="00F0FF">
                <a:alpha val="22000"/>
              </a:srgbClr>
            </a:solidFill>
            <a:prstDash val="solid"/>
          </a:ln>
        </p:spPr>
      </p:sp>
      <p:sp>
        <p:nvSpPr>
          <p:cNvPr id="9" name="txt_8"/>
          <p:cNvSpPr txBox="1"/>
          <p:nvPr/>
        </p:nvSpPr>
        <p:spPr>
          <a:xfrm>
            <a:off x="594360" y="4370832"/>
            <a:ext cx="137160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TEAM</a:t>
            </a:r>
            <a:endParaRPr lang="en-US" sz="1100" dirty="0"/>
          </a:p>
        </p:txBody>
      </p:sp>
      <p:sp>
        <p:nvSpPr>
          <p:cNvPr id="10" name="txt_9"/>
          <p:cNvSpPr txBox="1"/>
          <p:nvPr/>
        </p:nvSpPr>
        <p:spPr>
          <a:xfrm>
            <a:off x="3977640" y="4370832"/>
            <a:ext cx="128016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REG. NO.</a:t>
            </a:r>
            <a:endParaRPr lang="en-US" sz="1100" dirty="0"/>
          </a:p>
        </p:txBody>
      </p:sp>
      <p:sp>
        <p:nvSpPr>
          <p:cNvPr id="11" name="txt_10"/>
          <p:cNvSpPr txBox="1"/>
          <p:nvPr/>
        </p:nvSpPr>
        <p:spPr>
          <a:xfrm>
            <a:off x="5349240" y="4370832"/>
            <a:ext cx="100584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SCHOOL</a:t>
            </a:r>
            <a:endParaRPr lang="en-US" sz="1100" dirty="0"/>
          </a:p>
        </p:txBody>
      </p:sp>
      <p:sp>
        <p:nvSpPr>
          <p:cNvPr id="12" name="txt_11"/>
          <p:cNvSpPr txBox="1"/>
          <p:nvPr/>
        </p:nvSpPr>
        <p:spPr>
          <a:xfrm>
            <a:off x="594360" y="4663440"/>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Inter" pitchFamily="34" charset="0"/>
                <a:ea typeface="Inter" pitchFamily="34" charset="-122"/>
                <a:cs typeface="Inter" pitchFamily="34" charset="-120"/>
              </a:rPr>
              <a:t>Carollo Aradhan V</a:t>
            </a:r>
            <a:endParaRPr lang="en-US" sz="1500" dirty="0"/>
          </a:p>
        </p:txBody>
      </p:sp>
      <p:sp>
        <p:nvSpPr>
          <p:cNvPr id="13" name="txt_12"/>
          <p:cNvSpPr txBox="1"/>
          <p:nvPr/>
        </p:nvSpPr>
        <p:spPr>
          <a:xfrm>
            <a:off x="3977640" y="4663440"/>
            <a:ext cx="1280160" cy="292608"/>
          </a:xfrm>
          <a:prstGeom prst="rect">
            <a:avLst/>
          </a:prstGeom>
          <a:noFill/>
          <a:ln/>
        </p:spPr>
        <p:txBody>
          <a:bodyPr wrap="square" lIns="0" tIns="0" rIns="0" bIns="0" rtlCol="0" anchor="ct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26BMH1173</a:t>
            </a:r>
            <a:endParaRPr lang="en-US" sz="1400" dirty="0"/>
          </a:p>
        </p:txBody>
      </p:sp>
      <p:sp>
        <p:nvSpPr>
          <p:cNvPr id="14" name="txt_13"/>
          <p:cNvSpPr txBox="1"/>
          <p:nvPr/>
        </p:nvSpPr>
        <p:spPr>
          <a:xfrm>
            <a:off x="5349240" y="4663440"/>
            <a:ext cx="1005840" cy="292608"/>
          </a:xfrm>
          <a:prstGeom prst="rect">
            <a:avLst/>
          </a:prstGeom>
          <a:noFill/>
          <a:ln/>
        </p:spPr>
        <p:txBody>
          <a:bodyPr wrap="square" lIns="0" tIns="0" rIns="0" bIns="0" rtlCol="0" anchor="ct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SMEC</a:t>
            </a:r>
            <a:endParaRPr lang="en-US" sz="1400" dirty="0"/>
          </a:p>
        </p:txBody>
      </p:sp>
      <p:sp>
        <p:nvSpPr>
          <p:cNvPr id="15" name="txt_14"/>
          <p:cNvSpPr txBox="1"/>
          <p:nvPr/>
        </p:nvSpPr>
        <p:spPr>
          <a:xfrm>
            <a:off x="594360" y="5001768"/>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Inter" pitchFamily="34" charset="0"/>
                <a:ea typeface="Inter" pitchFamily="34" charset="-122"/>
                <a:cs typeface="Inter" pitchFamily="34" charset="-120"/>
              </a:rPr>
              <a:t>Utkarsh Dilipkumar Ghorpade</a:t>
            </a:r>
            <a:endParaRPr lang="en-US" sz="1500" dirty="0"/>
          </a:p>
        </p:txBody>
      </p:sp>
      <p:sp>
        <p:nvSpPr>
          <p:cNvPr id="16" name="txt_15"/>
          <p:cNvSpPr txBox="1"/>
          <p:nvPr/>
        </p:nvSpPr>
        <p:spPr>
          <a:xfrm>
            <a:off x="3977640" y="5001768"/>
            <a:ext cx="1280160" cy="292608"/>
          </a:xfrm>
          <a:prstGeom prst="rect">
            <a:avLst/>
          </a:prstGeom>
          <a:noFill/>
          <a:ln/>
        </p:spPr>
        <p:txBody>
          <a:bodyPr wrap="square" lIns="0" tIns="0" rIns="0" bIns="0" rtlCol="0" anchor="ct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26BEC1215</a:t>
            </a:r>
            <a:endParaRPr lang="en-US" sz="1400" dirty="0"/>
          </a:p>
        </p:txBody>
      </p:sp>
      <p:sp>
        <p:nvSpPr>
          <p:cNvPr id="17" name="txt_16"/>
          <p:cNvSpPr txBox="1"/>
          <p:nvPr/>
        </p:nvSpPr>
        <p:spPr>
          <a:xfrm>
            <a:off x="5349240" y="5001768"/>
            <a:ext cx="1005840" cy="292608"/>
          </a:xfrm>
          <a:prstGeom prst="rect">
            <a:avLst/>
          </a:prstGeom>
          <a:noFill/>
          <a:ln/>
        </p:spPr>
        <p:txBody>
          <a:bodyPr wrap="square" lIns="0" tIns="0" rIns="0" bIns="0" rtlCol="0" anchor="ct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SENSE</a:t>
            </a:r>
            <a:endParaRPr lang="en-US" sz="1400" dirty="0"/>
          </a:p>
        </p:txBody>
      </p:sp>
      <p:sp>
        <p:nvSpPr>
          <p:cNvPr id="18" name="txt_17"/>
          <p:cNvSpPr txBox="1"/>
          <p:nvPr/>
        </p:nvSpPr>
        <p:spPr>
          <a:xfrm>
            <a:off x="594360" y="5340096"/>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Inter" pitchFamily="34" charset="0"/>
                <a:ea typeface="Inter" pitchFamily="34" charset="-122"/>
                <a:cs typeface="Inter" pitchFamily="34" charset="-120"/>
              </a:rPr>
              <a:t>N Arun</a:t>
            </a:r>
            <a:endParaRPr lang="en-US" sz="1500" dirty="0"/>
          </a:p>
        </p:txBody>
      </p:sp>
      <p:sp>
        <p:nvSpPr>
          <p:cNvPr id="19" name="txt_18"/>
          <p:cNvSpPr txBox="1"/>
          <p:nvPr/>
        </p:nvSpPr>
        <p:spPr>
          <a:xfrm>
            <a:off x="3977640" y="5340096"/>
            <a:ext cx="1280160" cy="292608"/>
          </a:xfrm>
          <a:prstGeom prst="rect">
            <a:avLst/>
          </a:prstGeom>
          <a:noFill/>
          <a:ln/>
        </p:spPr>
        <p:txBody>
          <a:bodyPr wrap="square" lIns="0" tIns="0" rIns="0" bIns="0" rtlCol="0" anchor="ct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26BCE1550</a:t>
            </a:r>
            <a:endParaRPr lang="en-US" sz="1400" dirty="0"/>
          </a:p>
        </p:txBody>
      </p:sp>
      <p:sp>
        <p:nvSpPr>
          <p:cNvPr id="20" name="txt_19"/>
          <p:cNvSpPr txBox="1"/>
          <p:nvPr/>
        </p:nvSpPr>
        <p:spPr>
          <a:xfrm>
            <a:off x="5349240" y="5340096"/>
            <a:ext cx="1005840" cy="292608"/>
          </a:xfrm>
          <a:prstGeom prst="rect">
            <a:avLst/>
          </a:prstGeom>
          <a:noFill/>
          <a:ln/>
        </p:spPr>
        <p:txBody>
          <a:bodyPr wrap="square" lIns="0" tIns="0" rIns="0" bIns="0" rtlCol="0" anchor="ct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SCOPE</a:t>
            </a:r>
            <a:endParaRPr lang="en-US" sz="1400" dirty="0"/>
          </a:p>
        </p:txBody>
      </p:sp>
      <p:sp>
        <p:nvSpPr>
          <p:cNvPr id="21" name="txt_20"/>
          <p:cNvSpPr txBox="1"/>
          <p:nvPr/>
        </p:nvSpPr>
        <p:spPr>
          <a:xfrm>
            <a:off x="594360" y="5678424"/>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Inter" pitchFamily="34" charset="0"/>
                <a:ea typeface="Inter" pitchFamily="34" charset="-122"/>
                <a:cs typeface="Inter" pitchFamily="34" charset="-120"/>
              </a:rPr>
              <a:t>Muhammed Farhan</a:t>
            </a:r>
            <a:endParaRPr lang="en-US" sz="1500" dirty="0"/>
          </a:p>
        </p:txBody>
      </p:sp>
      <p:sp>
        <p:nvSpPr>
          <p:cNvPr id="22" name="txt_21"/>
          <p:cNvSpPr txBox="1"/>
          <p:nvPr/>
        </p:nvSpPr>
        <p:spPr>
          <a:xfrm>
            <a:off x="3977640" y="5678424"/>
            <a:ext cx="1280160" cy="292608"/>
          </a:xfrm>
          <a:prstGeom prst="rect">
            <a:avLst/>
          </a:prstGeom>
          <a:noFill/>
          <a:ln/>
        </p:spPr>
        <p:txBody>
          <a:bodyPr wrap="square" lIns="0" tIns="0" rIns="0" bIns="0" rtlCol="0" anchor="ct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26BCE1551</a:t>
            </a:r>
            <a:endParaRPr lang="en-US" sz="1400" dirty="0"/>
          </a:p>
        </p:txBody>
      </p:sp>
      <p:sp>
        <p:nvSpPr>
          <p:cNvPr id="23" name="txt_22"/>
          <p:cNvSpPr txBox="1"/>
          <p:nvPr/>
        </p:nvSpPr>
        <p:spPr>
          <a:xfrm>
            <a:off x="5349240" y="5678424"/>
            <a:ext cx="1005840" cy="292608"/>
          </a:xfrm>
          <a:prstGeom prst="rect">
            <a:avLst/>
          </a:prstGeom>
          <a:noFill/>
          <a:ln/>
        </p:spPr>
        <p:txBody>
          <a:bodyPr wrap="square" lIns="0" tIns="0" rIns="0" bIns="0" rtlCol="0" anchor="ct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SCOPE</a:t>
            </a:r>
            <a:endParaRPr lang="en-US" sz="1400" dirty="0"/>
          </a:p>
        </p:txBody>
      </p:sp>
      <p:sp>
        <p:nvSpPr>
          <p:cNvPr id="24" name="txt_23"/>
          <p:cNvSpPr txBox="1"/>
          <p:nvPr/>
        </p:nvSpPr>
        <p:spPr>
          <a:xfrm>
            <a:off x="594360" y="6016752"/>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Inter" pitchFamily="34" charset="0"/>
                <a:ea typeface="Inter" pitchFamily="34" charset="-122"/>
                <a:cs typeface="Inter" pitchFamily="34" charset="-120"/>
              </a:rPr>
              <a:t>Sayanjeet Das</a:t>
            </a:r>
            <a:endParaRPr lang="en-US" sz="1500" dirty="0"/>
          </a:p>
        </p:txBody>
      </p:sp>
      <p:sp>
        <p:nvSpPr>
          <p:cNvPr id="25" name="txt_24"/>
          <p:cNvSpPr txBox="1"/>
          <p:nvPr/>
        </p:nvSpPr>
        <p:spPr>
          <a:xfrm>
            <a:off x="3977640" y="6016752"/>
            <a:ext cx="1280160" cy="292608"/>
          </a:xfrm>
          <a:prstGeom prst="rect">
            <a:avLst/>
          </a:prstGeom>
          <a:noFill/>
          <a:ln/>
        </p:spPr>
        <p:txBody>
          <a:bodyPr wrap="square" lIns="0" tIns="0" rIns="0" bIns="0" rtlCol="0" anchor="ct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26BCE5502</a:t>
            </a:r>
            <a:endParaRPr lang="en-US" sz="1400" dirty="0"/>
          </a:p>
        </p:txBody>
      </p:sp>
      <p:sp>
        <p:nvSpPr>
          <p:cNvPr id="26" name="txt_25"/>
          <p:cNvSpPr txBox="1"/>
          <p:nvPr/>
        </p:nvSpPr>
        <p:spPr>
          <a:xfrm>
            <a:off x="5349240" y="6016752"/>
            <a:ext cx="1005840" cy="292608"/>
          </a:xfrm>
          <a:prstGeom prst="rect">
            <a:avLst/>
          </a:prstGeom>
          <a:noFill/>
          <a:ln/>
        </p:spPr>
        <p:txBody>
          <a:bodyPr wrap="square" lIns="0" tIns="0" rIns="0" bIns="0" rtlCol="0" anchor="ct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SCOPE</a:t>
            </a:r>
            <a:endParaRPr lang="en-US" sz="1400" dirty="0"/>
          </a:p>
        </p:txBody>
      </p:sp>
      <p:pic>
        <p:nvPicPr>
          <p:cNvPr id="27" name="img_26" descr="NAVI F450 CAD design model (nominal layout, not a photograph)"/>
          <p:cNvPicPr>
            <a:picLocks noChangeAspect="1"/>
          </p:cNvPicPr>
          <p:nvPr/>
        </p:nvPicPr>
        <p:blipFill>
          <a:blip r:embed="rId3"/>
          <a:stretch>
            <a:fillRect/>
          </a:stretch>
        </p:blipFill>
        <p:spPr>
          <a:xfrm>
            <a:off x="6446520" y="868680"/>
            <a:ext cx="5349240" cy="3242854"/>
          </a:xfrm>
          <a:prstGeom prst="rect">
            <a:avLst/>
          </a:prstGeom>
        </p:spPr>
      </p:pic>
      <p:sp>
        <p:nvSpPr>
          <p:cNvPr id="28" name="chip_27"/>
          <p:cNvSpPr txBox="1"/>
          <p:nvPr/>
        </p:nvSpPr>
        <p:spPr>
          <a:xfrm>
            <a:off x="6629400" y="4279392"/>
            <a:ext cx="4276344" cy="237744"/>
          </a:xfrm>
          <a:prstGeom prst="roundRect">
            <a:avLst>
              <a:gd name="adj" fmla="val 19231"/>
            </a:avLst>
          </a:prstGeom>
          <a:solidFill>
            <a:srgbClr val="3B82F6">
              <a:alpha val="12000"/>
            </a:srgbClr>
          </a:solidFill>
          <a:ln w="9525">
            <a:solidFill>
              <a:srgbClr val="3B82F6">
                <a:alpha val="65000"/>
              </a:srgbClr>
            </a:solidFill>
          </a:ln>
        </p:spPr>
        <p:txBody>
          <a:bodyPr wrap="square" lIns="0" tIns="0" rIns="0" bIns="0" rtlCol="0" anchor="ctr"/>
          <a:lstStyle/>
          <a:p>
            <a:pPr marL="0" indent="0" algn="ctr">
              <a:buNone/>
            </a:pPr>
            <a:r>
              <a:rPr lang="en-US" sz="1000" b="1" dirty="0">
                <a:solidFill>
                  <a:srgbClr val="3B82F6"/>
                </a:solidFill>
                <a:latin typeface="JetBrains Mono" pitchFamily="34" charset="0"/>
                <a:ea typeface="JetBrains Mono" pitchFamily="34" charset="-122"/>
                <a:cs typeface="JetBrains Mono" pitchFamily="34" charset="-120"/>
              </a:rPr>
              <a:t>DESIGN MODEL · NOMINAL F450 LAYOUT · NOT A PHOTOGRAPH</a:t>
            </a:r>
            <a:endParaRPr lang="en-US" sz="1000" dirty="0"/>
          </a:p>
        </p:txBody>
      </p:sp>
      <p:sp>
        <p:nvSpPr>
          <p:cNvPr id="29" name="sig_label"/>
          <p:cNvSpPr txBox="1"/>
          <p:nvPr/>
        </p:nvSpPr>
        <p:spPr>
          <a:xfrm>
            <a:off x="9585655" y="5294376"/>
            <a:ext cx="2103120" cy="274320"/>
          </a:xfrm>
          <a:prstGeom prst="rect">
            <a:avLst/>
          </a:prstGeom>
          <a:noFill/>
          <a:ln/>
        </p:spPr>
        <p:txBody>
          <a:bodyPr wrap="square" lIns="0" tIns="0" rIns="0" bIns="0" rtlCol="0" anchor="t"/>
          <a:lstStyle/>
          <a:p>
            <a:pPr marL="0" indent="0">
              <a:buNone/>
            </a:pPr>
            <a:r>
              <a:rPr lang="en-US" sz="1400" b="1" dirty="0">
                <a:solidFill>
                  <a:srgbClr val="F8FAFC"/>
                </a:solidFill>
                <a:latin typeface="Inter" pitchFamily="34" charset="0"/>
                <a:ea typeface="Inter" pitchFamily="34" charset="-122"/>
                <a:cs typeface="Inter" pitchFamily="34" charset="-120"/>
              </a:rPr>
              <a:t>Signed by faculty:</a:t>
            </a:r>
            <a:endParaRPr lang="en-US" sz="1400" dirty="0"/>
          </a:p>
        </p:txBody>
      </p:sp>
      <p:sp>
        <p:nvSpPr>
          <p:cNvPr id="30" name="sig_box"/>
          <p:cNvSpPr/>
          <p:nvPr/>
        </p:nvSpPr>
        <p:spPr>
          <a:xfrm>
            <a:off x="9585655" y="5623560"/>
            <a:ext cx="2103120" cy="731520"/>
          </a:xfrm>
          <a:prstGeom prst="roundRect">
            <a:avLst>
              <a:gd name="adj" fmla="val 2500"/>
            </a:avLst>
          </a:prstGeom>
          <a:solidFill>
            <a:srgbClr val="F8FAFC"/>
          </a:solidFill>
          <a:ln w="9525">
            <a:solidFill>
              <a:srgbClr val="94A3B8"/>
            </a:solidFill>
            <a:prstDash val="solid"/>
          </a:ln>
        </p:spPr>
      </p:sp>
      <p:sp>
        <p:nvSpPr>
          <p:cNvPr id="31" name="txt_28"/>
          <p:cNvSpPr txBox="1"/>
          <p:nvPr/>
        </p:nvSpPr>
        <p:spPr>
          <a:xfrm>
            <a:off x="6537960" y="6419088"/>
            <a:ext cx="1188720" cy="237744"/>
          </a:xfrm>
          <a:prstGeom prst="rect">
            <a:avLst/>
          </a:prstGeom>
          <a:noFill/>
          <a:ln/>
        </p:spPr>
        <p:txBody>
          <a:bodyPr wrap="square" lIns="0" tIns="0" rIns="0" bIns="0" rtlCol="0" anchor="ctr"/>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[ 01 / 18 ]</a:t>
            </a:r>
            <a:endParaRPr lang="en-US" sz="12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xt_29"/>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01: PROBLEM</a:t>
            </a:r>
            <a:endParaRPr lang="en-US" sz="1100" dirty="0"/>
          </a:p>
        </p:txBody>
      </p:sp>
      <p:sp>
        <p:nvSpPr>
          <p:cNvPr id="3" name="kicker_30"/>
          <p:cNvSpPr txBox="1"/>
          <p:nvPr/>
        </p:nvSpPr>
        <p:spPr>
          <a:xfrm>
            <a:off x="457200" y="548640"/>
            <a:ext cx="350901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PROBLEM IDENTIFICATION</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First-time visitors must translate maps into movement</a:t>
            </a:r>
            <a:endParaRPr lang="en-US" sz="4000" dirty="0"/>
          </a:p>
        </p:txBody>
      </p:sp>
      <p:sp>
        <p:nvSpPr>
          <p:cNvPr id="5" name="txt_31"/>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PROBLEM FRAMING · CONCEPTUAL JOURNEY</a:t>
            </a:r>
            <a:endParaRPr lang="en-US" sz="1000" dirty="0"/>
          </a:p>
        </p:txBody>
      </p:sp>
      <p:sp>
        <p:nvSpPr>
          <p:cNvPr id="6" name="txt_32"/>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 p3; §9 p8</a:t>
            </a:r>
            <a:endParaRPr lang="en-US" sz="1000" dirty="0"/>
          </a:p>
        </p:txBody>
      </p:sp>
      <p:sp>
        <p:nvSpPr>
          <p:cNvPr id="7" name="txt_33"/>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[ 02 / 18 ]</a:t>
            </a:r>
            <a:endParaRPr lang="en-US" sz="1200" dirty="0"/>
          </a:p>
        </p:txBody>
      </p:sp>
      <p:sp>
        <p:nvSpPr>
          <p:cNvPr id="9" name="box_34"/>
          <p:cNvSpPr/>
          <p:nvPr/>
        </p:nvSpPr>
        <p:spPr>
          <a:xfrm>
            <a:off x="457200" y="2194560"/>
            <a:ext cx="2103120" cy="1298448"/>
          </a:xfrm>
          <a:prstGeom prst="roundRect">
            <a:avLst>
              <a:gd name="adj" fmla="val 4225"/>
            </a:avLst>
          </a:prstGeom>
          <a:solidFill>
            <a:srgbClr val="131C2E">
              <a:alpha val="82000"/>
            </a:srgbClr>
          </a:solidFill>
          <a:ln w="9525">
            <a:solidFill>
              <a:srgbClr val="00F0FF">
                <a:alpha val="25000"/>
              </a:srgbClr>
            </a:solidFill>
            <a:prstDash val="solid"/>
          </a:ln>
        </p:spPr>
      </p:sp>
      <p:sp>
        <p:nvSpPr>
          <p:cNvPr id="10" name="txt_35"/>
          <p:cNvSpPr txBox="1"/>
          <p:nvPr/>
        </p:nvSpPr>
        <p:spPr>
          <a:xfrm>
            <a:off x="585216" y="2304288"/>
            <a:ext cx="187452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01  </a:t>
            </a:r>
            <a:r>
              <a:rPr lang="en-US" sz="1300" b="1" dirty="0">
                <a:solidFill>
                  <a:srgbClr val="F8FAFC"/>
                </a:solidFill>
                <a:latin typeface="JetBrains Mono" pitchFamily="34" charset="0"/>
                <a:ea typeface="JetBrains Mono" pitchFamily="34" charset="-122"/>
                <a:cs typeface="JetBrains Mono" pitchFamily="34" charset="-120"/>
              </a:rPr>
              <a:t>ARRIVE AT GATE</a:t>
            </a:r>
            <a:endParaRPr lang="en-US" sz="1500" dirty="0"/>
          </a:p>
        </p:txBody>
      </p:sp>
      <p:sp>
        <p:nvSpPr>
          <p:cNvPr id="11" name="txt_36"/>
          <p:cNvSpPr txBox="1"/>
          <p:nvPr/>
        </p:nvSpPr>
        <p:spPr>
          <a:xfrm>
            <a:off x="585216" y="2651760"/>
            <a:ext cx="1865376" cy="7772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Visitor knows a destination name, not the campus.</a:t>
            </a:r>
            <a:endParaRPr lang="en-US" sz="1400" dirty="0"/>
          </a:p>
        </p:txBody>
      </p:sp>
      <p:sp>
        <p:nvSpPr>
          <p:cNvPr id="12" name="ln_37"/>
          <p:cNvSpPr/>
          <p:nvPr/>
        </p:nvSpPr>
        <p:spPr>
          <a:xfrm>
            <a:off x="2578608" y="2843784"/>
            <a:ext cx="146304" cy="914"/>
          </a:xfrm>
          <a:prstGeom prst="line">
            <a:avLst/>
          </a:prstGeom>
          <a:noFill/>
          <a:ln w="15875">
            <a:solidFill>
              <a:srgbClr val="00F0FF"/>
            </a:solidFill>
            <a:prstDash val="solid"/>
            <a:tailEnd type="triangle"/>
          </a:ln>
        </p:spPr>
      </p:sp>
      <p:sp>
        <p:nvSpPr>
          <p:cNvPr id="13" name="box_38"/>
          <p:cNvSpPr/>
          <p:nvPr/>
        </p:nvSpPr>
        <p:spPr>
          <a:xfrm>
            <a:off x="2743200" y="2194560"/>
            <a:ext cx="2103120" cy="1298448"/>
          </a:xfrm>
          <a:prstGeom prst="roundRect">
            <a:avLst>
              <a:gd name="adj" fmla="val 4225"/>
            </a:avLst>
          </a:prstGeom>
          <a:solidFill>
            <a:srgbClr val="131C2E">
              <a:alpha val="82000"/>
            </a:srgbClr>
          </a:solidFill>
          <a:ln w="9525">
            <a:solidFill>
              <a:srgbClr val="00F0FF">
                <a:alpha val="25000"/>
              </a:srgbClr>
            </a:solidFill>
            <a:prstDash val="solid"/>
          </a:ln>
        </p:spPr>
      </p:sp>
      <p:sp>
        <p:nvSpPr>
          <p:cNvPr id="14" name="txt_39"/>
          <p:cNvSpPr txBox="1"/>
          <p:nvPr/>
        </p:nvSpPr>
        <p:spPr>
          <a:xfrm>
            <a:off x="2871216" y="2304288"/>
            <a:ext cx="187452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02  </a:t>
            </a:r>
            <a:r>
              <a:rPr lang="en-US" sz="1300" b="1" dirty="0">
                <a:solidFill>
                  <a:srgbClr val="F8FAFC"/>
                </a:solidFill>
                <a:latin typeface="JetBrains Mono" pitchFamily="34" charset="0"/>
                <a:ea typeface="JetBrains Mono" pitchFamily="34" charset="-122"/>
                <a:cs typeface="JetBrains Mono" pitchFamily="34" charset="-120"/>
              </a:rPr>
              <a:t>READ SIGN / MAP</a:t>
            </a:r>
            <a:endParaRPr lang="en-US" sz="1500" dirty="0"/>
          </a:p>
        </p:txBody>
      </p:sp>
      <p:sp>
        <p:nvSpPr>
          <p:cNvPr id="15" name="txt_40"/>
          <p:cNvSpPr txBox="1"/>
          <p:nvPr/>
        </p:nvSpPr>
        <p:spPr>
          <a:xfrm>
            <a:off x="2871216" y="2651760"/>
            <a:ext cx="1865376" cy="7772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Board or phone shows a map, not a route.</a:t>
            </a:r>
            <a:endParaRPr lang="en-US" sz="1400" dirty="0"/>
          </a:p>
        </p:txBody>
      </p:sp>
      <p:sp>
        <p:nvSpPr>
          <p:cNvPr id="16" name="ln_41"/>
          <p:cNvSpPr/>
          <p:nvPr/>
        </p:nvSpPr>
        <p:spPr>
          <a:xfrm>
            <a:off x="4864608" y="2843784"/>
            <a:ext cx="146304" cy="914"/>
          </a:xfrm>
          <a:prstGeom prst="line">
            <a:avLst/>
          </a:prstGeom>
          <a:noFill/>
          <a:ln w="15875">
            <a:solidFill>
              <a:srgbClr val="00F0FF"/>
            </a:solidFill>
            <a:prstDash val="solid"/>
            <a:tailEnd type="triangle"/>
          </a:ln>
        </p:spPr>
      </p:sp>
      <p:sp>
        <p:nvSpPr>
          <p:cNvPr id="17" name="box_42"/>
          <p:cNvSpPr/>
          <p:nvPr/>
        </p:nvSpPr>
        <p:spPr>
          <a:xfrm>
            <a:off x="5029200" y="2194560"/>
            <a:ext cx="2103120" cy="1298448"/>
          </a:xfrm>
          <a:prstGeom prst="roundRect">
            <a:avLst>
              <a:gd name="adj" fmla="val 4225"/>
            </a:avLst>
          </a:prstGeom>
          <a:solidFill>
            <a:srgbClr val="F59E0B">
              <a:alpha val="12000"/>
            </a:srgbClr>
          </a:solidFill>
          <a:ln w="9525">
            <a:solidFill>
              <a:srgbClr val="F59E0B">
                <a:alpha val="70000"/>
              </a:srgbClr>
            </a:solidFill>
            <a:prstDash val="solid"/>
          </a:ln>
        </p:spPr>
      </p:sp>
      <p:sp>
        <p:nvSpPr>
          <p:cNvPr id="18" name="txt_43"/>
          <p:cNvSpPr txBox="1"/>
          <p:nvPr/>
        </p:nvSpPr>
        <p:spPr>
          <a:xfrm>
            <a:off x="5157216" y="2304288"/>
            <a:ext cx="1874520" cy="274320"/>
          </a:xfrm>
          <a:prstGeom prst="rect">
            <a:avLst/>
          </a:prstGeom>
          <a:noFill/>
          <a:ln/>
        </p:spPr>
        <p:txBody>
          <a:bodyPr wrap="square" lIns="0" tIns="0" rIns="0" bIns="0" rtlCol="0" anchor="t"/>
          <a:lstStyle/>
          <a:p>
            <a:pPr marL="0" indent="0">
              <a:buNone/>
            </a:pPr>
            <a:r>
              <a:rPr lang="en-US" sz="1300" b="1" dirty="0">
                <a:solidFill>
                  <a:srgbClr val="F59E0B"/>
                </a:solidFill>
                <a:latin typeface="JetBrains Mono" pitchFamily="34" charset="0"/>
                <a:ea typeface="JetBrains Mono" pitchFamily="34" charset="-122"/>
                <a:cs typeface="JetBrains Mono" pitchFamily="34" charset="-120"/>
              </a:rPr>
              <a:t>03  </a:t>
            </a:r>
            <a:r>
              <a:rPr lang="en-US" sz="1300" b="1" dirty="0">
                <a:solidFill>
                  <a:srgbClr val="F8FAFC"/>
                </a:solidFill>
                <a:latin typeface="JetBrains Mono" pitchFamily="34" charset="0"/>
                <a:ea typeface="JetBrains Mono" pitchFamily="34" charset="-122"/>
                <a:cs typeface="JetBrains Mono" pitchFamily="34" charset="-120"/>
              </a:rPr>
              <a:t>SELF-LOCALISE</a:t>
            </a:r>
            <a:endParaRPr lang="en-US" sz="1500" dirty="0"/>
          </a:p>
        </p:txBody>
      </p:sp>
      <p:sp>
        <p:nvSpPr>
          <p:cNvPr id="19" name="txt_44"/>
          <p:cNvSpPr txBox="1"/>
          <p:nvPr/>
        </p:nvSpPr>
        <p:spPr>
          <a:xfrm>
            <a:off x="5157216" y="2651760"/>
            <a:ext cx="1865376" cy="7772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"Where am I on this map?" The friction step.</a:t>
            </a:r>
            <a:endParaRPr lang="en-US" sz="1400" dirty="0"/>
          </a:p>
        </p:txBody>
      </p:sp>
      <p:sp>
        <p:nvSpPr>
          <p:cNvPr id="20" name="ln_45"/>
          <p:cNvSpPr/>
          <p:nvPr/>
        </p:nvSpPr>
        <p:spPr>
          <a:xfrm>
            <a:off x="7150608" y="2843784"/>
            <a:ext cx="146304" cy="914"/>
          </a:xfrm>
          <a:prstGeom prst="line">
            <a:avLst/>
          </a:prstGeom>
          <a:noFill/>
          <a:ln w="15875">
            <a:solidFill>
              <a:srgbClr val="00F0FF"/>
            </a:solidFill>
            <a:prstDash val="solid"/>
            <a:tailEnd type="triangle"/>
          </a:ln>
        </p:spPr>
      </p:sp>
      <p:sp>
        <p:nvSpPr>
          <p:cNvPr id="21" name="box_46"/>
          <p:cNvSpPr/>
          <p:nvPr/>
        </p:nvSpPr>
        <p:spPr>
          <a:xfrm>
            <a:off x="7315200" y="2194560"/>
            <a:ext cx="2103120" cy="1298448"/>
          </a:xfrm>
          <a:prstGeom prst="roundRect">
            <a:avLst>
              <a:gd name="adj" fmla="val 4225"/>
            </a:avLst>
          </a:prstGeom>
          <a:solidFill>
            <a:srgbClr val="131C2E">
              <a:alpha val="82000"/>
            </a:srgbClr>
          </a:solidFill>
          <a:ln w="9525">
            <a:solidFill>
              <a:srgbClr val="00F0FF">
                <a:alpha val="25000"/>
              </a:srgbClr>
            </a:solidFill>
            <a:prstDash val="solid"/>
          </a:ln>
        </p:spPr>
      </p:sp>
      <p:sp>
        <p:nvSpPr>
          <p:cNvPr id="22" name="txt_47"/>
          <p:cNvSpPr txBox="1"/>
          <p:nvPr/>
        </p:nvSpPr>
        <p:spPr>
          <a:xfrm>
            <a:off x="7443216" y="2304288"/>
            <a:ext cx="187452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04  </a:t>
            </a:r>
            <a:r>
              <a:rPr lang="en-US" sz="1300" b="1" dirty="0">
                <a:solidFill>
                  <a:srgbClr val="F8FAFC"/>
                </a:solidFill>
                <a:latin typeface="JetBrains Mono" pitchFamily="34" charset="0"/>
                <a:ea typeface="JetBrains Mono" pitchFamily="34" charset="-122"/>
                <a:cs typeface="JetBrains Mono" pitchFamily="34" charset="-120"/>
              </a:rPr>
              <a:t>MAP → TURNS</a:t>
            </a:r>
            <a:endParaRPr lang="en-US" sz="1500" dirty="0"/>
          </a:p>
        </p:txBody>
      </p:sp>
      <p:sp>
        <p:nvSpPr>
          <p:cNvPr id="23" name="txt_48"/>
          <p:cNvSpPr txBox="1"/>
          <p:nvPr/>
        </p:nvSpPr>
        <p:spPr>
          <a:xfrm>
            <a:off x="7443216" y="2651760"/>
            <a:ext cx="1865376" cy="7772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Relate map to paths, kerbs and buildings.</a:t>
            </a:r>
            <a:endParaRPr lang="en-US" sz="1400" dirty="0"/>
          </a:p>
        </p:txBody>
      </p:sp>
      <p:sp>
        <p:nvSpPr>
          <p:cNvPr id="24" name="ln_49"/>
          <p:cNvSpPr/>
          <p:nvPr/>
        </p:nvSpPr>
        <p:spPr>
          <a:xfrm>
            <a:off x="9436608" y="2843784"/>
            <a:ext cx="146304" cy="914"/>
          </a:xfrm>
          <a:prstGeom prst="line">
            <a:avLst/>
          </a:prstGeom>
          <a:noFill/>
          <a:ln w="15875">
            <a:solidFill>
              <a:srgbClr val="00F0FF"/>
            </a:solidFill>
            <a:prstDash val="solid"/>
            <a:tailEnd type="triangle"/>
          </a:ln>
        </p:spPr>
      </p:sp>
      <p:sp>
        <p:nvSpPr>
          <p:cNvPr id="25" name="box_50"/>
          <p:cNvSpPr/>
          <p:nvPr/>
        </p:nvSpPr>
        <p:spPr>
          <a:xfrm>
            <a:off x="9601200" y="2194560"/>
            <a:ext cx="2103120" cy="1298448"/>
          </a:xfrm>
          <a:prstGeom prst="roundRect">
            <a:avLst>
              <a:gd name="adj" fmla="val 4225"/>
            </a:avLst>
          </a:prstGeom>
          <a:solidFill>
            <a:srgbClr val="131C2E">
              <a:alpha val="82000"/>
            </a:srgbClr>
          </a:solidFill>
          <a:ln w="9525">
            <a:solidFill>
              <a:srgbClr val="00F0FF">
                <a:alpha val="25000"/>
              </a:srgbClr>
            </a:solidFill>
            <a:prstDash val="solid"/>
          </a:ln>
        </p:spPr>
      </p:sp>
      <p:sp>
        <p:nvSpPr>
          <p:cNvPr id="26" name="txt_51"/>
          <p:cNvSpPr txBox="1"/>
          <p:nvPr/>
        </p:nvSpPr>
        <p:spPr>
          <a:xfrm>
            <a:off x="9729216" y="2304288"/>
            <a:ext cx="187452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05  </a:t>
            </a:r>
            <a:r>
              <a:rPr lang="en-US" sz="1300" b="1" dirty="0">
                <a:solidFill>
                  <a:srgbClr val="F8FAFC"/>
                </a:solidFill>
                <a:latin typeface="JetBrains Mono" pitchFamily="34" charset="0"/>
                <a:ea typeface="JetBrains Mono" pitchFamily="34" charset="-122"/>
                <a:cs typeface="JetBrains Mono" pitchFamily="34" charset="-120"/>
              </a:rPr>
              <a:t>ARRIVE OR ASK</a:t>
            </a:r>
            <a:endParaRPr lang="en-US" sz="1500" dirty="0"/>
          </a:p>
        </p:txBody>
      </p:sp>
      <p:sp>
        <p:nvSpPr>
          <p:cNvPr id="27" name="txt_52"/>
          <p:cNvSpPr txBox="1"/>
          <p:nvPr/>
        </p:nvSpPr>
        <p:spPr>
          <a:xfrm>
            <a:off x="9729216" y="2651760"/>
            <a:ext cx="1865376" cy="7772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Success, or ask a busy person for help.</a:t>
            </a:r>
            <a:endParaRPr lang="en-US" sz="1400" dirty="0"/>
          </a:p>
        </p:txBody>
      </p:sp>
      <p:sp>
        <p:nvSpPr>
          <p:cNvPr id="28" name="chip_53"/>
          <p:cNvSpPr txBox="1"/>
          <p:nvPr/>
        </p:nvSpPr>
        <p:spPr>
          <a:xfrm>
            <a:off x="457200" y="3584448"/>
            <a:ext cx="342290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100" b="1" dirty="0">
                <a:solidFill>
                  <a:srgbClr val="94A3B8"/>
                </a:solidFill>
                <a:latin typeface="JetBrains Mono" pitchFamily="34" charset="0"/>
                <a:ea typeface="JetBrains Mono" pitchFamily="34" charset="-122"/>
                <a:cs typeface="JetBrains Mono" pitchFamily="34" charset="-120"/>
              </a:rPr>
              <a:t>CONCEPTUAL JOURNEY · NOT OBSERVED DATA</a:t>
            </a:r>
            <a:endParaRPr lang="en-US" sz="1100" dirty="0"/>
          </a:p>
        </p:txBody>
      </p:sp>
      <p:sp>
        <p:nvSpPr>
          <p:cNvPr id="29" name="box_54"/>
          <p:cNvSpPr/>
          <p:nvPr/>
        </p:nvSpPr>
        <p:spPr>
          <a:xfrm>
            <a:off x="457200" y="3950208"/>
            <a:ext cx="2651760" cy="2212848"/>
          </a:xfrm>
          <a:prstGeom prst="roundRect">
            <a:avLst>
              <a:gd name="adj" fmla="val 2479"/>
            </a:avLst>
          </a:prstGeom>
          <a:solidFill>
            <a:srgbClr val="131C2E">
              <a:alpha val="82000"/>
            </a:srgbClr>
          </a:solidFill>
          <a:ln w="9525">
            <a:solidFill>
              <a:srgbClr val="00F0FF">
                <a:alpha val="22000"/>
              </a:srgbClr>
            </a:solidFill>
            <a:prstDash val="solid"/>
          </a:ln>
        </p:spPr>
      </p:sp>
      <p:sp>
        <p:nvSpPr>
          <p:cNvPr id="30" name="txt_55"/>
          <p:cNvSpPr txBox="1"/>
          <p:nvPr/>
        </p:nvSpPr>
        <p:spPr>
          <a:xfrm>
            <a:off x="603504" y="4078224"/>
            <a:ext cx="237744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WHO</a:t>
            </a:r>
            <a:endParaRPr lang="en-US" sz="1300" dirty="0"/>
          </a:p>
        </p:txBody>
      </p:sp>
      <p:sp>
        <p:nvSpPr>
          <p:cNvPr id="31" name="txt_56"/>
          <p:cNvSpPr txBox="1"/>
          <p:nvPr/>
        </p:nvSpPr>
        <p:spPr>
          <a:xfrm>
            <a:off x="603504" y="4407408"/>
            <a:ext cx="2377440" cy="1645920"/>
          </a:xfrm>
          <a:prstGeom prst="rect">
            <a:avLst/>
          </a:prstGeom>
          <a:noFill/>
          <a:ln/>
        </p:spPr>
        <p:txBody>
          <a:bodyPr wrap="square" lIns="0" tIns="0" rIns="0" bIns="0" rtlCol="0" anchor="t"/>
          <a:lstStyle/>
          <a:p>
            <a:pPr marL="0" indent="0">
              <a:buNone/>
            </a:pPr>
            <a:r>
              <a:rPr lang="en-US" sz="1500" dirty="0">
                <a:solidFill>
                  <a:srgbClr val="F8FAFC"/>
                </a:solidFill>
                <a:latin typeface="Inter" pitchFamily="34" charset="0"/>
                <a:ea typeface="Inter" pitchFamily="34" charset="-122"/>
                <a:cs typeface="Inter" pitchFamily="34" charset="-120"/>
              </a:rPr>
              <a:t>First-time visitors: mostly visiting parents and guests. Demand peaks on event days, when staff are busiest.</a:t>
            </a:r>
            <a:endParaRPr lang="en-US" sz="1500" dirty="0"/>
          </a:p>
        </p:txBody>
      </p:sp>
      <p:sp>
        <p:nvSpPr>
          <p:cNvPr id="32" name="box_57"/>
          <p:cNvSpPr/>
          <p:nvPr/>
        </p:nvSpPr>
        <p:spPr>
          <a:xfrm>
            <a:off x="3246120" y="3950208"/>
            <a:ext cx="2651760" cy="2212848"/>
          </a:xfrm>
          <a:prstGeom prst="roundRect">
            <a:avLst>
              <a:gd name="adj" fmla="val 2479"/>
            </a:avLst>
          </a:prstGeom>
          <a:solidFill>
            <a:srgbClr val="131C2E">
              <a:alpha val="82000"/>
            </a:srgbClr>
          </a:solidFill>
          <a:ln w="9525">
            <a:solidFill>
              <a:srgbClr val="00F0FF">
                <a:alpha val="22000"/>
              </a:srgbClr>
            </a:solidFill>
            <a:prstDash val="solid"/>
          </a:ln>
        </p:spPr>
      </p:sp>
      <p:sp>
        <p:nvSpPr>
          <p:cNvPr id="33" name="txt_58"/>
          <p:cNvSpPr txBox="1"/>
          <p:nvPr/>
        </p:nvSpPr>
        <p:spPr>
          <a:xfrm>
            <a:off x="3392424" y="4078224"/>
            <a:ext cx="237744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WHY MAPS FALL SHORT</a:t>
            </a:r>
            <a:endParaRPr lang="en-US" sz="1300" dirty="0"/>
          </a:p>
        </p:txBody>
      </p:sp>
      <p:sp>
        <p:nvSpPr>
          <p:cNvPr id="34" name="txt_59"/>
          <p:cNvSpPr txBox="1"/>
          <p:nvPr/>
        </p:nvSpPr>
        <p:spPr>
          <a:xfrm>
            <a:off x="3392424" y="4407408"/>
            <a:ext cx="2377440" cy="1645920"/>
          </a:xfrm>
          <a:prstGeom prst="rect">
            <a:avLst/>
          </a:prstGeom>
          <a:noFill/>
          <a:ln/>
        </p:spPr>
        <p:txBody>
          <a:bodyPr wrap="square" lIns="0" tIns="0" rIns="0" bIns="0" rtlCol="0" anchor="t"/>
          <a:lstStyle/>
          <a:p>
            <a:pPr marL="0" indent="0">
              <a:buNone/>
            </a:pPr>
            <a:r>
              <a:rPr lang="en-US" sz="1500" dirty="0">
                <a:solidFill>
                  <a:srgbClr val="F8FAFC"/>
                </a:solidFill>
                <a:latin typeface="Inter" pitchFamily="34" charset="0"/>
                <a:ea typeface="Inter" pitchFamily="34" charset="-122"/>
                <a:cs typeface="Inter" pitchFamily="34" charset="-120"/>
              </a:rPr>
              <a:t>Signage is passive, escorts do not scale, and phone maps carry little internal campus path detail.</a:t>
            </a:r>
            <a:endParaRPr lang="en-US" sz="1500" dirty="0"/>
          </a:p>
        </p:txBody>
      </p:sp>
      <p:sp>
        <p:nvSpPr>
          <p:cNvPr id="35" name="box_60"/>
          <p:cNvSpPr/>
          <p:nvPr/>
        </p:nvSpPr>
        <p:spPr>
          <a:xfrm>
            <a:off x="6035040" y="3950208"/>
            <a:ext cx="2377440" cy="2212848"/>
          </a:xfrm>
          <a:prstGeom prst="roundRect">
            <a:avLst>
              <a:gd name="adj" fmla="val 2479"/>
            </a:avLst>
          </a:prstGeom>
          <a:solidFill>
            <a:srgbClr val="131C2E">
              <a:alpha val="82000"/>
            </a:srgbClr>
          </a:solidFill>
          <a:ln w="9525">
            <a:solidFill>
              <a:srgbClr val="00F0FF">
                <a:alpha val="22000"/>
              </a:srgbClr>
            </a:solidFill>
            <a:prstDash val="solid"/>
          </a:ln>
        </p:spPr>
      </p:sp>
      <p:sp>
        <p:nvSpPr>
          <p:cNvPr id="36" name="txt_61"/>
          <p:cNvSpPr txBox="1"/>
          <p:nvPr/>
        </p:nvSpPr>
        <p:spPr>
          <a:xfrm>
            <a:off x="6181344" y="4059936"/>
            <a:ext cx="2148840" cy="1737360"/>
          </a:xfrm>
          <a:prstGeom prst="rect">
            <a:avLst/>
          </a:prstGeom>
          <a:noFill/>
          <a:ln/>
        </p:spPr>
        <p:txBody>
          <a:bodyPr wrap="square" lIns="0" tIns="0" rIns="0" bIns="0" rtlCol="0" anchor="t"/>
          <a:lstStyle/>
          <a:p>
            <a:pPr marL="0" indent="0">
              <a:buNone/>
            </a:pPr>
            <a:r>
              <a:rPr lang="en-US" sz="4000" b="1" dirty="0">
                <a:solidFill>
                  <a:srgbClr val="00F0FF"/>
                </a:solidFill>
                <a:latin typeface="Space Grotesk" pitchFamily="34" charset="0"/>
                <a:ea typeface="Space Grotesk" pitchFamily="34" charset="-122"/>
                <a:cs typeface="Space Grotesk" pitchFamily="34" charset="-120"/>
              </a:rPr>
              <a:t>42.2 ha</a:t>
            </a:r>
            <a:endParaRPr lang="en-US" sz="1500" dirty="0"/>
          </a:p>
          <a:p>
            <a:pPr marL="0" indent="0">
              <a:buNone/>
            </a:pPr>
            <a:r>
              <a:rPr lang="en-US" sz="1100" dirty="0">
                <a:solidFill>
                  <a:srgbClr val="94A3B8"/>
                </a:solidFill>
                <a:latin typeface="JetBrains Mono" pitchFamily="34" charset="0"/>
                <a:ea typeface="JetBrains Mono" pitchFamily="34" charset="-122"/>
                <a:cs typeface="JetBrains Mono" pitchFamily="34" charset="-120"/>
              </a:rPr>
              <a:t>CAMPUS AREA (OSM POLYGON)</a:t>
            </a:r>
            <a:endParaRPr lang="en-US" sz="1500" dirty="0"/>
          </a:p>
          <a:p>
            <a:pPr marL="0" indent="0">
              <a:buNone/>
            </a:pPr>
            <a:r>
              <a:rPr lang="en-US" sz="4000" b="1" dirty="0">
                <a:solidFill>
                  <a:srgbClr val="00F0FF"/>
                </a:solidFill>
                <a:latin typeface="Space Grotesk" pitchFamily="34" charset="0"/>
                <a:ea typeface="Space Grotesk" pitchFamily="34" charset="-122"/>
                <a:cs typeface="Space Grotesk" pitchFamily="34" charset="-120"/>
              </a:rPr>
              <a:t>453 m</a:t>
            </a:r>
            <a:endParaRPr lang="en-US" sz="1500" dirty="0"/>
          </a:p>
          <a:p>
            <a:pPr marL="0" indent="0">
              <a:buNone/>
            </a:pPr>
            <a:r>
              <a:rPr lang="en-US" sz="1100" dirty="0">
                <a:solidFill>
                  <a:srgbClr val="94A3B8"/>
                </a:solidFill>
                <a:latin typeface="JetBrains Mono" pitchFamily="34" charset="0"/>
                <a:ea typeface="JetBrains Mono" pitchFamily="34" charset="-122"/>
                <a:cs typeface="JetBrains Mono" pitchFamily="34" charset="-120"/>
              </a:rPr>
              <a:t>MEDIAN GATE→DESTINATION (GRAPH)</a:t>
            </a:r>
            <a:endParaRPr lang="en-US" sz="1500" dirty="0"/>
          </a:p>
        </p:txBody>
      </p:sp>
      <p:sp>
        <p:nvSpPr>
          <p:cNvPr id="37" name="chip_62"/>
          <p:cNvSpPr txBox="1"/>
          <p:nvPr/>
        </p:nvSpPr>
        <p:spPr>
          <a:xfrm>
            <a:off x="6181344" y="5833872"/>
            <a:ext cx="2218944" cy="237744"/>
          </a:xfrm>
          <a:prstGeom prst="roundRect">
            <a:avLst>
              <a:gd name="adj" fmla="val 19231"/>
            </a:avLst>
          </a:prstGeom>
          <a:solidFill>
            <a:srgbClr val="10B981">
              <a:alpha val="12000"/>
            </a:srgbClr>
          </a:solidFill>
          <a:ln w="9525">
            <a:solidFill>
              <a:srgbClr val="10B981">
                <a:alpha val="65000"/>
              </a:srgbClr>
            </a:solidFill>
          </a:ln>
        </p:spPr>
        <p:txBody>
          <a:bodyPr wrap="square" lIns="0" tIns="0" rIns="0" bIns="0" rtlCol="0" anchor="ctr"/>
          <a:lstStyle/>
          <a:p>
            <a:pPr marL="0" indent="0" algn="ctr">
              <a:buNone/>
            </a:pPr>
            <a:r>
              <a:rPr lang="en-US" sz="1000" b="1" dirty="0">
                <a:solidFill>
                  <a:srgbClr val="10B981"/>
                </a:solidFill>
                <a:latin typeface="JetBrains Mono" pitchFamily="34" charset="0"/>
                <a:ea typeface="JetBrains Mono" pitchFamily="34" charset="-122"/>
                <a:cs typeface="JetBrains Mono" pitchFamily="34" charset="-120"/>
              </a:rPr>
              <a:t>COMPUTED / SOURCE-REPORTED</a:t>
            </a:r>
            <a:endParaRPr lang="en-US" sz="1000" dirty="0"/>
          </a:p>
        </p:txBody>
      </p:sp>
      <p:pic>
        <p:nvPicPr>
          <p:cNvPr id="38" name="img_63" descr="NAVI live-map screenshot of VIT Chennai campus (simulation)"/>
          <p:cNvPicPr>
            <a:picLocks noChangeAspect="1"/>
          </p:cNvPicPr>
          <p:nvPr/>
        </p:nvPicPr>
        <p:blipFill>
          <a:blip r:embed="rId3"/>
          <a:srcRect/>
          <a:stretch/>
        </p:blipFill>
        <p:spPr>
          <a:xfrm>
            <a:off x="8549640" y="3950208"/>
            <a:ext cx="3184855" cy="2212848"/>
          </a:xfrm>
          <a:prstGeom prst="rect">
            <a:avLst/>
          </a:prstGeom>
        </p:spPr>
      </p:pic>
      <p:sp>
        <p:nvSpPr>
          <p:cNvPr id="39" name="ln_64"/>
          <p:cNvSpPr/>
          <p:nvPr/>
        </p:nvSpPr>
        <p:spPr>
          <a:xfrm>
            <a:off x="8549640" y="3950208"/>
            <a:ext cx="164592" cy="914"/>
          </a:xfrm>
          <a:prstGeom prst="line">
            <a:avLst/>
          </a:prstGeom>
          <a:noFill/>
          <a:ln w="15875">
            <a:solidFill>
              <a:srgbClr val="00F0FF">
                <a:alpha val="70000"/>
              </a:srgbClr>
            </a:solidFill>
            <a:prstDash val="solid"/>
          </a:ln>
        </p:spPr>
      </p:sp>
      <p:sp>
        <p:nvSpPr>
          <p:cNvPr id="40" name="ln_65"/>
          <p:cNvSpPr/>
          <p:nvPr/>
        </p:nvSpPr>
        <p:spPr>
          <a:xfrm>
            <a:off x="8549640" y="3950208"/>
            <a:ext cx="914" cy="164592"/>
          </a:xfrm>
          <a:prstGeom prst="line">
            <a:avLst/>
          </a:prstGeom>
          <a:noFill/>
          <a:ln w="15875">
            <a:solidFill>
              <a:srgbClr val="00F0FF">
                <a:alpha val="70000"/>
              </a:srgbClr>
            </a:solidFill>
            <a:prstDash val="solid"/>
          </a:ln>
        </p:spPr>
      </p:sp>
      <p:sp>
        <p:nvSpPr>
          <p:cNvPr id="41" name="ln_66"/>
          <p:cNvSpPr/>
          <p:nvPr/>
        </p:nvSpPr>
        <p:spPr>
          <a:xfrm>
            <a:off x="11569903" y="3950208"/>
            <a:ext cx="164592" cy="914"/>
          </a:xfrm>
          <a:prstGeom prst="line">
            <a:avLst/>
          </a:prstGeom>
          <a:noFill/>
          <a:ln w="15875">
            <a:solidFill>
              <a:srgbClr val="00F0FF">
                <a:alpha val="70000"/>
              </a:srgbClr>
            </a:solidFill>
            <a:prstDash val="solid"/>
          </a:ln>
        </p:spPr>
      </p:sp>
      <p:sp>
        <p:nvSpPr>
          <p:cNvPr id="42" name="ln_67"/>
          <p:cNvSpPr/>
          <p:nvPr/>
        </p:nvSpPr>
        <p:spPr>
          <a:xfrm>
            <a:off x="11734495" y="3950208"/>
            <a:ext cx="914" cy="164592"/>
          </a:xfrm>
          <a:prstGeom prst="line">
            <a:avLst/>
          </a:prstGeom>
          <a:noFill/>
          <a:ln w="15875">
            <a:solidFill>
              <a:srgbClr val="00F0FF">
                <a:alpha val="70000"/>
              </a:srgbClr>
            </a:solidFill>
            <a:prstDash val="solid"/>
          </a:ln>
        </p:spPr>
      </p:sp>
      <p:sp>
        <p:nvSpPr>
          <p:cNvPr id="43" name="ln_68"/>
          <p:cNvSpPr/>
          <p:nvPr/>
        </p:nvSpPr>
        <p:spPr>
          <a:xfrm>
            <a:off x="8549640" y="5998464"/>
            <a:ext cx="914" cy="164592"/>
          </a:xfrm>
          <a:prstGeom prst="line">
            <a:avLst/>
          </a:prstGeom>
          <a:noFill/>
          <a:ln w="15875">
            <a:solidFill>
              <a:srgbClr val="00F0FF">
                <a:alpha val="70000"/>
              </a:srgbClr>
            </a:solidFill>
            <a:prstDash val="solid"/>
          </a:ln>
        </p:spPr>
      </p:sp>
      <p:sp>
        <p:nvSpPr>
          <p:cNvPr id="44" name="ln_69"/>
          <p:cNvSpPr/>
          <p:nvPr/>
        </p:nvSpPr>
        <p:spPr>
          <a:xfrm>
            <a:off x="8549640" y="6163056"/>
            <a:ext cx="164592" cy="914"/>
          </a:xfrm>
          <a:prstGeom prst="line">
            <a:avLst/>
          </a:prstGeom>
          <a:noFill/>
          <a:ln w="15875">
            <a:solidFill>
              <a:srgbClr val="00F0FF">
                <a:alpha val="70000"/>
              </a:srgbClr>
            </a:solidFill>
            <a:prstDash val="solid"/>
          </a:ln>
        </p:spPr>
      </p:sp>
      <p:sp>
        <p:nvSpPr>
          <p:cNvPr id="45" name="ln_70"/>
          <p:cNvSpPr/>
          <p:nvPr/>
        </p:nvSpPr>
        <p:spPr>
          <a:xfrm>
            <a:off x="11734495" y="5998464"/>
            <a:ext cx="914" cy="164592"/>
          </a:xfrm>
          <a:prstGeom prst="line">
            <a:avLst/>
          </a:prstGeom>
          <a:noFill/>
          <a:ln w="15875">
            <a:solidFill>
              <a:srgbClr val="00F0FF">
                <a:alpha val="70000"/>
              </a:srgbClr>
            </a:solidFill>
            <a:prstDash val="solid"/>
          </a:ln>
        </p:spPr>
      </p:sp>
      <p:sp>
        <p:nvSpPr>
          <p:cNvPr id="46" name="ln_71"/>
          <p:cNvSpPr/>
          <p:nvPr/>
        </p:nvSpPr>
        <p:spPr>
          <a:xfrm>
            <a:off x="11569903" y="6163056"/>
            <a:ext cx="164592" cy="914"/>
          </a:xfrm>
          <a:prstGeom prst="line">
            <a:avLst/>
          </a:prstGeom>
          <a:noFill/>
          <a:ln w="15875">
            <a:solidFill>
              <a:srgbClr val="00F0FF">
                <a:alpha val="70000"/>
              </a:srgbClr>
            </a:solidFill>
            <a:prstDash val="solid"/>
          </a:ln>
        </p:spPr>
      </p:sp>
      <p:sp>
        <p:nvSpPr>
          <p:cNvPr id="47" name="txt_72"/>
          <p:cNvSpPr txBox="1"/>
          <p:nvPr/>
        </p:nvSpPr>
        <p:spPr>
          <a:xfrm>
            <a:off x="8549640" y="6181344"/>
            <a:ext cx="3184855" cy="201168"/>
          </a:xfrm>
          <a:prstGeom prst="rect">
            <a:avLst/>
          </a:prstGeom>
          <a:noFill/>
          <a:ln/>
        </p:spPr>
        <p:txBody>
          <a:bodyPr wrap="square" lIns="0" tIns="0" rIns="0" bIns="0" rtlCol="0" anchor="t"/>
          <a:lstStyle/>
          <a:p>
            <a:pPr marL="0" indent="0" algn="r">
              <a:buNone/>
            </a:pPr>
            <a:r>
              <a:rPr lang="en-US" sz="900" dirty="0">
                <a:solidFill>
                  <a:srgbClr val="94A3B8"/>
                </a:solidFill>
                <a:latin typeface="JetBrains Mono" pitchFamily="34" charset="0"/>
                <a:ea typeface="JetBrains Mono" pitchFamily="34" charset="-122"/>
                <a:cs typeface="JetBrains Mono" pitchFamily="34" charset="-120"/>
              </a:rPr>
              <a:t>NAVI live map (simulation) · Imagery © Esri · Leaflet</a:t>
            </a:r>
            <a:endParaRPr lang="en-US" sz="9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anim calcmode="lin" valueType="num">
                                      <p:cBhvr>
                                        <p:cTn id="8" dur="350" decel="100000" fill="hold"/>
                                        <p:tgtEl>
                                          <p:spTgt spid="9"/>
                                        </p:tgtEl>
                                        <p:attrNameLst>
                                          <p:attrName>ppt_x</p:attrName>
                                        </p:attrNameLst>
                                      </p:cBhvr>
                                      <p:tavLst>
                                        <p:tav tm="0">
                                          <p:val>
                                            <p:strVal val="#ppt_x"/>
                                          </p:val>
                                        </p:tav>
                                        <p:tav tm="100000">
                                          <p:val>
                                            <p:strVal val="#ppt_x"/>
                                          </p:val>
                                        </p:tav>
                                      </p:tavLst>
                                    </p:anim>
                                    <p:anim calcmode="lin" valueType="num">
                                      <p:cBhvr>
                                        <p:cTn id="9" dur="350" decel="100000" fill="hold"/>
                                        <p:tgtEl>
                                          <p:spTgt spid="9"/>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50"/>
                                        <p:tgtEl>
                                          <p:spTgt spid="10"/>
                                        </p:tgtEl>
                                      </p:cBhvr>
                                    </p:animEffect>
                                    <p:anim calcmode="lin" valueType="num">
                                      <p:cBhvr>
                                        <p:cTn id="13" dur="350" decel="100000" fill="hold"/>
                                        <p:tgtEl>
                                          <p:spTgt spid="10"/>
                                        </p:tgtEl>
                                        <p:attrNameLst>
                                          <p:attrName>ppt_x</p:attrName>
                                        </p:attrNameLst>
                                      </p:cBhvr>
                                      <p:tavLst>
                                        <p:tav tm="0">
                                          <p:val>
                                            <p:strVal val="#ppt_x"/>
                                          </p:val>
                                        </p:tav>
                                        <p:tav tm="100000">
                                          <p:val>
                                            <p:strVal val="#ppt_x"/>
                                          </p:val>
                                        </p:tav>
                                      </p:tavLst>
                                    </p:anim>
                                    <p:anim calcmode="lin" valueType="num">
                                      <p:cBhvr>
                                        <p:cTn id="14" dur="350" decel="100000" fill="hold"/>
                                        <p:tgtEl>
                                          <p:spTgt spid="10"/>
                                        </p:tgtEl>
                                        <p:attrNameLst>
                                          <p:attrName>ppt_y</p:attrName>
                                        </p:attrNameLst>
                                      </p:cBhvr>
                                      <p:tavLst>
                                        <p:tav tm="0">
                                          <p:val>
                                            <p:strVal val="#ppt_y+0.01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350"/>
                                        <p:tgtEl>
                                          <p:spTgt spid="11"/>
                                        </p:tgtEl>
                                      </p:cBhvr>
                                    </p:animEffect>
                                    <p:anim calcmode="lin" valueType="num">
                                      <p:cBhvr>
                                        <p:cTn id="18" dur="350" decel="100000" fill="hold"/>
                                        <p:tgtEl>
                                          <p:spTgt spid="11"/>
                                        </p:tgtEl>
                                        <p:attrNameLst>
                                          <p:attrName>ppt_x</p:attrName>
                                        </p:attrNameLst>
                                      </p:cBhvr>
                                      <p:tavLst>
                                        <p:tav tm="0">
                                          <p:val>
                                            <p:strVal val="#ppt_x"/>
                                          </p:val>
                                        </p:tav>
                                        <p:tav tm="100000">
                                          <p:val>
                                            <p:strVal val="#ppt_x"/>
                                          </p:val>
                                        </p:tav>
                                      </p:tavLst>
                                    </p:anim>
                                    <p:anim calcmode="lin" valueType="num">
                                      <p:cBhvr>
                                        <p:cTn id="19" dur="350" decel="100000" fill="hold"/>
                                        <p:tgtEl>
                                          <p:spTgt spid="11"/>
                                        </p:tgtEl>
                                        <p:attrNameLst>
                                          <p:attrName>ppt_y</p:attrName>
                                        </p:attrNameLst>
                                      </p:cBhvr>
                                      <p:tavLst>
                                        <p:tav tm="0">
                                          <p:val>
                                            <p:strVal val="#ppt_y+0.016"/>
                                          </p:val>
                                        </p:tav>
                                        <p:tav tm="100000">
                                          <p:val>
                                            <p:strVal val="#ppt_y"/>
                                          </p:val>
                                        </p:tav>
                                      </p:tavLst>
                                    </p:anim>
                                  </p:childTnLst>
                                </p:cTn>
                              </p:par>
                              <p:par>
                                <p:cTn id="20" presetID="22" presetClass="entr" presetSubtype="8" fill="hold" nodeType="withEffect">
                                  <p:stCondLst>
                                    <p:cond delay="10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250"/>
                                        <p:tgtEl>
                                          <p:spTgt spid="12"/>
                                        </p:tgtEl>
                                      </p:cBhvr>
                                    </p:animEffect>
                                  </p:childTnLst>
                                </p:cTn>
                              </p:par>
                            </p:childTnLst>
                          </p:cTn>
                        </p:par>
                        <p:par>
                          <p:cTn id="23" fill="hold">
                            <p:stCondLst>
                              <p:cond delay="350"/>
                            </p:stCondLst>
                            <p:childTnLst>
                              <p:par>
                                <p:cTn id="24" presetID="42" presetClass="entr" presetSubtype="0"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anim calcmode="lin" valueType="num">
                                      <p:cBhvr>
                                        <p:cTn id="27" dur="350" decel="100000" fill="hold"/>
                                        <p:tgtEl>
                                          <p:spTgt spid="13"/>
                                        </p:tgtEl>
                                        <p:attrNameLst>
                                          <p:attrName>ppt_x</p:attrName>
                                        </p:attrNameLst>
                                      </p:cBhvr>
                                      <p:tavLst>
                                        <p:tav tm="0">
                                          <p:val>
                                            <p:strVal val="#ppt_x"/>
                                          </p:val>
                                        </p:tav>
                                        <p:tav tm="100000">
                                          <p:val>
                                            <p:strVal val="#ppt_x"/>
                                          </p:val>
                                        </p:tav>
                                      </p:tavLst>
                                    </p:anim>
                                    <p:anim calcmode="lin" valueType="num">
                                      <p:cBhvr>
                                        <p:cTn id="28" dur="350" decel="100000" fill="hold"/>
                                        <p:tgtEl>
                                          <p:spTgt spid="13"/>
                                        </p:tgtEl>
                                        <p:attrNameLst>
                                          <p:attrName>ppt_y</p:attrName>
                                        </p:attrNameLst>
                                      </p:cBhvr>
                                      <p:tavLst>
                                        <p:tav tm="0">
                                          <p:val>
                                            <p:strVal val="#ppt_y+0.01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50"/>
                                        <p:tgtEl>
                                          <p:spTgt spid="14"/>
                                        </p:tgtEl>
                                      </p:cBhvr>
                                    </p:animEffect>
                                    <p:anim calcmode="lin" valueType="num">
                                      <p:cBhvr>
                                        <p:cTn id="32" dur="350" decel="100000" fill="hold"/>
                                        <p:tgtEl>
                                          <p:spTgt spid="14"/>
                                        </p:tgtEl>
                                        <p:attrNameLst>
                                          <p:attrName>ppt_x</p:attrName>
                                        </p:attrNameLst>
                                      </p:cBhvr>
                                      <p:tavLst>
                                        <p:tav tm="0">
                                          <p:val>
                                            <p:strVal val="#ppt_x"/>
                                          </p:val>
                                        </p:tav>
                                        <p:tav tm="100000">
                                          <p:val>
                                            <p:strVal val="#ppt_x"/>
                                          </p:val>
                                        </p:tav>
                                      </p:tavLst>
                                    </p:anim>
                                    <p:anim calcmode="lin" valueType="num">
                                      <p:cBhvr>
                                        <p:cTn id="33" dur="350" decel="100000" fill="hold"/>
                                        <p:tgtEl>
                                          <p:spTgt spid="14"/>
                                        </p:tgtEl>
                                        <p:attrNameLst>
                                          <p:attrName>ppt_y</p:attrName>
                                        </p:attrNameLst>
                                      </p:cBhvr>
                                      <p:tavLst>
                                        <p:tav tm="0">
                                          <p:val>
                                            <p:strVal val="#ppt_y+0.01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anim calcmode="lin" valueType="num">
                                      <p:cBhvr>
                                        <p:cTn id="37" dur="350" decel="100000" fill="hold"/>
                                        <p:tgtEl>
                                          <p:spTgt spid="15"/>
                                        </p:tgtEl>
                                        <p:attrNameLst>
                                          <p:attrName>ppt_x</p:attrName>
                                        </p:attrNameLst>
                                      </p:cBhvr>
                                      <p:tavLst>
                                        <p:tav tm="0">
                                          <p:val>
                                            <p:strVal val="#ppt_x"/>
                                          </p:val>
                                        </p:tav>
                                        <p:tav tm="100000">
                                          <p:val>
                                            <p:strVal val="#ppt_x"/>
                                          </p:val>
                                        </p:tav>
                                      </p:tavLst>
                                    </p:anim>
                                    <p:anim calcmode="lin" valueType="num">
                                      <p:cBhvr>
                                        <p:cTn id="38" dur="350" decel="100000" fill="hold"/>
                                        <p:tgtEl>
                                          <p:spTgt spid="15"/>
                                        </p:tgtEl>
                                        <p:attrNameLst>
                                          <p:attrName>ppt_y</p:attrName>
                                        </p:attrNameLst>
                                      </p:cBhvr>
                                      <p:tavLst>
                                        <p:tav tm="0">
                                          <p:val>
                                            <p:strVal val="#ppt_y+0.016"/>
                                          </p:val>
                                        </p:tav>
                                        <p:tav tm="100000">
                                          <p:val>
                                            <p:strVal val="#ppt_y"/>
                                          </p:val>
                                        </p:tav>
                                      </p:tavLst>
                                    </p:anim>
                                  </p:childTnLst>
                                </p:cTn>
                              </p:par>
                              <p:par>
                                <p:cTn id="39" presetID="22" presetClass="entr" presetSubtype="8" fill="hold" nodeType="withEffect">
                                  <p:stCondLst>
                                    <p:cond delay="10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250"/>
                                        <p:tgtEl>
                                          <p:spTgt spid="16"/>
                                        </p:tgtEl>
                                      </p:cBhvr>
                                    </p:animEffect>
                                  </p:childTnLst>
                                </p:cTn>
                              </p:par>
                            </p:childTnLst>
                          </p:cTn>
                        </p:par>
                        <p:par>
                          <p:cTn id="42" fill="hold">
                            <p:stCondLst>
                              <p:cond delay="700"/>
                            </p:stCondLst>
                            <p:childTnLst>
                              <p:par>
                                <p:cTn id="43" presetID="42" presetClass="entr" presetSubtype="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50"/>
                                        <p:tgtEl>
                                          <p:spTgt spid="17"/>
                                        </p:tgtEl>
                                      </p:cBhvr>
                                    </p:animEffect>
                                    <p:anim calcmode="lin" valueType="num">
                                      <p:cBhvr>
                                        <p:cTn id="46" dur="350" decel="100000" fill="hold"/>
                                        <p:tgtEl>
                                          <p:spTgt spid="17"/>
                                        </p:tgtEl>
                                        <p:attrNameLst>
                                          <p:attrName>ppt_x</p:attrName>
                                        </p:attrNameLst>
                                      </p:cBhvr>
                                      <p:tavLst>
                                        <p:tav tm="0">
                                          <p:val>
                                            <p:strVal val="#ppt_x"/>
                                          </p:val>
                                        </p:tav>
                                        <p:tav tm="100000">
                                          <p:val>
                                            <p:strVal val="#ppt_x"/>
                                          </p:val>
                                        </p:tav>
                                      </p:tavLst>
                                    </p:anim>
                                    <p:anim calcmode="lin" valueType="num">
                                      <p:cBhvr>
                                        <p:cTn id="47" dur="350" decel="100000" fill="hold"/>
                                        <p:tgtEl>
                                          <p:spTgt spid="17"/>
                                        </p:tgtEl>
                                        <p:attrNameLst>
                                          <p:attrName>ppt_y</p:attrName>
                                        </p:attrNameLst>
                                      </p:cBhvr>
                                      <p:tavLst>
                                        <p:tav tm="0">
                                          <p:val>
                                            <p:strVal val="#ppt_y+0.01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50"/>
                                        <p:tgtEl>
                                          <p:spTgt spid="18"/>
                                        </p:tgtEl>
                                      </p:cBhvr>
                                    </p:animEffect>
                                    <p:anim calcmode="lin" valueType="num">
                                      <p:cBhvr>
                                        <p:cTn id="51" dur="350" decel="100000" fill="hold"/>
                                        <p:tgtEl>
                                          <p:spTgt spid="18"/>
                                        </p:tgtEl>
                                        <p:attrNameLst>
                                          <p:attrName>ppt_x</p:attrName>
                                        </p:attrNameLst>
                                      </p:cBhvr>
                                      <p:tavLst>
                                        <p:tav tm="0">
                                          <p:val>
                                            <p:strVal val="#ppt_x"/>
                                          </p:val>
                                        </p:tav>
                                        <p:tav tm="100000">
                                          <p:val>
                                            <p:strVal val="#ppt_x"/>
                                          </p:val>
                                        </p:tav>
                                      </p:tavLst>
                                    </p:anim>
                                    <p:anim calcmode="lin" valueType="num">
                                      <p:cBhvr>
                                        <p:cTn id="52" dur="350" decel="100000" fill="hold"/>
                                        <p:tgtEl>
                                          <p:spTgt spid="18"/>
                                        </p:tgtEl>
                                        <p:attrNameLst>
                                          <p:attrName>ppt_y</p:attrName>
                                        </p:attrNameLst>
                                      </p:cBhvr>
                                      <p:tavLst>
                                        <p:tav tm="0">
                                          <p:val>
                                            <p:strVal val="#ppt_y+0.01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50"/>
                                        <p:tgtEl>
                                          <p:spTgt spid="19"/>
                                        </p:tgtEl>
                                      </p:cBhvr>
                                    </p:animEffect>
                                    <p:anim calcmode="lin" valueType="num">
                                      <p:cBhvr>
                                        <p:cTn id="56" dur="350" decel="100000" fill="hold"/>
                                        <p:tgtEl>
                                          <p:spTgt spid="19"/>
                                        </p:tgtEl>
                                        <p:attrNameLst>
                                          <p:attrName>ppt_x</p:attrName>
                                        </p:attrNameLst>
                                      </p:cBhvr>
                                      <p:tavLst>
                                        <p:tav tm="0">
                                          <p:val>
                                            <p:strVal val="#ppt_x"/>
                                          </p:val>
                                        </p:tav>
                                        <p:tav tm="100000">
                                          <p:val>
                                            <p:strVal val="#ppt_x"/>
                                          </p:val>
                                        </p:tav>
                                      </p:tavLst>
                                    </p:anim>
                                    <p:anim calcmode="lin" valueType="num">
                                      <p:cBhvr>
                                        <p:cTn id="57" dur="350" decel="100000" fill="hold"/>
                                        <p:tgtEl>
                                          <p:spTgt spid="19"/>
                                        </p:tgtEl>
                                        <p:attrNameLst>
                                          <p:attrName>ppt_y</p:attrName>
                                        </p:attrNameLst>
                                      </p:cBhvr>
                                      <p:tavLst>
                                        <p:tav tm="0">
                                          <p:val>
                                            <p:strVal val="#ppt_y+0.016"/>
                                          </p:val>
                                        </p:tav>
                                        <p:tav tm="100000">
                                          <p:val>
                                            <p:strVal val="#ppt_y"/>
                                          </p:val>
                                        </p:tav>
                                      </p:tavLst>
                                    </p:anim>
                                  </p:childTnLst>
                                </p:cTn>
                              </p:par>
                              <p:par>
                                <p:cTn id="58" presetID="22" presetClass="entr" presetSubtype="8" fill="hold" nodeType="withEffect">
                                  <p:stCondLst>
                                    <p:cond delay="10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250"/>
                                        <p:tgtEl>
                                          <p:spTgt spid="20"/>
                                        </p:tgtEl>
                                      </p:cBhvr>
                                    </p:animEffect>
                                  </p:childTnLst>
                                </p:cTn>
                              </p:par>
                            </p:childTnLst>
                          </p:cTn>
                        </p:par>
                        <p:par>
                          <p:cTn id="61" fill="hold">
                            <p:stCondLst>
                              <p:cond delay="1050"/>
                            </p:stCondLst>
                            <p:childTnLst>
                              <p:par>
                                <p:cTn id="62" presetID="42" presetClass="entr" presetSubtype="0" fill="hold"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350"/>
                                        <p:tgtEl>
                                          <p:spTgt spid="21"/>
                                        </p:tgtEl>
                                      </p:cBhvr>
                                    </p:animEffect>
                                    <p:anim calcmode="lin" valueType="num">
                                      <p:cBhvr>
                                        <p:cTn id="65" dur="350" decel="100000" fill="hold"/>
                                        <p:tgtEl>
                                          <p:spTgt spid="21"/>
                                        </p:tgtEl>
                                        <p:attrNameLst>
                                          <p:attrName>ppt_x</p:attrName>
                                        </p:attrNameLst>
                                      </p:cBhvr>
                                      <p:tavLst>
                                        <p:tav tm="0">
                                          <p:val>
                                            <p:strVal val="#ppt_x"/>
                                          </p:val>
                                        </p:tav>
                                        <p:tav tm="100000">
                                          <p:val>
                                            <p:strVal val="#ppt_x"/>
                                          </p:val>
                                        </p:tav>
                                      </p:tavLst>
                                    </p:anim>
                                    <p:anim calcmode="lin" valueType="num">
                                      <p:cBhvr>
                                        <p:cTn id="66" dur="350" decel="100000" fill="hold"/>
                                        <p:tgtEl>
                                          <p:spTgt spid="21"/>
                                        </p:tgtEl>
                                        <p:attrNameLst>
                                          <p:attrName>ppt_y</p:attrName>
                                        </p:attrNameLst>
                                      </p:cBhvr>
                                      <p:tavLst>
                                        <p:tav tm="0">
                                          <p:val>
                                            <p:strVal val="#ppt_y+0.01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350"/>
                                        <p:tgtEl>
                                          <p:spTgt spid="22"/>
                                        </p:tgtEl>
                                      </p:cBhvr>
                                    </p:animEffect>
                                    <p:anim calcmode="lin" valueType="num">
                                      <p:cBhvr>
                                        <p:cTn id="70" dur="350" decel="100000" fill="hold"/>
                                        <p:tgtEl>
                                          <p:spTgt spid="22"/>
                                        </p:tgtEl>
                                        <p:attrNameLst>
                                          <p:attrName>ppt_x</p:attrName>
                                        </p:attrNameLst>
                                      </p:cBhvr>
                                      <p:tavLst>
                                        <p:tav tm="0">
                                          <p:val>
                                            <p:strVal val="#ppt_x"/>
                                          </p:val>
                                        </p:tav>
                                        <p:tav tm="100000">
                                          <p:val>
                                            <p:strVal val="#ppt_x"/>
                                          </p:val>
                                        </p:tav>
                                      </p:tavLst>
                                    </p:anim>
                                    <p:anim calcmode="lin" valueType="num">
                                      <p:cBhvr>
                                        <p:cTn id="71" dur="350" decel="100000" fill="hold"/>
                                        <p:tgtEl>
                                          <p:spTgt spid="22"/>
                                        </p:tgtEl>
                                        <p:attrNameLst>
                                          <p:attrName>ppt_y</p:attrName>
                                        </p:attrNameLst>
                                      </p:cBhvr>
                                      <p:tavLst>
                                        <p:tav tm="0">
                                          <p:val>
                                            <p:strVal val="#ppt_y+0.01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anim calcmode="lin" valueType="num">
                                      <p:cBhvr>
                                        <p:cTn id="75" dur="350" decel="100000" fill="hold"/>
                                        <p:tgtEl>
                                          <p:spTgt spid="23"/>
                                        </p:tgtEl>
                                        <p:attrNameLst>
                                          <p:attrName>ppt_x</p:attrName>
                                        </p:attrNameLst>
                                      </p:cBhvr>
                                      <p:tavLst>
                                        <p:tav tm="0">
                                          <p:val>
                                            <p:strVal val="#ppt_x"/>
                                          </p:val>
                                        </p:tav>
                                        <p:tav tm="100000">
                                          <p:val>
                                            <p:strVal val="#ppt_x"/>
                                          </p:val>
                                        </p:tav>
                                      </p:tavLst>
                                    </p:anim>
                                    <p:anim calcmode="lin" valueType="num">
                                      <p:cBhvr>
                                        <p:cTn id="76" dur="350" decel="100000" fill="hold"/>
                                        <p:tgtEl>
                                          <p:spTgt spid="23"/>
                                        </p:tgtEl>
                                        <p:attrNameLst>
                                          <p:attrName>ppt_y</p:attrName>
                                        </p:attrNameLst>
                                      </p:cBhvr>
                                      <p:tavLst>
                                        <p:tav tm="0">
                                          <p:val>
                                            <p:strVal val="#ppt_y+0.016"/>
                                          </p:val>
                                        </p:tav>
                                        <p:tav tm="100000">
                                          <p:val>
                                            <p:strVal val="#ppt_y"/>
                                          </p:val>
                                        </p:tav>
                                      </p:tavLst>
                                    </p:anim>
                                  </p:childTnLst>
                                </p:cTn>
                              </p:par>
                              <p:par>
                                <p:cTn id="77" presetID="22" presetClass="entr" presetSubtype="8" fill="hold" nodeType="withEffect">
                                  <p:stCondLst>
                                    <p:cond delay="100"/>
                                  </p:stCondLst>
                                  <p:childTnLst>
                                    <p:set>
                                      <p:cBhvr>
                                        <p:cTn id="78" dur="1" fill="hold">
                                          <p:stCondLst>
                                            <p:cond delay="0"/>
                                          </p:stCondLst>
                                        </p:cTn>
                                        <p:tgtEl>
                                          <p:spTgt spid="24"/>
                                        </p:tgtEl>
                                        <p:attrNameLst>
                                          <p:attrName>style.visibility</p:attrName>
                                        </p:attrNameLst>
                                      </p:cBhvr>
                                      <p:to>
                                        <p:strVal val="visible"/>
                                      </p:to>
                                    </p:set>
                                    <p:animEffect transition="in" filter="wipe(left)">
                                      <p:cBhvr>
                                        <p:cTn id="79" dur="250"/>
                                        <p:tgtEl>
                                          <p:spTgt spid="24"/>
                                        </p:tgtEl>
                                      </p:cBhvr>
                                    </p:animEffect>
                                  </p:childTnLst>
                                </p:cTn>
                              </p:par>
                            </p:childTnLst>
                          </p:cTn>
                        </p:par>
                        <p:par>
                          <p:cTn id="80" fill="hold">
                            <p:stCondLst>
                              <p:cond delay="1400"/>
                            </p:stCondLst>
                            <p:childTnLst>
                              <p:par>
                                <p:cTn id="81" presetID="42" presetClass="entr" presetSubtype="0" fill="hold" nodeType="after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350"/>
                                        <p:tgtEl>
                                          <p:spTgt spid="25"/>
                                        </p:tgtEl>
                                      </p:cBhvr>
                                    </p:animEffect>
                                    <p:anim calcmode="lin" valueType="num">
                                      <p:cBhvr>
                                        <p:cTn id="84" dur="350" decel="100000" fill="hold"/>
                                        <p:tgtEl>
                                          <p:spTgt spid="25"/>
                                        </p:tgtEl>
                                        <p:attrNameLst>
                                          <p:attrName>ppt_x</p:attrName>
                                        </p:attrNameLst>
                                      </p:cBhvr>
                                      <p:tavLst>
                                        <p:tav tm="0">
                                          <p:val>
                                            <p:strVal val="#ppt_x"/>
                                          </p:val>
                                        </p:tav>
                                        <p:tav tm="100000">
                                          <p:val>
                                            <p:strVal val="#ppt_x"/>
                                          </p:val>
                                        </p:tav>
                                      </p:tavLst>
                                    </p:anim>
                                    <p:anim calcmode="lin" valueType="num">
                                      <p:cBhvr>
                                        <p:cTn id="85" dur="350" decel="100000" fill="hold"/>
                                        <p:tgtEl>
                                          <p:spTgt spid="25"/>
                                        </p:tgtEl>
                                        <p:attrNameLst>
                                          <p:attrName>ppt_y</p:attrName>
                                        </p:attrNameLst>
                                      </p:cBhvr>
                                      <p:tavLst>
                                        <p:tav tm="0">
                                          <p:val>
                                            <p:strVal val="#ppt_y+0.01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350"/>
                                        <p:tgtEl>
                                          <p:spTgt spid="26"/>
                                        </p:tgtEl>
                                      </p:cBhvr>
                                    </p:animEffect>
                                    <p:anim calcmode="lin" valueType="num">
                                      <p:cBhvr>
                                        <p:cTn id="89" dur="350" decel="100000" fill="hold"/>
                                        <p:tgtEl>
                                          <p:spTgt spid="26"/>
                                        </p:tgtEl>
                                        <p:attrNameLst>
                                          <p:attrName>ppt_x</p:attrName>
                                        </p:attrNameLst>
                                      </p:cBhvr>
                                      <p:tavLst>
                                        <p:tav tm="0">
                                          <p:val>
                                            <p:strVal val="#ppt_x"/>
                                          </p:val>
                                        </p:tav>
                                        <p:tav tm="100000">
                                          <p:val>
                                            <p:strVal val="#ppt_x"/>
                                          </p:val>
                                        </p:tav>
                                      </p:tavLst>
                                    </p:anim>
                                    <p:anim calcmode="lin" valueType="num">
                                      <p:cBhvr>
                                        <p:cTn id="90" dur="350" decel="100000" fill="hold"/>
                                        <p:tgtEl>
                                          <p:spTgt spid="26"/>
                                        </p:tgtEl>
                                        <p:attrNameLst>
                                          <p:attrName>ppt_y</p:attrName>
                                        </p:attrNameLst>
                                      </p:cBhvr>
                                      <p:tavLst>
                                        <p:tav tm="0">
                                          <p:val>
                                            <p:strVal val="#ppt_y+0.01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350"/>
                                        <p:tgtEl>
                                          <p:spTgt spid="27"/>
                                        </p:tgtEl>
                                      </p:cBhvr>
                                    </p:animEffect>
                                    <p:anim calcmode="lin" valueType="num">
                                      <p:cBhvr>
                                        <p:cTn id="94" dur="350" decel="100000" fill="hold"/>
                                        <p:tgtEl>
                                          <p:spTgt spid="27"/>
                                        </p:tgtEl>
                                        <p:attrNameLst>
                                          <p:attrName>ppt_x</p:attrName>
                                        </p:attrNameLst>
                                      </p:cBhvr>
                                      <p:tavLst>
                                        <p:tav tm="0">
                                          <p:val>
                                            <p:strVal val="#ppt_x"/>
                                          </p:val>
                                        </p:tav>
                                        <p:tav tm="100000">
                                          <p:val>
                                            <p:strVal val="#ppt_x"/>
                                          </p:val>
                                        </p:tav>
                                      </p:tavLst>
                                    </p:anim>
                                    <p:anim calcmode="lin" valueType="num">
                                      <p:cBhvr>
                                        <p:cTn id="95" dur="350" decel="100000" fill="hold"/>
                                        <p:tgtEl>
                                          <p:spTgt spid="27"/>
                                        </p:tgtEl>
                                        <p:attrNameLst>
                                          <p:attrName>ppt_y</p:attrName>
                                        </p:attrNameLst>
                                      </p:cBhvr>
                                      <p:tavLst>
                                        <p:tav tm="0">
                                          <p:val>
                                            <p:strVal val="#ppt_y+0.016"/>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400"/>
                                        <p:tgtEl>
                                          <p:spTgt spid="29"/>
                                        </p:tgtEl>
                                      </p:cBhvr>
                                    </p:animEffect>
                                    <p:anim calcmode="lin" valueType="num">
                                      <p:cBhvr>
                                        <p:cTn id="101" dur="400" decel="100000" fill="hold"/>
                                        <p:tgtEl>
                                          <p:spTgt spid="29"/>
                                        </p:tgtEl>
                                        <p:attrNameLst>
                                          <p:attrName>ppt_x</p:attrName>
                                        </p:attrNameLst>
                                      </p:cBhvr>
                                      <p:tavLst>
                                        <p:tav tm="0">
                                          <p:val>
                                            <p:strVal val="#ppt_x"/>
                                          </p:val>
                                        </p:tav>
                                        <p:tav tm="100000">
                                          <p:val>
                                            <p:strVal val="#ppt_x"/>
                                          </p:val>
                                        </p:tav>
                                      </p:tavLst>
                                    </p:anim>
                                    <p:anim calcmode="lin" valueType="num">
                                      <p:cBhvr>
                                        <p:cTn id="102" dur="400" decel="100000" fill="hold"/>
                                        <p:tgtEl>
                                          <p:spTgt spid="29"/>
                                        </p:tgtEl>
                                        <p:attrNameLst>
                                          <p:attrName>ppt_y</p:attrName>
                                        </p:attrNameLst>
                                      </p:cBhvr>
                                      <p:tavLst>
                                        <p:tav tm="0">
                                          <p:val>
                                            <p:strVal val="#ppt_y+0.01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400"/>
                                        <p:tgtEl>
                                          <p:spTgt spid="30"/>
                                        </p:tgtEl>
                                      </p:cBhvr>
                                    </p:animEffect>
                                    <p:anim calcmode="lin" valueType="num">
                                      <p:cBhvr>
                                        <p:cTn id="106" dur="400" decel="100000" fill="hold"/>
                                        <p:tgtEl>
                                          <p:spTgt spid="30"/>
                                        </p:tgtEl>
                                        <p:attrNameLst>
                                          <p:attrName>ppt_x</p:attrName>
                                        </p:attrNameLst>
                                      </p:cBhvr>
                                      <p:tavLst>
                                        <p:tav tm="0">
                                          <p:val>
                                            <p:strVal val="#ppt_x"/>
                                          </p:val>
                                        </p:tav>
                                        <p:tav tm="100000">
                                          <p:val>
                                            <p:strVal val="#ppt_x"/>
                                          </p:val>
                                        </p:tav>
                                      </p:tavLst>
                                    </p:anim>
                                    <p:anim calcmode="lin" valueType="num">
                                      <p:cBhvr>
                                        <p:cTn id="107" dur="400" decel="100000" fill="hold"/>
                                        <p:tgtEl>
                                          <p:spTgt spid="30"/>
                                        </p:tgtEl>
                                        <p:attrNameLst>
                                          <p:attrName>ppt_y</p:attrName>
                                        </p:attrNameLst>
                                      </p:cBhvr>
                                      <p:tavLst>
                                        <p:tav tm="0">
                                          <p:val>
                                            <p:strVal val="#ppt_y+0.016"/>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400"/>
                                        <p:tgtEl>
                                          <p:spTgt spid="31"/>
                                        </p:tgtEl>
                                      </p:cBhvr>
                                    </p:animEffect>
                                    <p:anim calcmode="lin" valueType="num">
                                      <p:cBhvr>
                                        <p:cTn id="111" dur="400" decel="100000" fill="hold"/>
                                        <p:tgtEl>
                                          <p:spTgt spid="31"/>
                                        </p:tgtEl>
                                        <p:attrNameLst>
                                          <p:attrName>ppt_x</p:attrName>
                                        </p:attrNameLst>
                                      </p:cBhvr>
                                      <p:tavLst>
                                        <p:tav tm="0">
                                          <p:val>
                                            <p:strVal val="#ppt_x"/>
                                          </p:val>
                                        </p:tav>
                                        <p:tav tm="100000">
                                          <p:val>
                                            <p:strVal val="#ppt_x"/>
                                          </p:val>
                                        </p:tav>
                                      </p:tavLst>
                                    </p:anim>
                                    <p:anim calcmode="lin" valueType="num">
                                      <p:cBhvr>
                                        <p:cTn id="112" dur="400" decel="100000" fill="hold"/>
                                        <p:tgtEl>
                                          <p:spTgt spid="31"/>
                                        </p:tgtEl>
                                        <p:attrNameLst>
                                          <p:attrName>ppt_y</p:attrName>
                                        </p:attrNameLst>
                                      </p:cBhvr>
                                      <p:tavLst>
                                        <p:tav tm="0">
                                          <p:val>
                                            <p:strVal val="#ppt_y+0.016"/>
                                          </p:val>
                                        </p:tav>
                                        <p:tav tm="100000">
                                          <p:val>
                                            <p:strVal val="#ppt_y"/>
                                          </p:val>
                                        </p:tav>
                                      </p:tavLst>
                                    </p:anim>
                                  </p:childTnLst>
                                </p:cTn>
                              </p:par>
                              <p:par>
                                <p:cTn id="113" presetID="42" presetClass="entr" presetSubtype="0" fill="hold" nodeType="withEffect">
                                  <p:stCondLst>
                                    <p:cond delay="8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400"/>
                                        <p:tgtEl>
                                          <p:spTgt spid="32"/>
                                        </p:tgtEl>
                                      </p:cBhvr>
                                    </p:animEffect>
                                    <p:anim calcmode="lin" valueType="num">
                                      <p:cBhvr>
                                        <p:cTn id="116" dur="400" decel="100000" fill="hold"/>
                                        <p:tgtEl>
                                          <p:spTgt spid="32"/>
                                        </p:tgtEl>
                                        <p:attrNameLst>
                                          <p:attrName>ppt_x</p:attrName>
                                        </p:attrNameLst>
                                      </p:cBhvr>
                                      <p:tavLst>
                                        <p:tav tm="0">
                                          <p:val>
                                            <p:strVal val="#ppt_x"/>
                                          </p:val>
                                        </p:tav>
                                        <p:tav tm="100000">
                                          <p:val>
                                            <p:strVal val="#ppt_x"/>
                                          </p:val>
                                        </p:tav>
                                      </p:tavLst>
                                    </p:anim>
                                    <p:anim calcmode="lin" valueType="num">
                                      <p:cBhvr>
                                        <p:cTn id="117" dur="400" decel="100000" fill="hold"/>
                                        <p:tgtEl>
                                          <p:spTgt spid="32"/>
                                        </p:tgtEl>
                                        <p:attrNameLst>
                                          <p:attrName>ppt_y</p:attrName>
                                        </p:attrNameLst>
                                      </p:cBhvr>
                                      <p:tavLst>
                                        <p:tav tm="0">
                                          <p:val>
                                            <p:strVal val="#ppt_y+0.016"/>
                                          </p:val>
                                        </p:tav>
                                        <p:tav tm="100000">
                                          <p:val>
                                            <p:strVal val="#ppt_y"/>
                                          </p:val>
                                        </p:tav>
                                      </p:tavLst>
                                    </p:anim>
                                  </p:childTnLst>
                                </p:cTn>
                              </p:par>
                              <p:par>
                                <p:cTn id="118" presetID="42" presetClass="entr" presetSubtype="0" fill="hold" grpId="0" nodeType="withEffect">
                                  <p:stCondLst>
                                    <p:cond delay="80"/>
                                  </p:stCondLst>
                                  <p:childTnLst>
                                    <p:set>
                                      <p:cBhvr>
                                        <p:cTn id="119" dur="1" fill="hold">
                                          <p:stCondLst>
                                            <p:cond delay="0"/>
                                          </p:stCondLst>
                                        </p:cTn>
                                        <p:tgtEl>
                                          <p:spTgt spid="33"/>
                                        </p:tgtEl>
                                        <p:attrNameLst>
                                          <p:attrName>style.visibility</p:attrName>
                                        </p:attrNameLst>
                                      </p:cBhvr>
                                      <p:to>
                                        <p:strVal val="visible"/>
                                      </p:to>
                                    </p:set>
                                    <p:animEffect transition="in" filter="fade">
                                      <p:cBhvr>
                                        <p:cTn id="120" dur="400"/>
                                        <p:tgtEl>
                                          <p:spTgt spid="33"/>
                                        </p:tgtEl>
                                      </p:cBhvr>
                                    </p:animEffect>
                                    <p:anim calcmode="lin" valueType="num">
                                      <p:cBhvr>
                                        <p:cTn id="121" dur="400" decel="100000" fill="hold"/>
                                        <p:tgtEl>
                                          <p:spTgt spid="33"/>
                                        </p:tgtEl>
                                        <p:attrNameLst>
                                          <p:attrName>ppt_x</p:attrName>
                                        </p:attrNameLst>
                                      </p:cBhvr>
                                      <p:tavLst>
                                        <p:tav tm="0">
                                          <p:val>
                                            <p:strVal val="#ppt_x"/>
                                          </p:val>
                                        </p:tav>
                                        <p:tav tm="100000">
                                          <p:val>
                                            <p:strVal val="#ppt_x"/>
                                          </p:val>
                                        </p:tav>
                                      </p:tavLst>
                                    </p:anim>
                                    <p:anim calcmode="lin" valueType="num">
                                      <p:cBhvr>
                                        <p:cTn id="122" dur="400" decel="100000" fill="hold"/>
                                        <p:tgtEl>
                                          <p:spTgt spid="33"/>
                                        </p:tgtEl>
                                        <p:attrNameLst>
                                          <p:attrName>ppt_y</p:attrName>
                                        </p:attrNameLst>
                                      </p:cBhvr>
                                      <p:tavLst>
                                        <p:tav tm="0">
                                          <p:val>
                                            <p:strVal val="#ppt_y+0.016"/>
                                          </p:val>
                                        </p:tav>
                                        <p:tav tm="100000">
                                          <p:val>
                                            <p:strVal val="#ppt_y"/>
                                          </p:val>
                                        </p:tav>
                                      </p:tavLst>
                                    </p:anim>
                                  </p:childTnLst>
                                </p:cTn>
                              </p:par>
                              <p:par>
                                <p:cTn id="123" presetID="42" presetClass="entr" presetSubtype="0" fill="hold" grpId="0" nodeType="withEffect">
                                  <p:stCondLst>
                                    <p:cond delay="80"/>
                                  </p:stCondLst>
                                  <p:childTnLst>
                                    <p:set>
                                      <p:cBhvr>
                                        <p:cTn id="124" dur="1" fill="hold">
                                          <p:stCondLst>
                                            <p:cond delay="0"/>
                                          </p:stCondLst>
                                        </p:cTn>
                                        <p:tgtEl>
                                          <p:spTgt spid="34"/>
                                        </p:tgtEl>
                                        <p:attrNameLst>
                                          <p:attrName>style.visibility</p:attrName>
                                        </p:attrNameLst>
                                      </p:cBhvr>
                                      <p:to>
                                        <p:strVal val="visible"/>
                                      </p:to>
                                    </p:set>
                                    <p:animEffect transition="in" filter="fade">
                                      <p:cBhvr>
                                        <p:cTn id="125" dur="400"/>
                                        <p:tgtEl>
                                          <p:spTgt spid="34"/>
                                        </p:tgtEl>
                                      </p:cBhvr>
                                    </p:animEffect>
                                    <p:anim calcmode="lin" valueType="num">
                                      <p:cBhvr>
                                        <p:cTn id="126" dur="400" decel="100000" fill="hold"/>
                                        <p:tgtEl>
                                          <p:spTgt spid="34"/>
                                        </p:tgtEl>
                                        <p:attrNameLst>
                                          <p:attrName>ppt_x</p:attrName>
                                        </p:attrNameLst>
                                      </p:cBhvr>
                                      <p:tavLst>
                                        <p:tav tm="0">
                                          <p:val>
                                            <p:strVal val="#ppt_x"/>
                                          </p:val>
                                        </p:tav>
                                        <p:tav tm="100000">
                                          <p:val>
                                            <p:strVal val="#ppt_x"/>
                                          </p:val>
                                        </p:tav>
                                      </p:tavLst>
                                    </p:anim>
                                    <p:anim calcmode="lin" valueType="num">
                                      <p:cBhvr>
                                        <p:cTn id="127" dur="400" decel="100000" fill="hold"/>
                                        <p:tgtEl>
                                          <p:spTgt spid="34"/>
                                        </p:tgtEl>
                                        <p:attrNameLst>
                                          <p:attrName>ppt_y</p:attrName>
                                        </p:attrNameLst>
                                      </p:cBhvr>
                                      <p:tavLst>
                                        <p:tav tm="0">
                                          <p:val>
                                            <p:strVal val="#ppt_y+0.016"/>
                                          </p:val>
                                        </p:tav>
                                        <p:tav tm="100000">
                                          <p:val>
                                            <p:strVal val="#ppt_y"/>
                                          </p:val>
                                        </p:tav>
                                      </p:tavLst>
                                    </p:anim>
                                  </p:childTnLst>
                                </p:cTn>
                              </p:par>
                              <p:par>
                                <p:cTn id="128" presetID="42" presetClass="entr" presetSubtype="0" fill="hold" nodeType="withEffect">
                                  <p:stCondLst>
                                    <p:cond delay="16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400"/>
                                        <p:tgtEl>
                                          <p:spTgt spid="35"/>
                                        </p:tgtEl>
                                      </p:cBhvr>
                                    </p:animEffect>
                                    <p:anim calcmode="lin" valueType="num">
                                      <p:cBhvr>
                                        <p:cTn id="131" dur="400" decel="100000" fill="hold"/>
                                        <p:tgtEl>
                                          <p:spTgt spid="35"/>
                                        </p:tgtEl>
                                        <p:attrNameLst>
                                          <p:attrName>ppt_x</p:attrName>
                                        </p:attrNameLst>
                                      </p:cBhvr>
                                      <p:tavLst>
                                        <p:tav tm="0">
                                          <p:val>
                                            <p:strVal val="#ppt_x"/>
                                          </p:val>
                                        </p:tav>
                                        <p:tav tm="100000">
                                          <p:val>
                                            <p:strVal val="#ppt_x"/>
                                          </p:val>
                                        </p:tav>
                                      </p:tavLst>
                                    </p:anim>
                                    <p:anim calcmode="lin" valueType="num">
                                      <p:cBhvr>
                                        <p:cTn id="132" dur="400" decel="100000" fill="hold"/>
                                        <p:tgtEl>
                                          <p:spTgt spid="35"/>
                                        </p:tgtEl>
                                        <p:attrNameLst>
                                          <p:attrName>ppt_y</p:attrName>
                                        </p:attrNameLst>
                                      </p:cBhvr>
                                      <p:tavLst>
                                        <p:tav tm="0">
                                          <p:val>
                                            <p:strVal val="#ppt_y+0.016"/>
                                          </p:val>
                                        </p:tav>
                                        <p:tav tm="100000">
                                          <p:val>
                                            <p:strVal val="#ppt_y"/>
                                          </p:val>
                                        </p:tav>
                                      </p:tavLst>
                                    </p:anim>
                                  </p:childTnLst>
                                </p:cTn>
                              </p:par>
                              <p:par>
                                <p:cTn id="133" presetID="42" presetClass="entr" presetSubtype="0" fill="hold" grpId="0" nodeType="withEffect">
                                  <p:stCondLst>
                                    <p:cond delay="160"/>
                                  </p:stCondLst>
                                  <p:childTnLst>
                                    <p:set>
                                      <p:cBhvr>
                                        <p:cTn id="134" dur="1" fill="hold">
                                          <p:stCondLst>
                                            <p:cond delay="0"/>
                                          </p:stCondLst>
                                        </p:cTn>
                                        <p:tgtEl>
                                          <p:spTgt spid="36"/>
                                        </p:tgtEl>
                                        <p:attrNameLst>
                                          <p:attrName>style.visibility</p:attrName>
                                        </p:attrNameLst>
                                      </p:cBhvr>
                                      <p:to>
                                        <p:strVal val="visible"/>
                                      </p:to>
                                    </p:set>
                                    <p:animEffect transition="in" filter="fade">
                                      <p:cBhvr>
                                        <p:cTn id="135" dur="400"/>
                                        <p:tgtEl>
                                          <p:spTgt spid="36"/>
                                        </p:tgtEl>
                                      </p:cBhvr>
                                    </p:animEffect>
                                    <p:anim calcmode="lin" valueType="num">
                                      <p:cBhvr>
                                        <p:cTn id="136" dur="400" decel="100000" fill="hold"/>
                                        <p:tgtEl>
                                          <p:spTgt spid="36"/>
                                        </p:tgtEl>
                                        <p:attrNameLst>
                                          <p:attrName>ppt_x</p:attrName>
                                        </p:attrNameLst>
                                      </p:cBhvr>
                                      <p:tavLst>
                                        <p:tav tm="0">
                                          <p:val>
                                            <p:strVal val="#ppt_x"/>
                                          </p:val>
                                        </p:tav>
                                        <p:tav tm="100000">
                                          <p:val>
                                            <p:strVal val="#ppt_x"/>
                                          </p:val>
                                        </p:tav>
                                      </p:tavLst>
                                    </p:anim>
                                    <p:anim calcmode="lin" valueType="num">
                                      <p:cBhvr>
                                        <p:cTn id="137" dur="400" decel="100000" fill="hold"/>
                                        <p:tgtEl>
                                          <p:spTgt spid="36"/>
                                        </p:tgtEl>
                                        <p:attrNameLst>
                                          <p:attrName>ppt_y</p:attrName>
                                        </p:attrNameLst>
                                      </p:cBhvr>
                                      <p:tavLst>
                                        <p:tav tm="0">
                                          <p:val>
                                            <p:strVal val="#ppt_y+0.016"/>
                                          </p:val>
                                        </p:tav>
                                        <p:tav tm="100000">
                                          <p:val>
                                            <p:strVal val="#ppt_y"/>
                                          </p:val>
                                        </p:tav>
                                      </p:tavLst>
                                    </p:anim>
                                  </p:childTnLst>
                                </p:cTn>
                              </p:par>
                              <p:par>
                                <p:cTn id="138" presetID="42" presetClass="entr" presetSubtype="0" fill="hold" grpId="0" nodeType="withEffect">
                                  <p:stCondLst>
                                    <p:cond delay="160"/>
                                  </p:stCondLst>
                                  <p:childTnLst>
                                    <p:set>
                                      <p:cBhvr>
                                        <p:cTn id="139" dur="1" fill="hold">
                                          <p:stCondLst>
                                            <p:cond delay="0"/>
                                          </p:stCondLst>
                                        </p:cTn>
                                        <p:tgtEl>
                                          <p:spTgt spid="37"/>
                                        </p:tgtEl>
                                        <p:attrNameLst>
                                          <p:attrName>style.visibility</p:attrName>
                                        </p:attrNameLst>
                                      </p:cBhvr>
                                      <p:to>
                                        <p:strVal val="visible"/>
                                      </p:to>
                                    </p:set>
                                    <p:animEffect transition="in" filter="fade">
                                      <p:cBhvr>
                                        <p:cTn id="140" dur="400"/>
                                        <p:tgtEl>
                                          <p:spTgt spid="37"/>
                                        </p:tgtEl>
                                      </p:cBhvr>
                                    </p:animEffect>
                                    <p:anim calcmode="lin" valueType="num">
                                      <p:cBhvr>
                                        <p:cTn id="141" dur="400" decel="100000" fill="hold"/>
                                        <p:tgtEl>
                                          <p:spTgt spid="37"/>
                                        </p:tgtEl>
                                        <p:attrNameLst>
                                          <p:attrName>ppt_x</p:attrName>
                                        </p:attrNameLst>
                                      </p:cBhvr>
                                      <p:tavLst>
                                        <p:tav tm="0">
                                          <p:val>
                                            <p:strVal val="#ppt_x"/>
                                          </p:val>
                                        </p:tav>
                                        <p:tav tm="100000">
                                          <p:val>
                                            <p:strVal val="#ppt_x"/>
                                          </p:val>
                                        </p:tav>
                                      </p:tavLst>
                                    </p:anim>
                                    <p:anim calcmode="lin" valueType="num">
                                      <p:cBhvr>
                                        <p:cTn id="142" dur="400" decel="100000" fill="hold"/>
                                        <p:tgtEl>
                                          <p:spTgt spid="37"/>
                                        </p:tgtEl>
                                        <p:attrNameLst>
                                          <p:attrName>ppt_y</p:attrName>
                                        </p:attrNameLst>
                                      </p:cBhvr>
                                      <p:tavLst>
                                        <p:tav tm="0">
                                          <p:val>
                                            <p:strVal val="#ppt_y+0.016"/>
                                          </p:val>
                                        </p:tav>
                                        <p:tav tm="100000">
                                          <p:val>
                                            <p:strVal val="#ppt_y"/>
                                          </p:val>
                                        </p:tav>
                                      </p:tavLst>
                                    </p:anim>
                                  </p:childTnLst>
                                </p:cTn>
                              </p:par>
                              <p:par>
                                <p:cTn id="143" presetID="10" presetClass="entr" presetSubtype="0" fill="hold" nodeType="withEffect">
                                  <p:stCondLst>
                                    <p:cond delay="240"/>
                                  </p:stCondLst>
                                  <p:childTnLst>
                                    <p:set>
                                      <p:cBhvr>
                                        <p:cTn id="144" dur="1" fill="hold">
                                          <p:stCondLst>
                                            <p:cond delay="0"/>
                                          </p:stCondLst>
                                        </p:cTn>
                                        <p:tgtEl>
                                          <p:spTgt spid="38"/>
                                        </p:tgtEl>
                                        <p:attrNameLst>
                                          <p:attrName>style.visibility</p:attrName>
                                        </p:attrNameLst>
                                      </p:cBhvr>
                                      <p:to>
                                        <p:strVal val="visible"/>
                                      </p:to>
                                    </p:set>
                                    <p:animEffect transition="in" filter="fade">
                                      <p:cBhvr>
                                        <p:cTn id="145" dur="400"/>
                                        <p:tgtEl>
                                          <p:spTgt spid="38"/>
                                        </p:tgtEl>
                                      </p:cBhvr>
                                    </p:animEffect>
                                  </p:childTnLst>
                                </p:cTn>
                              </p:par>
                              <p:par>
                                <p:cTn id="146" presetID="10" presetClass="entr" presetSubtype="0" fill="hold" nodeType="withEffect">
                                  <p:stCondLst>
                                    <p:cond delay="240"/>
                                  </p:stCondLst>
                                  <p:childTnLst>
                                    <p:set>
                                      <p:cBhvr>
                                        <p:cTn id="147" dur="1" fill="hold">
                                          <p:stCondLst>
                                            <p:cond delay="0"/>
                                          </p:stCondLst>
                                        </p:cTn>
                                        <p:tgtEl>
                                          <p:spTgt spid="39"/>
                                        </p:tgtEl>
                                        <p:attrNameLst>
                                          <p:attrName>style.visibility</p:attrName>
                                        </p:attrNameLst>
                                      </p:cBhvr>
                                      <p:to>
                                        <p:strVal val="visible"/>
                                      </p:to>
                                    </p:set>
                                    <p:animEffect transition="in" filter="fade">
                                      <p:cBhvr>
                                        <p:cTn id="148" dur="400"/>
                                        <p:tgtEl>
                                          <p:spTgt spid="39"/>
                                        </p:tgtEl>
                                      </p:cBhvr>
                                    </p:animEffect>
                                  </p:childTnLst>
                                </p:cTn>
                              </p:par>
                              <p:par>
                                <p:cTn id="149" presetID="10" presetClass="entr" presetSubtype="0" fill="hold" nodeType="withEffect">
                                  <p:stCondLst>
                                    <p:cond delay="24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400"/>
                                        <p:tgtEl>
                                          <p:spTgt spid="40"/>
                                        </p:tgtEl>
                                      </p:cBhvr>
                                    </p:animEffect>
                                  </p:childTnLst>
                                </p:cTn>
                              </p:par>
                              <p:par>
                                <p:cTn id="152" presetID="10" presetClass="entr" presetSubtype="0" fill="hold" nodeType="withEffect">
                                  <p:stCondLst>
                                    <p:cond delay="24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400"/>
                                        <p:tgtEl>
                                          <p:spTgt spid="41"/>
                                        </p:tgtEl>
                                      </p:cBhvr>
                                    </p:animEffect>
                                  </p:childTnLst>
                                </p:cTn>
                              </p:par>
                              <p:par>
                                <p:cTn id="155" presetID="10" presetClass="entr" presetSubtype="0" fill="hold" nodeType="withEffect">
                                  <p:stCondLst>
                                    <p:cond delay="240"/>
                                  </p:stCondLst>
                                  <p:childTnLst>
                                    <p:set>
                                      <p:cBhvr>
                                        <p:cTn id="156" dur="1" fill="hold">
                                          <p:stCondLst>
                                            <p:cond delay="0"/>
                                          </p:stCondLst>
                                        </p:cTn>
                                        <p:tgtEl>
                                          <p:spTgt spid="42"/>
                                        </p:tgtEl>
                                        <p:attrNameLst>
                                          <p:attrName>style.visibility</p:attrName>
                                        </p:attrNameLst>
                                      </p:cBhvr>
                                      <p:to>
                                        <p:strVal val="visible"/>
                                      </p:to>
                                    </p:set>
                                    <p:animEffect transition="in" filter="fade">
                                      <p:cBhvr>
                                        <p:cTn id="157" dur="400"/>
                                        <p:tgtEl>
                                          <p:spTgt spid="42"/>
                                        </p:tgtEl>
                                      </p:cBhvr>
                                    </p:animEffect>
                                  </p:childTnLst>
                                </p:cTn>
                              </p:par>
                              <p:par>
                                <p:cTn id="158" presetID="10" presetClass="entr" presetSubtype="0" fill="hold" nodeType="withEffect">
                                  <p:stCondLst>
                                    <p:cond delay="240"/>
                                  </p:stCondLst>
                                  <p:childTnLst>
                                    <p:set>
                                      <p:cBhvr>
                                        <p:cTn id="159" dur="1" fill="hold">
                                          <p:stCondLst>
                                            <p:cond delay="0"/>
                                          </p:stCondLst>
                                        </p:cTn>
                                        <p:tgtEl>
                                          <p:spTgt spid="43"/>
                                        </p:tgtEl>
                                        <p:attrNameLst>
                                          <p:attrName>style.visibility</p:attrName>
                                        </p:attrNameLst>
                                      </p:cBhvr>
                                      <p:to>
                                        <p:strVal val="visible"/>
                                      </p:to>
                                    </p:set>
                                    <p:animEffect transition="in" filter="fade">
                                      <p:cBhvr>
                                        <p:cTn id="160" dur="400"/>
                                        <p:tgtEl>
                                          <p:spTgt spid="43"/>
                                        </p:tgtEl>
                                      </p:cBhvr>
                                    </p:animEffect>
                                  </p:childTnLst>
                                </p:cTn>
                              </p:par>
                              <p:par>
                                <p:cTn id="161" presetID="10" presetClass="entr" presetSubtype="0" fill="hold" nodeType="withEffect">
                                  <p:stCondLst>
                                    <p:cond delay="240"/>
                                  </p:stCondLst>
                                  <p:childTnLst>
                                    <p:set>
                                      <p:cBhvr>
                                        <p:cTn id="162" dur="1" fill="hold">
                                          <p:stCondLst>
                                            <p:cond delay="0"/>
                                          </p:stCondLst>
                                        </p:cTn>
                                        <p:tgtEl>
                                          <p:spTgt spid="44"/>
                                        </p:tgtEl>
                                        <p:attrNameLst>
                                          <p:attrName>style.visibility</p:attrName>
                                        </p:attrNameLst>
                                      </p:cBhvr>
                                      <p:to>
                                        <p:strVal val="visible"/>
                                      </p:to>
                                    </p:set>
                                    <p:animEffect transition="in" filter="fade">
                                      <p:cBhvr>
                                        <p:cTn id="163" dur="400"/>
                                        <p:tgtEl>
                                          <p:spTgt spid="44"/>
                                        </p:tgtEl>
                                      </p:cBhvr>
                                    </p:animEffect>
                                  </p:childTnLst>
                                </p:cTn>
                              </p:par>
                              <p:par>
                                <p:cTn id="164" presetID="10" presetClass="entr" presetSubtype="0" fill="hold" nodeType="withEffect">
                                  <p:stCondLst>
                                    <p:cond delay="240"/>
                                  </p:stCondLst>
                                  <p:childTnLst>
                                    <p:set>
                                      <p:cBhvr>
                                        <p:cTn id="165" dur="1" fill="hold">
                                          <p:stCondLst>
                                            <p:cond delay="0"/>
                                          </p:stCondLst>
                                        </p:cTn>
                                        <p:tgtEl>
                                          <p:spTgt spid="45"/>
                                        </p:tgtEl>
                                        <p:attrNameLst>
                                          <p:attrName>style.visibility</p:attrName>
                                        </p:attrNameLst>
                                      </p:cBhvr>
                                      <p:to>
                                        <p:strVal val="visible"/>
                                      </p:to>
                                    </p:set>
                                    <p:animEffect transition="in" filter="fade">
                                      <p:cBhvr>
                                        <p:cTn id="166" dur="400"/>
                                        <p:tgtEl>
                                          <p:spTgt spid="45"/>
                                        </p:tgtEl>
                                      </p:cBhvr>
                                    </p:animEffect>
                                  </p:childTnLst>
                                </p:cTn>
                              </p:par>
                              <p:par>
                                <p:cTn id="167" presetID="10" presetClass="entr" presetSubtype="0" fill="hold" nodeType="withEffect">
                                  <p:stCondLst>
                                    <p:cond delay="240"/>
                                  </p:stCondLst>
                                  <p:childTnLst>
                                    <p:set>
                                      <p:cBhvr>
                                        <p:cTn id="168" dur="1" fill="hold">
                                          <p:stCondLst>
                                            <p:cond delay="0"/>
                                          </p:stCondLst>
                                        </p:cTn>
                                        <p:tgtEl>
                                          <p:spTgt spid="46"/>
                                        </p:tgtEl>
                                        <p:attrNameLst>
                                          <p:attrName>style.visibility</p:attrName>
                                        </p:attrNameLst>
                                      </p:cBhvr>
                                      <p:to>
                                        <p:strVal val="visible"/>
                                      </p:to>
                                    </p:set>
                                    <p:animEffect transition="in" filter="fade">
                                      <p:cBhvr>
                                        <p:cTn id="169" dur="400"/>
                                        <p:tgtEl>
                                          <p:spTgt spid="46"/>
                                        </p:tgtEl>
                                      </p:cBhvr>
                                    </p:animEffect>
                                  </p:childTnLst>
                                </p:cTn>
                              </p:par>
                              <p:par>
                                <p:cTn id="170" presetID="10" presetClass="entr" presetSubtype="0" fill="hold" grpId="0" nodeType="withEffect">
                                  <p:stCondLst>
                                    <p:cond delay="240"/>
                                  </p:stCondLst>
                                  <p:childTnLst>
                                    <p:set>
                                      <p:cBhvr>
                                        <p:cTn id="171" dur="1" fill="hold">
                                          <p:stCondLst>
                                            <p:cond delay="0"/>
                                          </p:stCondLst>
                                        </p:cTn>
                                        <p:tgtEl>
                                          <p:spTgt spid="47"/>
                                        </p:tgtEl>
                                        <p:attrNameLst>
                                          <p:attrName>style.visibility</p:attrName>
                                        </p:attrNameLst>
                                      </p:cBhvr>
                                      <p:to>
                                        <p:strVal val="visible"/>
                                      </p:to>
                                    </p:set>
                                    <p:animEffect transition="in" filter="fade">
                                      <p:cBhvr>
                                        <p:cTn id="172"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P spid="18" grpId="0" animBg="1"/>
      <p:bldP spid="19" grpId="0" animBg="1"/>
      <p:bldP spid="22" grpId="0" animBg="1"/>
      <p:bldP spid="23" grpId="0" animBg="1"/>
      <p:bldP spid="26" grpId="0" animBg="1"/>
      <p:bldP spid="27" grpId="0" animBg="1"/>
      <p:bldP spid="30" grpId="0" animBg="1"/>
      <p:bldP spid="31" grpId="0" animBg="1"/>
      <p:bldP spid="33" grpId="0" animBg="1"/>
      <p:bldP spid="34" grpId="0" animBg="1"/>
      <p:bldP spid="36" grpId="0" animBg="1"/>
      <p:bldP spid="37" grpId="0" animBg="1"/>
      <p:bldP spid="4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xt_73"/>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01: PROBLEM</a:t>
            </a:r>
            <a:endParaRPr lang="en-US" sz="1100" dirty="0"/>
          </a:p>
        </p:txBody>
      </p:sp>
      <p:sp>
        <p:nvSpPr>
          <p:cNvPr id="3" name="kicker_74"/>
          <p:cNvSpPr txBox="1"/>
          <p:nvPr/>
        </p:nvSpPr>
        <p:spPr>
          <a:xfrm>
            <a:off x="457200" y="548640"/>
            <a:ext cx="313182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EXISTING APPROACHES</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NAVI adds a physical guide to existing wayfinding</a:t>
            </a:r>
            <a:endParaRPr lang="en-US" sz="4000" dirty="0"/>
          </a:p>
        </p:txBody>
      </p:sp>
      <p:sp>
        <p:nvSpPr>
          <p:cNvPr id="5" name="txt_75"/>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COMPARISON · NAVI COMPLEMENTS, DOES NOT REPLACE</a:t>
            </a:r>
            <a:endParaRPr lang="en-US" sz="1000" dirty="0"/>
          </a:p>
        </p:txBody>
      </p:sp>
      <p:sp>
        <p:nvSpPr>
          <p:cNvPr id="6" name="txt_76"/>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 p3; §9 p8</a:t>
            </a:r>
            <a:endParaRPr lang="en-US" sz="1000" dirty="0"/>
          </a:p>
        </p:txBody>
      </p:sp>
      <p:sp>
        <p:nvSpPr>
          <p:cNvPr id="7" name="txt_77"/>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[ 03 / 18 ]</a:t>
            </a:r>
            <a:endParaRPr lang="en-US" sz="1200" dirty="0"/>
          </a:p>
        </p:txBody>
      </p:sp>
      <p:sp>
        <p:nvSpPr>
          <p:cNvPr id="9" name="box_78"/>
          <p:cNvSpPr/>
          <p:nvPr/>
        </p:nvSpPr>
        <p:spPr>
          <a:xfrm>
            <a:off x="457200" y="2167128"/>
            <a:ext cx="2670048" cy="1874520"/>
          </a:xfrm>
          <a:prstGeom prst="roundRect">
            <a:avLst>
              <a:gd name="adj" fmla="val 2927"/>
            </a:avLst>
          </a:prstGeom>
          <a:solidFill>
            <a:srgbClr val="131C2E">
              <a:alpha val="82000"/>
            </a:srgbClr>
          </a:solidFill>
          <a:ln w="9525">
            <a:solidFill>
              <a:srgbClr val="00F0FF">
                <a:alpha val="22000"/>
              </a:srgbClr>
            </a:solidFill>
            <a:prstDash val="solid"/>
          </a:ln>
        </p:spPr>
      </p:sp>
      <p:sp>
        <p:nvSpPr>
          <p:cNvPr id="10" name="txt_79"/>
          <p:cNvSpPr txBox="1"/>
          <p:nvPr/>
        </p:nvSpPr>
        <p:spPr>
          <a:xfrm>
            <a:off x="603504" y="2295144"/>
            <a:ext cx="2395728"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SIGNAGE</a:t>
            </a:r>
            <a:endParaRPr lang="en-US" sz="1300" dirty="0"/>
          </a:p>
        </p:txBody>
      </p:sp>
      <p:sp>
        <p:nvSpPr>
          <p:cNvPr id="11" name="txt_80"/>
          <p:cNvSpPr txBox="1"/>
          <p:nvPr/>
        </p:nvSpPr>
        <p:spPr>
          <a:xfrm>
            <a:off x="603504" y="2596896"/>
            <a:ext cx="2395728" cy="329184"/>
          </a:xfrm>
          <a:prstGeom prst="rect">
            <a:avLst/>
          </a:prstGeom>
          <a:noFill/>
          <a:ln/>
        </p:spPr>
        <p:txBody>
          <a:bodyPr wrap="square" lIns="0" tIns="0" rIns="0" bIns="0" rtlCol="0" anchor="t"/>
          <a:lstStyle/>
          <a:p>
            <a:pPr marL="0" indent="0">
              <a:buNone/>
            </a:pPr>
            <a:r>
              <a:rPr lang="en-US" sz="2000" b="1" dirty="0">
                <a:solidFill>
                  <a:srgbClr val="F8FAFC"/>
                </a:solidFill>
                <a:latin typeface="Space Grotesk" pitchFamily="34" charset="0"/>
                <a:ea typeface="Space Grotesk" pitchFamily="34" charset="-122"/>
                <a:cs typeface="Space Grotesk" pitchFamily="34" charset="-120"/>
              </a:rPr>
              <a:t>Passive</a:t>
            </a:r>
            <a:endParaRPr lang="en-US" sz="2000" dirty="0"/>
          </a:p>
        </p:txBody>
      </p:sp>
      <p:sp>
        <p:nvSpPr>
          <p:cNvPr id="12" name="txt_81"/>
          <p:cNvSpPr txBox="1"/>
          <p:nvPr/>
        </p:nvSpPr>
        <p:spPr>
          <a:xfrm>
            <a:off x="603504" y="2990088"/>
            <a:ext cx="2395728" cy="10058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Shows a map, not a route. The visitor must first find themselves on it.</a:t>
            </a:r>
            <a:endParaRPr lang="en-US" sz="1400" dirty="0"/>
          </a:p>
        </p:txBody>
      </p:sp>
      <p:sp>
        <p:nvSpPr>
          <p:cNvPr id="13" name="box_82"/>
          <p:cNvSpPr/>
          <p:nvPr/>
        </p:nvSpPr>
        <p:spPr>
          <a:xfrm>
            <a:off x="3291840" y="2167128"/>
            <a:ext cx="2670048" cy="1874520"/>
          </a:xfrm>
          <a:prstGeom prst="roundRect">
            <a:avLst>
              <a:gd name="adj" fmla="val 2927"/>
            </a:avLst>
          </a:prstGeom>
          <a:solidFill>
            <a:srgbClr val="131C2E">
              <a:alpha val="82000"/>
            </a:srgbClr>
          </a:solidFill>
          <a:ln w="9525">
            <a:solidFill>
              <a:srgbClr val="00F0FF">
                <a:alpha val="22000"/>
              </a:srgbClr>
            </a:solidFill>
            <a:prstDash val="solid"/>
          </a:ln>
        </p:spPr>
      </p:sp>
      <p:sp>
        <p:nvSpPr>
          <p:cNvPr id="14" name="txt_83"/>
          <p:cNvSpPr txBox="1"/>
          <p:nvPr/>
        </p:nvSpPr>
        <p:spPr>
          <a:xfrm>
            <a:off x="3438144" y="2295144"/>
            <a:ext cx="2395728"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HUMAN ESCORTS</a:t>
            </a:r>
            <a:endParaRPr lang="en-US" sz="1300" dirty="0"/>
          </a:p>
        </p:txBody>
      </p:sp>
      <p:sp>
        <p:nvSpPr>
          <p:cNvPr id="15" name="txt_84"/>
          <p:cNvSpPr txBox="1"/>
          <p:nvPr/>
        </p:nvSpPr>
        <p:spPr>
          <a:xfrm>
            <a:off x="3438144" y="2596896"/>
            <a:ext cx="2395728" cy="329184"/>
          </a:xfrm>
          <a:prstGeom prst="rect">
            <a:avLst/>
          </a:prstGeom>
          <a:noFill/>
          <a:ln/>
        </p:spPr>
        <p:txBody>
          <a:bodyPr wrap="square" lIns="0" tIns="0" rIns="0" bIns="0" rtlCol="0" anchor="t"/>
          <a:lstStyle/>
          <a:p>
            <a:pPr marL="0" indent="0">
              <a:buNone/>
            </a:pPr>
            <a:r>
              <a:rPr lang="en-US" sz="2000" b="1" dirty="0">
                <a:solidFill>
                  <a:srgbClr val="F8FAFC"/>
                </a:solidFill>
                <a:latin typeface="Space Grotesk" pitchFamily="34" charset="0"/>
                <a:ea typeface="Space Grotesk" pitchFamily="34" charset="-122"/>
                <a:cs typeface="Space Grotesk" pitchFamily="34" charset="-120"/>
              </a:rPr>
              <a:t>Does not scale</a:t>
            </a:r>
            <a:endParaRPr lang="en-US" sz="2000" dirty="0"/>
          </a:p>
        </p:txBody>
      </p:sp>
      <p:sp>
        <p:nvSpPr>
          <p:cNvPr id="16" name="txt_85"/>
          <p:cNvSpPr txBox="1"/>
          <p:nvPr/>
        </p:nvSpPr>
        <p:spPr>
          <a:xfrm>
            <a:off x="3438144" y="2990088"/>
            <a:ext cx="2395728" cy="10058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Demand peaks on event days, exactly when staff and volunteers are busiest.</a:t>
            </a:r>
            <a:endParaRPr lang="en-US" sz="1400" dirty="0"/>
          </a:p>
        </p:txBody>
      </p:sp>
      <p:sp>
        <p:nvSpPr>
          <p:cNvPr id="17" name="box_86"/>
          <p:cNvSpPr/>
          <p:nvPr/>
        </p:nvSpPr>
        <p:spPr>
          <a:xfrm>
            <a:off x="6126480" y="2167128"/>
            <a:ext cx="2670048" cy="1874520"/>
          </a:xfrm>
          <a:prstGeom prst="roundRect">
            <a:avLst>
              <a:gd name="adj" fmla="val 2927"/>
            </a:avLst>
          </a:prstGeom>
          <a:solidFill>
            <a:srgbClr val="131C2E">
              <a:alpha val="82000"/>
            </a:srgbClr>
          </a:solidFill>
          <a:ln w="9525">
            <a:solidFill>
              <a:srgbClr val="00F0FF">
                <a:alpha val="22000"/>
              </a:srgbClr>
            </a:solidFill>
            <a:prstDash val="solid"/>
          </a:ln>
        </p:spPr>
      </p:sp>
      <p:sp>
        <p:nvSpPr>
          <p:cNvPr id="18" name="txt_87"/>
          <p:cNvSpPr txBox="1"/>
          <p:nvPr/>
        </p:nvSpPr>
        <p:spPr>
          <a:xfrm>
            <a:off x="6272784" y="2295144"/>
            <a:ext cx="2395728"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PHONE MAPS</a:t>
            </a:r>
            <a:endParaRPr lang="en-US" sz="1300" dirty="0"/>
          </a:p>
        </p:txBody>
      </p:sp>
      <p:sp>
        <p:nvSpPr>
          <p:cNvPr id="19" name="txt_88"/>
          <p:cNvSpPr txBox="1"/>
          <p:nvPr/>
        </p:nvSpPr>
        <p:spPr>
          <a:xfrm>
            <a:off x="6272784" y="2596896"/>
            <a:ext cx="2395728" cy="329184"/>
          </a:xfrm>
          <a:prstGeom prst="rect">
            <a:avLst/>
          </a:prstGeom>
          <a:noFill/>
          <a:ln/>
        </p:spPr>
        <p:txBody>
          <a:bodyPr wrap="square" lIns="0" tIns="0" rIns="0" bIns="0" rtlCol="0" anchor="t"/>
          <a:lstStyle/>
          <a:p>
            <a:pPr marL="0" indent="0">
              <a:buNone/>
            </a:pPr>
            <a:r>
              <a:rPr lang="en-US" sz="2000" b="1" dirty="0">
                <a:solidFill>
                  <a:srgbClr val="F8FAFC"/>
                </a:solidFill>
                <a:latin typeface="Space Grotesk" pitchFamily="34" charset="0"/>
                <a:ea typeface="Space Grotesk" pitchFamily="34" charset="-122"/>
                <a:cs typeface="Space Grotesk" pitchFamily="34" charset="-120"/>
              </a:rPr>
              <a:t>Stops at the gate</a:t>
            </a:r>
            <a:endParaRPr lang="en-US" sz="2000" dirty="0"/>
          </a:p>
        </p:txBody>
      </p:sp>
      <p:sp>
        <p:nvSpPr>
          <p:cNvPr id="20" name="txt_89"/>
          <p:cNvSpPr txBox="1"/>
          <p:nvPr/>
        </p:nvSpPr>
        <p:spPr>
          <a:xfrm>
            <a:off x="6272784" y="2990088"/>
            <a:ext cx="2395728" cy="10058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Consumer apps carry little internal campus path detail.</a:t>
            </a:r>
            <a:endParaRPr lang="en-US" sz="1400" dirty="0"/>
          </a:p>
        </p:txBody>
      </p:sp>
      <p:sp>
        <p:nvSpPr>
          <p:cNvPr id="21" name="box_90"/>
          <p:cNvSpPr/>
          <p:nvPr/>
        </p:nvSpPr>
        <p:spPr>
          <a:xfrm>
            <a:off x="8961120" y="2167128"/>
            <a:ext cx="2670048" cy="1874520"/>
          </a:xfrm>
          <a:prstGeom prst="roundRect">
            <a:avLst>
              <a:gd name="adj" fmla="val 2927"/>
            </a:avLst>
          </a:prstGeom>
          <a:solidFill>
            <a:srgbClr val="131C2E">
              <a:alpha val="82000"/>
            </a:srgbClr>
          </a:solidFill>
          <a:ln w="9525">
            <a:solidFill>
              <a:srgbClr val="3B82F6">
                <a:alpha val="60000"/>
              </a:srgbClr>
            </a:solidFill>
            <a:prstDash val="solid"/>
          </a:ln>
        </p:spPr>
      </p:sp>
      <p:sp>
        <p:nvSpPr>
          <p:cNvPr id="22" name="txt_91"/>
          <p:cNvSpPr txBox="1"/>
          <p:nvPr/>
        </p:nvSpPr>
        <p:spPr>
          <a:xfrm>
            <a:off x="9107424" y="2295144"/>
            <a:ext cx="2395728" cy="274320"/>
          </a:xfrm>
          <a:prstGeom prst="rect">
            <a:avLst/>
          </a:prstGeom>
          <a:noFill/>
          <a:ln/>
        </p:spPr>
        <p:txBody>
          <a:bodyPr wrap="square" lIns="0" tIns="0" rIns="0" bIns="0" rtlCol="0" anchor="t"/>
          <a:lstStyle/>
          <a:p>
            <a:pPr marL="0" indent="0">
              <a:buNone/>
            </a:pPr>
            <a:r>
              <a:rPr lang="en-US" sz="1300" b="1" dirty="0">
                <a:solidFill>
                  <a:srgbClr val="3B82F6"/>
                </a:solidFill>
                <a:latin typeface="JetBrains Mono" pitchFamily="34" charset="0"/>
                <a:ea typeface="JetBrains Mono" pitchFamily="34" charset="-122"/>
                <a:cs typeface="JetBrains Mono" pitchFamily="34" charset="-120"/>
              </a:rPr>
              <a:t>VIT CHENNAI WAYFINDER</a:t>
            </a:r>
            <a:endParaRPr lang="en-US" sz="1300" dirty="0"/>
          </a:p>
        </p:txBody>
      </p:sp>
      <p:sp>
        <p:nvSpPr>
          <p:cNvPr id="23" name="txt_92"/>
          <p:cNvSpPr txBox="1"/>
          <p:nvPr/>
        </p:nvSpPr>
        <p:spPr>
          <a:xfrm>
            <a:off x="9107424" y="2596896"/>
            <a:ext cx="2395728" cy="329184"/>
          </a:xfrm>
          <a:prstGeom prst="rect">
            <a:avLst/>
          </a:prstGeom>
          <a:noFill/>
          <a:ln/>
        </p:spPr>
        <p:txBody>
          <a:bodyPr wrap="square" lIns="0" tIns="0" rIns="0" bIns="0" rtlCol="0" anchor="t"/>
          <a:lstStyle/>
          <a:p>
            <a:pPr marL="0" indent="0">
              <a:buNone/>
            </a:pPr>
            <a:r>
              <a:rPr lang="en-US" sz="2000" b="1" dirty="0">
                <a:solidFill>
                  <a:srgbClr val="F8FAFC"/>
                </a:solidFill>
                <a:latin typeface="Space Grotesk" pitchFamily="34" charset="0"/>
                <a:ea typeface="Space Grotesk" pitchFamily="34" charset="-122"/>
                <a:cs typeface="Space Grotesk" pitchFamily="34" charset="-120"/>
              </a:rPr>
              <a:t>Still a map</a:t>
            </a:r>
            <a:endParaRPr lang="en-US" sz="2000" dirty="0"/>
          </a:p>
        </p:txBody>
      </p:sp>
      <p:sp>
        <p:nvSpPr>
          <p:cNvPr id="24" name="txt_93"/>
          <p:cNvSpPr txBox="1"/>
          <p:nvPr/>
        </p:nvSpPr>
        <p:spPr>
          <a:xfrm>
            <a:off x="9107424" y="2990088"/>
            <a:ext cx="2395728" cy="100584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Excellent building data and 3D geometry, yet self-localisation remains.</a:t>
            </a:r>
            <a:endParaRPr lang="en-US" sz="1400" dirty="0"/>
          </a:p>
        </p:txBody>
      </p:sp>
      <p:sp>
        <p:nvSpPr>
          <p:cNvPr id="25" name="ln_94"/>
          <p:cNvSpPr/>
          <p:nvPr/>
        </p:nvSpPr>
        <p:spPr>
          <a:xfrm>
            <a:off x="10296144" y="4041648"/>
            <a:ext cx="914" cy="329184"/>
          </a:xfrm>
          <a:prstGeom prst="line">
            <a:avLst/>
          </a:prstGeom>
          <a:noFill/>
          <a:ln w="25400">
            <a:solidFill>
              <a:srgbClr val="00F0FF"/>
            </a:solidFill>
            <a:prstDash val="solid"/>
          </a:ln>
        </p:spPr>
      </p:sp>
      <p:sp>
        <p:nvSpPr>
          <p:cNvPr id="26" name="ln_95"/>
          <p:cNvSpPr/>
          <p:nvPr/>
        </p:nvSpPr>
        <p:spPr>
          <a:xfrm flipH="1">
            <a:off x="6537960" y="4370832"/>
            <a:ext cx="3758184" cy="914"/>
          </a:xfrm>
          <a:prstGeom prst="line">
            <a:avLst/>
          </a:prstGeom>
          <a:noFill/>
          <a:ln w="25400">
            <a:solidFill>
              <a:srgbClr val="00F0FF"/>
            </a:solidFill>
            <a:prstDash val="solid"/>
            <a:tailEnd type="triangle"/>
          </a:ln>
        </p:spPr>
      </p:sp>
      <p:sp>
        <p:nvSpPr>
          <p:cNvPr id="27" name="txt_96"/>
          <p:cNvSpPr txBox="1"/>
          <p:nvPr/>
        </p:nvSpPr>
        <p:spPr>
          <a:xfrm>
            <a:off x="6675120" y="4462272"/>
            <a:ext cx="3657600" cy="457200"/>
          </a:xfrm>
          <a:prstGeom prst="rect">
            <a:avLst/>
          </a:prstGeom>
          <a:noFill/>
          <a:ln/>
        </p:spPr>
        <p:txBody>
          <a:bodyPr wrap="square" lIns="0" tIns="0" rIns="0" bIns="0" rtlCol="0" anchor="t"/>
          <a:lstStyle/>
          <a:p>
            <a:pPr marL="0" indent="0" algn="l">
              <a:buNone/>
            </a:pPr>
            <a:r>
              <a:rPr lang="en-US" sz="1200" b="1" dirty="0">
                <a:solidFill>
                  <a:srgbClr val="00F0FF"/>
                </a:solidFill>
                <a:latin typeface="JetBrains Mono" pitchFamily="34" charset="0"/>
                <a:ea typeface="JetBrains Mono" pitchFamily="34" charset="-122"/>
                <a:cs typeface="JetBrains Mono" pitchFamily="34" charset="-120"/>
              </a:rPr>
              <a:t>SHARED ROUTE DATA</a:t>
            </a:r>
            <a:endParaRPr lang="en-US" sz="1500" dirty="0"/>
          </a:p>
          <a:p>
            <a:pPr marL="0" indent="0" algn="l">
              <a:buNone/>
            </a:pPr>
            <a:r>
              <a:rPr lang="en-US" sz="1200" dirty="0">
                <a:solidFill>
                  <a:srgbClr val="F8FAFC"/>
                </a:solidFill>
                <a:latin typeface="JetBrains Mono" pitchFamily="34" charset="0"/>
                <a:ea typeface="JetBrains Mono" pitchFamily="34" charset="-122"/>
                <a:cs typeface="JetBrains Mono" pitchFamily="34" charset="-120"/>
              </a:rPr>
              <a:t>path.json · 278 waypoints · 36 entrances</a:t>
            </a:r>
            <a:endParaRPr lang="en-US" sz="1500" dirty="0"/>
          </a:p>
        </p:txBody>
      </p:sp>
      <p:sp>
        <p:nvSpPr>
          <p:cNvPr id="28" name="box_97"/>
          <p:cNvSpPr/>
          <p:nvPr/>
        </p:nvSpPr>
        <p:spPr>
          <a:xfrm>
            <a:off x="457200" y="4206240"/>
            <a:ext cx="5943600" cy="1938528"/>
          </a:xfrm>
          <a:prstGeom prst="roundRect">
            <a:avLst>
              <a:gd name="adj" fmla="val 2830"/>
            </a:avLst>
          </a:prstGeom>
          <a:solidFill>
            <a:srgbClr val="00F0FF">
              <a:alpha val="8000"/>
            </a:srgbClr>
          </a:solidFill>
          <a:ln w="9525">
            <a:solidFill>
              <a:srgbClr val="00F0FF">
                <a:alpha val="80000"/>
              </a:srgbClr>
            </a:solidFill>
            <a:prstDash val="solid"/>
          </a:ln>
        </p:spPr>
      </p:sp>
      <p:sp>
        <p:nvSpPr>
          <p:cNvPr id="29" name="txt_98"/>
          <p:cNvSpPr txBox="1"/>
          <p:nvPr/>
        </p:nvSpPr>
        <p:spPr>
          <a:xfrm>
            <a:off x="640080" y="4334256"/>
            <a:ext cx="2743200" cy="274320"/>
          </a:xfrm>
          <a:prstGeom prst="rect">
            <a:avLst/>
          </a:prstGeom>
          <a:noFill/>
          <a:ln/>
        </p:spPr>
        <p:txBody>
          <a:bodyPr wrap="square" lIns="0" tIns="0" rIns="0" bIns="0" rtlCol="0" anchor="t"/>
          <a:lstStyle/>
          <a:p>
            <a:pPr marL="0" indent="0">
              <a:buNone/>
            </a:pPr>
            <a:r>
              <a:rPr lang="en-US" sz="1300" b="1" dirty="0">
                <a:solidFill>
                  <a:srgbClr val="00F0FF"/>
                </a:solidFill>
                <a:latin typeface="JetBrains Mono" pitchFamily="34" charset="0"/>
                <a:ea typeface="JetBrains Mono" pitchFamily="34" charset="-122"/>
                <a:cs typeface="JetBrains Mono" pitchFamily="34" charset="-120"/>
              </a:rPr>
              <a:t>NAVI · PROPOSED</a:t>
            </a:r>
            <a:endParaRPr lang="en-US" sz="1300" dirty="0"/>
          </a:p>
        </p:txBody>
      </p:sp>
      <p:sp>
        <p:nvSpPr>
          <p:cNvPr id="30" name="txt_99"/>
          <p:cNvSpPr txBox="1"/>
          <p:nvPr/>
        </p:nvSpPr>
        <p:spPr>
          <a:xfrm>
            <a:off x="640080" y="4626864"/>
            <a:ext cx="5577840" cy="384048"/>
          </a:xfrm>
          <a:prstGeom prst="rect">
            <a:avLst/>
          </a:prstGeom>
          <a:noFill/>
          <a:ln/>
        </p:spPr>
        <p:txBody>
          <a:bodyPr wrap="square" lIns="0" tIns="0" rIns="0" bIns="0" rtlCol="0" anchor="t"/>
          <a:lstStyle/>
          <a:p>
            <a:pPr marL="0" indent="0">
              <a:buNone/>
            </a:pPr>
            <a:r>
              <a:rPr lang="en-US" sz="2400" b="1" dirty="0">
                <a:solidFill>
                  <a:srgbClr val="F8FAFC"/>
                </a:solidFill>
                <a:latin typeface="Space Grotesk" pitchFamily="34" charset="0"/>
                <a:ea typeface="Space Grotesk" pitchFamily="34" charset="-122"/>
                <a:cs typeface="Space Grotesk" pitchFamily="34" charset="-120"/>
              </a:rPr>
              <a:t>A visible aerial guide that leads</a:t>
            </a:r>
            <a:endParaRPr lang="en-US" sz="2400" dirty="0"/>
          </a:p>
        </p:txBody>
      </p:sp>
      <p:sp>
        <p:nvSpPr>
          <p:cNvPr id="31" name="txt_100"/>
          <p:cNvSpPr txBox="1"/>
          <p:nvPr/>
        </p:nvSpPr>
        <p:spPr>
          <a:xfrm>
            <a:off x="640080" y="5074920"/>
            <a:ext cx="5577840" cy="1005840"/>
          </a:xfrm>
          <a:prstGeom prst="rect">
            <a:avLst/>
          </a:prstGeom>
          <a:noFill/>
          <a:ln/>
        </p:spPr>
        <p:txBody>
          <a:bodyPr wrap="square" lIns="0" tIns="0" rIns="0" bIns="0" rtlCol="0" anchor="t"/>
          <a:lstStyle/>
          <a:p>
            <a:pPr marL="0" indent="0">
              <a:buNone/>
            </a:pPr>
            <a:r>
              <a:rPr lang="en-US" sz="1500" dirty="0">
                <a:solidFill>
                  <a:srgbClr val="F8FAFC"/>
                </a:solidFill>
                <a:latin typeface="Inter" pitchFamily="34" charset="0"/>
                <a:ea typeface="Inter" pitchFamily="34" charset="-122"/>
                <a:cs typeface="Inter" pitchFamily="34" charset="-120"/>
              </a:rPr>
              <a:t>The aircraft flies ahead along a computed, inspected route and waits when the visitor falls behind, so the visitor never has to self-localise. Effectiveness is untested until supervised trials.</a:t>
            </a:r>
            <a:endParaRPr lang="en-US" sz="1500" dirty="0"/>
          </a:p>
        </p:txBody>
      </p:sp>
      <p:sp>
        <p:nvSpPr>
          <p:cNvPr id="32" name="txt_101"/>
          <p:cNvSpPr txBox="1"/>
          <p:nvPr/>
        </p:nvSpPr>
        <p:spPr>
          <a:xfrm>
            <a:off x="6675120" y="5074920"/>
            <a:ext cx="5029200" cy="1005840"/>
          </a:xfrm>
          <a:prstGeom prst="rect">
            <a:avLst/>
          </a:prstGeom>
          <a:noFill/>
          <a:ln/>
        </p:spPr>
        <p:txBody>
          <a:bodyPr wrap="square" lIns="0" tIns="0" rIns="0" bIns="0" rtlCol="0" anchor="t"/>
          <a:lstStyle/>
          <a:p>
            <a:pPr marL="0" indent="0">
              <a:buNone/>
            </a:pPr>
            <a:r>
              <a:rPr lang="en-US" sz="1200" b="1" dirty="0">
                <a:solidFill>
                  <a:srgbClr val="94A3B8"/>
                </a:solidFill>
                <a:latin typeface="JetBrains Mono" pitchFamily="34" charset="0"/>
                <a:ea typeface="JetBrains Mono" pitchFamily="34" charset="-122"/>
                <a:cs typeface="JetBrains Mono" pitchFamily="34" charset="-120"/>
              </a:rPr>
              <a:t>COMPLEMENTARY BY DESIGN</a:t>
            </a:r>
            <a:endParaRPr lang="en-US" sz="1500" dirty="0"/>
          </a:p>
          <a:p>
            <a:pPr marL="0" indent="0">
              <a:buNone/>
            </a:pPr>
            <a:r>
              <a:rPr lang="en-US" sz="1500" dirty="0">
                <a:solidFill>
                  <a:srgbClr val="F8FAFC"/>
                </a:solidFill>
                <a:latin typeface="Inter" pitchFamily="34" charset="0"/>
                <a:ea typeface="Inter" pitchFamily="34" charset="-122"/>
                <a:cs typeface="Inter" pitchFamily="34" charset="-120"/>
              </a:rPr>
              <a:t>The wayfinder remains the data source and the reference map. NAVI adds the physical guide.</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anim calcmode="lin" valueType="num">
                                      <p:cBhvr>
                                        <p:cTn id="8" dur="400" decel="100000" fill="hold"/>
                                        <p:tgtEl>
                                          <p:spTgt spid="9"/>
                                        </p:tgtEl>
                                        <p:attrNameLst>
                                          <p:attrName>ppt_x</p:attrName>
                                        </p:attrNameLst>
                                      </p:cBhvr>
                                      <p:tavLst>
                                        <p:tav tm="0">
                                          <p:val>
                                            <p:strVal val="#ppt_x"/>
                                          </p:val>
                                        </p:tav>
                                        <p:tav tm="100000">
                                          <p:val>
                                            <p:strVal val="#ppt_x"/>
                                          </p:val>
                                        </p:tav>
                                      </p:tavLst>
                                    </p:anim>
                                    <p:anim calcmode="lin" valueType="num">
                                      <p:cBhvr>
                                        <p:cTn id="9" dur="400" decel="100000" fill="hold"/>
                                        <p:tgtEl>
                                          <p:spTgt spid="9"/>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anim calcmode="lin" valueType="num">
                                      <p:cBhvr>
                                        <p:cTn id="13" dur="400" decel="100000" fill="hold"/>
                                        <p:tgtEl>
                                          <p:spTgt spid="10"/>
                                        </p:tgtEl>
                                        <p:attrNameLst>
                                          <p:attrName>ppt_x</p:attrName>
                                        </p:attrNameLst>
                                      </p:cBhvr>
                                      <p:tavLst>
                                        <p:tav tm="0">
                                          <p:val>
                                            <p:strVal val="#ppt_x"/>
                                          </p:val>
                                        </p:tav>
                                        <p:tav tm="100000">
                                          <p:val>
                                            <p:strVal val="#ppt_x"/>
                                          </p:val>
                                        </p:tav>
                                      </p:tavLst>
                                    </p:anim>
                                    <p:anim calcmode="lin" valueType="num">
                                      <p:cBhvr>
                                        <p:cTn id="14" dur="400" decel="100000" fill="hold"/>
                                        <p:tgtEl>
                                          <p:spTgt spid="10"/>
                                        </p:tgtEl>
                                        <p:attrNameLst>
                                          <p:attrName>ppt_y</p:attrName>
                                        </p:attrNameLst>
                                      </p:cBhvr>
                                      <p:tavLst>
                                        <p:tav tm="0">
                                          <p:val>
                                            <p:strVal val="#ppt_y+0.01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anim calcmode="lin" valueType="num">
                                      <p:cBhvr>
                                        <p:cTn id="18" dur="400" decel="100000" fill="hold"/>
                                        <p:tgtEl>
                                          <p:spTgt spid="11"/>
                                        </p:tgtEl>
                                        <p:attrNameLst>
                                          <p:attrName>ppt_x</p:attrName>
                                        </p:attrNameLst>
                                      </p:cBhvr>
                                      <p:tavLst>
                                        <p:tav tm="0">
                                          <p:val>
                                            <p:strVal val="#ppt_x"/>
                                          </p:val>
                                        </p:tav>
                                        <p:tav tm="100000">
                                          <p:val>
                                            <p:strVal val="#ppt_x"/>
                                          </p:val>
                                        </p:tav>
                                      </p:tavLst>
                                    </p:anim>
                                    <p:anim calcmode="lin" valueType="num">
                                      <p:cBhvr>
                                        <p:cTn id="19" dur="400" decel="100000" fill="hold"/>
                                        <p:tgtEl>
                                          <p:spTgt spid="11"/>
                                        </p:tgtEl>
                                        <p:attrNameLst>
                                          <p:attrName>ppt_y</p:attrName>
                                        </p:attrNameLst>
                                      </p:cBhvr>
                                      <p:tavLst>
                                        <p:tav tm="0">
                                          <p:val>
                                            <p:strVal val="#ppt_y+0.01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anim calcmode="lin" valueType="num">
                                      <p:cBhvr>
                                        <p:cTn id="23" dur="400" decel="100000" fill="hold"/>
                                        <p:tgtEl>
                                          <p:spTgt spid="12"/>
                                        </p:tgtEl>
                                        <p:attrNameLst>
                                          <p:attrName>ppt_x</p:attrName>
                                        </p:attrNameLst>
                                      </p:cBhvr>
                                      <p:tavLst>
                                        <p:tav tm="0">
                                          <p:val>
                                            <p:strVal val="#ppt_x"/>
                                          </p:val>
                                        </p:tav>
                                        <p:tav tm="100000">
                                          <p:val>
                                            <p:strVal val="#ppt_x"/>
                                          </p:val>
                                        </p:tav>
                                      </p:tavLst>
                                    </p:anim>
                                    <p:anim calcmode="lin" valueType="num">
                                      <p:cBhvr>
                                        <p:cTn id="24" dur="400" decel="100000" fill="hold"/>
                                        <p:tgtEl>
                                          <p:spTgt spid="12"/>
                                        </p:tgtEl>
                                        <p:attrNameLst>
                                          <p:attrName>ppt_y</p:attrName>
                                        </p:attrNameLst>
                                      </p:cBhvr>
                                      <p:tavLst>
                                        <p:tav tm="0">
                                          <p:val>
                                            <p:strVal val="#ppt_y+0.016"/>
                                          </p:val>
                                        </p:tav>
                                        <p:tav tm="100000">
                                          <p:val>
                                            <p:strVal val="#ppt_y"/>
                                          </p:val>
                                        </p:tav>
                                      </p:tavLst>
                                    </p:anim>
                                  </p:childTnLst>
                                </p:cTn>
                              </p:par>
                              <p:par>
                                <p:cTn id="25" presetID="42" presetClass="entr" presetSubtype="0" fill="hold" nodeType="withEffect">
                                  <p:stCondLst>
                                    <p:cond delay="8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anim calcmode="lin" valueType="num">
                                      <p:cBhvr>
                                        <p:cTn id="28" dur="400" decel="100000" fill="hold"/>
                                        <p:tgtEl>
                                          <p:spTgt spid="13"/>
                                        </p:tgtEl>
                                        <p:attrNameLst>
                                          <p:attrName>ppt_x</p:attrName>
                                        </p:attrNameLst>
                                      </p:cBhvr>
                                      <p:tavLst>
                                        <p:tav tm="0">
                                          <p:val>
                                            <p:strVal val="#ppt_x"/>
                                          </p:val>
                                        </p:tav>
                                        <p:tav tm="100000">
                                          <p:val>
                                            <p:strVal val="#ppt_x"/>
                                          </p:val>
                                        </p:tav>
                                      </p:tavLst>
                                    </p:anim>
                                    <p:anim calcmode="lin" valueType="num">
                                      <p:cBhvr>
                                        <p:cTn id="29" dur="400" decel="100000" fill="hold"/>
                                        <p:tgtEl>
                                          <p:spTgt spid="13"/>
                                        </p:tgtEl>
                                        <p:attrNameLst>
                                          <p:attrName>ppt_y</p:attrName>
                                        </p:attrNameLst>
                                      </p:cBhvr>
                                      <p:tavLst>
                                        <p:tav tm="0">
                                          <p:val>
                                            <p:strVal val="#ppt_y+0.016"/>
                                          </p:val>
                                        </p:tav>
                                        <p:tav tm="100000">
                                          <p:val>
                                            <p:strVal val="#ppt_y"/>
                                          </p:val>
                                        </p:tav>
                                      </p:tavLst>
                                    </p:anim>
                                  </p:childTnLst>
                                </p:cTn>
                              </p:par>
                              <p:par>
                                <p:cTn id="30" presetID="42" presetClass="entr" presetSubtype="0" fill="hold" grpId="0" nodeType="withEffect">
                                  <p:stCondLst>
                                    <p:cond delay="8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anim calcmode="lin" valueType="num">
                                      <p:cBhvr>
                                        <p:cTn id="33" dur="400" decel="100000" fill="hold"/>
                                        <p:tgtEl>
                                          <p:spTgt spid="14"/>
                                        </p:tgtEl>
                                        <p:attrNameLst>
                                          <p:attrName>ppt_x</p:attrName>
                                        </p:attrNameLst>
                                      </p:cBhvr>
                                      <p:tavLst>
                                        <p:tav tm="0">
                                          <p:val>
                                            <p:strVal val="#ppt_x"/>
                                          </p:val>
                                        </p:tav>
                                        <p:tav tm="100000">
                                          <p:val>
                                            <p:strVal val="#ppt_x"/>
                                          </p:val>
                                        </p:tav>
                                      </p:tavLst>
                                    </p:anim>
                                    <p:anim calcmode="lin" valueType="num">
                                      <p:cBhvr>
                                        <p:cTn id="34" dur="400" decel="100000" fill="hold"/>
                                        <p:tgtEl>
                                          <p:spTgt spid="14"/>
                                        </p:tgtEl>
                                        <p:attrNameLst>
                                          <p:attrName>ppt_y</p:attrName>
                                        </p:attrNameLst>
                                      </p:cBhvr>
                                      <p:tavLst>
                                        <p:tav tm="0">
                                          <p:val>
                                            <p:strVal val="#ppt_y+0.016"/>
                                          </p:val>
                                        </p:tav>
                                        <p:tav tm="100000">
                                          <p:val>
                                            <p:strVal val="#ppt_y"/>
                                          </p:val>
                                        </p:tav>
                                      </p:tavLst>
                                    </p:anim>
                                  </p:childTnLst>
                                </p:cTn>
                              </p:par>
                              <p:par>
                                <p:cTn id="35" presetID="42" presetClass="entr" presetSubtype="0" fill="hold" grpId="0" nodeType="withEffect">
                                  <p:stCondLst>
                                    <p:cond delay="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anim calcmode="lin" valueType="num">
                                      <p:cBhvr>
                                        <p:cTn id="38" dur="400" decel="100000" fill="hold"/>
                                        <p:tgtEl>
                                          <p:spTgt spid="15"/>
                                        </p:tgtEl>
                                        <p:attrNameLst>
                                          <p:attrName>ppt_x</p:attrName>
                                        </p:attrNameLst>
                                      </p:cBhvr>
                                      <p:tavLst>
                                        <p:tav tm="0">
                                          <p:val>
                                            <p:strVal val="#ppt_x"/>
                                          </p:val>
                                        </p:tav>
                                        <p:tav tm="100000">
                                          <p:val>
                                            <p:strVal val="#ppt_x"/>
                                          </p:val>
                                        </p:tav>
                                      </p:tavLst>
                                    </p:anim>
                                    <p:anim calcmode="lin" valueType="num">
                                      <p:cBhvr>
                                        <p:cTn id="39" dur="400" decel="100000" fill="hold"/>
                                        <p:tgtEl>
                                          <p:spTgt spid="15"/>
                                        </p:tgtEl>
                                        <p:attrNameLst>
                                          <p:attrName>ppt_y</p:attrName>
                                        </p:attrNameLst>
                                      </p:cBhvr>
                                      <p:tavLst>
                                        <p:tav tm="0">
                                          <p:val>
                                            <p:strVal val="#ppt_y+0.016"/>
                                          </p:val>
                                        </p:tav>
                                        <p:tav tm="100000">
                                          <p:val>
                                            <p:strVal val="#ppt_y"/>
                                          </p:val>
                                        </p:tav>
                                      </p:tavLst>
                                    </p:anim>
                                  </p:childTnLst>
                                </p:cTn>
                              </p:par>
                              <p:par>
                                <p:cTn id="40" presetID="42" presetClass="entr" presetSubtype="0" fill="hold" grpId="0" nodeType="withEffect">
                                  <p:stCondLst>
                                    <p:cond delay="8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 calcmode="lin" valueType="num">
                                      <p:cBhvr>
                                        <p:cTn id="43" dur="400" decel="100000" fill="hold"/>
                                        <p:tgtEl>
                                          <p:spTgt spid="16"/>
                                        </p:tgtEl>
                                        <p:attrNameLst>
                                          <p:attrName>ppt_x</p:attrName>
                                        </p:attrNameLst>
                                      </p:cBhvr>
                                      <p:tavLst>
                                        <p:tav tm="0">
                                          <p:val>
                                            <p:strVal val="#ppt_x"/>
                                          </p:val>
                                        </p:tav>
                                        <p:tav tm="100000">
                                          <p:val>
                                            <p:strVal val="#ppt_x"/>
                                          </p:val>
                                        </p:tav>
                                      </p:tavLst>
                                    </p:anim>
                                    <p:anim calcmode="lin" valueType="num">
                                      <p:cBhvr>
                                        <p:cTn id="44" dur="400" decel="100000" fill="hold"/>
                                        <p:tgtEl>
                                          <p:spTgt spid="16"/>
                                        </p:tgtEl>
                                        <p:attrNameLst>
                                          <p:attrName>ppt_y</p:attrName>
                                        </p:attrNameLst>
                                      </p:cBhvr>
                                      <p:tavLst>
                                        <p:tav tm="0">
                                          <p:val>
                                            <p:strVal val="#ppt_y+0.016"/>
                                          </p:val>
                                        </p:tav>
                                        <p:tav tm="100000">
                                          <p:val>
                                            <p:strVal val="#ppt_y"/>
                                          </p:val>
                                        </p:tav>
                                      </p:tavLst>
                                    </p:anim>
                                  </p:childTnLst>
                                </p:cTn>
                              </p:par>
                              <p:par>
                                <p:cTn id="45" presetID="42" presetClass="entr" presetSubtype="0" fill="hold" nodeType="withEffect">
                                  <p:stCondLst>
                                    <p:cond delay="16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anim calcmode="lin" valueType="num">
                                      <p:cBhvr>
                                        <p:cTn id="48" dur="400" decel="100000" fill="hold"/>
                                        <p:tgtEl>
                                          <p:spTgt spid="17"/>
                                        </p:tgtEl>
                                        <p:attrNameLst>
                                          <p:attrName>ppt_x</p:attrName>
                                        </p:attrNameLst>
                                      </p:cBhvr>
                                      <p:tavLst>
                                        <p:tav tm="0">
                                          <p:val>
                                            <p:strVal val="#ppt_x"/>
                                          </p:val>
                                        </p:tav>
                                        <p:tav tm="100000">
                                          <p:val>
                                            <p:strVal val="#ppt_x"/>
                                          </p:val>
                                        </p:tav>
                                      </p:tavLst>
                                    </p:anim>
                                    <p:anim calcmode="lin" valueType="num">
                                      <p:cBhvr>
                                        <p:cTn id="49" dur="400" decel="100000" fill="hold"/>
                                        <p:tgtEl>
                                          <p:spTgt spid="17"/>
                                        </p:tgtEl>
                                        <p:attrNameLst>
                                          <p:attrName>ppt_y</p:attrName>
                                        </p:attrNameLst>
                                      </p:cBhvr>
                                      <p:tavLst>
                                        <p:tav tm="0">
                                          <p:val>
                                            <p:strVal val="#ppt_y+0.016"/>
                                          </p:val>
                                        </p:tav>
                                        <p:tav tm="100000">
                                          <p:val>
                                            <p:strVal val="#ppt_y"/>
                                          </p:val>
                                        </p:tav>
                                      </p:tavLst>
                                    </p:anim>
                                  </p:childTnLst>
                                </p:cTn>
                              </p:par>
                              <p:par>
                                <p:cTn id="50" presetID="42" presetClass="entr" presetSubtype="0" fill="hold" grpId="0" nodeType="withEffect">
                                  <p:stCondLst>
                                    <p:cond delay="16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anim calcmode="lin" valueType="num">
                                      <p:cBhvr>
                                        <p:cTn id="53" dur="400" decel="100000" fill="hold"/>
                                        <p:tgtEl>
                                          <p:spTgt spid="18"/>
                                        </p:tgtEl>
                                        <p:attrNameLst>
                                          <p:attrName>ppt_x</p:attrName>
                                        </p:attrNameLst>
                                      </p:cBhvr>
                                      <p:tavLst>
                                        <p:tav tm="0">
                                          <p:val>
                                            <p:strVal val="#ppt_x"/>
                                          </p:val>
                                        </p:tav>
                                        <p:tav tm="100000">
                                          <p:val>
                                            <p:strVal val="#ppt_x"/>
                                          </p:val>
                                        </p:tav>
                                      </p:tavLst>
                                    </p:anim>
                                    <p:anim calcmode="lin" valueType="num">
                                      <p:cBhvr>
                                        <p:cTn id="54" dur="400" decel="100000" fill="hold"/>
                                        <p:tgtEl>
                                          <p:spTgt spid="18"/>
                                        </p:tgtEl>
                                        <p:attrNameLst>
                                          <p:attrName>ppt_y</p:attrName>
                                        </p:attrNameLst>
                                      </p:cBhvr>
                                      <p:tavLst>
                                        <p:tav tm="0">
                                          <p:val>
                                            <p:strVal val="#ppt_y+0.016"/>
                                          </p:val>
                                        </p:tav>
                                        <p:tav tm="100000">
                                          <p:val>
                                            <p:strVal val="#ppt_y"/>
                                          </p:val>
                                        </p:tav>
                                      </p:tavLst>
                                    </p:anim>
                                  </p:childTnLst>
                                </p:cTn>
                              </p:par>
                              <p:par>
                                <p:cTn id="55" presetID="42" presetClass="entr" presetSubtype="0" fill="hold" grpId="0" nodeType="withEffect">
                                  <p:stCondLst>
                                    <p:cond delay="16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anim calcmode="lin" valueType="num">
                                      <p:cBhvr>
                                        <p:cTn id="58" dur="400" decel="100000" fill="hold"/>
                                        <p:tgtEl>
                                          <p:spTgt spid="19"/>
                                        </p:tgtEl>
                                        <p:attrNameLst>
                                          <p:attrName>ppt_x</p:attrName>
                                        </p:attrNameLst>
                                      </p:cBhvr>
                                      <p:tavLst>
                                        <p:tav tm="0">
                                          <p:val>
                                            <p:strVal val="#ppt_x"/>
                                          </p:val>
                                        </p:tav>
                                        <p:tav tm="100000">
                                          <p:val>
                                            <p:strVal val="#ppt_x"/>
                                          </p:val>
                                        </p:tav>
                                      </p:tavLst>
                                    </p:anim>
                                    <p:anim calcmode="lin" valueType="num">
                                      <p:cBhvr>
                                        <p:cTn id="59" dur="400" decel="100000" fill="hold"/>
                                        <p:tgtEl>
                                          <p:spTgt spid="19"/>
                                        </p:tgtEl>
                                        <p:attrNameLst>
                                          <p:attrName>ppt_y</p:attrName>
                                        </p:attrNameLst>
                                      </p:cBhvr>
                                      <p:tavLst>
                                        <p:tav tm="0">
                                          <p:val>
                                            <p:strVal val="#ppt_y+0.016"/>
                                          </p:val>
                                        </p:tav>
                                        <p:tav tm="100000">
                                          <p:val>
                                            <p:strVal val="#ppt_y"/>
                                          </p:val>
                                        </p:tav>
                                      </p:tavLst>
                                    </p:anim>
                                  </p:childTnLst>
                                </p:cTn>
                              </p:par>
                              <p:par>
                                <p:cTn id="60" presetID="42" presetClass="entr" presetSubtype="0" fill="hold" grpId="0" nodeType="withEffect">
                                  <p:stCondLst>
                                    <p:cond delay="16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00"/>
                                        <p:tgtEl>
                                          <p:spTgt spid="20"/>
                                        </p:tgtEl>
                                      </p:cBhvr>
                                    </p:animEffect>
                                    <p:anim calcmode="lin" valueType="num">
                                      <p:cBhvr>
                                        <p:cTn id="63" dur="400" decel="100000" fill="hold"/>
                                        <p:tgtEl>
                                          <p:spTgt spid="20"/>
                                        </p:tgtEl>
                                        <p:attrNameLst>
                                          <p:attrName>ppt_x</p:attrName>
                                        </p:attrNameLst>
                                      </p:cBhvr>
                                      <p:tavLst>
                                        <p:tav tm="0">
                                          <p:val>
                                            <p:strVal val="#ppt_x"/>
                                          </p:val>
                                        </p:tav>
                                        <p:tav tm="100000">
                                          <p:val>
                                            <p:strVal val="#ppt_x"/>
                                          </p:val>
                                        </p:tav>
                                      </p:tavLst>
                                    </p:anim>
                                    <p:anim calcmode="lin" valueType="num">
                                      <p:cBhvr>
                                        <p:cTn id="64" dur="400" decel="100000" fill="hold"/>
                                        <p:tgtEl>
                                          <p:spTgt spid="20"/>
                                        </p:tgtEl>
                                        <p:attrNameLst>
                                          <p:attrName>ppt_y</p:attrName>
                                        </p:attrNameLst>
                                      </p:cBhvr>
                                      <p:tavLst>
                                        <p:tav tm="0">
                                          <p:val>
                                            <p:strVal val="#ppt_y+0.016"/>
                                          </p:val>
                                        </p:tav>
                                        <p:tav tm="100000">
                                          <p:val>
                                            <p:strVal val="#ppt_y"/>
                                          </p:val>
                                        </p:tav>
                                      </p:tavLst>
                                    </p:anim>
                                  </p:childTnLst>
                                </p:cTn>
                              </p:par>
                              <p:par>
                                <p:cTn id="65" presetID="42" presetClass="entr" presetSubtype="0" fill="hold" nodeType="withEffect">
                                  <p:stCondLst>
                                    <p:cond delay="24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00"/>
                                        <p:tgtEl>
                                          <p:spTgt spid="21"/>
                                        </p:tgtEl>
                                      </p:cBhvr>
                                    </p:animEffect>
                                    <p:anim calcmode="lin" valueType="num">
                                      <p:cBhvr>
                                        <p:cTn id="68" dur="400" decel="100000" fill="hold"/>
                                        <p:tgtEl>
                                          <p:spTgt spid="21"/>
                                        </p:tgtEl>
                                        <p:attrNameLst>
                                          <p:attrName>ppt_x</p:attrName>
                                        </p:attrNameLst>
                                      </p:cBhvr>
                                      <p:tavLst>
                                        <p:tav tm="0">
                                          <p:val>
                                            <p:strVal val="#ppt_x"/>
                                          </p:val>
                                        </p:tav>
                                        <p:tav tm="100000">
                                          <p:val>
                                            <p:strVal val="#ppt_x"/>
                                          </p:val>
                                        </p:tav>
                                      </p:tavLst>
                                    </p:anim>
                                    <p:anim calcmode="lin" valueType="num">
                                      <p:cBhvr>
                                        <p:cTn id="69" dur="400" decel="100000" fill="hold"/>
                                        <p:tgtEl>
                                          <p:spTgt spid="21"/>
                                        </p:tgtEl>
                                        <p:attrNameLst>
                                          <p:attrName>ppt_y</p:attrName>
                                        </p:attrNameLst>
                                      </p:cBhvr>
                                      <p:tavLst>
                                        <p:tav tm="0">
                                          <p:val>
                                            <p:strVal val="#ppt_y+0.016"/>
                                          </p:val>
                                        </p:tav>
                                        <p:tav tm="100000">
                                          <p:val>
                                            <p:strVal val="#ppt_y"/>
                                          </p:val>
                                        </p:tav>
                                      </p:tavLst>
                                    </p:anim>
                                  </p:childTnLst>
                                </p:cTn>
                              </p:par>
                              <p:par>
                                <p:cTn id="70" presetID="42" presetClass="entr" presetSubtype="0" fill="hold" grpId="0" nodeType="withEffect">
                                  <p:stCondLst>
                                    <p:cond delay="24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400"/>
                                        <p:tgtEl>
                                          <p:spTgt spid="22"/>
                                        </p:tgtEl>
                                      </p:cBhvr>
                                    </p:animEffect>
                                    <p:anim calcmode="lin" valueType="num">
                                      <p:cBhvr>
                                        <p:cTn id="73" dur="400" decel="100000" fill="hold"/>
                                        <p:tgtEl>
                                          <p:spTgt spid="22"/>
                                        </p:tgtEl>
                                        <p:attrNameLst>
                                          <p:attrName>ppt_x</p:attrName>
                                        </p:attrNameLst>
                                      </p:cBhvr>
                                      <p:tavLst>
                                        <p:tav tm="0">
                                          <p:val>
                                            <p:strVal val="#ppt_x"/>
                                          </p:val>
                                        </p:tav>
                                        <p:tav tm="100000">
                                          <p:val>
                                            <p:strVal val="#ppt_x"/>
                                          </p:val>
                                        </p:tav>
                                      </p:tavLst>
                                    </p:anim>
                                    <p:anim calcmode="lin" valueType="num">
                                      <p:cBhvr>
                                        <p:cTn id="74" dur="400" decel="100000" fill="hold"/>
                                        <p:tgtEl>
                                          <p:spTgt spid="22"/>
                                        </p:tgtEl>
                                        <p:attrNameLst>
                                          <p:attrName>ppt_y</p:attrName>
                                        </p:attrNameLst>
                                      </p:cBhvr>
                                      <p:tavLst>
                                        <p:tav tm="0">
                                          <p:val>
                                            <p:strVal val="#ppt_y+0.016"/>
                                          </p:val>
                                        </p:tav>
                                        <p:tav tm="100000">
                                          <p:val>
                                            <p:strVal val="#ppt_y"/>
                                          </p:val>
                                        </p:tav>
                                      </p:tavLst>
                                    </p:anim>
                                  </p:childTnLst>
                                </p:cTn>
                              </p:par>
                              <p:par>
                                <p:cTn id="75" presetID="42" presetClass="entr" presetSubtype="0" fill="hold" grpId="0" nodeType="withEffect">
                                  <p:stCondLst>
                                    <p:cond delay="24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400"/>
                                        <p:tgtEl>
                                          <p:spTgt spid="23"/>
                                        </p:tgtEl>
                                      </p:cBhvr>
                                    </p:animEffect>
                                    <p:anim calcmode="lin" valueType="num">
                                      <p:cBhvr>
                                        <p:cTn id="78" dur="400" decel="100000" fill="hold"/>
                                        <p:tgtEl>
                                          <p:spTgt spid="23"/>
                                        </p:tgtEl>
                                        <p:attrNameLst>
                                          <p:attrName>ppt_x</p:attrName>
                                        </p:attrNameLst>
                                      </p:cBhvr>
                                      <p:tavLst>
                                        <p:tav tm="0">
                                          <p:val>
                                            <p:strVal val="#ppt_x"/>
                                          </p:val>
                                        </p:tav>
                                        <p:tav tm="100000">
                                          <p:val>
                                            <p:strVal val="#ppt_x"/>
                                          </p:val>
                                        </p:tav>
                                      </p:tavLst>
                                    </p:anim>
                                    <p:anim calcmode="lin" valueType="num">
                                      <p:cBhvr>
                                        <p:cTn id="79" dur="400" decel="100000" fill="hold"/>
                                        <p:tgtEl>
                                          <p:spTgt spid="23"/>
                                        </p:tgtEl>
                                        <p:attrNameLst>
                                          <p:attrName>ppt_y</p:attrName>
                                        </p:attrNameLst>
                                      </p:cBhvr>
                                      <p:tavLst>
                                        <p:tav tm="0">
                                          <p:val>
                                            <p:strVal val="#ppt_y+0.016"/>
                                          </p:val>
                                        </p:tav>
                                        <p:tav tm="100000">
                                          <p:val>
                                            <p:strVal val="#ppt_y"/>
                                          </p:val>
                                        </p:tav>
                                      </p:tavLst>
                                    </p:anim>
                                  </p:childTnLst>
                                </p:cTn>
                              </p:par>
                              <p:par>
                                <p:cTn id="80" presetID="42" presetClass="entr" presetSubtype="0" fill="hold" grpId="0" nodeType="withEffect">
                                  <p:stCondLst>
                                    <p:cond delay="24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400"/>
                                        <p:tgtEl>
                                          <p:spTgt spid="24"/>
                                        </p:tgtEl>
                                      </p:cBhvr>
                                    </p:animEffect>
                                    <p:anim calcmode="lin" valueType="num">
                                      <p:cBhvr>
                                        <p:cTn id="83" dur="400" decel="100000" fill="hold"/>
                                        <p:tgtEl>
                                          <p:spTgt spid="24"/>
                                        </p:tgtEl>
                                        <p:attrNameLst>
                                          <p:attrName>ppt_x</p:attrName>
                                        </p:attrNameLst>
                                      </p:cBhvr>
                                      <p:tavLst>
                                        <p:tav tm="0">
                                          <p:val>
                                            <p:strVal val="#ppt_x"/>
                                          </p:val>
                                        </p:tav>
                                        <p:tav tm="100000">
                                          <p:val>
                                            <p:strVal val="#ppt_x"/>
                                          </p:val>
                                        </p:tav>
                                      </p:tavLst>
                                    </p:anim>
                                    <p:anim calcmode="lin" valueType="num">
                                      <p:cBhvr>
                                        <p:cTn id="84" dur="400" decel="100000" fill="hold"/>
                                        <p:tgtEl>
                                          <p:spTgt spid="24"/>
                                        </p:tgtEl>
                                        <p:attrNameLst>
                                          <p:attrName>ppt_y</p:attrName>
                                        </p:attrNameLst>
                                      </p:cBhvr>
                                      <p:tavLst>
                                        <p:tav tm="0">
                                          <p:val>
                                            <p:strVal val="#ppt_y+0.016"/>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wipe(down)">
                                      <p:cBhvr>
                                        <p:cTn id="89" dur="300"/>
                                        <p:tgtEl>
                                          <p:spTgt spid="25"/>
                                        </p:tgtEl>
                                      </p:cBhvr>
                                    </p:animEffect>
                                  </p:childTnLst>
                                </p:cTn>
                              </p:par>
                            </p:childTnLst>
                          </p:cTn>
                        </p:par>
                        <p:par>
                          <p:cTn id="90" fill="hold">
                            <p:stCondLst>
                              <p:cond delay="300"/>
                            </p:stCondLst>
                            <p:childTnLst>
                              <p:par>
                                <p:cTn id="91" presetID="22" presetClass="entr" presetSubtype="2" fill="hold" nodeType="after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wipe(right)">
                                      <p:cBhvr>
                                        <p:cTn id="93" dur="350"/>
                                        <p:tgtEl>
                                          <p:spTgt spid="2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300"/>
                                        <p:tgtEl>
                                          <p:spTgt spid="27"/>
                                        </p:tgtEl>
                                      </p:cBhvr>
                                    </p:animEffect>
                                  </p:childTnLst>
                                </p:cTn>
                              </p:par>
                            </p:childTnLst>
                          </p:cTn>
                        </p:par>
                        <p:par>
                          <p:cTn id="97" fill="hold">
                            <p:stCondLst>
                              <p:cond delay="650"/>
                            </p:stCondLst>
                            <p:childTnLst>
                              <p:par>
                                <p:cTn id="98" presetID="42" presetClass="entr" presetSubtype="0" fill="hold" nodeType="after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0" dur="400"/>
                                        <p:tgtEl>
                                          <p:spTgt spid="28"/>
                                        </p:tgtEl>
                                      </p:cBhvr>
                                    </p:animEffect>
                                    <p:anim calcmode="lin" valueType="num">
                                      <p:cBhvr>
                                        <p:cTn id="101" dur="400" decel="100000" fill="hold"/>
                                        <p:tgtEl>
                                          <p:spTgt spid="28"/>
                                        </p:tgtEl>
                                        <p:attrNameLst>
                                          <p:attrName>ppt_x</p:attrName>
                                        </p:attrNameLst>
                                      </p:cBhvr>
                                      <p:tavLst>
                                        <p:tav tm="0">
                                          <p:val>
                                            <p:strVal val="#ppt_x"/>
                                          </p:val>
                                        </p:tav>
                                        <p:tav tm="100000">
                                          <p:val>
                                            <p:strVal val="#ppt_x"/>
                                          </p:val>
                                        </p:tav>
                                      </p:tavLst>
                                    </p:anim>
                                    <p:anim calcmode="lin" valueType="num">
                                      <p:cBhvr>
                                        <p:cTn id="102" dur="400" decel="100000" fill="hold"/>
                                        <p:tgtEl>
                                          <p:spTgt spid="28"/>
                                        </p:tgtEl>
                                        <p:attrNameLst>
                                          <p:attrName>ppt_y</p:attrName>
                                        </p:attrNameLst>
                                      </p:cBhvr>
                                      <p:tavLst>
                                        <p:tav tm="0">
                                          <p:val>
                                            <p:strVal val="#ppt_y+0.01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400"/>
                                        <p:tgtEl>
                                          <p:spTgt spid="29"/>
                                        </p:tgtEl>
                                      </p:cBhvr>
                                    </p:animEffect>
                                    <p:anim calcmode="lin" valueType="num">
                                      <p:cBhvr>
                                        <p:cTn id="106" dur="400" decel="100000" fill="hold"/>
                                        <p:tgtEl>
                                          <p:spTgt spid="29"/>
                                        </p:tgtEl>
                                        <p:attrNameLst>
                                          <p:attrName>ppt_x</p:attrName>
                                        </p:attrNameLst>
                                      </p:cBhvr>
                                      <p:tavLst>
                                        <p:tav tm="0">
                                          <p:val>
                                            <p:strVal val="#ppt_x"/>
                                          </p:val>
                                        </p:tav>
                                        <p:tav tm="100000">
                                          <p:val>
                                            <p:strVal val="#ppt_x"/>
                                          </p:val>
                                        </p:tav>
                                      </p:tavLst>
                                    </p:anim>
                                    <p:anim calcmode="lin" valueType="num">
                                      <p:cBhvr>
                                        <p:cTn id="107" dur="400" decel="100000" fill="hold"/>
                                        <p:tgtEl>
                                          <p:spTgt spid="29"/>
                                        </p:tgtEl>
                                        <p:attrNameLst>
                                          <p:attrName>ppt_y</p:attrName>
                                        </p:attrNameLst>
                                      </p:cBhvr>
                                      <p:tavLst>
                                        <p:tav tm="0">
                                          <p:val>
                                            <p:strVal val="#ppt_y+0.016"/>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400"/>
                                        <p:tgtEl>
                                          <p:spTgt spid="30"/>
                                        </p:tgtEl>
                                      </p:cBhvr>
                                    </p:animEffect>
                                    <p:anim calcmode="lin" valueType="num">
                                      <p:cBhvr>
                                        <p:cTn id="111" dur="400" decel="100000" fill="hold"/>
                                        <p:tgtEl>
                                          <p:spTgt spid="30"/>
                                        </p:tgtEl>
                                        <p:attrNameLst>
                                          <p:attrName>ppt_x</p:attrName>
                                        </p:attrNameLst>
                                      </p:cBhvr>
                                      <p:tavLst>
                                        <p:tav tm="0">
                                          <p:val>
                                            <p:strVal val="#ppt_x"/>
                                          </p:val>
                                        </p:tav>
                                        <p:tav tm="100000">
                                          <p:val>
                                            <p:strVal val="#ppt_x"/>
                                          </p:val>
                                        </p:tav>
                                      </p:tavLst>
                                    </p:anim>
                                    <p:anim calcmode="lin" valueType="num">
                                      <p:cBhvr>
                                        <p:cTn id="112" dur="400" decel="100000" fill="hold"/>
                                        <p:tgtEl>
                                          <p:spTgt spid="30"/>
                                        </p:tgtEl>
                                        <p:attrNameLst>
                                          <p:attrName>ppt_y</p:attrName>
                                        </p:attrNameLst>
                                      </p:cBhvr>
                                      <p:tavLst>
                                        <p:tav tm="0">
                                          <p:val>
                                            <p:strVal val="#ppt_y+0.016"/>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400"/>
                                        <p:tgtEl>
                                          <p:spTgt spid="31"/>
                                        </p:tgtEl>
                                      </p:cBhvr>
                                    </p:animEffect>
                                    <p:anim calcmode="lin" valueType="num">
                                      <p:cBhvr>
                                        <p:cTn id="116" dur="400" decel="100000" fill="hold"/>
                                        <p:tgtEl>
                                          <p:spTgt spid="31"/>
                                        </p:tgtEl>
                                        <p:attrNameLst>
                                          <p:attrName>ppt_x</p:attrName>
                                        </p:attrNameLst>
                                      </p:cBhvr>
                                      <p:tavLst>
                                        <p:tav tm="0">
                                          <p:val>
                                            <p:strVal val="#ppt_x"/>
                                          </p:val>
                                        </p:tav>
                                        <p:tav tm="100000">
                                          <p:val>
                                            <p:strVal val="#ppt_x"/>
                                          </p:val>
                                        </p:tav>
                                      </p:tavLst>
                                    </p:anim>
                                    <p:anim calcmode="lin" valueType="num">
                                      <p:cBhvr>
                                        <p:cTn id="117" dur="400" decel="100000" fill="hold"/>
                                        <p:tgtEl>
                                          <p:spTgt spid="31"/>
                                        </p:tgtEl>
                                        <p:attrNameLst>
                                          <p:attrName>ppt_y</p:attrName>
                                        </p:attrNameLst>
                                      </p:cBhvr>
                                      <p:tavLst>
                                        <p:tav tm="0">
                                          <p:val>
                                            <p:strVal val="#ppt_y+0.016"/>
                                          </p:val>
                                        </p:tav>
                                        <p:tav tm="100000">
                                          <p:val>
                                            <p:strVal val="#ppt_y"/>
                                          </p:val>
                                        </p:tav>
                                      </p:tavLst>
                                    </p:anim>
                                  </p:childTnLst>
                                </p:cTn>
                              </p:par>
                              <p:par>
                                <p:cTn id="118" presetID="10" presetClass="entr" presetSubtype="0" fill="hold" grpId="0" nodeType="withEffect">
                                  <p:stCondLst>
                                    <p:cond delay="100"/>
                                  </p:stCondLst>
                                  <p:childTnLst>
                                    <p:set>
                                      <p:cBhvr>
                                        <p:cTn id="119" dur="1" fill="hold">
                                          <p:stCondLst>
                                            <p:cond delay="0"/>
                                          </p:stCondLst>
                                        </p:cTn>
                                        <p:tgtEl>
                                          <p:spTgt spid="32"/>
                                        </p:tgtEl>
                                        <p:attrNameLst>
                                          <p:attrName>style.visibility</p:attrName>
                                        </p:attrNameLst>
                                      </p:cBhvr>
                                      <p:to>
                                        <p:strVal val="visible"/>
                                      </p:to>
                                    </p:set>
                                    <p:animEffect transition="in" filter="fade">
                                      <p:cBhvr>
                                        <p:cTn id="120"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7" grpId="0" animBg="1"/>
      <p:bldP spid="29" grpId="0" animBg="1"/>
      <p:bldP spid="30" grpId="0" animBg="1"/>
      <p:bldP spid="31"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xt_102"/>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01: OBJECTIVES</a:t>
            </a:r>
            <a:endParaRPr lang="en-US" sz="1100" dirty="0"/>
          </a:p>
        </p:txBody>
      </p:sp>
      <p:sp>
        <p:nvSpPr>
          <p:cNvPr id="3" name="kicker_103"/>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PROBLEM STATEMENT &amp; OBJECTIVES</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The problem is safe guidance at a visitor's walking pace</a:t>
            </a:r>
            <a:endParaRPr lang="en-US" sz="4000" dirty="0"/>
          </a:p>
        </p:txBody>
      </p:sp>
      <p:sp>
        <p:nvSpPr>
          <p:cNvPr id="5" name="txt_104"/>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OBJECTIVES · VERIFY-BY CRITERIA ARE PROPOSED ACCEPTANCE TARGETS</a:t>
            </a:r>
            <a:endParaRPr lang="en-US" sz="1000" dirty="0"/>
          </a:p>
        </p:txBody>
      </p:sp>
      <p:sp>
        <p:nvSpPr>
          <p:cNvPr id="6" name="txt_105"/>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 p3; §12 p11; §16 p13</a:t>
            </a:r>
            <a:endParaRPr lang="en-US" sz="1000" dirty="0"/>
          </a:p>
        </p:txBody>
      </p:sp>
      <p:sp>
        <p:nvSpPr>
          <p:cNvPr id="7" name="txt_106"/>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[ 04 / 18 ]</a:t>
            </a:r>
            <a:endParaRPr lang="en-US" sz="1200" dirty="0"/>
          </a:p>
        </p:txBody>
      </p:sp>
      <p:sp>
        <p:nvSpPr>
          <p:cNvPr id="9" name="box_107"/>
          <p:cNvSpPr/>
          <p:nvPr/>
        </p:nvSpPr>
        <p:spPr>
          <a:xfrm>
            <a:off x="457200" y="2148840"/>
            <a:ext cx="11277295" cy="896112"/>
          </a:xfrm>
          <a:prstGeom prst="roundRect">
            <a:avLst>
              <a:gd name="adj" fmla="val 6122"/>
            </a:avLst>
          </a:prstGeom>
          <a:solidFill>
            <a:srgbClr val="00F0FF">
              <a:alpha val="7000"/>
            </a:srgbClr>
          </a:solidFill>
          <a:ln w="9525">
            <a:solidFill>
              <a:srgbClr val="00F0FF">
                <a:alpha val="60000"/>
              </a:srgbClr>
            </a:solidFill>
            <a:prstDash val="solid"/>
          </a:ln>
        </p:spPr>
      </p:sp>
      <p:sp>
        <p:nvSpPr>
          <p:cNvPr id="10" name="txt_108"/>
          <p:cNvSpPr txBox="1"/>
          <p:nvPr/>
        </p:nvSpPr>
        <p:spPr>
          <a:xfrm>
            <a:off x="640080" y="2258568"/>
            <a:ext cx="10911535" cy="73152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PROBLEM STATEMENT  </a:t>
            </a:r>
            <a:r>
              <a:rPr lang="en-US" sz="1500" dirty="0">
                <a:solidFill>
                  <a:srgbClr val="F8FAFC"/>
                </a:solidFill>
                <a:latin typeface="Inter" pitchFamily="34" charset="0"/>
                <a:ea typeface="Inter" pitchFamily="34" charset="-122"/>
                <a:cs typeface="Inter" pitchFamily="34" charset="-120"/>
              </a:rPr>
              <a:t>Design and demonstrate an outdoor campus guidance system in which a GPS quadcopter leads a visitor along mapped, inspected routes, adapts to walking pace, and responds predictably to stale position, link loss, and other faults under supervised operation.</a:t>
            </a:r>
            <a:endParaRPr lang="en-US" sz="1500" dirty="0"/>
          </a:p>
        </p:txBody>
      </p:sp>
      <p:sp>
        <p:nvSpPr>
          <p:cNvPr id="11" name="box_109"/>
          <p:cNvSpPr/>
          <p:nvPr/>
        </p:nvSpPr>
        <p:spPr>
          <a:xfrm>
            <a:off x="457200" y="3191256"/>
            <a:ext cx="2148840" cy="1810512"/>
          </a:xfrm>
          <a:prstGeom prst="roundRect">
            <a:avLst>
              <a:gd name="adj" fmla="val 3030"/>
            </a:avLst>
          </a:prstGeom>
          <a:solidFill>
            <a:srgbClr val="131C2E">
              <a:alpha val="82000"/>
            </a:srgbClr>
          </a:solidFill>
          <a:ln w="9525">
            <a:solidFill>
              <a:srgbClr val="00F0FF">
                <a:alpha val="22000"/>
              </a:srgbClr>
            </a:solidFill>
            <a:prstDash val="solid"/>
          </a:ln>
        </p:spPr>
      </p:sp>
      <p:sp>
        <p:nvSpPr>
          <p:cNvPr id="12" name="badge_110"/>
          <p:cNvSpPr txBox="1"/>
          <p:nvPr/>
        </p:nvSpPr>
        <p:spPr>
          <a:xfrm>
            <a:off x="539496" y="3273552"/>
            <a:ext cx="384048" cy="38404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200" b="1" dirty="0">
                <a:solidFill>
                  <a:srgbClr val="00F0FF"/>
                </a:solidFill>
                <a:latin typeface="JetBrains Mono" pitchFamily="34" charset="0"/>
                <a:ea typeface="JetBrains Mono" pitchFamily="34" charset="-122"/>
                <a:cs typeface="JetBrains Mono" pitchFamily="34" charset="-120"/>
              </a:rPr>
              <a:t>O1</a:t>
            </a:r>
            <a:endParaRPr lang="en-US" sz="1200" dirty="0"/>
          </a:p>
        </p:txBody>
      </p:sp>
      <p:sp>
        <p:nvSpPr>
          <p:cNvPr id="13" name="txt_111"/>
          <p:cNvSpPr txBox="1"/>
          <p:nvPr/>
        </p:nvSpPr>
        <p:spPr>
          <a:xfrm>
            <a:off x="1005840" y="3282696"/>
            <a:ext cx="1527048" cy="475488"/>
          </a:xfrm>
          <a:prstGeom prst="rect">
            <a:avLst/>
          </a:prstGeom>
          <a:noFill/>
          <a:ln/>
        </p:spPr>
        <p:txBody>
          <a:bodyPr wrap="square" lIns="0" tIns="0" rIns="0" bIns="0" rtlCol="0" anchor="ctr"/>
          <a:lstStyle/>
          <a:p>
            <a:pPr marL="0" indent="0">
              <a:buNone/>
            </a:pPr>
            <a:r>
              <a:rPr lang="en-US" sz="1500" b="1" dirty="0">
                <a:solidFill>
                  <a:srgbClr val="F8FAFC"/>
                </a:solidFill>
                <a:latin typeface="Space Grotesk" pitchFamily="34" charset="0"/>
                <a:ea typeface="Space Grotesk" pitchFamily="34" charset="-122"/>
                <a:cs typeface="Space Grotesk" pitchFamily="34" charset="-120"/>
              </a:rPr>
              <a:t>Route graph &amp; paths</a:t>
            </a:r>
            <a:endParaRPr lang="en-US" sz="1500" dirty="0"/>
          </a:p>
        </p:txBody>
      </p:sp>
      <p:sp>
        <p:nvSpPr>
          <p:cNvPr id="14" name="txt_112"/>
          <p:cNvSpPr txBox="1"/>
          <p:nvPr/>
        </p:nvSpPr>
        <p:spPr>
          <a:xfrm>
            <a:off x="603504" y="3831336"/>
            <a:ext cx="1874520" cy="1115568"/>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VERIFY BY</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Every uploaded target is a surveyed node; all 36 destinations reachable.</a:t>
            </a:r>
            <a:endParaRPr lang="en-US" sz="1500" dirty="0"/>
          </a:p>
        </p:txBody>
      </p:sp>
      <p:sp>
        <p:nvSpPr>
          <p:cNvPr id="15" name="box_113"/>
          <p:cNvSpPr/>
          <p:nvPr/>
        </p:nvSpPr>
        <p:spPr>
          <a:xfrm>
            <a:off x="2731313" y="3191256"/>
            <a:ext cx="2148840" cy="1810512"/>
          </a:xfrm>
          <a:prstGeom prst="roundRect">
            <a:avLst>
              <a:gd name="adj" fmla="val 3030"/>
            </a:avLst>
          </a:prstGeom>
          <a:solidFill>
            <a:srgbClr val="131C2E">
              <a:alpha val="82000"/>
            </a:srgbClr>
          </a:solidFill>
          <a:ln w="9525">
            <a:solidFill>
              <a:srgbClr val="00F0FF">
                <a:alpha val="22000"/>
              </a:srgbClr>
            </a:solidFill>
            <a:prstDash val="solid"/>
          </a:ln>
        </p:spPr>
      </p:sp>
      <p:sp>
        <p:nvSpPr>
          <p:cNvPr id="16" name="badge_114"/>
          <p:cNvSpPr txBox="1"/>
          <p:nvPr/>
        </p:nvSpPr>
        <p:spPr>
          <a:xfrm>
            <a:off x="2813609" y="3273552"/>
            <a:ext cx="384048" cy="38404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200" b="1" dirty="0">
                <a:solidFill>
                  <a:srgbClr val="00F0FF"/>
                </a:solidFill>
                <a:latin typeface="JetBrains Mono" pitchFamily="34" charset="0"/>
                <a:ea typeface="JetBrains Mono" pitchFamily="34" charset="-122"/>
                <a:cs typeface="JetBrains Mono" pitchFamily="34" charset="-120"/>
              </a:rPr>
              <a:t>O2</a:t>
            </a:r>
            <a:endParaRPr lang="en-US" sz="1200" dirty="0"/>
          </a:p>
        </p:txBody>
      </p:sp>
      <p:sp>
        <p:nvSpPr>
          <p:cNvPr id="17" name="txt_115"/>
          <p:cNvSpPr txBox="1"/>
          <p:nvPr/>
        </p:nvSpPr>
        <p:spPr>
          <a:xfrm>
            <a:off x="3279953" y="3282696"/>
            <a:ext cx="1527048" cy="475488"/>
          </a:xfrm>
          <a:prstGeom prst="rect">
            <a:avLst/>
          </a:prstGeom>
          <a:noFill/>
          <a:ln/>
        </p:spPr>
        <p:txBody>
          <a:bodyPr wrap="square" lIns="0" tIns="0" rIns="0" bIns="0" rtlCol="0" anchor="ctr"/>
          <a:lstStyle/>
          <a:p>
            <a:pPr marL="0" indent="0">
              <a:buNone/>
            </a:pPr>
            <a:r>
              <a:rPr lang="en-US" sz="1500" b="1" dirty="0">
                <a:solidFill>
                  <a:srgbClr val="F8FAFC"/>
                </a:solidFill>
                <a:latin typeface="Space Grotesk" pitchFamily="34" charset="0"/>
                <a:ea typeface="Space Grotesk" pitchFamily="34" charset="-122"/>
                <a:cs typeface="Space Grotesk" pitchFamily="34" charset="-120"/>
              </a:rPr>
              <a:t>Waypoint integration</a:t>
            </a:r>
            <a:endParaRPr lang="en-US" sz="1500" dirty="0"/>
          </a:p>
        </p:txBody>
      </p:sp>
      <p:sp>
        <p:nvSpPr>
          <p:cNvPr id="18" name="txt_116"/>
          <p:cNvSpPr txBox="1"/>
          <p:nvPr/>
        </p:nvSpPr>
        <p:spPr>
          <a:xfrm>
            <a:off x="2877617" y="3831336"/>
            <a:ext cx="1874520" cy="1115568"/>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VERIFY BY</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Repeatable node-to-node route flight in SITL, then supervised field flight.</a:t>
            </a:r>
            <a:endParaRPr lang="en-US" sz="1500" dirty="0"/>
          </a:p>
        </p:txBody>
      </p:sp>
      <p:sp>
        <p:nvSpPr>
          <p:cNvPr id="19" name="box_117"/>
          <p:cNvSpPr/>
          <p:nvPr/>
        </p:nvSpPr>
        <p:spPr>
          <a:xfrm>
            <a:off x="5005426" y="3191256"/>
            <a:ext cx="2148840" cy="1810512"/>
          </a:xfrm>
          <a:prstGeom prst="roundRect">
            <a:avLst>
              <a:gd name="adj" fmla="val 3030"/>
            </a:avLst>
          </a:prstGeom>
          <a:solidFill>
            <a:srgbClr val="131C2E">
              <a:alpha val="82000"/>
            </a:srgbClr>
          </a:solidFill>
          <a:ln w="9525">
            <a:solidFill>
              <a:srgbClr val="00F0FF">
                <a:alpha val="22000"/>
              </a:srgbClr>
            </a:solidFill>
            <a:prstDash val="solid"/>
          </a:ln>
        </p:spPr>
      </p:sp>
      <p:sp>
        <p:nvSpPr>
          <p:cNvPr id="20" name="badge_118"/>
          <p:cNvSpPr txBox="1"/>
          <p:nvPr/>
        </p:nvSpPr>
        <p:spPr>
          <a:xfrm>
            <a:off x="5087722" y="3273552"/>
            <a:ext cx="384048" cy="38404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200" b="1" dirty="0">
                <a:solidFill>
                  <a:srgbClr val="00F0FF"/>
                </a:solidFill>
                <a:latin typeface="JetBrains Mono" pitchFamily="34" charset="0"/>
                <a:ea typeface="JetBrains Mono" pitchFamily="34" charset="-122"/>
                <a:cs typeface="JetBrains Mono" pitchFamily="34" charset="-120"/>
              </a:rPr>
              <a:t>O3</a:t>
            </a:r>
            <a:endParaRPr lang="en-US" sz="1200" dirty="0"/>
          </a:p>
        </p:txBody>
      </p:sp>
      <p:sp>
        <p:nvSpPr>
          <p:cNvPr id="21" name="txt_119"/>
          <p:cNvSpPr txBox="1"/>
          <p:nvPr/>
        </p:nvSpPr>
        <p:spPr>
          <a:xfrm>
            <a:off x="5554066" y="3282696"/>
            <a:ext cx="1527048" cy="475488"/>
          </a:xfrm>
          <a:prstGeom prst="rect">
            <a:avLst/>
          </a:prstGeom>
          <a:noFill/>
          <a:ln/>
        </p:spPr>
        <p:txBody>
          <a:bodyPr wrap="square" lIns="0" tIns="0" rIns="0" bIns="0" rtlCol="0" anchor="ctr"/>
          <a:lstStyle/>
          <a:p>
            <a:pPr marL="0" indent="0">
              <a:buNone/>
            </a:pPr>
            <a:r>
              <a:rPr lang="en-US" sz="1500" b="1" dirty="0">
                <a:solidFill>
                  <a:srgbClr val="F8FAFC"/>
                </a:solidFill>
                <a:latin typeface="Space Grotesk" pitchFamily="34" charset="0"/>
                <a:ea typeface="Space Grotesk" pitchFamily="34" charset="-122"/>
                <a:cs typeface="Space Grotesk" pitchFamily="34" charset="-120"/>
              </a:rPr>
              <a:t>Adjustable lead / hold</a:t>
            </a:r>
            <a:endParaRPr lang="en-US" sz="1500" dirty="0"/>
          </a:p>
        </p:txBody>
      </p:sp>
      <p:sp>
        <p:nvSpPr>
          <p:cNvPr id="22" name="txt_120"/>
          <p:cNvSpPr txBox="1"/>
          <p:nvPr/>
        </p:nvSpPr>
        <p:spPr>
          <a:xfrm>
            <a:off x="5151730" y="3831336"/>
            <a:ext cx="1874520" cy="1115568"/>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VERIFY BY</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Holds when the visitor stops; thresholds set from measured GPS error.</a:t>
            </a:r>
            <a:endParaRPr lang="en-US" sz="1500" dirty="0"/>
          </a:p>
        </p:txBody>
      </p:sp>
      <p:sp>
        <p:nvSpPr>
          <p:cNvPr id="23" name="box_121"/>
          <p:cNvSpPr/>
          <p:nvPr/>
        </p:nvSpPr>
        <p:spPr>
          <a:xfrm>
            <a:off x="7279538" y="3191256"/>
            <a:ext cx="2148840" cy="1810512"/>
          </a:xfrm>
          <a:prstGeom prst="roundRect">
            <a:avLst>
              <a:gd name="adj" fmla="val 3030"/>
            </a:avLst>
          </a:prstGeom>
          <a:solidFill>
            <a:srgbClr val="131C2E">
              <a:alpha val="82000"/>
            </a:srgbClr>
          </a:solidFill>
          <a:ln w="9525">
            <a:solidFill>
              <a:srgbClr val="00F0FF">
                <a:alpha val="22000"/>
              </a:srgbClr>
            </a:solidFill>
            <a:prstDash val="solid"/>
          </a:ln>
        </p:spPr>
      </p:sp>
      <p:sp>
        <p:nvSpPr>
          <p:cNvPr id="24" name="badge_122"/>
          <p:cNvSpPr txBox="1"/>
          <p:nvPr/>
        </p:nvSpPr>
        <p:spPr>
          <a:xfrm>
            <a:off x="7361834" y="3273552"/>
            <a:ext cx="384048" cy="38404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200" b="1" dirty="0">
                <a:solidFill>
                  <a:srgbClr val="00F0FF"/>
                </a:solidFill>
                <a:latin typeface="JetBrains Mono" pitchFamily="34" charset="0"/>
                <a:ea typeface="JetBrains Mono" pitchFamily="34" charset="-122"/>
                <a:cs typeface="JetBrains Mono" pitchFamily="34" charset="-120"/>
              </a:rPr>
              <a:t>O4</a:t>
            </a:r>
            <a:endParaRPr lang="en-US" sz="1200" dirty="0"/>
          </a:p>
        </p:txBody>
      </p:sp>
      <p:sp>
        <p:nvSpPr>
          <p:cNvPr id="25" name="txt_123"/>
          <p:cNvSpPr txBox="1"/>
          <p:nvPr/>
        </p:nvSpPr>
        <p:spPr>
          <a:xfrm>
            <a:off x="7828178" y="3282696"/>
            <a:ext cx="1527048" cy="475488"/>
          </a:xfrm>
          <a:prstGeom prst="rect">
            <a:avLst/>
          </a:prstGeom>
          <a:noFill/>
          <a:ln/>
        </p:spPr>
        <p:txBody>
          <a:bodyPr wrap="square" lIns="0" tIns="0" rIns="0" bIns="0" rtlCol="0" anchor="ctr"/>
          <a:lstStyle/>
          <a:p>
            <a:pPr marL="0" indent="0">
              <a:buNone/>
            </a:pPr>
            <a:r>
              <a:rPr lang="en-US" sz="1500" b="1" dirty="0">
                <a:solidFill>
                  <a:srgbClr val="F8FAFC"/>
                </a:solidFill>
                <a:latin typeface="Space Grotesk" pitchFamily="34" charset="0"/>
                <a:ea typeface="Space Grotesk" pitchFamily="34" charset="-122"/>
                <a:cs typeface="Space Grotesk" pitchFamily="34" charset="-120"/>
              </a:rPr>
              <a:t>Zero-install interface</a:t>
            </a:r>
            <a:endParaRPr lang="en-US" sz="1500" dirty="0"/>
          </a:p>
        </p:txBody>
      </p:sp>
      <p:sp>
        <p:nvSpPr>
          <p:cNvPr id="26" name="txt_124"/>
          <p:cNvSpPr txBox="1"/>
          <p:nvPr/>
        </p:nvSpPr>
        <p:spPr>
          <a:xfrm>
            <a:off x="7425842" y="3831336"/>
            <a:ext cx="1874520" cy="1115568"/>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VERIFY BY</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Destination choice and position sharing from a phone browser or kiosk.</a:t>
            </a:r>
            <a:endParaRPr lang="en-US" sz="1500" dirty="0"/>
          </a:p>
        </p:txBody>
      </p:sp>
      <p:sp>
        <p:nvSpPr>
          <p:cNvPr id="27" name="box_125"/>
          <p:cNvSpPr/>
          <p:nvPr/>
        </p:nvSpPr>
        <p:spPr>
          <a:xfrm>
            <a:off x="9553651" y="3191256"/>
            <a:ext cx="2148840" cy="1810512"/>
          </a:xfrm>
          <a:prstGeom prst="roundRect">
            <a:avLst>
              <a:gd name="adj" fmla="val 3030"/>
            </a:avLst>
          </a:prstGeom>
          <a:solidFill>
            <a:srgbClr val="131C2E">
              <a:alpha val="82000"/>
            </a:srgbClr>
          </a:solidFill>
          <a:ln w="9525">
            <a:solidFill>
              <a:srgbClr val="00F0FF">
                <a:alpha val="22000"/>
              </a:srgbClr>
            </a:solidFill>
            <a:prstDash val="solid"/>
          </a:ln>
        </p:spPr>
      </p:sp>
      <p:sp>
        <p:nvSpPr>
          <p:cNvPr id="28" name="badge_126"/>
          <p:cNvSpPr txBox="1"/>
          <p:nvPr/>
        </p:nvSpPr>
        <p:spPr>
          <a:xfrm>
            <a:off x="9635947" y="3273552"/>
            <a:ext cx="384048" cy="38404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200" b="1" dirty="0">
                <a:solidFill>
                  <a:srgbClr val="00F0FF"/>
                </a:solidFill>
                <a:latin typeface="JetBrains Mono" pitchFamily="34" charset="0"/>
                <a:ea typeface="JetBrains Mono" pitchFamily="34" charset="-122"/>
                <a:cs typeface="JetBrains Mono" pitchFamily="34" charset="-120"/>
              </a:rPr>
              <a:t>O5</a:t>
            </a:r>
            <a:endParaRPr lang="en-US" sz="1200" dirty="0"/>
          </a:p>
        </p:txBody>
      </p:sp>
      <p:sp>
        <p:nvSpPr>
          <p:cNvPr id="29" name="txt_127"/>
          <p:cNvSpPr txBox="1"/>
          <p:nvPr/>
        </p:nvSpPr>
        <p:spPr>
          <a:xfrm>
            <a:off x="10102291" y="3282696"/>
            <a:ext cx="1527048" cy="475488"/>
          </a:xfrm>
          <a:prstGeom prst="rect">
            <a:avLst/>
          </a:prstGeom>
          <a:noFill/>
          <a:ln/>
        </p:spPr>
        <p:txBody>
          <a:bodyPr wrap="square" lIns="0" tIns="0" rIns="0" bIns="0" rtlCol="0" anchor="ctr"/>
          <a:lstStyle/>
          <a:p>
            <a:pPr marL="0" indent="0">
              <a:buNone/>
            </a:pPr>
            <a:r>
              <a:rPr lang="en-US" sz="1500" b="1" dirty="0">
                <a:solidFill>
                  <a:srgbClr val="F8FAFC"/>
                </a:solidFill>
                <a:latin typeface="Space Grotesk" pitchFamily="34" charset="0"/>
                <a:ea typeface="Space Grotesk" pitchFamily="34" charset="-122"/>
                <a:cs typeface="Space Grotesk" pitchFamily="34" charset="-120"/>
              </a:rPr>
              <a:t>Staged safety validation</a:t>
            </a:r>
            <a:endParaRPr lang="en-US" sz="1500" dirty="0"/>
          </a:p>
        </p:txBody>
      </p:sp>
      <p:sp>
        <p:nvSpPr>
          <p:cNvPr id="30" name="txt_128"/>
          <p:cNvSpPr txBox="1"/>
          <p:nvPr/>
        </p:nvSpPr>
        <p:spPr>
          <a:xfrm>
            <a:off x="9699955" y="3831336"/>
            <a:ext cx="1874520" cy="1115568"/>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VERIFY BY</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Every failsafe triggered and observed, props-off first.</a:t>
            </a:r>
            <a:endParaRPr lang="en-US" sz="1500" dirty="0"/>
          </a:p>
        </p:txBody>
      </p:sp>
      <p:sp>
        <p:nvSpPr>
          <p:cNvPr id="31" name="box_129"/>
          <p:cNvSpPr/>
          <p:nvPr/>
        </p:nvSpPr>
        <p:spPr>
          <a:xfrm>
            <a:off x="457200" y="5138928"/>
            <a:ext cx="5559552" cy="1078992"/>
          </a:xfrm>
          <a:prstGeom prst="roundRect">
            <a:avLst>
              <a:gd name="adj" fmla="val 5085"/>
            </a:avLst>
          </a:prstGeom>
          <a:solidFill>
            <a:srgbClr val="131C2E">
              <a:alpha val="82000"/>
            </a:srgbClr>
          </a:solidFill>
          <a:ln w="9525">
            <a:solidFill>
              <a:srgbClr val="10B981">
                <a:alpha val="45000"/>
              </a:srgbClr>
            </a:solidFill>
            <a:prstDash val="solid"/>
          </a:ln>
        </p:spPr>
      </p:sp>
      <p:sp>
        <p:nvSpPr>
          <p:cNvPr id="32" name="txt_130"/>
          <p:cNvSpPr txBox="1"/>
          <p:nvPr/>
        </p:nvSpPr>
        <p:spPr>
          <a:xfrm>
            <a:off x="603504" y="5230368"/>
            <a:ext cx="5303520" cy="941832"/>
          </a:xfrm>
          <a:prstGeom prst="rect">
            <a:avLst/>
          </a:prstGeom>
          <a:noFill/>
          <a:ln/>
        </p:spPr>
        <p:txBody>
          <a:bodyPr wrap="square" lIns="0" tIns="0" rIns="0" bIns="0" rtlCol="0" anchor="t"/>
          <a:lstStyle/>
          <a:p>
            <a:pPr marL="0" indent="0">
              <a:buNone/>
            </a:pPr>
            <a:r>
              <a:rPr lang="en-US" sz="1200" b="1" dirty="0">
                <a:solidFill>
                  <a:srgbClr val="10B981"/>
                </a:solidFill>
                <a:latin typeface="JetBrains Mono" pitchFamily="34" charset="0"/>
                <a:ea typeface="JetBrains Mono" pitchFamily="34" charset="-122"/>
                <a:cs typeface="JetBrains Mono" pitchFamily="34" charset="-120"/>
              </a:rPr>
              <a:t>IN SCOPE  </a:t>
            </a:r>
            <a:r>
              <a:rPr lang="en-US" sz="1400" dirty="0">
                <a:solidFill>
                  <a:srgbClr val="F8FAFC"/>
                </a:solidFill>
                <a:latin typeface="Inter" pitchFamily="34" charset="0"/>
                <a:ea typeface="Inter" pitchFamily="34" charset="-122"/>
                <a:cs typeface="Inter" pitchFamily="34" charset="-120"/>
              </a:rPr>
              <a:t>Outdoor surveyed paths · 36 destinations with inspected routes · one visitor or small group · daytime, fair weather · supervised operation</a:t>
            </a:r>
            <a:endParaRPr lang="en-US" sz="1500" dirty="0"/>
          </a:p>
        </p:txBody>
      </p:sp>
      <p:sp>
        <p:nvSpPr>
          <p:cNvPr id="33" name="box_131"/>
          <p:cNvSpPr/>
          <p:nvPr/>
        </p:nvSpPr>
        <p:spPr>
          <a:xfrm>
            <a:off x="6144768" y="5138928"/>
            <a:ext cx="5586984" cy="1078992"/>
          </a:xfrm>
          <a:prstGeom prst="roundRect">
            <a:avLst>
              <a:gd name="adj" fmla="val 5085"/>
            </a:avLst>
          </a:prstGeom>
          <a:solidFill>
            <a:srgbClr val="131C2E">
              <a:alpha val="82000"/>
            </a:srgbClr>
          </a:solidFill>
          <a:ln w="9525">
            <a:solidFill>
              <a:srgbClr val="EF4444">
                <a:alpha val="45000"/>
              </a:srgbClr>
            </a:solidFill>
            <a:prstDash val="solid"/>
          </a:ln>
        </p:spPr>
      </p:sp>
      <p:sp>
        <p:nvSpPr>
          <p:cNvPr id="34" name="txt_132"/>
          <p:cNvSpPr txBox="1"/>
          <p:nvPr/>
        </p:nvSpPr>
        <p:spPr>
          <a:xfrm>
            <a:off x="6291072" y="5230368"/>
            <a:ext cx="5349240" cy="941832"/>
          </a:xfrm>
          <a:prstGeom prst="rect">
            <a:avLst/>
          </a:prstGeom>
          <a:noFill/>
          <a:ln/>
        </p:spPr>
        <p:txBody>
          <a:bodyPr wrap="square" lIns="0" tIns="0" rIns="0" bIns="0" rtlCol="0" anchor="t"/>
          <a:lstStyle/>
          <a:p>
            <a:pPr marL="0" indent="0">
              <a:buNone/>
            </a:pPr>
            <a:r>
              <a:rPr lang="en-US" sz="1200" b="1" dirty="0">
                <a:solidFill>
                  <a:srgbClr val="EF4444"/>
                </a:solidFill>
                <a:latin typeface="JetBrains Mono" pitchFamily="34" charset="0"/>
                <a:ea typeface="JetBrains Mono" pitchFamily="34" charset="-122"/>
                <a:cs typeface="JetBrains Mono" pitchFamily="34" charset="-120"/>
              </a:rPr>
              <a:t>OUT OF SCOPE  </a:t>
            </a:r>
            <a:r>
              <a:rPr lang="en-US" sz="1400" dirty="0">
                <a:solidFill>
                  <a:srgbClr val="F8FAFC"/>
                </a:solidFill>
                <a:latin typeface="Inter" pitchFamily="34" charset="0"/>
                <a:ea typeface="Inter" pitchFamily="34" charset="-122"/>
                <a:cs typeface="Inter" pitchFamily="34" charset="-120"/>
              </a:rPr>
              <a:t>Indoor · night or bad weather · multiple visitors · charging docks · payloads · live obstacle detection &amp; dynamic re-routing</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anim calcmode="lin" valueType="num">
                                      <p:cBhvr>
                                        <p:cTn id="8" dur="400" decel="100000" fill="hold"/>
                                        <p:tgtEl>
                                          <p:spTgt spid="11"/>
                                        </p:tgtEl>
                                        <p:attrNameLst>
                                          <p:attrName>ppt_x</p:attrName>
                                        </p:attrNameLst>
                                      </p:cBhvr>
                                      <p:tavLst>
                                        <p:tav tm="0">
                                          <p:val>
                                            <p:strVal val="#ppt_x"/>
                                          </p:val>
                                        </p:tav>
                                        <p:tav tm="100000">
                                          <p:val>
                                            <p:strVal val="#ppt_x"/>
                                          </p:val>
                                        </p:tav>
                                      </p:tavLst>
                                    </p:anim>
                                    <p:anim calcmode="lin" valueType="num">
                                      <p:cBhvr>
                                        <p:cTn id="9" dur="400" decel="100000" fill="hold"/>
                                        <p:tgtEl>
                                          <p:spTgt spid="11"/>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anim calcmode="lin" valueType="num">
                                      <p:cBhvr>
                                        <p:cTn id="13" dur="400" decel="100000" fill="hold"/>
                                        <p:tgtEl>
                                          <p:spTgt spid="12"/>
                                        </p:tgtEl>
                                        <p:attrNameLst>
                                          <p:attrName>ppt_x</p:attrName>
                                        </p:attrNameLst>
                                      </p:cBhvr>
                                      <p:tavLst>
                                        <p:tav tm="0">
                                          <p:val>
                                            <p:strVal val="#ppt_x"/>
                                          </p:val>
                                        </p:tav>
                                        <p:tav tm="100000">
                                          <p:val>
                                            <p:strVal val="#ppt_x"/>
                                          </p:val>
                                        </p:tav>
                                      </p:tavLst>
                                    </p:anim>
                                    <p:anim calcmode="lin" valueType="num">
                                      <p:cBhvr>
                                        <p:cTn id="14" dur="400" decel="100000" fill="hold"/>
                                        <p:tgtEl>
                                          <p:spTgt spid="12"/>
                                        </p:tgtEl>
                                        <p:attrNameLst>
                                          <p:attrName>ppt_y</p:attrName>
                                        </p:attrNameLst>
                                      </p:cBhvr>
                                      <p:tavLst>
                                        <p:tav tm="0">
                                          <p:val>
                                            <p:strVal val="#ppt_y+0.01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anim calcmode="lin" valueType="num">
                                      <p:cBhvr>
                                        <p:cTn id="18" dur="400" decel="100000" fill="hold"/>
                                        <p:tgtEl>
                                          <p:spTgt spid="13"/>
                                        </p:tgtEl>
                                        <p:attrNameLst>
                                          <p:attrName>ppt_x</p:attrName>
                                        </p:attrNameLst>
                                      </p:cBhvr>
                                      <p:tavLst>
                                        <p:tav tm="0">
                                          <p:val>
                                            <p:strVal val="#ppt_x"/>
                                          </p:val>
                                        </p:tav>
                                        <p:tav tm="100000">
                                          <p:val>
                                            <p:strVal val="#ppt_x"/>
                                          </p:val>
                                        </p:tav>
                                      </p:tavLst>
                                    </p:anim>
                                    <p:anim calcmode="lin" valueType="num">
                                      <p:cBhvr>
                                        <p:cTn id="19" dur="400" decel="100000" fill="hold"/>
                                        <p:tgtEl>
                                          <p:spTgt spid="13"/>
                                        </p:tgtEl>
                                        <p:attrNameLst>
                                          <p:attrName>ppt_y</p:attrName>
                                        </p:attrNameLst>
                                      </p:cBhvr>
                                      <p:tavLst>
                                        <p:tav tm="0">
                                          <p:val>
                                            <p:strVal val="#ppt_y+0.01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anim calcmode="lin" valueType="num">
                                      <p:cBhvr>
                                        <p:cTn id="23" dur="400" decel="100000" fill="hold"/>
                                        <p:tgtEl>
                                          <p:spTgt spid="14"/>
                                        </p:tgtEl>
                                        <p:attrNameLst>
                                          <p:attrName>ppt_x</p:attrName>
                                        </p:attrNameLst>
                                      </p:cBhvr>
                                      <p:tavLst>
                                        <p:tav tm="0">
                                          <p:val>
                                            <p:strVal val="#ppt_x"/>
                                          </p:val>
                                        </p:tav>
                                        <p:tav tm="100000">
                                          <p:val>
                                            <p:strVal val="#ppt_x"/>
                                          </p:val>
                                        </p:tav>
                                      </p:tavLst>
                                    </p:anim>
                                    <p:anim calcmode="lin" valueType="num">
                                      <p:cBhvr>
                                        <p:cTn id="24" dur="400" decel="100000" fill="hold"/>
                                        <p:tgtEl>
                                          <p:spTgt spid="14"/>
                                        </p:tgtEl>
                                        <p:attrNameLst>
                                          <p:attrName>ppt_y</p:attrName>
                                        </p:attrNameLst>
                                      </p:cBhvr>
                                      <p:tavLst>
                                        <p:tav tm="0">
                                          <p:val>
                                            <p:strVal val="#ppt_y+0.016"/>
                                          </p:val>
                                        </p:tav>
                                        <p:tav tm="100000">
                                          <p:val>
                                            <p:strVal val="#ppt_y"/>
                                          </p:val>
                                        </p:tav>
                                      </p:tavLst>
                                    </p:anim>
                                  </p:childTnLst>
                                </p:cTn>
                              </p:par>
                              <p:par>
                                <p:cTn id="25" presetID="42" presetClass="entr" presetSubtype="0" fill="hold" nodeType="withEffect">
                                  <p:stCondLst>
                                    <p:cond delay="8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anim calcmode="lin" valueType="num">
                                      <p:cBhvr>
                                        <p:cTn id="28" dur="400" decel="100000" fill="hold"/>
                                        <p:tgtEl>
                                          <p:spTgt spid="15"/>
                                        </p:tgtEl>
                                        <p:attrNameLst>
                                          <p:attrName>ppt_x</p:attrName>
                                        </p:attrNameLst>
                                      </p:cBhvr>
                                      <p:tavLst>
                                        <p:tav tm="0">
                                          <p:val>
                                            <p:strVal val="#ppt_x"/>
                                          </p:val>
                                        </p:tav>
                                        <p:tav tm="100000">
                                          <p:val>
                                            <p:strVal val="#ppt_x"/>
                                          </p:val>
                                        </p:tav>
                                      </p:tavLst>
                                    </p:anim>
                                    <p:anim calcmode="lin" valueType="num">
                                      <p:cBhvr>
                                        <p:cTn id="29" dur="400" decel="100000" fill="hold"/>
                                        <p:tgtEl>
                                          <p:spTgt spid="15"/>
                                        </p:tgtEl>
                                        <p:attrNameLst>
                                          <p:attrName>ppt_y</p:attrName>
                                        </p:attrNameLst>
                                      </p:cBhvr>
                                      <p:tavLst>
                                        <p:tav tm="0">
                                          <p:val>
                                            <p:strVal val="#ppt_y+0.016"/>
                                          </p:val>
                                        </p:tav>
                                        <p:tav tm="100000">
                                          <p:val>
                                            <p:strVal val="#ppt_y"/>
                                          </p:val>
                                        </p:tav>
                                      </p:tavLst>
                                    </p:anim>
                                  </p:childTnLst>
                                </p:cTn>
                              </p:par>
                              <p:par>
                                <p:cTn id="30" presetID="42" presetClass="entr" presetSubtype="0" fill="hold" grpId="0" nodeType="withEffect">
                                  <p:stCondLst>
                                    <p:cond delay="8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anim calcmode="lin" valueType="num">
                                      <p:cBhvr>
                                        <p:cTn id="33" dur="400" decel="100000" fill="hold"/>
                                        <p:tgtEl>
                                          <p:spTgt spid="16"/>
                                        </p:tgtEl>
                                        <p:attrNameLst>
                                          <p:attrName>ppt_x</p:attrName>
                                        </p:attrNameLst>
                                      </p:cBhvr>
                                      <p:tavLst>
                                        <p:tav tm="0">
                                          <p:val>
                                            <p:strVal val="#ppt_x"/>
                                          </p:val>
                                        </p:tav>
                                        <p:tav tm="100000">
                                          <p:val>
                                            <p:strVal val="#ppt_x"/>
                                          </p:val>
                                        </p:tav>
                                      </p:tavLst>
                                    </p:anim>
                                    <p:anim calcmode="lin" valueType="num">
                                      <p:cBhvr>
                                        <p:cTn id="34" dur="400" decel="100000" fill="hold"/>
                                        <p:tgtEl>
                                          <p:spTgt spid="16"/>
                                        </p:tgtEl>
                                        <p:attrNameLst>
                                          <p:attrName>ppt_y</p:attrName>
                                        </p:attrNameLst>
                                      </p:cBhvr>
                                      <p:tavLst>
                                        <p:tav tm="0">
                                          <p:val>
                                            <p:strVal val="#ppt_y+0.016"/>
                                          </p:val>
                                        </p:tav>
                                        <p:tav tm="100000">
                                          <p:val>
                                            <p:strVal val="#ppt_y"/>
                                          </p:val>
                                        </p:tav>
                                      </p:tavLst>
                                    </p:anim>
                                  </p:childTnLst>
                                </p:cTn>
                              </p:par>
                              <p:par>
                                <p:cTn id="35" presetID="42" presetClass="entr" presetSubtype="0" fill="hold" grpId="0" nodeType="withEffect">
                                  <p:stCondLst>
                                    <p:cond delay="8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anim calcmode="lin" valueType="num">
                                      <p:cBhvr>
                                        <p:cTn id="38" dur="400" decel="100000" fill="hold"/>
                                        <p:tgtEl>
                                          <p:spTgt spid="17"/>
                                        </p:tgtEl>
                                        <p:attrNameLst>
                                          <p:attrName>ppt_x</p:attrName>
                                        </p:attrNameLst>
                                      </p:cBhvr>
                                      <p:tavLst>
                                        <p:tav tm="0">
                                          <p:val>
                                            <p:strVal val="#ppt_x"/>
                                          </p:val>
                                        </p:tav>
                                        <p:tav tm="100000">
                                          <p:val>
                                            <p:strVal val="#ppt_x"/>
                                          </p:val>
                                        </p:tav>
                                      </p:tavLst>
                                    </p:anim>
                                    <p:anim calcmode="lin" valueType="num">
                                      <p:cBhvr>
                                        <p:cTn id="39" dur="400" decel="100000" fill="hold"/>
                                        <p:tgtEl>
                                          <p:spTgt spid="17"/>
                                        </p:tgtEl>
                                        <p:attrNameLst>
                                          <p:attrName>ppt_y</p:attrName>
                                        </p:attrNameLst>
                                      </p:cBhvr>
                                      <p:tavLst>
                                        <p:tav tm="0">
                                          <p:val>
                                            <p:strVal val="#ppt_y+0.016"/>
                                          </p:val>
                                        </p:tav>
                                        <p:tav tm="100000">
                                          <p:val>
                                            <p:strVal val="#ppt_y"/>
                                          </p:val>
                                        </p:tav>
                                      </p:tavLst>
                                    </p:anim>
                                  </p:childTnLst>
                                </p:cTn>
                              </p:par>
                              <p:par>
                                <p:cTn id="40" presetID="42" presetClass="entr" presetSubtype="0" fill="hold" grpId="0" nodeType="withEffect">
                                  <p:stCondLst>
                                    <p:cond delay="8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anim calcmode="lin" valueType="num">
                                      <p:cBhvr>
                                        <p:cTn id="43" dur="400" decel="100000" fill="hold"/>
                                        <p:tgtEl>
                                          <p:spTgt spid="18"/>
                                        </p:tgtEl>
                                        <p:attrNameLst>
                                          <p:attrName>ppt_x</p:attrName>
                                        </p:attrNameLst>
                                      </p:cBhvr>
                                      <p:tavLst>
                                        <p:tav tm="0">
                                          <p:val>
                                            <p:strVal val="#ppt_x"/>
                                          </p:val>
                                        </p:tav>
                                        <p:tav tm="100000">
                                          <p:val>
                                            <p:strVal val="#ppt_x"/>
                                          </p:val>
                                        </p:tav>
                                      </p:tavLst>
                                    </p:anim>
                                    <p:anim calcmode="lin" valueType="num">
                                      <p:cBhvr>
                                        <p:cTn id="44" dur="400" decel="100000" fill="hold"/>
                                        <p:tgtEl>
                                          <p:spTgt spid="18"/>
                                        </p:tgtEl>
                                        <p:attrNameLst>
                                          <p:attrName>ppt_y</p:attrName>
                                        </p:attrNameLst>
                                      </p:cBhvr>
                                      <p:tavLst>
                                        <p:tav tm="0">
                                          <p:val>
                                            <p:strVal val="#ppt_y+0.016"/>
                                          </p:val>
                                        </p:tav>
                                        <p:tav tm="100000">
                                          <p:val>
                                            <p:strVal val="#ppt_y"/>
                                          </p:val>
                                        </p:tav>
                                      </p:tavLst>
                                    </p:anim>
                                  </p:childTnLst>
                                </p:cTn>
                              </p:par>
                              <p:par>
                                <p:cTn id="45" presetID="42" presetClass="entr" presetSubtype="0" fill="hold" nodeType="withEffect">
                                  <p:stCondLst>
                                    <p:cond delay="16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anim calcmode="lin" valueType="num">
                                      <p:cBhvr>
                                        <p:cTn id="48" dur="400" decel="100000" fill="hold"/>
                                        <p:tgtEl>
                                          <p:spTgt spid="19"/>
                                        </p:tgtEl>
                                        <p:attrNameLst>
                                          <p:attrName>ppt_x</p:attrName>
                                        </p:attrNameLst>
                                      </p:cBhvr>
                                      <p:tavLst>
                                        <p:tav tm="0">
                                          <p:val>
                                            <p:strVal val="#ppt_x"/>
                                          </p:val>
                                        </p:tav>
                                        <p:tav tm="100000">
                                          <p:val>
                                            <p:strVal val="#ppt_x"/>
                                          </p:val>
                                        </p:tav>
                                      </p:tavLst>
                                    </p:anim>
                                    <p:anim calcmode="lin" valueType="num">
                                      <p:cBhvr>
                                        <p:cTn id="49" dur="400" decel="100000" fill="hold"/>
                                        <p:tgtEl>
                                          <p:spTgt spid="19"/>
                                        </p:tgtEl>
                                        <p:attrNameLst>
                                          <p:attrName>ppt_y</p:attrName>
                                        </p:attrNameLst>
                                      </p:cBhvr>
                                      <p:tavLst>
                                        <p:tav tm="0">
                                          <p:val>
                                            <p:strVal val="#ppt_y+0.016"/>
                                          </p:val>
                                        </p:tav>
                                        <p:tav tm="100000">
                                          <p:val>
                                            <p:strVal val="#ppt_y"/>
                                          </p:val>
                                        </p:tav>
                                      </p:tavLst>
                                    </p:anim>
                                  </p:childTnLst>
                                </p:cTn>
                              </p:par>
                              <p:par>
                                <p:cTn id="50" presetID="42" presetClass="entr" presetSubtype="0" fill="hold" grpId="0" nodeType="withEffect">
                                  <p:stCondLst>
                                    <p:cond delay="1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anim calcmode="lin" valueType="num">
                                      <p:cBhvr>
                                        <p:cTn id="53" dur="400" decel="100000" fill="hold"/>
                                        <p:tgtEl>
                                          <p:spTgt spid="20"/>
                                        </p:tgtEl>
                                        <p:attrNameLst>
                                          <p:attrName>ppt_x</p:attrName>
                                        </p:attrNameLst>
                                      </p:cBhvr>
                                      <p:tavLst>
                                        <p:tav tm="0">
                                          <p:val>
                                            <p:strVal val="#ppt_x"/>
                                          </p:val>
                                        </p:tav>
                                        <p:tav tm="100000">
                                          <p:val>
                                            <p:strVal val="#ppt_x"/>
                                          </p:val>
                                        </p:tav>
                                      </p:tavLst>
                                    </p:anim>
                                    <p:anim calcmode="lin" valueType="num">
                                      <p:cBhvr>
                                        <p:cTn id="54" dur="400" decel="100000" fill="hold"/>
                                        <p:tgtEl>
                                          <p:spTgt spid="20"/>
                                        </p:tgtEl>
                                        <p:attrNameLst>
                                          <p:attrName>ppt_y</p:attrName>
                                        </p:attrNameLst>
                                      </p:cBhvr>
                                      <p:tavLst>
                                        <p:tav tm="0">
                                          <p:val>
                                            <p:strVal val="#ppt_y+0.016"/>
                                          </p:val>
                                        </p:tav>
                                        <p:tav tm="100000">
                                          <p:val>
                                            <p:strVal val="#ppt_y"/>
                                          </p:val>
                                        </p:tav>
                                      </p:tavLst>
                                    </p:anim>
                                  </p:childTnLst>
                                </p:cTn>
                              </p:par>
                              <p:par>
                                <p:cTn id="55" presetID="42" presetClass="entr" presetSubtype="0" fill="hold" grpId="0" nodeType="withEffect">
                                  <p:stCondLst>
                                    <p:cond delay="16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anim calcmode="lin" valueType="num">
                                      <p:cBhvr>
                                        <p:cTn id="58" dur="400" decel="100000" fill="hold"/>
                                        <p:tgtEl>
                                          <p:spTgt spid="21"/>
                                        </p:tgtEl>
                                        <p:attrNameLst>
                                          <p:attrName>ppt_x</p:attrName>
                                        </p:attrNameLst>
                                      </p:cBhvr>
                                      <p:tavLst>
                                        <p:tav tm="0">
                                          <p:val>
                                            <p:strVal val="#ppt_x"/>
                                          </p:val>
                                        </p:tav>
                                        <p:tav tm="100000">
                                          <p:val>
                                            <p:strVal val="#ppt_x"/>
                                          </p:val>
                                        </p:tav>
                                      </p:tavLst>
                                    </p:anim>
                                    <p:anim calcmode="lin" valueType="num">
                                      <p:cBhvr>
                                        <p:cTn id="59" dur="400" decel="100000" fill="hold"/>
                                        <p:tgtEl>
                                          <p:spTgt spid="21"/>
                                        </p:tgtEl>
                                        <p:attrNameLst>
                                          <p:attrName>ppt_y</p:attrName>
                                        </p:attrNameLst>
                                      </p:cBhvr>
                                      <p:tavLst>
                                        <p:tav tm="0">
                                          <p:val>
                                            <p:strVal val="#ppt_y+0.016"/>
                                          </p:val>
                                        </p:tav>
                                        <p:tav tm="100000">
                                          <p:val>
                                            <p:strVal val="#ppt_y"/>
                                          </p:val>
                                        </p:tav>
                                      </p:tavLst>
                                    </p:anim>
                                  </p:childTnLst>
                                </p:cTn>
                              </p:par>
                              <p:par>
                                <p:cTn id="60" presetID="42" presetClass="entr" presetSubtype="0" fill="hold" grpId="0" nodeType="withEffect">
                                  <p:stCondLst>
                                    <p:cond delay="16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00"/>
                                        <p:tgtEl>
                                          <p:spTgt spid="22"/>
                                        </p:tgtEl>
                                      </p:cBhvr>
                                    </p:animEffect>
                                    <p:anim calcmode="lin" valueType="num">
                                      <p:cBhvr>
                                        <p:cTn id="63" dur="400" decel="100000" fill="hold"/>
                                        <p:tgtEl>
                                          <p:spTgt spid="22"/>
                                        </p:tgtEl>
                                        <p:attrNameLst>
                                          <p:attrName>ppt_x</p:attrName>
                                        </p:attrNameLst>
                                      </p:cBhvr>
                                      <p:tavLst>
                                        <p:tav tm="0">
                                          <p:val>
                                            <p:strVal val="#ppt_x"/>
                                          </p:val>
                                        </p:tav>
                                        <p:tav tm="100000">
                                          <p:val>
                                            <p:strVal val="#ppt_x"/>
                                          </p:val>
                                        </p:tav>
                                      </p:tavLst>
                                    </p:anim>
                                    <p:anim calcmode="lin" valueType="num">
                                      <p:cBhvr>
                                        <p:cTn id="64" dur="400" decel="100000" fill="hold"/>
                                        <p:tgtEl>
                                          <p:spTgt spid="22"/>
                                        </p:tgtEl>
                                        <p:attrNameLst>
                                          <p:attrName>ppt_y</p:attrName>
                                        </p:attrNameLst>
                                      </p:cBhvr>
                                      <p:tavLst>
                                        <p:tav tm="0">
                                          <p:val>
                                            <p:strVal val="#ppt_y+0.016"/>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anim calcmode="lin" valueType="num">
                                      <p:cBhvr>
                                        <p:cTn id="70" dur="400" decel="100000" fill="hold"/>
                                        <p:tgtEl>
                                          <p:spTgt spid="23"/>
                                        </p:tgtEl>
                                        <p:attrNameLst>
                                          <p:attrName>ppt_x</p:attrName>
                                        </p:attrNameLst>
                                      </p:cBhvr>
                                      <p:tavLst>
                                        <p:tav tm="0">
                                          <p:val>
                                            <p:strVal val="#ppt_x"/>
                                          </p:val>
                                        </p:tav>
                                        <p:tav tm="100000">
                                          <p:val>
                                            <p:strVal val="#ppt_x"/>
                                          </p:val>
                                        </p:tav>
                                      </p:tavLst>
                                    </p:anim>
                                    <p:anim calcmode="lin" valueType="num">
                                      <p:cBhvr>
                                        <p:cTn id="71" dur="400" decel="100000" fill="hold"/>
                                        <p:tgtEl>
                                          <p:spTgt spid="23"/>
                                        </p:tgtEl>
                                        <p:attrNameLst>
                                          <p:attrName>ppt_y</p:attrName>
                                        </p:attrNameLst>
                                      </p:cBhvr>
                                      <p:tavLst>
                                        <p:tav tm="0">
                                          <p:val>
                                            <p:strVal val="#ppt_y+0.01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anim calcmode="lin" valueType="num">
                                      <p:cBhvr>
                                        <p:cTn id="75" dur="400" decel="100000" fill="hold"/>
                                        <p:tgtEl>
                                          <p:spTgt spid="24"/>
                                        </p:tgtEl>
                                        <p:attrNameLst>
                                          <p:attrName>ppt_x</p:attrName>
                                        </p:attrNameLst>
                                      </p:cBhvr>
                                      <p:tavLst>
                                        <p:tav tm="0">
                                          <p:val>
                                            <p:strVal val="#ppt_x"/>
                                          </p:val>
                                        </p:tav>
                                        <p:tav tm="100000">
                                          <p:val>
                                            <p:strVal val="#ppt_x"/>
                                          </p:val>
                                        </p:tav>
                                      </p:tavLst>
                                    </p:anim>
                                    <p:anim calcmode="lin" valueType="num">
                                      <p:cBhvr>
                                        <p:cTn id="76" dur="400" decel="100000" fill="hold"/>
                                        <p:tgtEl>
                                          <p:spTgt spid="24"/>
                                        </p:tgtEl>
                                        <p:attrNameLst>
                                          <p:attrName>ppt_y</p:attrName>
                                        </p:attrNameLst>
                                      </p:cBhvr>
                                      <p:tavLst>
                                        <p:tav tm="0">
                                          <p:val>
                                            <p:strVal val="#ppt_y+0.01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400"/>
                                        <p:tgtEl>
                                          <p:spTgt spid="25"/>
                                        </p:tgtEl>
                                      </p:cBhvr>
                                    </p:animEffect>
                                    <p:anim calcmode="lin" valueType="num">
                                      <p:cBhvr>
                                        <p:cTn id="80" dur="400" decel="100000" fill="hold"/>
                                        <p:tgtEl>
                                          <p:spTgt spid="25"/>
                                        </p:tgtEl>
                                        <p:attrNameLst>
                                          <p:attrName>ppt_x</p:attrName>
                                        </p:attrNameLst>
                                      </p:cBhvr>
                                      <p:tavLst>
                                        <p:tav tm="0">
                                          <p:val>
                                            <p:strVal val="#ppt_x"/>
                                          </p:val>
                                        </p:tav>
                                        <p:tav tm="100000">
                                          <p:val>
                                            <p:strVal val="#ppt_x"/>
                                          </p:val>
                                        </p:tav>
                                      </p:tavLst>
                                    </p:anim>
                                    <p:anim calcmode="lin" valueType="num">
                                      <p:cBhvr>
                                        <p:cTn id="81" dur="400" decel="100000" fill="hold"/>
                                        <p:tgtEl>
                                          <p:spTgt spid="25"/>
                                        </p:tgtEl>
                                        <p:attrNameLst>
                                          <p:attrName>ppt_y</p:attrName>
                                        </p:attrNameLst>
                                      </p:cBhvr>
                                      <p:tavLst>
                                        <p:tav tm="0">
                                          <p:val>
                                            <p:strVal val="#ppt_y+0.016"/>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400"/>
                                        <p:tgtEl>
                                          <p:spTgt spid="26"/>
                                        </p:tgtEl>
                                      </p:cBhvr>
                                    </p:animEffect>
                                    <p:anim calcmode="lin" valueType="num">
                                      <p:cBhvr>
                                        <p:cTn id="85" dur="400" decel="100000" fill="hold"/>
                                        <p:tgtEl>
                                          <p:spTgt spid="26"/>
                                        </p:tgtEl>
                                        <p:attrNameLst>
                                          <p:attrName>ppt_x</p:attrName>
                                        </p:attrNameLst>
                                      </p:cBhvr>
                                      <p:tavLst>
                                        <p:tav tm="0">
                                          <p:val>
                                            <p:strVal val="#ppt_x"/>
                                          </p:val>
                                        </p:tav>
                                        <p:tav tm="100000">
                                          <p:val>
                                            <p:strVal val="#ppt_x"/>
                                          </p:val>
                                        </p:tav>
                                      </p:tavLst>
                                    </p:anim>
                                    <p:anim calcmode="lin" valueType="num">
                                      <p:cBhvr>
                                        <p:cTn id="86" dur="400" decel="100000" fill="hold"/>
                                        <p:tgtEl>
                                          <p:spTgt spid="26"/>
                                        </p:tgtEl>
                                        <p:attrNameLst>
                                          <p:attrName>ppt_y</p:attrName>
                                        </p:attrNameLst>
                                      </p:cBhvr>
                                      <p:tavLst>
                                        <p:tav tm="0">
                                          <p:val>
                                            <p:strVal val="#ppt_y+0.016"/>
                                          </p:val>
                                        </p:tav>
                                        <p:tav tm="100000">
                                          <p:val>
                                            <p:strVal val="#ppt_y"/>
                                          </p:val>
                                        </p:tav>
                                      </p:tavLst>
                                    </p:anim>
                                  </p:childTnLst>
                                </p:cTn>
                              </p:par>
                              <p:par>
                                <p:cTn id="87" presetID="42" presetClass="entr" presetSubtype="0" fill="hold" nodeType="withEffect">
                                  <p:stCondLst>
                                    <p:cond delay="8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400"/>
                                        <p:tgtEl>
                                          <p:spTgt spid="27"/>
                                        </p:tgtEl>
                                      </p:cBhvr>
                                    </p:animEffect>
                                    <p:anim calcmode="lin" valueType="num">
                                      <p:cBhvr>
                                        <p:cTn id="90" dur="400" decel="100000" fill="hold"/>
                                        <p:tgtEl>
                                          <p:spTgt spid="27"/>
                                        </p:tgtEl>
                                        <p:attrNameLst>
                                          <p:attrName>ppt_x</p:attrName>
                                        </p:attrNameLst>
                                      </p:cBhvr>
                                      <p:tavLst>
                                        <p:tav tm="0">
                                          <p:val>
                                            <p:strVal val="#ppt_x"/>
                                          </p:val>
                                        </p:tav>
                                        <p:tav tm="100000">
                                          <p:val>
                                            <p:strVal val="#ppt_x"/>
                                          </p:val>
                                        </p:tav>
                                      </p:tavLst>
                                    </p:anim>
                                    <p:anim calcmode="lin" valueType="num">
                                      <p:cBhvr>
                                        <p:cTn id="91" dur="400" decel="100000" fill="hold"/>
                                        <p:tgtEl>
                                          <p:spTgt spid="27"/>
                                        </p:tgtEl>
                                        <p:attrNameLst>
                                          <p:attrName>ppt_y</p:attrName>
                                        </p:attrNameLst>
                                      </p:cBhvr>
                                      <p:tavLst>
                                        <p:tav tm="0">
                                          <p:val>
                                            <p:strVal val="#ppt_y+0.016"/>
                                          </p:val>
                                        </p:tav>
                                        <p:tav tm="100000">
                                          <p:val>
                                            <p:strVal val="#ppt_y"/>
                                          </p:val>
                                        </p:tav>
                                      </p:tavLst>
                                    </p:anim>
                                  </p:childTnLst>
                                </p:cTn>
                              </p:par>
                              <p:par>
                                <p:cTn id="92" presetID="42" presetClass="entr" presetSubtype="0" fill="hold" grpId="0" nodeType="withEffect">
                                  <p:stCondLst>
                                    <p:cond delay="8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400"/>
                                        <p:tgtEl>
                                          <p:spTgt spid="28"/>
                                        </p:tgtEl>
                                      </p:cBhvr>
                                    </p:animEffect>
                                    <p:anim calcmode="lin" valueType="num">
                                      <p:cBhvr>
                                        <p:cTn id="95" dur="400" decel="100000" fill="hold"/>
                                        <p:tgtEl>
                                          <p:spTgt spid="28"/>
                                        </p:tgtEl>
                                        <p:attrNameLst>
                                          <p:attrName>ppt_x</p:attrName>
                                        </p:attrNameLst>
                                      </p:cBhvr>
                                      <p:tavLst>
                                        <p:tav tm="0">
                                          <p:val>
                                            <p:strVal val="#ppt_x"/>
                                          </p:val>
                                        </p:tav>
                                        <p:tav tm="100000">
                                          <p:val>
                                            <p:strVal val="#ppt_x"/>
                                          </p:val>
                                        </p:tav>
                                      </p:tavLst>
                                    </p:anim>
                                    <p:anim calcmode="lin" valueType="num">
                                      <p:cBhvr>
                                        <p:cTn id="96" dur="400" decel="100000" fill="hold"/>
                                        <p:tgtEl>
                                          <p:spTgt spid="28"/>
                                        </p:tgtEl>
                                        <p:attrNameLst>
                                          <p:attrName>ppt_y</p:attrName>
                                        </p:attrNameLst>
                                      </p:cBhvr>
                                      <p:tavLst>
                                        <p:tav tm="0">
                                          <p:val>
                                            <p:strVal val="#ppt_y+0.016"/>
                                          </p:val>
                                        </p:tav>
                                        <p:tav tm="100000">
                                          <p:val>
                                            <p:strVal val="#ppt_y"/>
                                          </p:val>
                                        </p:tav>
                                      </p:tavLst>
                                    </p:anim>
                                  </p:childTnLst>
                                </p:cTn>
                              </p:par>
                              <p:par>
                                <p:cTn id="97" presetID="42" presetClass="entr" presetSubtype="0" fill="hold" grpId="0" nodeType="withEffect">
                                  <p:stCondLst>
                                    <p:cond delay="8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400"/>
                                        <p:tgtEl>
                                          <p:spTgt spid="29"/>
                                        </p:tgtEl>
                                      </p:cBhvr>
                                    </p:animEffect>
                                    <p:anim calcmode="lin" valueType="num">
                                      <p:cBhvr>
                                        <p:cTn id="100" dur="400" decel="100000" fill="hold"/>
                                        <p:tgtEl>
                                          <p:spTgt spid="29"/>
                                        </p:tgtEl>
                                        <p:attrNameLst>
                                          <p:attrName>ppt_x</p:attrName>
                                        </p:attrNameLst>
                                      </p:cBhvr>
                                      <p:tavLst>
                                        <p:tav tm="0">
                                          <p:val>
                                            <p:strVal val="#ppt_x"/>
                                          </p:val>
                                        </p:tav>
                                        <p:tav tm="100000">
                                          <p:val>
                                            <p:strVal val="#ppt_x"/>
                                          </p:val>
                                        </p:tav>
                                      </p:tavLst>
                                    </p:anim>
                                    <p:anim calcmode="lin" valueType="num">
                                      <p:cBhvr>
                                        <p:cTn id="101" dur="400" decel="100000" fill="hold"/>
                                        <p:tgtEl>
                                          <p:spTgt spid="29"/>
                                        </p:tgtEl>
                                        <p:attrNameLst>
                                          <p:attrName>ppt_y</p:attrName>
                                        </p:attrNameLst>
                                      </p:cBhvr>
                                      <p:tavLst>
                                        <p:tav tm="0">
                                          <p:val>
                                            <p:strVal val="#ppt_y+0.016"/>
                                          </p:val>
                                        </p:tav>
                                        <p:tav tm="100000">
                                          <p:val>
                                            <p:strVal val="#ppt_y"/>
                                          </p:val>
                                        </p:tav>
                                      </p:tavLst>
                                    </p:anim>
                                  </p:childTnLst>
                                </p:cTn>
                              </p:par>
                              <p:par>
                                <p:cTn id="102" presetID="42" presetClass="entr" presetSubtype="0" fill="hold" grpId="0" nodeType="withEffect">
                                  <p:stCondLst>
                                    <p:cond delay="8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400"/>
                                        <p:tgtEl>
                                          <p:spTgt spid="30"/>
                                        </p:tgtEl>
                                      </p:cBhvr>
                                    </p:animEffect>
                                    <p:anim calcmode="lin" valueType="num">
                                      <p:cBhvr>
                                        <p:cTn id="105" dur="400" decel="100000" fill="hold"/>
                                        <p:tgtEl>
                                          <p:spTgt spid="30"/>
                                        </p:tgtEl>
                                        <p:attrNameLst>
                                          <p:attrName>ppt_x</p:attrName>
                                        </p:attrNameLst>
                                      </p:cBhvr>
                                      <p:tavLst>
                                        <p:tav tm="0">
                                          <p:val>
                                            <p:strVal val="#ppt_x"/>
                                          </p:val>
                                        </p:tav>
                                        <p:tav tm="100000">
                                          <p:val>
                                            <p:strVal val="#ppt_x"/>
                                          </p:val>
                                        </p:tav>
                                      </p:tavLst>
                                    </p:anim>
                                    <p:anim calcmode="lin" valueType="num">
                                      <p:cBhvr>
                                        <p:cTn id="106" dur="400" decel="100000" fill="hold"/>
                                        <p:tgtEl>
                                          <p:spTgt spid="30"/>
                                        </p:tgtEl>
                                        <p:attrNameLst>
                                          <p:attrName>ppt_y</p:attrName>
                                        </p:attrNameLst>
                                      </p:cBhvr>
                                      <p:tavLst>
                                        <p:tav tm="0">
                                          <p:val>
                                            <p:strVal val="#ppt_y+0.016"/>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400"/>
                                        <p:tgtEl>
                                          <p:spTgt spid="31"/>
                                        </p:tgtEl>
                                      </p:cBhvr>
                                    </p:animEffect>
                                    <p:anim calcmode="lin" valueType="num">
                                      <p:cBhvr>
                                        <p:cTn id="112" dur="400" decel="100000" fill="hold"/>
                                        <p:tgtEl>
                                          <p:spTgt spid="31"/>
                                        </p:tgtEl>
                                        <p:attrNameLst>
                                          <p:attrName>ppt_x</p:attrName>
                                        </p:attrNameLst>
                                      </p:cBhvr>
                                      <p:tavLst>
                                        <p:tav tm="0">
                                          <p:val>
                                            <p:strVal val="#ppt_x"/>
                                          </p:val>
                                        </p:tav>
                                        <p:tav tm="100000">
                                          <p:val>
                                            <p:strVal val="#ppt_x"/>
                                          </p:val>
                                        </p:tav>
                                      </p:tavLst>
                                    </p:anim>
                                    <p:anim calcmode="lin" valueType="num">
                                      <p:cBhvr>
                                        <p:cTn id="113" dur="400" decel="100000" fill="hold"/>
                                        <p:tgtEl>
                                          <p:spTgt spid="31"/>
                                        </p:tgtEl>
                                        <p:attrNameLst>
                                          <p:attrName>ppt_y</p:attrName>
                                        </p:attrNameLst>
                                      </p:cBhvr>
                                      <p:tavLst>
                                        <p:tav tm="0">
                                          <p:val>
                                            <p:strVal val="#ppt_y+0.016"/>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32"/>
                                        </p:tgtEl>
                                        <p:attrNameLst>
                                          <p:attrName>style.visibility</p:attrName>
                                        </p:attrNameLst>
                                      </p:cBhvr>
                                      <p:to>
                                        <p:strVal val="visible"/>
                                      </p:to>
                                    </p:set>
                                    <p:animEffect transition="in" filter="fade">
                                      <p:cBhvr>
                                        <p:cTn id="116" dur="400"/>
                                        <p:tgtEl>
                                          <p:spTgt spid="32"/>
                                        </p:tgtEl>
                                      </p:cBhvr>
                                    </p:animEffect>
                                    <p:anim calcmode="lin" valueType="num">
                                      <p:cBhvr>
                                        <p:cTn id="117" dur="400" decel="100000" fill="hold"/>
                                        <p:tgtEl>
                                          <p:spTgt spid="32"/>
                                        </p:tgtEl>
                                        <p:attrNameLst>
                                          <p:attrName>ppt_x</p:attrName>
                                        </p:attrNameLst>
                                      </p:cBhvr>
                                      <p:tavLst>
                                        <p:tav tm="0">
                                          <p:val>
                                            <p:strVal val="#ppt_x"/>
                                          </p:val>
                                        </p:tav>
                                        <p:tav tm="100000">
                                          <p:val>
                                            <p:strVal val="#ppt_x"/>
                                          </p:val>
                                        </p:tav>
                                      </p:tavLst>
                                    </p:anim>
                                    <p:anim calcmode="lin" valueType="num">
                                      <p:cBhvr>
                                        <p:cTn id="118" dur="400" decel="100000" fill="hold"/>
                                        <p:tgtEl>
                                          <p:spTgt spid="32"/>
                                        </p:tgtEl>
                                        <p:attrNameLst>
                                          <p:attrName>ppt_y</p:attrName>
                                        </p:attrNameLst>
                                      </p:cBhvr>
                                      <p:tavLst>
                                        <p:tav tm="0">
                                          <p:val>
                                            <p:strVal val="#ppt_y+0.016"/>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33"/>
                                        </p:tgtEl>
                                        <p:attrNameLst>
                                          <p:attrName>style.visibility</p:attrName>
                                        </p:attrNameLst>
                                      </p:cBhvr>
                                      <p:to>
                                        <p:strVal val="visible"/>
                                      </p:to>
                                    </p:set>
                                    <p:animEffect transition="in" filter="fade">
                                      <p:cBhvr>
                                        <p:cTn id="121" dur="400"/>
                                        <p:tgtEl>
                                          <p:spTgt spid="33"/>
                                        </p:tgtEl>
                                      </p:cBhvr>
                                    </p:animEffect>
                                    <p:anim calcmode="lin" valueType="num">
                                      <p:cBhvr>
                                        <p:cTn id="122" dur="400" decel="100000" fill="hold"/>
                                        <p:tgtEl>
                                          <p:spTgt spid="33"/>
                                        </p:tgtEl>
                                        <p:attrNameLst>
                                          <p:attrName>ppt_x</p:attrName>
                                        </p:attrNameLst>
                                      </p:cBhvr>
                                      <p:tavLst>
                                        <p:tav tm="0">
                                          <p:val>
                                            <p:strVal val="#ppt_x"/>
                                          </p:val>
                                        </p:tav>
                                        <p:tav tm="100000">
                                          <p:val>
                                            <p:strVal val="#ppt_x"/>
                                          </p:val>
                                        </p:tav>
                                      </p:tavLst>
                                    </p:anim>
                                    <p:anim calcmode="lin" valueType="num">
                                      <p:cBhvr>
                                        <p:cTn id="123" dur="400" decel="100000" fill="hold"/>
                                        <p:tgtEl>
                                          <p:spTgt spid="33"/>
                                        </p:tgtEl>
                                        <p:attrNameLst>
                                          <p:attrName>ppt_y</p:attrName>
                                        </p:attrNameLst>
                                      </p:cBhvr>
                                      <p:tavLst>
                                        <p:tav tm="0">
                                          <p:val>
                                            <p:strVal val="#ppt_y+0.016"/>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400"/>
                                        <p:tgtEl>
                                          <p:spTgt spid="34"/>
                                        </p:tgtEl>
                                      </p:cBhvr>
                                    </p:animEffect>
                                    <p:anim calcmode="lin" valueType="num">
                                      <p:cBhvr>
                                        <p:cTn id="127" dur="400" decel="100000" fill="hold"/>
                                        <p:tgtEl>
                                          <p:spTgt spid="34"/>
                                        </p:tgtEl>
                                        <p:attrNameLst>
                                          <p:attrName>ppt_x</p:attrName>
                                        </p:attrNameLst>
                                      </p:cBhvr>
                                      <p:tavLst>
                                        <p:tav tm="0">
                                          <p:val>
                                            <p:strVal val="#ppt_x"/>
                                          </p:val>
                                        </p:tav>
                                        <p:tav tm="100000">
                                          <p:val>
                                            <p:strVal val="#ppt_x"/>
                                          </p:val>
                                        </p:tav>
                                      </p:tavLst>
                                    </p:anim>
                                    <p:anim calcmode="lin" valueType="num">
                                      <p:cBhvr>
                                        <p:cTn id="128" dur="400" decel="100000" fill="hold"/>
                                        <p:tgtEl>
                                          <p:spTgt spid="34"/>
                                        </p:tgtEl>
                                        <p:attrNameLst>
                                          <p:attrName>ppt_y</p:attrName>
                                        </p:attrNameLst>
                                      </p:cBhvr>
                                      <p:tavLst>
                                        <p:tav tm="0">
                                          <p:val>
                                            <p:strVal val="#ppt_y+0.01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P spid="30" grpId="0" animBg="1"/>
      <p:bldP spid="32"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xt_133"/>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02: LITERATURE</a:t>
            </a:r>
            <a:endParaRPr lang="en-US" sz="1100" dirty="0"/>
          </a:p>
        </p:txBody>
      </p:sp>
      <p:sp>
        <p:nvSpPr>
          <p:cNvPr id="3" name="kicker_134"/>
          <p:cNvSpPr txBox="1"/>
          <p:nvPr/>
        </p:nvSpPr>
        <p:spPr>
          <a:xfrm>
            <a:off x="457200" y="548640"/>
            <a:ext cx="665226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SURVEY 1/4 · HUMAN–DRONE INTERACTION</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Research frames aerial guidance and human comfort</a:t>
            </a:r>
            <a:endParaRPr lang="en-US" sz="4000" dirty="0"/>
          </a:p>
        </p:txBody>
      </p:sp>
      <p:sp>
        <p:nvSpPr>
          <p:cNvPr id="5" name="txt_135"/>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RECENT WINDOW 2021–2026 · FOUNDATIONAL WORKS MARKED</a:t>
            </a:r>
            <a:endParaRPr lang="en-US" sz="1000" dirty="0"/>
          </a:p>
        </p:txBody>
      </p:sp>
      <p:sp>
        <p:nvSpPr>
          <p:cNvPr id="6" name="txt_136"/>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Full refs A01–A02 · matrix A03–A08</a:t>
            </a:r>
            <a:endParaRPr lang="en-US" sz="1000" dirty="0"/>
          </a:p>
        </p:txBody>
      </p:sp>
      <p:sp>
        <p:nvSpPr>
          <p:cNvPr id="7" name="txt_137"/>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[ 05 / 18 ]</a:t>
            </a:r>
            <a:endParaRPr lang="en-US" sz="1200" dirty="0"/>
          </a:p>
        </p:txBody>
      </p:sp>
      <p:sp>
        <p:nvSpPr>
          <p:cNvPr id="9" name="box_138"/>
          <p:cNvSpPr/>
          <p:nvPr/>
        </p:nvSpPr>
        <p:spPr>
          <a:xfrm>
            <a:off x="457200" y="2148840"/>
            <a:ext cx="5559552" cy="1920240"/>
          </a:xfrm>
          <a:prstGeom prst="roundRect">
            <a:avLst>
              <a:gd name="adj" fmla="val 2857"/>
            </a:avLst>
          </a:prstGeom>
          <a:solidFill>
            <a:srgbClr val="131C2E">
              <a:alpha val="82000"/>
            </a:srgbClr>
          </a:solidFill>
          <a:ln w="9525">
            <a:solidFill>
              <a:srgbClr val="00F0FF">
                <a:alpha val="22000"/>
              </a:srgbClr>
            </a:solidFill>
            <a:prstDash val="solid"/>
          </a:ln>
        </p:spPr>
      </p:sp>
      <p:sp>
        <p:nvSpPr>
          <p:cNvPr id="10" name="chip_139"/>
          <p:cNvSpPr txBox="1"/>
          <p:nvPr/>
        </p:nvSpPr>
        <p:spPr>
          <a:xfrm>
            <a:off x="603504" y="2276856"/>
            <a:ext cx="48920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100" b="1" dirty="0">
                <a:solidFill>
                  <a:srgbClr val="94A3B8"/>
                </a:solidFill>
                <a:latin typeface="JetBrains Mono" pitchFamily="34" charset="0"/>
                <a:ea typeface="JetBrains Mono" pitchFamily="34" charset="-122"/>
                <a:cs typeface="JetBrains Mono" pitchFamily="34" charset="-120"/>
              </a:rPr>
              <a:t>U05</a:t>
            </a:r>
            <a:endParaRPr lang="en-US" sz="1100" dirty="0"/>
          </a:p>
        </p:txBody>
      </p:sp>
      <p:sp>
        <p:nvSpPr>
          <p:cNvPr id="11" name="chip_140"/>
          <p:cNvSpPr txBox="1"/>
          <p:nvPr/>
        </p:nvSpPr>
        <p:spPr>
          <a:xfrm>
            <a:off x="4184904" y="2276856"/>
            <a:ext cx="16855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2017 · FOUNDATIONAL</a:t>
            </a:r>
            <a:endParaRPr lang="en-US" sz="1000" dirty="0"/>
          </a:p>
        </p:txBody>
      </p:sp>
      <p:sp>
        <p:nvSpPr>
          <p:cNvPr id="12" name="txt_141"/>
          <p:cNvSpPr txBox="1"/>
          <p:nvPr/>
        </p:nvSpPr>
        <p:spPr>
          <a:xfrm>
            <a:off x="1220724" y="2240280"/>
            <a:ext cx="2790444" cy="329184"/>
          </a:xfrm>
          <a:prstGeom prst="rect">
            <a:avLst/>
          </a:prstGeom>
          <a:noFill/>
          <a:ln/>
        </p:spPr>
        <p:txBody>
          <a:bodyPr wrap="square" lIns="0" tIns="0" rIns="0" bIns="0" rtlCol="0" anchor="ctr"/>
          <a:lstStyle/>
          <a:p>
            <a:pPr marL="0" indent="0">
              <a:buNone/>
            </a:pPr>
            <a:r>
              <a:rPr lang="en-US" sz="1600" b="1" dirty="0">
                <a:solidFill>
                  <a:srgbClr val="F8FAFC"/>
                </a:solidFill>
                <a:latin typeface="Space Grotesk" pitchFamily="34" charset="0"/>
                <a:ea typeface="Space Grotesk" pitchFamily="34" charset="-122"/>
                <a:cs typeface="Space Grotesk" pitchFamily="34" charset="-120"/>
              </a:rPr>
              <a:t>DroneNavigator</a:t>
            </a:r>
            <a:endParaRPr lang="en-US" sz="1600" dirty="0"/>
          </a:p>
        </p:txBody>
      </p:sp>
      <p:sp>
        <p:nvSpPr>
          <p:cNvPr id="13" name="txt_142"/>
          <p:cNvSpPr txBox="1"/>
          <p:nvPr/>
        </p:nvSpPr>
        <p:spPr>
          <a:xfrm>
            <a:off x="603504" y="2624328"/>
            <a:ext cx="5266944" cy="1371600"/>
          </a:xfrm>
          <a:prstGeom prst="rect">
            <a:avLst/>
          </a:prstGeom>
          <a:noFill/>
          <a:ln/>
        </p:spPr>
        <p:txBody>
          <a:bodyPr wrap="square" lIns="0" tIns="0" rIns="0" bIns="0" rtlCol="0" anchor="t"/>
          <a:lstStyle/>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METHOD  </a:t>
            </a:r>
            <a:r>
              <a:rPr lang="en-US" sz="1400" dirty="0">
                <a:solidFill>
                  <a:srgbClr val="F8FAFC"/>
                </a:solidFill>
                <a:latin typeface="Inter" pitchFamily="34" charset="0"/>
                <a:ea typeface="Inter" pitchFamily="34" charset="-122"/>
                <a:cs typeface="Inter" pitchFamily="34" charset="-120"/>
              </a:rPr>
              <a:t>14 visually impaired participants; free-floating vs leashed quadcopter vs audio, indoor routes.</a:t>
            </a:r>
            <a:endParaRPr lang="en-US" sz="1500" dirty="0"/>
          </a:p>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FOUND   </a:t>
            </a:r>
            <a:r>
              <a:rPr lang="en-US" sz="1400" dirty="0">
                <a:solidFill>
                  <a:srgbClr val="F8FAFC"/>
                </a:solidFill>
                <a:latin typeface="Inter" pitchFamily="34" charset="0"/>
                <a:ea typeface="Inter" pitchFamily="34" charset="-122"/>
                <a:cs typeface="Inter" pitchFamily="34" charset="-120"/>
              </a:rPr>
              <a:t>Free-floating guide faster than audio; fewer navigation errors with both drone modes; noise disliked.</a:t>
            </a:r>
            <a:endParaRPr lang="en-US" sz="1500" dirty="0"/>
          </a:p>
          <a:p>
            <a:pPr marL="0" indent="0">
              <a:spcAft>
                <a:spcPts val="400"/>
              </a:spcAft>
              <a:buNone/>
            </a:pPr>
            <a:r>
              <a:rPr lang="en-US" sz="1100" b="1" dirty="0">
                <a:solidFill>
                  <a:srgbClr val="00F0FF"/>
                </a:solidFill>
                <a:latin typeface="JetBrains Mono" pitchFamily="34" charset="0"/>
                <a:ea typeface="JetBrains Mono" pitchFamily="34" charset="-122"/>
                <a:cs typeface="JetBrains Mono" pitchFamily="34" charset="-120"/>
              </a:rPr>
              <a:t>→ NAVI  </a:t>
            </a:r>
            <a:r>
              <a:rPr lang="en-US" sz="1400" dirty="0">
                <a:solidFill>
                  <a:srgbClr val="00F0FF"/>
                </a:solidFill>
                <a:latin typeface="Inter" pitchFamily="34" charset="0"/>
                <a:ea typeface="Inter" pitchFamily="34" charset="-122"/>
                <a:cs typeface="Inter" pitchFamily="34" charset="-120"/>
              </a:rPr>
              <a:t>Aerial lead is a credible cue. NAVI must test its own outdoor case.</a:t>
            </a:r>
            <a:endParaRPr lang="en-US" sz="1500" dirty="0"/>
          </a:p>
        </p:txBody>
      </p:sp>
      <p:sp>
        <p:nvSpPr>
          <p:cNvPr id="14" name="box_143"/>
          <p:cNvSpPr/>
          <p:nvPr/>
        </p:nvSpPr>
        <p:spPr>
          <a:xfrm>
            <a:off x="6172200" y="2148840"/>
            <a:ext cx="5559552" cy="1920240"/>
          </a:xfrm>
          <a:prstGeom prst="roundRect">
            <a:avLst>
              <a:gd name="adj" fmla="val 2857"/>
            </a:avLst>
          </a:prstGeom>
          <a:solidFill>
            <a:srgbClr val="131C2E">
              <a:alpha val="82000"/>
            </a:srgbClr>
          </a:solidFill>
          <a:ln w="9525">
            <a:solidFill>
              <a:srgbClr val="00F0FF">
                <a:alpha val="22000"/>
              </a:srgbClr>
            </a:solidFill>
            <a:prstDash val="solid"/>
          </a:ln>
        </p:spPr>
      </p:sp>
      <p:sp>
        <p:nvSpPr>
          <p:cNvPr id="15" name="chip_144"/>
          <p:cNvSpPr txBox="1"/>
          <p:nvPr/>
        </p:nvSpPr>
        <p:spPr>
          <a:xfrm>
            <a:off x="6318504" y="2276856"/>
            <a:ext cx="48920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100" b="1" dirty="0">
                <a:solidFill>
                  <a:srgbClr val="94A3B8"/>
                </a:solidFill>
                <a:latin typeface="JetBrains Mono" pitchFamily="34" charset="0"/>
                <a:ea typeface="JetBrains Mono" pitchFamily="34" charset="-122"/>
                <a:cs typeface="JetBrains Mono" pitchFamily="34" charset="-120"/>
              </a:rPr>
              <a:t>U04</a:t>
            </a:r>
            <a:endParaRPr lang="en-US" sz="1100" dirty="0"/>
          </a:p>
        </p:txBody>
      </p:sp>
      <p:sp>
        <p:nvSpPr>
          <p:cNvPr id="16" name="chip_145"/>
          <p:cNvSpPr txBox="1"/>
          <p:nvPr/>
        </p:nvSpPr>
        <p:spPr>
          <a:xfrm>
            <a:off x="9899904" y="2276856"/>
            <a:ext cx="16855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2019 · FOUNDATIONAL</a:t>
            </a:r>
            <a:endParaRPr lang="en-US" sz="1000" dirty="0"/>
          </a:p>
        </p:txBody>
      </p:sp>
      <p:sp>
        <p:nvSpPr>
          <p:cNvPr id="17" name="txt_146"/>
          <p:cNvSpPr txBox="1"/>
          <p:nvPr/>
        </p:nvSpPr>
        <p:spPr>
          <a:xfrm>
            <a:off x="6935724" y="2240280"/>
            <a:ext cx="2790444" cy="329184"/>
          </a:xfrm>
          <a:prstGeom prst="rect">
            <a:avLst/>
          </a:prstGeom>
          <a:noFill/>
          <a:ln/>
        </p:spPr>
        <p:txBody>
          <a:bodyPr wrap="square" lIns="0" tIns="0" rIns="0" bIns="0" rtlCol="0" anchor="ctr"/>
          <a:lstStyle/>
          <a:p>
            <a:pPr marL="0" indent="0">
              <a:buNone/>
            </a:pPr>
            <a:r>
              <a:rPr lang="en-US" sz="1600" b="1" dirty="0">
                <a:solidFill>
                  <a:srgbClr val="F8FAFC"/>
                </a:solidFill>
                <a:latin typeface="Space Grotesk" pitchFamily="34" charset="0"/>
                <a:ea typeface="Space Grotesk" pitchFamily="34" charset="-122"/>
                <a:cs typeface="Space Grotesk" pitchFamily="34" charset="-120"/>
              </a:rPr>
              <a:t>HDI survey</a:t>
            </a:r>
            <a:endParaRPr lang="en-US" sz="1600" dirty="0"/>
          </a:p>
        </p:txBody>
      </p:sp>
      <p:sp>
        <p:nvSpPr>
          <p:cNvPr id="18" name="txt_147"/>
          <p:cNvSpPr txBox="1"/>
          <p:nvPr/>
        </p:nvSpPr>
        <p:spPr>
          <a:xfrm>
            <a:off x="6318504" y="2624328"/>
            <a:ext cx="5266944" cy="1371600"/>
          </a:xfrm>
          <a:prstGeom prst="rect">
            <a:avLst/>
          </a:prstGeom>
          <a:noFill/>
          <a:ln/>
        </p:spPr>
        <p:txBody>
          <a:bodyPr wrap="square" lIns="0" tIns="0" rIns="0" bIns="0" rtlCol="0" anchor="t"/>
          <a:lstStyle/>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METHOD  </a:t>
            </a:r>
            <a:r>
              <a:rPr lang="en-US" sz="1400" dirty="0">
                <a:solidFill>
                  <a:srgbClr val="F8FAFC"/>
                </a:solidFill>
                <a:latin typeface="Inter" pitchFamily="34" charset="0"/>
                <a:ea typeface="Inter" pitchFamily="34" charset="-122"/>
                <a:cs typeface="Inter" pitchFamily="34" charset="-120"/>
              </a:rPr>
              <a:t>Survey of HDI: control modalities, communication, proxemics, roles and prototypes.</a:t>
            </a:r>
            <a:endParaRPr lang="en-US" sz="1500" dirty="0"/>
          </a:p>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FOUND   </a:t>
            </a:r>
            <a:r>
              <a:rPr lang="en-US" sz="1400" dirty="0">
                <a:solidFill>
                  <a:srgbClr val="F8FAFC"/>
                </a:solidFill>
                <a:latin typeface="Inter" pitchFamily="34" charset="0"/>
                <a:ea typeface="Inter" pitchFamily="34" charset="-122"/>
                <a:cs typeface="Inter" pitchFamily="34" charset="-120"/>
              </a:rPr>
              <a:t>Approach distance varies with culture and drone design; propeller safety and flight time are key limits.</a:t>
            </a:r>
            <a:endParaRPr lang="en-US" sz="1500" dirty="0"/>
          </a:p>
          <a:p>
            <a:pPr marL="0" indent="0">
              <a:spcAft>
                <a:spcPts val="400"/>
              </a:spcAft>
              <a:buNone/>
            </a:pPr>
            <a:r>
              <a:rPr lang="en-US" sz="1100" b="1" dirty="0">
                <a:solidFill>
                  <a:srgbClr val="00F0FF"/>
                </a:solidFill>
                <a:latin typeface="JetBrains Mono" pitchFamily="34" charset="0"/>
                <a:ea typeface="JetBrains Mono" pitchFamily="34" charset="-122"/>
                <a:cs typeface="JetBrains Mono" pitchFamily="34" charset="-120"/>
              </a:rPr>
              <a:t>→ NAVI  </a:t>
            </a:r>
            <a:r>
              <a:rPr lang="en-US" sz="1400" dirty="0">
                <a:solidFill>
                  <a:srgbClr val="00F0FF"/>
                </a:solidFill>
                <a:latin typeface="Inter" pitchFamily="34" charset="0"/>
                <a:ea typeface="Inter" pitchFamily="34" charset="-122"/>
                <a:cs typeface="Inter" pitchFamily="34" charset="-120"/>
              </a:rPr>
              <a:t>Treat distance, noise and flight time as design variables to measure.</a:t>
            </a:r>
            <a:endParaRPr lang="en-US" sz="1500" dirty="0"/>
          </a:p>
        </p:txBody>
      </p:sp>
      <p:sp>
        <p:nvSpPr>
          <p:cNvPr id="19" name="box_148"/>
          <p:cNvSpPr/>
          <p:nvPr/>
        </p:nvSpPr>
        <p:spPr>
          <a:xfrm>
            <a:off x="457200" y="4224528"/>
            <a:ext cx="5559552" cy="1920240"/>
          </a:xfrm>
          <a:prstGeom prst="roundRect">
            <a:avLst>
              <a:gd name="adj" fmla="val 2857"/>
            </a:avLst>
          </a:prstGeom>
          <a:solidFill>
            <a:srgbClr val="131C2E">
              <a:alpha val="82000"/>
            </a:srgbClr>
          </a:solidFill>
          <a:ln w="9525">
            <a:solidFill>
              <a:srgbClr val="00F0FF">
                <a:alpha val="22000"/>
              </a:srgbClr>
            </a:solidFill>
            <a:prstDash val="solid"/>
          </a:ln>
        </p:spPr>
      </p:sp>
      <p:sp>
        <p:nvSpPr>
          <p:cNvPr id="20" name="chip_149"/>
          <p:cNvSpPr txBox="1"/>
          <p:nvPr/>
        </p:nvSpPr>
        <p:spPr>
          <a:xfrm>
            <a:off x="603504" y="4352544"/>
            <a:ext cx="48920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S01</a:t>
            </a:r>
            <a:endParaRPr lang="en-US" sz="1100" dirty="0"/>
          </a:p>
        </p:txBody>
      </p:sp>
      <p:sp>
        <p:nvSpPr>
          <p:cNvPr id="21" name="chip_150"/>
          <p:cNvSpPr txBox="1"/>
          <p:nvPr/>
        </p:nvSpPr>
        <p:spPr>
          <a:xfrm>
            <a:off x="4642104" y="4352544"/>
            <a:ext cx="1228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22" name="txt_151"/>
          <p:cNvSpPr txBox="1"/>
          <p:nvPr/>
        </p:nvSpPr>
        <p:spPr>
          <a:xfrm>
            <a:off x="1220724" y="4315968"/>
            <a:ext cx="3247644" cy="329184"/>
          </a:xfrm>
          <a:prstGeom prst="rect">
            <a:avLst/>
          </a:prstGeom>
          <a:noFill/>
          <a:ln/>
        </p:spPr>
        <p:txBody>
          <a:bodyPr wrap="square" lIns="0" tIns="0" rIns="0" bIns="0" rtlCol="0" anchor="ctr"/>
          <a:lstStyle/>
          <a:p>
            <a:pPr marL="0" indent="0">
              <a:buNone/>
            </a:pPr>
            <a:r>
              <a:rPr lang="en-US" sz="1600" b="1" dirty="0">
                <a:solidFill>
                  <a:srgbClr val="F8FAFC"/>
                </a:solidFill>
                <a:latin typeface="Space Grotesk" pitchFamily="34" charset="0"/>
                <a:ea typeface="Space Grotesk" pitchFamily="34" charset="-122"/>
                <a:cs typeface="Space Grotesk" pitchFamily="34" charset="-120"/>
              </a:rPr>
              <a:t>Preferred human–drone distance</a:t>
            </a:r>
            <a:endParaRPr lang="en-US" sz="1600" dirty="0"/>
          </a:p>
        </p:txBody>
      </p:sp>
      <p:sp>
        <p:nvSpPr>
          <p:cNvPr id="23" name="txt_152"/>
          <p:cNvSpPr txBox="1"/>
          <p:nvPr/>
        </p:nvSpPr>
        <p:spPr>
          <a:xfrm>
            <a:off x="603504" y="4700016"/>
            <a:ext cx="5266944" cy="1371600"/>
          </a:xfrm>
          <a:prstGeom prst="rect">
            <a:avLst/>
          </a:prstGeom>
          <a:noFill/>
          <a:ln/>
        </p:spPr>
        <p:txBody>
          <a:bodyPr wrap="square" lIns="0" tIns="0" rIns="0" bIns="0" rtlCol="0" anchor="t"/>
          <a:lstStyle/>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METHOD  </a:t>
            </a:r>
            <a:r>
              <a:rPr lang="en-US" sz="1400" dirty="0">
                <a:solidFill>
                  <a:srgbClr val="F8FAFC"/>
                </a:solidFill>
                <a:latin typeface="Inter" pitchFamily="34" charset="0"/>
                <a:ea typeface="Inter" pitchFamily="34" charset="-122"/>
                <a:cs typeface="Inter" pitchFamily="34" charset="-120"/>
              </a:rPr>
              <a:t>Two AR/VR experiments (N=28, N=20) with a virtual 25 cm drone at varied height and approach.</a:t>
            </a:r>
            <a:endParaRPr lang="en-US" sz="1500" dirty="0"/>
          </a:p>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FOUND   </a:t>
            </a:r>
            <a:r>
              <a:rPr lang="en-US" sz="1400" dirty="0">
                <a:solidFill>
                  <a:srgbClr val="F8FAFC"/>
                </a:solidFill>
                <a:latin typeface="Inter" pitchFamily="34" charset="0"/>
                <a:ea typeface="Inter" pitchFamily="34" charset="-122"/>
                <a:cs typeface="Inter" pitchFamily="34" charset="-120"/>
              </a:rPr>
              <a:t>Preferred distance ≈1.6–1.9 m, larger above eye level. Virtual drone, young samples.</a:t>
            </a:r>
            <a:endParaRPr lang="en-US" sz="1500" dirty="0"/>
          </a:p>
          <a:p>
            <a:pPr marL="0" indent="0">
              <a:spcAft>
                <a:spcPts val="400"/>
              </a:spcAft>
              <a:buNone/>
            </a:pPr>
            <a:r>
              <a:rPr lang="en-US" sz="1100" b="1" dirty="0">
                <a:solidFill>
                  <a:srgbClr val="00F0FF"/>
                </a:solidFill>
                <a:latin typeface="JetBrains Mono" pitchFamily="34" charset="0"/>
                <a:ea typeface="JetBrains Mono" pitchFamily="34" charset="-122"/>
                <a:cs typeface="JetBrains Mono" pitchFamily="34" charset="-120"/>
              </a:rPr>
              <a:t>→ NAVI  </a:t>
            </a:r>
            <a:r>
              <a:rPr lang="en-US" sz="1400" dirty="0">
                <a:solidFill>
                  <a:srgbClr val="00F0FF"/>
                </a:solidFill>
                <a:latin typeface="Inter" pitchFamily="34" charset="0"/>
                <a:ea typeface="Inter" pitchFamily="34" charset="-122"/>
                <a:cs typeface="Inter" pitchFamily="34" charset="-120"/>
              </a:rPr>
              <a:t>Does not validate the 15 m lead. Measure comfort in supervised trials.</a:t>
            </a:r>
            <a:endParaRPr lang="en-US" sz="1500" dirty="0"/>
          </a:p>
        </p:txBody>
      </p:sp>
      <p:sp>
        <p:nvSpPr>
          <p:cNvPr id="24" name="box_153"/>
          <p:cNvSpPr/>
          <p:nvPr/>
        </p:nvSpPr>
        <p:spPr>
          <a:xfrm>
            <a:off x="6172200" y="4224528"/>
            <a:ext cx="5559552" cy="1920240"/>
          </a:xfrm>
          <a:prstGeom prst="roundRect">
            <a:avLst>
              <a:gd name="adj" fmla="val 2857"/>
            </a:avLst>
          </a:prstGeom>
          <a:solidFill>
            <a:srgbClr val="131C2E">
              <a:alpha val="82000"/>
            </a:srgbClr>
          </a:solidFill>
          <a:ln w="9525">
            <a:solidFill>
              <a:srgbClr val="00F0FF">
                <a:alpha val="22000"/>
              </a:srgbClr>
            </a:solidFill>
            <a:prstDash val="solid"/>
          </a:ln>
        </p:spPr>
      </p:sp>
      <p:sp>
        <p:nvSpPr>
          <p:cNvPr id="25" name="chip_154"/>
          <p:cNvSpPr txBox="1"/>
          <p:nvPr/>
        </p:nvSpPr>
        <p:spPr>
          <a:xfrm>
            <a:off x="6318504" y="4352544"/>
            <a:ext cx="48920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S02</a:t>
            </a:r>
            <a:endParaRPr lang="en-US" sz="1100" dirty="0"/>
          </a:p>
        </p:txBody>
      </p:sp>
      <p:sp>
        <p:nvSpPr>
          <p:cNvPr id="26" name="chip_155"/>
          <p:cNvSpPr txBox="1"/>
          <p:nvPr/>
        </p:nvSpPr>
        <p:spPr>
          <a:xfrm>
            <a:off x="10357104" y="4352544"/>
            <a:ext cx="1228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2026 · RECENT</a:t>
            </a:r>
            <a:endParaRPr lang="en-US" sz="1000" dirty="0"/>
          </a:p>
        </p:txBody>
      </p:sp>
      <p:sp>
        <p:nvSpPr>
          <p:cNvPr id="27" name="txt_156"/>
          <p:cNvSpPr txBox="1"/>
          <p:nvPr/>
        </p:nvSpPr>
        <p:spPr>
          <a:xfrm>
            <a:off x="6935724" y="4315968"/>
            <a:ext cx="3247644" cy="329184"/>
          </a:xfrm>
          <a:prstGeom prst="rect">
            <a:avLst/>
          </a:prstGeom>
          <a:noFill/>
          <a:ln/>
        </p:spPr>
        <p:txBody>
          <a:bodyPr wrap="square" lIns="0" tIns="0" rIns="0" bIns="0" rtlCol="0" anchor="ctr"/>
          <a:lstStyle/>
          <a:p>
            <a:pPr marL="0" indent="0">
              <a:buNone/>
            </a:pPr>
            <a:r>
              <a:rPr lang="en-US" sz="1600" b="1" dirty="0">
                <a:solidFill>
                  <a:srgbClr val="F8FAFC"/>
                </a:solidFill>
                <a:latin typeface="Space Grotesk" pitchFamily="34" charset="0"/>
                <a:ea typeface="Space Grotesk" pitchFamily="34" charset="-122"/>
                <a:cs typeface="Space Grotesk" pitchFamily="34" charset="-120"/>
              </a:rPr>
              <a:t>HDI in older adults</a:t>
            </a:r>
            <a:endParaRPr lang="en-US" sz="1600" dirty="0"/>
          </a:p>
        </p:txBody>
      </p:sp>
      <p:sp>
        <p:nvSpPr>
          <p:cNvPr id="28" name="txt_157"/>
          <p:cNvSpPr txBox="1"/>
          <p:nvPr/>
        </p:nvSpPr>
        <p:spPr>
          <a:xfrm>
            <a:off x="6318504" y="4700016"/>
            <a:ext cx="5266944" cy="1371600"/>
          </a:xfrm>
          <a:prstGeom prst="rect">
            <a:avLst/>
          </a:prstGeom>
          <a:noFill/>
          <a:ln/>
        </p:spPr>
        <p:txBody>
          <a:bodyPr wrap="square" lIns="0" tIns="0" rIns="0" bIns="0" rtlCol="0" anchor="t"/>
          <a:lstStyle/>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METHOD  </a:t>
            </a:r>
            <a:r>
              <a:rPr lang="en-US" sz="1400" dirty="0">
                <a:solidFill>
                  <a:srgbClr val="F8FAFC"/>
                </a:solidFill>
                <a:latin typeface="Inter" pitchFamily="34" charset="0"/>
                <a:ea typeface="Inter" pitchFamily="34" charset="-122"/>
                <a:cs typeface="Inter" pitchFamily="34" charset="-120"/>
              </a:rPr>
              <a:t>PRISMA review of 13 studies (2016–2025) with adults aged 65+, mostly health and home contexts.</a:t>
            </a:r>
            <a:endParaRPr lang="en-US" sz="1500" dirty="0"/>
          </a:p>
          <a:p>
            <a:pPr marL="0" indent="0">
              <a:spcAft>
                <a:spcPts val="400"/>
              </a:spcAft>
              <a:buNone/>
            </a:pPr>
            <a:r>
              <a:rPr lang="en-US" sz="1100" b="1" dirty="0">
                <a:solidFill>
                  <a:srgbClr val="94A3B8"/>
                </a:solidFill>
                <a:latin typeface="JetBrains Mono" pitchFamily="34" charset="0"/>
                <a:ea typeface="JetBrains Mono" pitchFamily="34" charset="-122"/>
                <a:cs typeface="JetBrains Mono" pitchFamily="34" charset="-120"/>
              </a:rPr>
              <a:t>FOUND   </a:t>
            </a:r>
            <a:r>
              <a:rPr lang="en-US" sz="1400" dirty="0">
                <a:solidFill>
                  <a:srgbClr val="F8FAFC"/>
                </a:solidFill>
                <a:latin typeface="Inter" pitchFamily="34" charset="0"/>
                <a:ea typeface="Inter" pitchFamily="34" charset="-122"/>
                <a:cs typeface="Inter" pitchFamily="34" charset="-120"/>
              </a:rPr>
              <a:t>Acceptance tied to usability, perceived safety and familiarity; noise and size raise concern.</a:t>
            </a:r>
            <a:endParaRPr lang="en-US" sz="1500" dirty="0"/>
          </a:p>
          <a:p>
            <a:pPr marL="0" indent="0">
              <a:spcAft>
                <a:spcPts val="400"/>
              </a:spcAft>
              <a:buNone/>
            </a:pPr>
            <a:r>
              <a:rPr lang="en-US" sz="1100" b="1" dirty="0">
                <a:solidFill>
                  <a:srgbClr val="00F0FF"/>
                </a:solidFill>
                <a:latin typeface="JetBrains Mono" pitchFamily="34" charset="0"/>
                <a:ea typeface="JetBrains Mono" pitchFamily="34" charset="-122"/>
                <a:cs typeface="JetBrains Mono" pitchFamily="34" charset="-120"/>
              </a:rPr>
              <a:t>→ NAVI  </a:t>
            </a:r>
            <a:r>
              <a:rPr lang="en-US" sz="1400" dirty="0">
                <a:solidFill>
                  <a:srgbClr val="00F0FF"/>
                </a:solidFill>
                <a:latin typeface="Inter" pitchFamily="34" charset="0"/>
                <a:ea typeface="Inter" pitchFamily="34" charset="-122"/>
                <a:cs typeface="Inter" pitchFamily="34" charset="-120"/>
              </a:rPr>
              <a:t>Include older visitors in trials; keep the interface simple.</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anim calcmode="lin" valueType="num">
                                      <p:cBhvr>
                                        <p:cTn id="8" dur="400" decel="100000" fill="hold"/>
                                        <p:tgtEl>
                                          <p:spTgt spid="9"/>
                                        </p:tgtEl>
                                        <p:attrNameLst>
                                          <p:attrName>ppt_x</p:attrName>
                                        </p:attrNameLst>
                                      </p:cBhvr>
                                      <p:tavLst>
                                        <p:tav tm="0">
                                          <p:val>
                                            <p:strVal val="#ppt_x"/>
                                          </p:val>
                                        </p:tav>
                                        <p:tav tm="100000">
                                          <p:val>
                                            <p:strVal val="#ppt_x"/>
                                          </p:val>
                                        </p:tav>
                                      </p:tavLst>
                                    </p:anim>
                                    <p:anim calcmode="lin" valueType="num">
                                      <p:cBhvr>
                                        <p:cTn id="9" dur="400" decel="100000" fill="hold"/>
                                        <p:tgtEl>
                                          <p:spTgt spid="9"/>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anim calcmode="lin" valueType="num">
                                      <p:cBhvr>
                                        <p:cTn id="13" dur="400" decel="100000" fill="hold"/>
                                        <p:tgtEl>
                                          <p:spTgt spid="10"/>
                                        </p:tgtEl>
                                        <p:attrNameLst>
                                          <p:attrName>ppt_x</p:attrName>
                                        </p:attrNameLst>
                                      </p:cBhvr>
                                      <p:tavLst>
                                        <p:tav tm="0">
                                          <p:val>
                                            <p:strVal val="#ppt_x"/>
                                          </p:val>
                                        </p:tav>
                                        <p:tav tm="100000">
                                          <p:val>
                                            <p:strVal val="#ppt_x"/>
                                          </p:val>
                                        </p:tav>
                                      </p:tavLst>
                                    </p:anim>
                                    <p:anim calcmode="lin" valueType="num">
                                      <p:cBhvr>
                                        <p:cTn id="14" dur="400" decel="100000" fill="hold"/>
                                        <p:tgtEl>
                                          <p:spTgt spid="10"/>
                                        </p:tgtEl>
                                        <p:attrNameLst>
                                          <p:attrName>ppt_y</p:attrName>
                                        </p:attrNameLst>
                                      </p:cBhvr>
                                      <p:tavLst>
                                        <p:tav tm="0">
                                          <p:val>
                                            <p:strVal val="#ppt_y+0.01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anim calcmode="lin" valueType="num">
                                      <p:cBhvr>
                                        <p:cTn id="18" dur="400" decel="100000" fill="hold"/>
                                        <p:tgtEl>
                                          <p:spTgt spid="11"/>
                                        </p:tgtEl>
                                        <p:attrNameLst>
                                          <p:attrName>ppt_x</p:attrName>
                                        </p:attrNameLst>
                                      </p:cBhvr>
                                      <p:tavLst>
                                        <p:tav tm="0">
                                          <p:val>
                                            <p:strVal val="#ppt_x"/>
                                          </p:val>
                                        </p:tav>
                                        <p:tav tm="100000">
                                          <p:val>
                                            <p:strVal val="#ppt_x"/>
                                          </p:val>
                                        </p:tav>
                                      </p:tavLst>
                                    </p:anim>
                                    <p:anim calcmode="lin" valueType="num">
                                      <p:cBhvr>
                                        <p:cTn id="19" dur="400" decel="100000" fill="hold"/>
                                        <p:tgtEl>
                                          <p:spTgt spid="11"/>
                                        </p:tgtEl>
                                        <p:attrNameLst>
                                          <p:attrName>ppt_y</p:attrName>
                                        </p:attrNameLst>
                                      </p:cBhvr>
                                      <p:tavLst>
                                        <p:tav tm="0">
                                          <p:val>
                                            <p:strVal val="#ppt_y+0.01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anim calcmode="lin" valueType="num">
                                      <p:cBhvr>
                                        <p:cTn id="23" dur="400" decel="100000" fill="hold"/>
                                        <p:tgtEl>
                                          <p:spTgt spid="12"/>
                                        </p:tgtEl>
                                        <p:attrNameLst>
                                          <p:attrName>ppt_x</p:attrName>
                                        </p:attrNameLst>
                                      </p:cBhvr>
                                      <p:tavLst>
                                        <p:tav tm="0">
                                          <p:val>
                                            <p:strVal val="#ppt_x"/>
                                          </p:val>
                                        </p:tav>
                                        <p:tav tm="100000">
                                          <p:val>
                                            <p:strVal val="#ppt_x"/>
                                          </p:val>
                                        </p:tav>
                                      </p:tavLst>
                                    </p:anim>
                                    <p:anim calcmode="lin" valueType="num">
                                      <p:cBhvr>
                                        <p:cTn id="24" dur="400" decel="100000" fill="hold"/>
                                        <p:tgtEl>
                                          <p:spTgt spid="12"/>
                                        </p:tgtEl>
                                        <p:attrNameLst>
                                          <p:attrName>ppt_y</p:attrName>
                                        </p:attrNameLst>
                                      </p:cBhvr>
                                      <p:tavLst>
                                        <p:tav tm="0">
                                          <p:val>
                                            <p:strVal val="#ppt_y+0.01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anim calcmode="lin" valueType="num">
                                      <p:cBhvr>
                                        <p:cTn id="28" dur="400" decel="100000" fill="hold"/>
                                        <p:tgtEl>
                                          <p:spTgt spid="13"/>
                                        </p:tgtEl>
                                        <p:attrNameLst>
                                          <p:attrName>ppt_x</p:attrName>
                                        </p:attrNameLst>
                                      </p:cBhvr>
                                      <p:tavLst>
                                        <p:tav tm="0">
                                          <p:val>
                                            <p:strVal val="#ppt_x"/>
                                          </p:val>
                                        </p:tav>
                                        <p:tav tm="100000">
                                          <p:val>
                                            <p:strVal val="#ppt_x"/>
                                          </p:val>
                                        </p:tav>
                                      </p:tavLst>
                                    </p:anim>
                                    <p:anim calcmode="lin" valueType="num">
                                      <p:cBhvr>
                                        <p:cTn id="29" dur="400" decel="100000" fill="hold"/>
                                        <p:tgtEl>
                                          <p:spTgt spid="13"/>
                                        </p:tgtEl>
                                        <p:attrNameLst>
                                          <p:attrName>ppt_y</p:attrName>
                                        </p:attrNameLst>
                                      </p:cBhvr>
                                      <p:tavLst>
                                        <p:tav tm="0">
                                          <p:val>
                                            <p:strVal val="#ppt_y+0.016"/>
                                          </p:val>
                                        </p:tav>
                                        <p:tav tm="100000">
                                          <p:val>
                                            <p:strVal val="#ppt_y"/>
                                          </p:val>
                                        </p:tav>
                                      </p:tavLst>
                                    </p:anim>
                                  </p:childTnLst>
                                </p:cTn>
                              </p:par>
                              <p:par>
                                <p:cTn id="30" presetID="42" presetClass="entr" presetSubtype="0" fill="hold" nodeType="withEffect">
                                  <p:stCondLst>
                                    <p:cond delay="8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anim calcmode="lin" valueType="num">
                                      <p:cBhvr>
                                        <p:cTn id="33" dur="400" decel="100000" fill="hold"/>
                                        <p:tgtEl>
                                          <p:spTgt spid="14"/>
                                        </p:tgtEl>
                                        <p:attrNameLst>
                                          <p:attrName>ppt_x</p:attrName>
                                        </p:attrNameLst>
                                      </p:cBhvr>
                                      <p:tavLst>
                                        <p:tav tm="0">
                                          <p:val>
                                            <p:strVal val="#ppt_x"/>
                                          </p:val>
                                        </p:tav>
                                        <p:tav tm="100000">
                                          <p:val>
                                            <p:strVal val="#ppt_x"/>
                                          </p:val>
                                        </p:tav>
                                      </p:tavLst>
                                    </p:anim>
                                    <p:anim calcmode="lin" valueType="num">
                                      <p:cBhvr>
                                        <p:cTn id="34" dur="400" decel="100000" fill="hold"/>
                                        <p:tgtEl>
                                          <p:spTgt spid="14"/>
                                        </p:tgtEl>
                                        <p:attrNameLst>
                                          <p:attrName>ppt_y</p:attrName>
                                        </p:attrNameLst>
                                      </p:cBhvr>
                                      <p:tavLst>
                                        <p:tav tm="0">
                                          <p:val>
                                            <p:strVal val="#ppt_y+0.016"/>
                                          </p:val>
                                        </p:tav>
                                        <p:tav tm="100000">
                                          <p:val>
                                            <p:strVal val="#ppt_y"/>
                                          </p:val>
                                        </p:tav>
                                      </p:tavLst>
                                    </p:anim>
                                  </p:childTnLst>
                                </p:cTn>
                              </p:par>
                              <p:par>
                                <p:cTn id="35" presetID="42" presetClass="entr" presetSubtype="0" fill="hold" grpId="0" nodeType="withEffect">
                                  <p:stCondLst>
                                    <p:cond delay="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anim calcmode="lin" valueType="num">
                                      <p:cBhvr>
                                        <p:cTn id="38" dur="400" decel="100000" fill="hold"/>
                                        <p:tgtEl>
                                          <p:spTgt spid="15"/>
                                        </p:tgtEl>
                                        <p:attrNameLst>
                                          <p:attrName>ppt_x</p:attrName>
                                        </p:attrNameLst>
                                      </p:cBhvr>
                                      <p:tavLst>
                                        <p:tav tm="0">
                                          <p:val>
                                            <p:strVal val="#ppt_x"/>
                                          </p:val>
                                        </p:tav>
                                        <p:tav tm="100000">
                                          <p:val>
                                            <p:strVal val="#ppt_x"/>
                                          </p:val>
                                        </p:tav>
                                      </p:tavLst>
                                    </p:anim>
                                    <p:anim calcmode="lin" valueType="num">
                                      <p:cBhvr>
                                        <p:cTn id="39" dur="400" decel="100000" fill="hold"/>
                                        <p:tgtEl>
                                          <p:spTgt spid="15"/>
                                        </p:tgtEl>
                                        <p:attrNameLst>
                                          <p:attrName>ppt_y</p:attrName>
                                        </p:attrNameLst>
                                      </p:cBhvr>
                                      <p:tavLst>
                                        <p:tav tm="0">
                                          <p:val>
                                            <p:strVal val="#ppt_y+0.016"/>
                                          </p:val>
                                        </p:tav>
                                        <p:tav tm="100000">
                                          <p:val>
                                            <p:strVal val="#ppt_y"/>
                                          </p:val>
                                        </p:tav>
                                      </p:tavLst>
                                    </p:anim>
                                  </p:childTnLst>
                                </p:cTn>
                              </p:par>
                              <p:par>
                                <p:cTn id="40" presetID="42" presetClass="entr" presetSubtype="0" fill="hold" grpId="0" nodeType="withEffect">
                                  <p:stCondLst>
                                    <p:cond delay="8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 calcmode="lin" valueType="num">
                                      <p:cBhvr>
                                        <p:cTn id="43" dur="400" decel="100000" fill="hold"/>
                                        <p:tgtEl>
                                          <p:spTgt spid="16"/>
                                        </p:tgtEl>
                                        <p:attrNameLst>
                                          <p:attrName>ppt_x</p:attrName>
                                        </p:attrNameLst>
                                      </p:cBhvr>
                                      <p:tavLst>
                                        <p:tav tm="0">
                                          <p:val>
                                            <p:strVal val="#ppt_x"/>
                                          </p:val>
                                        </p:tav>
                                        <p:tav tm="100000">
                                          <p:val>
                                            <p:strVal val="#ppt_x"/>
                                          </p:val>
                                        </p:tav>
                                      </p:tavLst>
                                    </p:anim>
                                    <p:anim calcmode="lin" valueType="num">
                                      <p:cBhvr>
                                        <p:cTn id="44" dur="400" decel="100000" fill="hold"/>
                                        <p:tgtEl>
                                          <p:spTgt spid="16"/>
                                        </p:tgtEl>
                                        <p:attrNameLst>
                                          <p:attrName>ppt_y</p:attrName>
                                        </p:attrNameLst>
                                      </p:cBhvr>
                                      <p:tavLst>
                                        <p:tav tm="0">
                                          <p:val>
                                            <p:strVal val="#ppt_y+0.016"/>
                                          </p:val>
                                        </p:tav>
                                        <p:tav tm="100000">
                                          <p:val>
                                            <p:strVal val="#ppt_y"/>
                                          </p:val>
                                        </p:tav>
                                      </p:tavLst>
                                    </p:anim>
                                  </p:childTnLst>
                                </p:cTn>
                              </p:par>
                              <p:par>
                                <p:cTn id="45" presetID="42" presetClass="entr" presetSubtype="0" fill="hold" grpId="0" nodeType="withEffect">
                                  <p:stCondLst>
                                    <p:cond delay="8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anim calcmode="lin" valueType="num">
                                      <p:cBhvr>
                                        <p:cTn id="48" dur="400" decel="100000" fill="hold"/>
                                        <p:tgtEl>
                                          <p:spTgt spid="17"/>
                                        </p:tgtEl>
                                        <p:attrNameLst>
                                          <p:attrName>ppt_x</p:attrName>
                                        </p:attrNameLst>
                                      </p:cBhvr>
                                      <p:tavLst>
                                        <p:tav tm="0">
                                          <p:val>
                                            <p:strVal val="#ppt_x"/>
                                          </p:val>
                                        </p:tav>
                                        <p:tav tm="100000">
                                          <p:val>
                                            <p:strVal val="#ppt_x"/>
                                          </p:val>
                                        </p:tav>
                                      </p:tavLst>
                                    </p:anim>
                                    <p:anim calcmode="lin" valueType="num">
                                      <p:cBhvr>
                                        <p:cTn id="49" dur="400" decel="100000" fill="hold"/>
                                        <p:tgtEl>
                                          <p:spTgt spid="17"/>
                                        </p:tgtEl>
                                        <p:attrNameLst>
                                          <p:attrName>ppt_y</p:attrName>
                                        </p:attrNameLst>
                                      </p:cBhvr>
                                      <p:tavLst>
                                        <p:tav tm="0">
                                          <p:val>
                                            <p:strVal val="#ppt_y+0.016"/>
                                          </p:val>
                                        </p:tav>
                                        <p:tav tm="100000">
                                          <p:val>
                                            <p:strVal val="#ppt_y"/>
                                          </p:val>
                                        </p:tav>
                                      </p:tavLst>
                                    </p:anim>
                                  </p:childTnLst>
                                </p:cTn>
                              </p:par>
                              <p:par>
                                <p:cTn id="50" presetID="42" presetClass="entr" presetSubtype="0" fill="hold" grpId="0" nodeType="withEffect">
                                  <p:stCondLst>
                                    <p:cond delay="8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anim calcmode="lin" valueType="num">
                                      <p:cBhvr>
                                        <p:cTn id="53" dur="400" decel="100000" fill="hold"/>
                                        <p:tgtEl>
                                          <p:spTgt spid="18"/>
                                        </p:tgtEl>
                                        <p:attrNameLst>
                                          <p:attrName>ppt_x</p:attrName>
                                        </p:attrNameLst>
                                      </p:cBhvr>
                                      <p:tavLst>
                                        <p:tav tm="0">
                                          <p:val>
                                            <p:strVal val="#ppt_x"/>
                                          </p:val>
                                        </p:tav>
                                        <p:tav tm="100000">
                                          <p:val>
                                            <p:strVal val="#ppt_x"/>
                                          </p:val>
                                        </p:tav>
                                      </p:tavLst>
                                    </p:anim>
                                    <p:anim calcmode="lin" valueType="num">
                                      <p:cBhvr>
                                        <p:cTn id="54" dur="400" decel="100000" fill="hold"/>
                                        <p:tgtEl>
                                          <p:spTgt spid="18"/>
                                        </p:tgtEl>
                                        <p:attrNameLst>
                                          <p:attrName>ppt_y</p:attrName>
                                        </p:attrNameLst>
                                      </p:cBhvr>
                                      <p:tavLst>
                                        <p:tav tm="0">
                                          <p:val>
                                            <p:strVal val="#ppt_y+0.016"/>
                                          </p:val>
                                        </p:tav>
                                        <p:tav tm="100000">
                                          <p:val>
                                            <p:strVal val="#ppt_y"/>
                                          </p:val>
                                        </p:tav>
                                      </p:tavLst>
                                    </p:anim>
                                  </p:childTnLst>
                                </p:cTn>
                              </p:par>
                              <p:par>
                                <p:cTn id="55" presetID="42" presetClass="entr" presetSubtype="0" fill="hold" nodeType="withEffect">
                                  <p:stCondLst>
                                    <p:cond delay="16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anim calcmode="lin" valueType="num">
                                      <p:cBhvr>
                                        <p:cTn id="58" dur="400" decel="100000" fill="hold"/>
                                        <p:tgtEl>
                                          <p:spTgt spid="19"/>
                                        </p:tgtEl>
                                        <p:attrNameLst>
                                          <p:attrName>ppt_x</p:attrName>
                                        </p:attrNameLst>
                                      </p:cBhvr>
                                      <p:tavLst>
                                        <p:tav tm="0">
                                          <p:val>
                                            <p:strVal val="#ppt_x"/>
                                          </p:val>
                                        </p:tav>
                                        <p:tav tm="100000">
                                          <p:val>
                                            <p:strVal val="#ppt_x"/>
                                          </p:val>
                                        </p:tav>
                                      </p:tavLst>
                                    </p:anim>
                                    <p:anim calcmode="lin" valueType="num">
                                      <p:cBhvr>
                                        <p:cTn id="59" dur="400" decel="100000" fill="hold"/>
                                        <p:tgtEl>
                                          <p:spTgt spid="19"/>
                                        </p:tgtEl>
                                        <p:attrNameLst>
                                          <p:attrName>ppt_y</p:attrName>
                                        </p:attrNameLst>
                                      </p:cBhvr>
                                      <p:tavLst>
                                        <p:tav tm="0">
                                          <p:val>
                                            <p:strVal val="#ppt_y+0.016"/>
                                          </p:val>
                                        </p:tav>
                                        <p:tav tm="100000">
                                          <p:val>
                                            <p:strVal val="#ppt_y"/>
                                          </p:val>
                                        </p:tav>
                                      </p:tavLst>
                                    </p:anim>
                                  </p:childTnLst>
                                </p:cTn>
                              </p:par>
                              <p:par>
                                <p:cTn id="60" presetID="42" presetClass="entr" presetSubtype="0" fill="hold" grpId="0" nodeType="withEffect">
                                  <p:stCondLst>
                                    <p:cond delay="16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00"/>
                                        <p:tgtEl>
                                          <p:spTgt spid="20"/>
                                        </p:tgtEl>
                                      </p:cBhvr>
                                    </p:animEffect>
                                    <p:anim calcmode="lin" valueType="num">
                                      <p:cBhvr>
                                        <p:cTn id="63" dur="400" decel="100000" fill="hold"/>
                                        <p:tgtEl>
                                          <p:spTgt spid="20"/>
                                        </p:tgtEl>
                                        <p:attrNameLst>
                                          <p:attrName>ppt_x</p:attrName>
                                        </p:attrNameLst>
                                      </p:cBhvr>
                                      <p:tavLst>
                                        <p:tav tm="0">
                                          <p:val>
                                            <p:strVal val="#ppt_x"/>
                                          </p:val>
                                        </p:tav>
                                        <p:tav tm="100000">
                                          <p:val>
                                            <p:strVal val="#ppt_x"/>
                                          </p:val>
                                        </p:tav>
                                      </p:tavLst>
                                    </p:anim>
                                    <p:anim calcmode="lin" valueType="num">
                                      <p:cBhvr>
                                        <p:cTn id="64" dur="400" decel="100000" fill="hold"/>
                                        <p:tgtEl>
                                          <p:spTgt spid="20"/>
                                        </p:tgtEl>
                                        <p:attrNameLst>
                                          <p:attrName>ppt_y</p:attrName>
                                        </p:attrNameLst>
                                      </p:cBhvr>
                                      <p:tavLst>
                                        <p:tav tm="0">
                                          <p:val>
                                            <p:strVal val="#ppt_y+0.016"/>
                                          </p:val>
                                        </p:tav>
                                        <p:tav tm="100000">
                                          <p:val>
                                            <p:strVal val="#ppt_y"/>
                                          </p:val>
                                        </p:tav>
                                      </p:tavLst>
                                    </p:anim>
                                  </p:childTnLst>
                                </p:cTn>
                              </p:par>
                              <p:par>
                                <p:cTn id="65" presetID="42" presetClass="entr" presetSubtype="0" fill="hold" grpId="0" nodeType="withEffect">
                                  <p:stCondLst>
                                    <p:cond delay="16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00"/>
                                        <p:tgtEl>
                                          <p:spTgt spid="21"/>
                                        </p:tgtEl>
                                      </p:cBhvr>
                                    </p:animEffect>
                                    <p:anim calcmode="lin" valueType="num">
                                      <p:cBhvr>
                                        <p:cTn id="68" dur="400" decel="100000" fill="hold"/>
                                        <p:tgtEl>
                                          <p:spTgt spid="21"/>
                                        </p:tgtEl>
                                        <p:attrNameLst>
                                          <p:attrName>ppt_x</p:attrName>
                                        </p:attrNameLst>
                                      </p:cBhvr>
                                      <p:tavLst>
                                        <p:tav tm="0">
                                          <p:val>
                                            <p:strVal val="#ppt_x"/>
                                          </p:val>
                                        </p:tav>
                                        <p:tav tm="100000">
                                          <p:val>
                                            <p:strVal val="#ppt_x"/>
                                          </p:val>
                                        </p:tav>
                                      </p:tavLst>
                                    </p:anim>
                                    <p:anim calcmode="lin" valueType="num">
                                      <p:cBhvr>
                                        <p:cTn id="69" dur="400" decel="100000" fill="hold"/>
                                        <p:tgtEl>
                                          <p:spTgt spid="21"/>
                                        </p:tgtEl>
                                        <p:attrNameLst>
                                          <p:attrName>ppt_y</p:attrName>
                                        </p:attrNameLst>
                                      </p:cBhvr>
                                      <p:tavLst>
                                        <p:tav tm="0">
                                          <p:val>
                                            <p:strVal val="#ppt_y+0.016"/>
                                          </p:val>
                                        </p:tav>
                                        <p:tav tm="100000">
                                          <p:val>
                                            <p:strVal val="#ppt_y"/>
                                          </p:val>
                                        </p:tav>
                                      </p:tavLst>
                                    </p:anim>
                                  </p:childTnLst>
                                </p:cTn>
                              </p:par>
                              <p:par>
                                <p:cTn id="70" presetID="42" presetClass="entr" presetSubtype="0" fill="hold" grpId="0" nodeType="withEffect">
                                  <p:stCondLst>
                                    <p:cond delay="16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400"/>
                                        <p:tgtEl>
                                          <p:spTgt spid="22"/>
                                        </p:tgtEl>
                                      </p:cBhvr>
                                    </p:animEffect>
                                    <p:anim calcmode="lin" valueType="num">
                                      <p:cBhvr>
                                        <p:cTn id="73" dur="400" decel="100000" fill="hold"/>
                                        <p:tgtEl>
                                          <p:spTgt spid="22"/>
                                        </p:tgtEl>
                                        <p:attrNameLst>
                                          <p:attrName>ppt_x</p:attrName>
                                        </p:attrNameLst>
                                      </p:cBhvr>
                                      <p:tavLst>
                                        <p:tav tm="0">
                                          <p:val>
                                            <p:strVal val="#ppt_x"/>
                                          </p:val>
                                        </p:tav>
                                        <p:tav tm="100000">
                                          <p:val>
                                            <p:strVal val="#ppt_x"/>
                                          </p:val>
                                        </p:tav>
                                      </p:tavLst>
                                    </p:anim>
                                    <p:anim calcmode="lin" valueType="num">
                                      <p:cBhvr>
                                        <p:cTn id="74" dur="400" decel="100000" fill="hold"/>
                                        <p:tgtEl>
                                          <p:spTgt spid="22"/>
                                        </p:tgtEl>
                                        <p:attrNameLst>
                                          <p:attrName>ppt_y</p:attrName>
                                        </p:attrNameLst>
                                      </p:cBhvr>
                                      <p:tavLst>
                                        <p:tav tm="0">
                                          <p:val>
                                            <p:strVal val="#ppt_y+0.016"/>
                                          </p:val>
                                        </p:tav>
                                        <p:tav tm="100000">
                                          <p:val>
                                            <p:strVal val="#ppt_y"/>
                                          </p:val>
                                        </p:tav>
                                      </p:tavLst>
                                    </p:anim>
                                  </p:childTnLst>
                                </p:cTn>
                              </p:par>
                              <p:par>
                                <p:cTn id="75" presetID="42" presetClass="entr" presetSubtype="0" fill="hold" grpId="0" nodeType="withEffect">
                                  <p:stCondLst>
                                    <p:cond delay="16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400"/>
                                        <p:tgtEl>
                                          <p:spTgt spid="23"/>
                                        </p:tgtEl>
                                      </p:cBhvr>
                                    </p:animEffect>
                                    <p:anim calcmode="lin" valueType="num">
                                      <p:cBhvr>
                                        <p:cTn id="78" dur="400" decel="100000" fill="hold"/>
                                        <p:tgtEl>
                                          <p:spTgt spid="23"/>
                                        </p:tgtEl>
                                        <p:attrNameLst>
                                          <p:attrName>ppt_x</p:attrName>
                                        </p:attrNameLst>
                                      </p:cBhvr>
                                      <p:tavLst>
                                        <p:tav tm="0">
                                          <p:val>
                                            <p:strVal val="#ppt_x"/>
                                          </p:val>
                                        </p:tav>
                                        <p:tav tm="100000">
                                          <p:val>
                                            <p:strVal val="#ppt_x"/>
                                          </p:val>
                                        </p:tav>
                                      </p:tavLst>
                                    </p:anim>
                                    <p:anim calcmode="lin" valueType="num">
                                      <p:cBhvr>
                                        <p:cTn id="79" dur="400" decel="100000" fill="hold"/>
                                        <p:tgtEl>
                                          <p:spTgt spid="23"/>
                                        </p:tgtEl>
                                        <p:attrNameLst>
                                          <p:attrName>ppt_y</p:attrName>
                                        </p:attrNameLst>
                                      </p:cBhvr>
                                      <p:tavLst>
                                        <p:tav tm="0">
                                          <p:val>
                                            <p:strVal val="#ppt_y+0.016"/>
                                          </p:val>
                                        </p:tav>
                                        <p:tav tm="100000">
                                          <p:val>
                                            <p:strVal val="#ppt_y"/>
                                          </p:val>
                                        </p:tav>
                                      </p:tavLst>
                                    </p:anim>
                                  </p:childTnLst>
                                </p:cTn>
                              </p:par>
                              <p:par>
                                <p:cTn id="80" presetID="42" presetClass="entr" presetSubtype="0" fill="hold" nodeType="withEffect">
                                  <p:stCondLst>
                                    <p:cond delay="24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400"/>
                                        <p:tgtEl>
                                          <p:spTgt spid="24"/>
                                        </p:tgtEl>
                                      </p:cBhvr>
                                    </p:animEffect>
                                    <p:anim calcmode="lin" valueType="num">
                                      <p:cBhvr>
                                        <p:cTn id="83" dur="400" decel="100000" fill="hold"/>
                                        <p:tgtEl>
                                          <p:spTgt spid="24"/>
                                        </p:tgtEl>
                                        <p:attrNameLst>
                                          <p:attrName>ppt_x</p:attrName>
                                        </p:attrNameLst>
                                      </p:cBhvr>
                                      <p:tavLst>
                                        <p:tav tm="0">
                                          <p:val>
                                            <p:strVal val="#ppt_x"/>
                                          </p:val>
                                        </p:tav>
                                        <p:tav tm="100000">
                                          <p:val>
                                            <p:strVal val="#ppt_x"/>
                                          </p:val>
                                        </p:tav>
                                      </p:tavLst>
                                    </p:anim>
                                    <p:anim calcmode="lin" valueType="num">
                                      <p:cBhvr>
                                        <p:cTn id="84" dur="400" decel="100000" fill="hold"/>
                                        <p:tgtEl>
                                          <p:spTgt spid="24"/>
                                        </p:tgtEl>
                                        <p:attrNameLst>
                                          <p:attrName>ppt_y</p:attrName>
                                        </p:attrNameLst>
                                      </p:cBhvr>
                                      <p:tavLst>
                                        <p:tav tm="0">
                                          <p:val>
                                            <p:strVal val="#ppt_y+0.016"/>
                                          </p:val>
                                        </p:tav>
                                        <p:tav tm="100000">
                                          <p:val>
                                            <p:strVal val="#ppt_y"/>
                                          </p:val>
                                        </p:tav>
                                      </p:tavLst>
                                    </p:anim>
                                  </p:childTnLst>
                                </p:cTn>
                              </p:par>
                              <p:par>
                                <p:cTn id="85" presetID="42" presetClass="entr" presetSubtype="0" fill="hold" grpId="0" nodeType="withEffect">
                                  <p:stCondLst>
                                    <p:cond delay="24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400"/>
                                        <p:tgtEl>
                                          <p:spTgt spid="25"/>
                                        </p:tgtEl>
                                      </p:cBhvr>
                                    </p:animEffect>
                                    <p:anim calcmode="lin" valueType="num">
                                      <p:cBhvr>
                                        <p:cTn id="88" dur="400" decel="100000" fill="hold"/>
                                        <p:tgtEl>
                                          <p:spTgt spid="25"/>
                                        </p:tgtEl>
                                        <p:attrNameLst>
                                          <p:attrName>ppt_x</p:attrName>
                                        </p:attrNameLst>
                                      </p:cBhvr>
                                      <p:tavLst>
                                        <p:tav tm="0">
                                          <p:val>
                                            <p:strVal val="#ppt_x"/>
                                          </p:val>
                                        </p:tav>
                                        <p:tav tm="100000">
                                          <p:val>
                                            <p:strVal val="#ppt_x"/>
                                          </p:val>
                                        </p:tav>
                                      </p:tavLst>
                                    </p:anim>
                                    <p:anim calcmode="lin" valueType="num">
                                      <p:cBhvr>
                                        <p:cTn id="89" dur="400" decel="100000" fill="hold"/>
                                        <p:tgtEl>
                                          <p:spTgt spid="25"/>
                                        </p:tgtEl>
                                        <p:attrNameLst>
                                          <p:attrName>ppt_y</p:attrName>
                                        </p:attrNameLst>
                                      </p:cBhvr>
                                      <p:tavLst>
                                        <p:tav tm="0">
                                          <p:val>
                                            <p:strVal val="#ppt_y+0.016"/>
                                          </p:val>
                                        </p:tav>
                                        <p:tav tm="100000">
                                          <p:val>
                                            <p:strVal val="#ppt_y"/>
                                          </p:val>
                                        </p:tav>
                                      </p:tavLst>
                                    </p:anim>
                                  </p:childTnLst>
                                </p:cTn>
                              </p:par>
                              <p:par>
                                <p:cTn id="90" presetID="42" presetClass="entr" presetSubtype="0" fill="hold" grpId="0" nodeType="withEffect">
                                  <p:stCondLst>
                                    <p:cond delay="24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400"/>
                                        <p:tgtEl>
                                          <p:spTgt spid="26"/>
                                        </p:tgtEl>
                                      </p:cBhvr>
                                    </p:animEffect>
                                    <p:anim calcmode="lin" valueType="num">
                                      <p:cBhvr>
                                        <p:cTn id="93" dur="400" decel="100000" fill="hold"/>
                                        <p:tgtEl>
                                          <p:spTgt spid="26"/>
                                        </p:tgtEl>
                                        <p:attrNameLst>
                                          <p:attrName>ppt_x</p:attrName>
                                        </p:attrNameLst>
                                      </p:cBhvr>
                                      <p:tavLst>
                                        <p:tav tm="0">
                                          <p:val>
                                            <p:strVal val="#ppt_x"/>
                                          </p:val>
                                        </p:tav>
                                        <p:tav tm="100000">
                                          <p:val>
                                            <p:strVal val="#ppt_x"/>
                                          </p:val>
                                        </p:tav>
                                      </p:tavLst>
                                    </p:anim>
                                    <p:anim calcmode="lin" valueType="num">
                                      <p:cBhvr>
                                        <p:cTn id="94" dur="400" decel="100000" fill="hold"/>
                                        <p:tgtEl>
                                          <p:spTgt spid="26"/>
                                        </p:tgtEl>
                                        <p:attrNameLst>
                                          <p:attrName>ppt_y</p:attrName>
                                        </p:attrNameLst>
                                      </p:cBhvr>
                                      <p:tavLst>
                                        <p:tav tm="0">
                                          <p:val>
                                            <p:strVal val="#ppt_y+0.016"/>
                                          </p:val>
                                        </p:tav>
                                        <p:tav tm="100000">
                                          <p:val>
                                            <p:strVal val="#ppt_y"/>
                                          </p:val>
                                        </p:tav>
                                      </p:tavLst>
                                    </p:anim>
                                  </p:childTnLst>
                                </p:cTn>
                              </p:par>
                              <p:par>
                                <p:cTn id="95" presetID="42" presetClass="entr" presetSubtype="0" fill="hold" grpId="0" nodeType="withEffect">
                                  <p:stCondLst>
                                    <p:cond delay="24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400"/>
                                        <p:tgtEl>
                                          <p:spTgt spid="27"/>
                                        </p:tgtEl>
                                      </p:cBhvr>
                                    </p:animEffect>
                                    <p:anim calcmode="lin" valueType="num">
                                      <p:cBhvr>
                                        <p:cTn id="98" dur="400" decel="100000" fill="hold"/>
                                        <p:tgtEl>
                                          <p:spTgt spid="27"/>
                                        </p:tgtEl>
                                        <p:attrNameLst>
                                          <p:attrName>ppt_x</p:attrName>
                                        </p:attrNameLst>
                                      </p:cBhvr>
                                      <p:tavLst>
                                        <p:tav tm="0">
                                          <p:val>
                                            <p:strVal val="#ppt_x"/>
                                          </p:val>
                                        </p:tav>
                                        <p:tav tm="100000">
                                          <p:val>
                                            <p:strVal val="#ppt_x"/>
                                          </p:val>
                                        </p:tav>
                                      </p:tavLst>
                                    </p:anim>
                                    <p:anim calcmode="lin" valueType="num">
                                      <p:cBhvr>
                                        <p:cTn id="99" dur="400" decel="100000" fill="hold"/>
                                        <p:tgtEl>
                                          <p:spTgt spid="27"/>
                                        </p:tgtEl>
                                        <p:attrNameLst>
                                          <p:attrName>ppt_y</p:attrName>
                                        </p:attrNameLst>
                                      </p:cBhvr>
                                      <p:tavLst>
                                        <p:tav tm="0">
                                          <p:val>
                                            <p:strVal val="#ppt_y+0.016"/>
                                          </p:val>
                                        </p:tav>
                                        <p:tav tm="100000">
                                          <p:val>
                                            <p:strVal val="#ppt_y"/>
                                          </p:val>
                                        </p:tav>
                                      </p:tavLst>
                                    </p:anim>
                                  </p:childTnLst>
                                </p:cTn>
                              </p:par>
                              <p:par>
                                <p:cTn id="100" presetID="42" presetClass="entr" presetSubtype="0" fill="hold" grpId="0" nodeType="withEffect">
                                  <p:stCondLst>
                                    <p:cond delay="24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400"/>
                                        <p:tgtEl>
                                          <p:spTgt spid="28"/>
                                        </p:tgtEl>
                                      </p:cBhvr>
                                    </p:animEffect>
                                    <p:anim calcmode="lin" valueType="num">
                                      <p:cBhvr>
                                        <p:cTn id="103" dur="400" decel="100000" fill="hold"/>
                                        <p:tgtEl>
                                          <p:spTgt spid="28"/>
                                        </p:tgtEl>
                                        <p:attrNameLst>
                                          <p:attrName>ppt_x</p:attrName>
                                        </p:attrNameLst>
                                      </p:cBhvr>
                                      <p:tavLst>
                                        <p:tav tm="0">
                                          <p:val>
                                            <p:strVal val="#ppt_x"/>
                                          </p:val>
                                        </p:tav>
                                        <p:tav tm="100000">
                                          <p:val>
                                            <p:strVal val="#ppt_x"/>
                                          </p:val>
                                        </p:tav>
                                      </p:tavLst>
                                    </p:anim>
                                    <p:anim calcmode="lin" valueType="num">
                                      <p:cBhvr>
                                        <p:cTn id="104" dur="400" decel="100000" fill="hold"/>
                                        <p:tgtEl>
                                          <p:spTgt spid="28"/>
                                        </p:tgtEl>
                                        <p:attrNameLst>
                                          <p:attrName>ppt_y</p:attrName>
                                        </p:attrNameLst>
                                      </p:cBhvr>
                                      <p:tavLst>
                                        <p:tav tm="0">
                                          <p:val>
                                            <p:strVal val="#ppt_y+0.01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xt_158"/>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02: LITERATURE</a:t>
            </a:r>
            <a:endParaRPr lang="en-US" sz="1100" dirty="0"/>
          </a:p>
        </p:txBody>
      </p:sp>
      <p:sp>
        <p:nvSpPr>
          <p:cNvPr id="3" name="kicker_159"/>
          <p:cNvSpPr txBox="1"/>
          <p:nvPr/>
        </p:nvSpPr>
        <p:spPr>
          <a:xfrm>
            <a:off x="457200" y="548640"/>
            <a:ext cx="753237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SURVEY 2/4 · WAYFINDING &amp; SOCIAL NAVIGATION</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Navigation research connects human needs to route decisions</a:t>
            </a:r>
            <a:endParaRPr lang="en-US" sz="4000" dirty="0"/>
          </a:p>
        </p:txBody>
      </p:sp>
      <p:sp>
        <p:nvSpPr>
          <p:cNvPr id="5" name="txt_160"/>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DECISION COLUMN = HOW EACH WORK SHAPED NAVI</a:t>
            </a:r>
            <a:endParaRPr lang="en-US" sz="1000" dirty="0"/>
          </a:p>
        </p:txBody>
      </p:sp>
      <p:sp>
        <p:nvSpPr>
          <p:cNvPr id="6" name="txt_161"/>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Full refs A01–A02 · matrix A03–A08</a:t>
            </a:r>
            <a:endParaRPr lang="en-US" sz="1000" dirty="0"/>
          </a:p>
        </p:txBody>
      </p:sp>
      <p:sp>
        <p:nvSpPr>
          <p:cNvPr id="7" name="txt_162"/>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[ 06 / 18 ]</a:t>
            </a:r>
            <a:endParaRPr lang="en-US" sz="1200" dirty="0"/>
          </a:p>
        </p:txBody>
      </p:sp>
      <p:sp>
        <p:nvSpPr>
          <p:cNvPr id="9" name="txt_163"/>
          <p:cNvSpPr txBox="1"/>
          <p:nvPr/>
        </p:nvSpPr>
        <p:spPr>
          <a:xfrm>
            <a:off x="548640" y="2148840"/>
            <a:ext cx="219456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WORK · YEAR</a:t>
            </a:r>
            <a:endParaRPr lang="en-US" sz="1100" dirty="0"/>
          </a:p>
        </p:txBody>
      </p:sp>
      <p:sp>
        <p:nvSpPr>
          <p:cNvPr id="10" name="txt_164"/>
          <p:cNvSpPr txBox="1"/>
          <p:nvPr/>
        </p:nvSpPr>
        <p:spPr>
          <a:xfrm>
            <a:off x="2834640" y="2148840"/>
            <a:ext cx="283464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METHOD &amp; CONTEXT</a:t>
            </a:r>
            <a:endParaRPr lang="en-US" sz="1100" dirty="0"/>
          </a:p>
        </p:txBody>
      </p:sp>
      <p:sp>
        <p:nvSpPr>
          <p:cNvPr id="11" name="txt_165"/>
          <p:cNvSpPr txBox="1"/>
          <p:nvPr/>
        </p:nvSpPr>
        <p:spPr>
          <a:xfrm>
            <a:off x="5760720" y="2148840"/>
            <a:ext cx="297180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REPORTED FINDING / LIMIT</a:t>
            </a:r>
            <a:endParaRPr lang="en-US" sz="1100" dirty="0"/>
          </a:p>
        </p:txBody>
      </p:sp>
      <p:sp>
        <p:nvSpPr>
          <p:cNvPr id="12" name="txt_166"/>
          <p:cNvSpPr txBox="1"/>
          <p:nvPr/>
        </p:nvSpPr>
        <p:spPr>
          <a:xfrm>
            <a:off x="8823960" y="2148840"/>
            <a:ext cx="2999232"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 NAVI DECISION</a:t>
            </a:r>
            <a:endParaRPr lang="en-US" sz="1100" dirty="0"/>
          </a:p>
        </p:txBody>
      </p:sp>
      <p:sp>
        <p:nvSpPr>
          <p:cNvPr id="13" name="box_167"/>
          <p:cNvSpPr/>
          <p:nvPr/>
        </p:nvSpPr>
        <p:spPr>
          <a:xfrm>
            <a:off x="457200" y="2423160"/>
            <a:ext cx="11277295" cy="877824"/>
          </a:xfrm>
          <a:prstGeom prst="roundRect">
            <a:avLst>
              <a:gd name="adj" fmla="val 6250"/>
            </a:avLst>
          </a:prstGeom>
          <a:solidFill>
            <a:srgbClr val="131C2E">
              <a:alpha val="78000"/>
            </a:srgbClr>
          </a:solidFill>
          <a:ln w="9525">
            <a:solidFill>
              <a:srgbClr val="00F0FF">
                <a:alpha val="22000"/>
              </a:srgbClr>
            </a:solidFill>
            <a:prstDash val="solid"/>
          </a:ln>
        </p:spPr>
      </p:sp>
      <p:sp>
        <p:nvSpPr>
          <p:cNvPr id="14" name="chip_168"/>
          <p:cNvSpPr txBox="1"/>
          <p:nvPr/>
        </p:nvSpPr>
        <p:spPr>
          <a:xfrm>
            <a:off x="548640" y="2514600"/>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U01</a:t>
            </a:r>
            <a:endParaRPr lang="en-US" sz="1000" dirty="0"/>
          </a:p>
        </p:txBody>
      </p:sp>
      <p:sp>
        <p:nvSpPr>
          <p:cNvPr id="15" name="txt_169"/>
          <p:cNvSpPr txBox="1"/>
          <p:nvPr/>
        </p:nvSpPr>
        <p:spPr>
          <a:xfrm>
            <a:off x="1088136" y="2514600"/>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16" name="txt_170"/>
          <p:cNvSpPr txBox="1"/>
          <p:nvPr/>
        </p:nvSpPr>
        <p:spPr>
          <a:xfrm>
            <a:off x="548640" y="2788920"/>
            <a:ext cx="2148840" cy="493776"/>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Landmarks aid wayfinding</a:t>
            </a:r>
            <a:endParaRPr lang="en-US" sz="1300" dirty="0"/>
          </a:p>
        </p:txBody>
      </p:sp>
      <p:sp>
        <p:nvSpPr>
          <p:cNvPr id="17" name="txt_171"/>
          <p:cNvSpPr txBox="1"/>
          <p:nvPr/>
        </p:nvSpPr>
        <p:spPr>
          <a:xfrm>
            <a:off x="2834640" y="2505456"/>
            <a:ext cx="272491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30 participants; landmark photos vs map screenshots vs paper map; 1.7 km route.</a:t>
            </a:r>
            <a:endParaRPr lang="en-US" sz="1400" dirty="0"/>
          </a:p>
        </p:txBody>
      </p:sp>
      <p:sp>
        <p:nvSpPr>
          <p:cNvPr id="18" name="txt_172"/>
          <p:cNvSpPr txBox="1"/>
          <p:nvPr/>
        </p:nvSpPr>
        <p:spPr>
          <a:xfrm>
            <a:off x="5760720" y="2505456"/>
            <a:ext cx="286207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Landmark group gained more initial survey knowledge. Small sample, paper aids.</a:t>
            </a:r>
            <a:endParaRPr lang="en-US" sz="1400" dirty="0"/>
          </a:p>
        </p:txBody>
      </p:sp>
      <p:sp>
        <p:nvSpPr>
          <p:cNvPr id="19" name="box_173"/>
          <p:cNvSpPr/>
          <p:nvPr/>
        </p:nvSpPr>
        <p:spPr>
          <a:xfrm>
            <a:off x="8732520" y="2468880"/>
            <a:ext cx="2953512" cy="786384"/>
          </a:xfrm>
          <a:prstGeom prst="roundRect">
            <a:avLst>
              <a:gd name="adj" fmla="val 6977"/>
            </a:avLst>
          </a:prstGeom>
          <a:solidFill>
            <a:srgbClr val="00F0FF">
              <a:alpha val="8000"/>
            </a:srgbClr>
          </a:solidFill>
          <a:ln/>
        </p:spPr>
      </p:sp>
      <p:sp>
        <p:nvSpPr>
          <p:cNvPr id="20" name="txt_174"/>
          <p:cNvSpPr txBox="1"/>
          <p:nvPr/>
        </p:nvSpPr>
        <p:spPr>
          <a:xfrm>
            <a:off x="8823960" y="2505456"/>
            <a:ext cx="281635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Proposed: arrival cue names the entrance or a visible landmark.</a:t>
            </a:r>
            <a:endParaRPr lang="en-US" sz="1400" dirty="0"/>
          </a:p>
        </p:txBody>
      </p:sp>
      <p:sp>
        <p:nvSpPr>
          <p:cNvPr id="21" name="box_175"/>
          <p:cNvSpPr/>
          <p:nvPr/>
        </p:nvSpPr>
        <p:spPr>
          <a:xfrm>
            <a:off x="457200" y="3374136"/>
            <a:ext cx="11277295" cy="877824"/>
          </a:xfrm>
          <a:prstGeom prst="roundRect">
            <a:avLst>
              <a:gd name="adj" fmla="val 6250"/>
            </a:avLst>
          </a:prstGeom>
          <a:solidFill>
            <a:srgbClr val="131C2E">
              <a:alpha val="78000"/>
            </a:srgbClr>
          </a:solidFill>
          <a:ln w="9525">
            <a:solidFill>
              <a:srgbClr val="00F0FF">
                <a:alpha val="22000"/>
              </a:srgbClr>
            </a:solidFill>
            <a:prstDash val="solid"/>
          </a:ln>
        </p:spPr>
      </p:sp>
      <p:sp>
        <p:nvSpPr>
          <p:cNvPr id="22" name="chip_176"/>
          <p:cNvSpPr txBox="1"/>
          <p:nvPr/>
        </p:nvSpPr>
        <p:spPr>
          <a:xfrm>
            <a:off x="548640" y="3465576"/>
            <a:ext cx="4663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U07</a:t>
            </a:r>
            <a:endParaRPr lang="en-US" sz="1000" dirty="0"/>
          </a:p>
        </p:txBody>
      </p:sp>
      <p:sp>
        <p:nvSpPr>
          <p:cNvPr id="23" name="txt_177"/>
          <p:cNvSpPr txBox="1"/>
          <p:nvPr/>
        </p:nvSpPr>
        <p:spPr>
          <a:xfrm>
            <a:off x="1088136" y="3465576"/>
            <a:ext cx="173736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2017 · FOUNDATIONAL</a:t>
            </a:r>
            <a:endParaRPr lang="en-US" sz="1000" dirty="0"/>
          </a:p>
        </p:txBody>
      </p:sp>
      <p:sp>
        <p:nvSpPr>
          <p:cNvPr id="24" name="txt_178"/>
          <p:cNvSpPr txBox="1"/>
          <p:nvPr/>
        </p:nvSpPr>
        <p:spPr>
          <a:xfrm>
            <a:off x="548640" y="3739896"/>
            <a:ext cx="2148840" cy="493776"/>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Landmarks from OSM data</a:t>
            </a:r>
            <a:endParaRPr lang="en-US" sz="1300" dirty="0"/>
          </a:p>
        </p:txBody>
      </p:sp>
      <p:sp>
        <p:nvSpPr>
          <p:cNvPr id="25" name="txt_179"/>
          <p:cNvSpPr txBox="1"/>
          <p:nvPr/>
        </p:nvSpPr>
        <p:spPr>
          <a:xfrm>
            <a:off x="2834640" y="3456432"/>
            <a:ext cx="272491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Server extracts salient OSM features for Android pedestrian instructions.</a:t>
            </a:r>
            <a:endParaRPr lang="en-US" sz="1400" dirty="0"/>
          </a:p>
        </p:txBody>
      </p:sp>
      <p:sp>
        <p:nvSpPr>
          <p:cNvPr id="26" name="txt_180"/>
          <p:cNvSpPr txBox="1"/>
          <p:nvPr/>
        </p:nvSpPr>
        <p:spPr>
          <a:xfrm>
            <a:off x="5760720" y="3456432"/>
            <a:ext cx="286207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Works where OSM is complete; weaker where completeness is low.</a:t>
            </a:r>
            <a:endParaRPr lang="en-US" sz="1400" dirty="0"/>
          </a:p>
        </p:txBody>
      </p:sp>
      <p:sp>
        <p:nvSpPr>
          <p:cNvPr id="27" name="box_181"/>
          <p:cNvSpPr/>
          <p:nvPr/>
        </p:nvSpPr>
        <p:spPr>
          <a:xfrm>
            <a:off x="8732520" y="3419856"/>
            <a:ext cx="2953512" cy="786384"/>
          </a:xfrm>
          <a:prstGeom prst="roundRect">
            <a:avLst>
              <a:gd name="adj" fmla="val 6977"/>
            </a:avLst>
          </a:prstGeom>
          <a:solidFill>
            <a:srgbClr val="00F0FF">
              <a:alpha val="8000"/>
            </a:srgbClr>
          </a:solidFill>
          <a:ln/>
        </p:spPr>
      </p:sp>
      <p:sp>
        <p:nvSpPr>
          <p:cNvPr id="28" name="txt_182"/>
          <p:cNvSpPr txBox="1"/>
          <p:nvPr/>
        </p:nvSpPr>
        <p:spPr>
          <a:xfrm>
            <a:off x="8823960" y="3456432"/>
            <a:ext cx="281635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OSM supplies only the boundary; routes come from the wayfinder graph.</a:t>
            </a:r>
            <a:endParaRPr lang="en-US" sz="1400" dirty="0"/>
          </a:p>
        </p:txBody>
      </p:sp>
      <p:sp>
        <p:nvSpPr>
          <p:cNvPr id="29" name="box_183"/>
          <p:cNvSpPr/>
          <p:nvPr/>
        </p:nvSpPr>
        <p:spPr>
          <a:xfrm>
            <a:off x="457200" y="4325112"/>
            <a:ext cx="11277295" cy="877824"/>
          </a:xfrm>
          <a:prstGeom prst="roundRect">
            <a:avLst>
              <a:gd name="adj" fmla="val 6250"/>
            </a:avLst>
          </a:prstGeom>
          <a:solidFill>
            <a:srgbClr val="131C2E">
              <a:alpha val="78000"/>
            </a:srgbClr>
          </a:solidFill>
          <a:ln w="9525">
            <a:solidFill>
              <a:srgbClr val="00F0FF">
                <a:alpha val="22000"/>
              </a:srgbClr>
            </a:solidFill>
            <a:prstDash val="solid"/>
          </a:ln>
        </p:spPr>
      </p:sp>
      <p:sp>
        <p:nvSpPr>
          <p:cNvPr id="30" name="chip_184"/>
          <p:cNvSpPr txBox="1"/>
          <p:nvPr/>
        </p:nvSpPr>
        <p:spPr>
          <a:xfrm>
            <a:off x="548640" y="4416552"/>
            <a:ext cx="4663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U08</a:t>
            </a:r>
            <a:endParaRPr lang="en-US" sz="1000" dirty="0"/>
          </a:p>
        </p:txBody>
      </p:sp>
      <p:sp>
        <p:nvSpPr>
          <p:cNvPr id="31" name="txt_185"/>
          <p:cNvSpPr txBox="1"/>
          <p:nvPr/>
        </p:nvSpPr>
        <p:spPr>
          <a:xfrm>
            <a:off x="1088136" y="4416552"/>
            <a:ext cx="173736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2016 · FOUNDATIONAL</a:t>
            </a:r>
            <a:endParaRPr lang="en-US" sz="1000" dirty="0"/>
          </a:p>
        </p:txBody>
      </p:sp>
      <p:sp>
        <p:nvSpPr>
          <p:cNvPr id="32" name="txt_186"/>
          <p:cNvSpPr txBox="1"/>
          <p:nvPr/>
        </p:nvSpPr>
        <p:spPr>
          <a:xfrm>
            <a:off x="548640" y="4690872"/>
            <a:ext cx="2148840" cy="493776"/>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Selçuk campus navigation</a:t>
            </a:r>
            <a:endParaRPr lang="en-US" sz="1300" dirty="0"/>
          </a:p>
        </p:txBody>
      </p:sp>
      <p:sp>
        <p:nvSpPr>
          <p:cNvPr id="33" name="txt_187"/>
          <p:cNvSpPr txBox="1"/>
          <p:nvPr/>
        </p:nvSpPr>
        <p:spPr>
          <a:xfrm>
            <a:off x="2834640" y="4407408"/>
            <a:ext cx="272491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Campus app with Voronoi landmark orientation; 14 first-time visitors surveyed.</a:t>
            </a:r>
            <a:endParaRPr lang="en-US" sz="1400" dirty="0"/>
          </a:p>
        </p:txBody>
      </p:sp>
      <p:sp>
        <p:nvSpPr>
          <p:cNvPr id="34" name="txt_188"/>
          <p:cNvSpPr txBox="1"/>
          <p:nvPr/>
        </p:nvSpPr>
        <p:spPr>
          <a:xfrm>
            <a:off x="5760720" y="4407408"/>
            <a:ext cx="286207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Users judged it useful and found the highlighted landmarks. Questionnaire only.</a:t>
            </a:r>
            <a:endParaRPr lang="en-US" sz="1400" dirty="0"/>
          </a:p>
        </p:txBody>
      </p:sp>
      <p:sp>
        <p:nvSpPr>
          <p:cNvPr id="35" name="box_189"/>
          <p:cNvSpPr/>
          <p:nvPr/>
        </p:nvSpPr>
        <p:spPr>
          <a:xfrm>
            <a:off x="8732520" y="4370832"/>
            <a:ext cx="2953512" cy="786384"/>
          </a:xfrm>
          <a:prstGeom prst="roundRect">
            <a:avLst>
              <a:gd name="adj" fmla="val 6977"/>
            </a:avLst>
          </a:prstGeom>
          <a:solidFill>
            <a:srgbClr val="00F0FF">
              <a:alpha val="8000"/>
            </a:srgbClr>
          </a:solidFill>
          <a:ln/>
        </p:spPr>
      </p:sp>
      <p:sp>
        <p:nvSpPr>
          <p:cNvPr id="36" name="txt_190"/>
          <p:cNvSpPr txBox="1"/>
          <p:nvPr/>
        </p:nvSpPr>
        <p:spPr>
          <a:xfrm>
            <a:off x="8823960" y="4407408"/>
            <a:ext cx="281635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First-time campus visitors are a valid target group for NAVI trials.</a:t>
            </a:r>
            <a:endParaRPr lang="en-US" sz="1400" dirty="0"/>
          </a:p>
        </p:txBody>
      </p:sp>
      <p:sp>
        <p:nvSpPr>
          <p:cNvPr id="37" name="box_191"/>
          <p:cNvSpPr/>
          <p:nvPr/>
        </p:nvSpPr>
        <p:spPr>
          <a:xfrm>
            <a:off x="457200" y="5276088"/>
            <a:ext cx="11277295" cy="877824"/>
          </a:xfrm>
          <a:prstGeom prst="roundRect">
            <a:avLst>
              <a:gd name="adj" fmla="val 6250"/>
            </a:avLst>
          </a:prstGeom>
          <a:solidFill>
            <a:srgbClr val="131C2E">
              <a:alpha val="78000"/>
            </a:srgbClr>
          </a:solidFill>
          <a:ln w="9525">
            <a:solidFill>
              <a:srgbClr val="00F0FF">
                <a:alpha val="22000"/>
              </a:srgbClr>
            </a:solidFill>
            <a:prstDash val="solid"/>
          </a:ln>
        </p:spPr>
      </p:sp>
      <p:sp>
        <p:nvSpPr>
          <p:cNvPr id="38" name="chip_192"/>
          <p:cNvSpPr txBox="1"/>
          <p:nvPr/>
        </p:nvSpPr>
        <p:spPr>
          <a:xfrm>
            <a:off x="548640" y="5367528"/>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S03</a:t>
            </a:r>
            <a:endParaRPr lang="en-US" sz="1000" dirty="0"/>
          </a:p>
        </p:txBody>
      </p:sp>
      <p:sp>
        <p:nvSpPr>
          <p:cNvPr id="39" name="txt_193"/>
          <p:cNvSpPr txBox="1"/>
          <p:nvPr/>
        </p:nvSpPr>
        <p:spPr>
          <a:xfrm>
            <a:off x="1088136" y="5367528"/>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40" name="txt_194"/>
          <p:cNvSpPr txBox="1"/>
          <p:nvPr/>
        </p:nvSpPr>
        <p:spPr>
          <a:xfrm>
            <a:off x="548640" y="5641848"/>
            <a:ext cx="2148840" cy="493776"/>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Socially aware navigation</a:t>
            </a:r>
            <a:endParaRPr lang="en-US" sz="1300" dirty="0"/>
          </a:p>
        </p:txBody>
      </p:sp>
      <p:sp>
        <p:nvSpPr>
          <p:cNvPr id="41" name="txt_195"/>
          <p:cNvSpPr txBox="1"/>
          <p:nvPr/>
        </p:nvSpPr>
        <p:spPr>
          <a:xfrm>
            <a:off x="2834640" y="5358384"/>
            <a:ext cx="272491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Taxonomies: robot type, planning, situation awareness, evaluation tools.</a:t>
            </a:r>
            <a:endParaRPr lang="en-US" sz="1400" dirty="0"/>
          </a:p>
        </p:txBody>
      </p:sp>
      <p:sp>
        <p:nvSpPr>
          <p:cNvPr id="42" name="txt_196"/>
          <p:cNvSpPr txBox="1"/>
          <p:nvPr/>
        </p:nvSpPr>
        <p:spPr>
          <a:xfrm>
            <a:off x="5760720" y="5358384"/>
            <a:ext cx="286207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Mostly ground robots; rotor noise and wind can lower perceived safety.</a:t>
            </a:r>
            <a:endParaRPr lang="en-US" sz="1400" dirty="0"/>
          </a:p>
        </p:txBody>
      </p:sp>
      <p:sp>
        <p:nvSpPr>
          <p:cNvPr id="43" name="box_197"/>
          <p:cNvSpPr/>
          <p:nvPr/>
        </p:nvSpPr>
        <p:spPr>
          <a:xfrm>
            <a:off x="8732520" y="5321808"/>
            <a:ext cx="2953512" cy="786384"/>
          </a:xfrm>
          <a:prstGeom prst="roundRect">
            <a:avLst>
              <a:gd name="adj" fmla="val 6977"/>
            </a:avLst>
          </a:prstGeom>
          <a:solidFill>
            <a:srgbClr val="00F0FF">
              <a:alpha val="8000"/>
            </a:srgbClr>
          </a:solidFill>
          <a:ln/>
        </p:spPr>
      </p:sp>
      <p:sp>
        <p:nvSpPr>
          <p:cNvPr id="44" name="txt_198"/>
          <p:cNvSpPr txBox="1"/>
          <p:nvPr/>
        </p:nvSpPr>
        <p:spPr>
          <a:xfrm>
            <a:off x="8823960" y="5358384"/>
            <a:ext cx="2816352" cy="749808"/>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Treat altitude and noise as comfort variables; pair metrics with user ratings.</a:t>
            </a:r>
            <a:endParaRPr lang="en-US" sz="14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00"/>
                                        <p:tgtEl>
                                          <p:spTgt spid="12"/>
                                        </p:tgtEl>
                                      </p:cBhvr>
                                    </p:animEffect>
                                  </p:childTnLst>
                                </p:cTn>
                              </p:par>
                            </p:childTnLst>
                          </p:cTn>
                        </p:par>
                        <p:par>
                          <p:cTn id="17" fill="hold">
                            <p:stCondLst>
                              <p:cond delay="300"/>
                            </p:stCondLst>
                            <p:childTnLst>
                              <p:par>
                                <p:cTn id="18" presetID="42"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300"/>
                                        <p:tgtEl>
                                          <p:spTgt spid="13"/>
                                        </p:tgtEl>
                                      </p:cBhvr>
                                    </p:animEffect>
                                    <p:anim calcmode="lin" valueType="num">
                                      <p:cBhvr>
                                        <p:cTn id="21" dur="300" decel="100000" fill="hold"/>
                                        <p:tgtEl>
                                          <p:spTgt spid="13"/>
                                        </p:tgtEl>
                                        <p:attrNameLst>
                                          <p:attrName>ppt_x</p:attrName>
                                        </p:attrNameLst>
                                      </p:cBhvr>
                                      <p:tavLst>
                                        <p:tav tm="0">
                                          <p:val>
                                            <p:strVal val="#ppt_x"/>
                                          </p:val>
                                        </p:tav>
                                        <p:tav tm="100000">
                                          <p:val>
                                            <p:strVal val="#ppt_x"/>
                                          </p:val>
                                        </p:tav>
                                      </p:tavLst>
                                    </p:anim>
                                    <p:anim calcmode="lin" valueType="num">
                                      <p:cBhvr>
                                        <p:cTn id="22" dur="300" decel="100000" fill="hold"/>
                                        <p:tgtEl>
                                          <p:spTgt spid="13"/>
                                        </p:tgtEl>
                                        <p:attrNameLst>
                                          <p:attrName>ppt_y</p:attrName>
                                        </p:attrNameLst>
                                      </p:cBhvr>
                                      <p:tavLst>
                                        <p:tav tm="0">
                                          <p:val>
                                            <p:strVal val="#ppt_y+0.01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anim calcmode="lin" valueType="num">
                                      <p:cBhvr>
                                        <p:cTn id="26" dur="300" decel="100000" fill="hold"/>
                                        <p:tgtEl>
                                          <p:spTgt spid="14"/>
                                        </p:tgtEl>
                                        <p:attrNameLst>
                                          <p:attrName>ppt_x</p:attrName>
                                        </p:attrNameLst>
                                      </p:cBhvr>
                                      <p:tavLst>
                                        <p:tav tm="0">
                                          <p:val>
                                            <p:strVal val="#ppt_x"/>
                                          </p:val>
                                        </p:tav>
                                        <p:tav tm="100000">
                                          <p:val>
                                            <p:strVal val="#ppt_x"/>
                                          </p:val>
                                        </p:tav>
                                      </p:tavLst>
                                    </p:anim>
                                    <p:anim calcmode="lin" valueType="num">
                                      <p:cBhvr>
                                        <p:cTn id="27" dur="300" decel="100000" fill="hold"/>
                                        <p:tgtEl>
                                          <p:spTgt spid="14"/>
                                        </p:tgtEl>
                                        <p:attrNameLst>
                                          <p:attrName>ppt_y</p:attrName>
                                        </p:attrNameLst>
                                      </p:cBhvr>
                                      <p:tavLst>
                                        <p:tav tm="0">
                                          <p:val>
                                            <p:strVal val="#ppt_y+0.01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anim calcmode="lin" valueType="num">
                                      <p:cBhvr>
                                        <p:cTn id="31" dur="300" decel="100000" fill="hold"/>
                                        <p:tgtEl>
                                          <p:spTgt spid="15"/>
                                        </p:tgtEl>
                                        <p:attrNameLst>
                                          <p:attrName>ppt_x</p:attrName>
                                        </p:attrNameLst>
                                      </p:cBhvr>
                                      <p:tavLst>
                                        <p:tav tm="0">
                                          <p:val>
                                            <p:strVal val="#ppt_x"/>
                                          </p:val>
                                        </p:tav>
                                        <p:tav tm="100000">
                                          <p:val>
                                            <p:strVal val="#ppt_x"/>
                                          </p:val>
                                        </p:tav>
                                      </p:tavLst>
                                    </p:anim>
                                    <p:anim calcmode="lin" valueType="num">
                                      <p:cBhvr>
                                        <p:cTn id="32" dur="300" decel="100000" fill="hold"/>
                                        <p:tgtEl>
                                          <p:spTgt spid="15"/>
                                        </p:tgtEl>
                                        <p:attrNameLst>
                                          <p:attrName>ppt_y</p:attrName>
                                        </p:attrNameLst>
                                      </p:cBhvr>
                                      <p:tavLst>
                                        <p:tav tm="0">
                                          <p:val>
                                            <p:strVal val="#ppt_y+0.01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00"/>
                                        <p:tgtEl>
                                          <p:spTgt spid="16"/>
                                        </p:tgtEl>
                                      </p:cBhvr>
                                    </p:animEffect>
                                    <p:anim calcmode="lin" valueType="num">
                                      <p:cBhvr>
                                        <p:cTn id="36" dur="300" decel="100000" fill="hold"/>
                                        <p:tgtEl>
                                          <p:spTgt spid="16"/>
                                        </p:tgtEl>
                                        <p:attrNameLst>
                                          <p:attrName>ppt_x</p:attrName>
                                        </p:attrNameLst>
                                      </p:cBhvr>
                                      <p:tavLst>
                                        <p:tav tm="0">
                                          <p:val>
                                            <p:strVal val="#ppt_x"/>
                                          </p:val>
                                        </p:tav>
                                        <p:tav tm="100000">
                                          <p:val>
                                            <p:strVal val="#ppt_x"/>
                                          </p:val>
                                        </p:tav>
                                      </p:tavLst>
                                    </p:anim>
                                    <p:anim calcmode="lin" valueType="num">
                                      <p:cBhvr>
                                        <p:cTn id="37" dur="300" decel="100000" fill="hold"/>
                                        <p:tgtEl>
                                          <p:spTgt spid="16"/>
                                        </p:tgtEl>
                                        <p:attrNameLst>
                                          <p:attrName>ppt_y</p:attrName>
                                        </p:attrNameLst>
                                      </p:cBhvr>
                                      <p:tavLst>
                                        <p:tav tm="0">
                                          <p:val>
                                            <p:strVal val="#ppt_y+0.01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anim calcmode="lin" valueType="num">
                                      <p:cBhvr>
                                        <p:cTn id="41" dur="300" decel="100000" fill="hold"/>
                                        <p:tgtEl>
                                          <p:spTgt spid="17"/>
                                        </p:tgtEl>
                                        <p:attrNameLst>
                                          <p:attrName>ppt_x</p:attrName>
                                        </p:attrNameLst>
                                      </p:cBhvr>
                                      <p:tavLst>
                                        <p:tav tm="0">
                                          <p:val>
                                            <p:strVal val="#ppt_x"/>
                                          </p:val>
                                        </p:tav>
                                        <p:tav tm="100000">
                                          <p:val>
                                            <p:strVal val="#ppt_x"/>
                                          </p:val>
                                        </p:tav>
                                      </p:tavLst>
                                    </p:anim>
                                    <p:anim calcmode="lin" valueType="num">
                                      <p:cBhvr>
                                        <p:cTn id="42" dur="300" decel="100000" fill="hold"/>
                                        <p:tgtEl>
                                          <p:spTgt spid="17"/>
                                        </p:tgtEl>
                                        <p:attrNameLst>
                                          <p:attrName>ppt_y</p:attrName>
                                        </p:attrNameLst>
                                      </p:cBhvr>
                                      <p:tavLst>
                                        <p:tav tm="0">
                                          <p:val>
                                            <p:strVal val="#ppt_y+0.01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anim calcmode="lin" valueType="num">
                                      <p:cBhvr>
                                        <p:cTn id="46" dur="300" decel="100000" fill="hold"/>
                                        <p:tgtEl>
                                          <p:spTgt spid="18"/>
                                        </p:tgtEl>
                                        <p:attrNameLst>
                                          <p:attrName>ppt_x</p:attrName>
                                        </p:attrNameLst>
                                      </p:cBhvr>
                                      <p:tavLst>
                                        <p:tav tm="0">
                                          <p:val>
                                            <p:strVal val="#ppt_x"/>
                                          </p:val>
                                        </p:tav>
                                        <p:tav tm="100000">
                                          <p:val>
                                            <p:strVal val="#ppt_x"/>
                                          </p:val>
                                        </p:tav>
                                      </p:tavLst>
                                    </p:anim>
                                    <p:anim calcmode="lin" valueType="num">
                                      <p:cBhvr>
                                        <p:cTn id="47" dur="300" decel="100000" fill="hold"/>
                                        <p:tgtEl>
                                          <p:spTgt spid="18"/>
                                        </p:tgtEl>
                                        <p:attrNameLst>
                                          <p:attrName>ppt_y</p:attrName>
                                        </p:attrNameLst>
                                      </p:cBhvr>
                                      <p:tavLst>
                                        <p:tav tm="0">
                                          <p:val>
                                            <p:strVal val="#ppt_y+0.016"/>
                                          </p:val>
                                        </p:tav>
                                        <p:tav tm="100000">
                                          <p:val>
                                            <p:strVal val="#ppt_y"/>
                                          </p:val>
                                        </p:tav>
                                      </p:tavLst>
                                    </p:anim>
                                  </p:childTnLst>
                                </p:cTn>
                              </p:par>
                            </p:childTnLst>
                          </p:cTn>
                        </p:par>
                        <p:par>
                          <p:cTn id="48" fill="hold">
                            <p:stCondLst>
                              <p:cond delay="600"/>
                            </p:stCondLst>
                            <p:childTnLst>
                              <p:par>
                                <p:cTn id="49" presetID="42" presetClass="entr" presetSubtype="0"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00"/>
                                        <p:tgtEl>
                                          <p:spTgt spid="21"/>
                                        </p:tgtEl>
                                      </p:cBhvr>
                                    </p:animEffect>
                                    <p:anim calcmode="lin" valueType="num">
                                      <p:cBhvr>
                                        <p:cTn id="52" dur="300" decel="100000" fill="hold"/>
                                        <p:tgtEl>
                                          <p:spTgt spid="21"/>
                                        </p:tgtEl>
                                        <p:attrNameLst>
                                          <p:attrName>ppt_x</p:attrName>
                                        </p:attrNameLst>
                                      </p:cBhvr>
                                      <p:tavLst>
                                        <p:tav tm="0">
                                          <p:val>
                                            <p:strVal val="#ppt_x"/>
                                          </p:val>
                                        </p:tav>
                                        <p:tav tm="100000">
                                          <p:val>
                                            <p:strVal val="#ppt_x"/>
                                          </p:val>
                                        </p:tav>
                                      </p:tavLst>
                                    </p:anim>
                                    <p:anim calcmode="lin" valueType="num">
                                      <p:cBhvr>
                                        <p:cTn id="53" dur="300" decel="100000" fill="hold"/>
                                        <p:tgtEl>
                                          <p:spTgt spid="21"/>
                                        </p:tgtEl>
                                        <p:attrNameLst>
                                          <p:attrName>ppt_y</p:attrName>
                                        </p:attrNameLst>
                                      </p:cBhvr>
                                      <p:tavLst>
                                        <p:tav tm="0">
                                          <p:val>
                                            <p:strVal val="#ppt_y+0.01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p:tgtEl>
                                          <p:spTgt spid="22"/>
                                        </p:tgtEl>
                                      </p:cBhvr>
                                    </p:animEffect>
                                    <p:anim calcmode="lin" valueType="num">
                                      <p:cBhvr>
                                        <p:cTn id="57" dur="300" decel="100000" fill="hold"/>
                                        <p:tgtEl>
                                          <p:spTgt spid="22"/>
                                        </p:tgtEl>
                                        <p:attrNameLst>
                                          <p:attrName>ppt_x</p:attrName>
                                        </p:attrNameLst>
                                      </p:cBhvr>
                                      <p:tavLst>
                                        <p:tav tm="0">
                                          <p:val>
                                            <p:strVal val="#ppt_x"/>
                                          </p:val>
                                        </p:tav>
                                        <p:tav tm="100000">
                                          <p:val>
                                            <p:strVal val="#ppt_x"/>
                                          </p:val>
                                        </p:tav>
                                      </p:tavLst>
                                    </p:anim>
                                    <p:anim calcmode="lin" valueType="num">
                                      <p:cBhvr>
                                        <p:cTn id="58" dur="300" decel="100000" fill="hold"/>
                                        <p:tgtEl>
                                          <p:spTgt spid="22"/>
                                        </p:tgtEl>
                                        <p:attrNameLst>
                                          <p:attrName>ppt_y</p:attrName>
                                        </p:attrNameLst>
                                      </p:cBhvr>
                                      <p:tavLst>
                                        <p:tav tm="0">
                                          <p:val>
                                            <p:strVal val="#ppt_y+0.01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anim calcmode="lin" valueType="num">
                                      <p:cBhvr>
                                        <p:cTn id="62" dur="300" decel="100000" fill="hold"/>
                                        <p:tgtEl>
                                          <p:spTgt spid="23"/>
                                        </p:tgtEl>
                                        <p:attrNameLst>
                                          <p:attrName>ppt_x</p:attrName>
                                        </p:attrNameLst>
                                      </p:cBhvr>
                                      <p:tavLst>
                                        <p:tav tm="0">
                                          <p:val>
                                            <p:strVal val="#ppt_x"/>
                                          </p:val>
                                        </p:tav>
                                        <p:tav tm="100000">
                                          <p:val>
                                            <p:strVal val="#ppt_x"/>
                                          </p:val>
                                        </p:tav>
                                      </p:tavLst>
                                    </p:anim>
                                    <p:anim calcmode="lin" valueType="num">
                                      <p:cBhvr>
                                        <p:cTn id="63" dur="300" decel="100000" fill="hold"/>
                                        <p:tgtEl>
                                          <p:spTgt spid="23"/>
                                        </p:tgtEl>
                                        <p:attrNameLst>
                                          <p:attrName>ppt_y</p:attrName>
                                        </p:attrNameLst>
                                      </p:cBhvr>
                                      <p:tavLst>
                                        <p:tav tm="0">
                                          <p:val>
                                            <p:strVal val="#ppt_y+0.01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300"/>
                                        <p:tgtEl>
                                          <p:spTgt spid="24"/>
                                        </p:tgtEl>
                                      </p:cBhvr>
                                    </p:animEffect>
                                    <p:anim calcmode="lin" valueType="num">
                                      <p:cBhvr>
                                        <p:cTn id="67" dur="300" decel="100000" fill="hold"/>
                                        <p:tgtEl>
                                          <p:spTgt spid="24"/>
                                        </p:tgtEl>
                                        <p:attrNameLst>
                                          <p:attrName>ppt_x</p:attrName>
                                        </p:attrNameLst>
                                      </p:cBhvr>
                                      <p:tavLst>
                                        <p:tav tm="0">
                                          <p:val>
                                            <p:strVal val="#ppt_x"/>
                                          </p:val>
                                        </p:tav>
                                        <p:tav tm="100000">
                                          <p:val>
                                            <p:strVal val="#ppt_x"/>
                                          </p:val>
                                        </p:tav>
                                      </p:tavLst>
                                    </p:anim>
                                    <p:anim calcmode="lin" valueType="num">
                                      <p:cBhvr>
                                        <p:cTn id="68" dur="300" decel="100000" fill="hold"/>
                                        <p:tgtEl>
                                          <p:spTgt spid="24"/>
                                        </p:tgtEl>
                                        <p:attrNameLst>
                                          <p:attrName>ppt_y</p:attrName>
                                        </p:attrNameLst>
                                      </p:cBhvr>
                                      <p:tavLst>
                                        <p:tav tm="0">
                                          <p:val>
                                            <p:strVal val="#ppt_y+0.01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anim calcmode="lin" valueType="num">
                                      <p:cBhvr>
                                        <p:cTn id="72" dur="300" decel="100000" fill="hold"/>
                                        <p:tgtEl>
                                          <p:spTgt spid="25"/>
                                        </p:tgtEl>
                                        <p:attrNameLst>
                                          <p:attrName>ppt_x</p:attrName>
                                        </p:attrNameLst>
                                      </p:cBhvr>
                                      <p:tavLst>
                                        <p:tav tm="0">
                                          <p:val>
                                            <p:strVal val="#ppt_x"/>
                                          </p:val>
                                        </p:tav>
                                        <p:tav tm="100000">
                                          <p:val>
                                            <p:strVal val="#ppt_x"/>
                                          </p:val>
                                        </p:tav>
                                      </p:tavLst>
                                    </p:anim>
                                    <p:anim calcmode="lin" valueType="num">
                                      <p:cBhvr>
                                        <p:cTn id="73" dur="300" decel="100000" fill="hold"/>
                                        <p:tgtEl>
                                          <p:spTgt spid="25"/>
                                        </p:tgtEl>
                                        <p:attrNameLst>
                                          <p:attrName>ppt_y</p:attrName>
                                        </p:attrNameLst>
                                      </p:cBhvr>
                                      <p:tavLst>
                                        <p:tav tm="0">
                                          <p:val>
                                            <p:strVal val="#ppt_y+0.016"/>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00"/>
                                        <p:tgtEl>
                                          <p:spTgt spid="26"/>
                                        </p:tgtEl>
                                      </p:cBhvr>
                                    </p:animEffect>
                                    <p:anim calcmode="lin" valueType="num">
                                      <p:cBhvr>
                                        <p:cTn id="77" dur="300" decel="100000" fill="hold"/>
                                        <p:tgtEl>
                                          <p:spTgt spid="26"/>
                                        </p:tgtEl>
                                        <p:attrNameLst>
                                          <p:attrName>ppt_x</p:attrName>
                                        </p:attrNameLst>
                                      </p:cBhvr>
                                      <p:tavLst>
                                        <p:tav tm="0">
                                          <p:val>
                                            <p:strVal val="#ppt_x"/>
                                          </p:val>
                                        </p:tav>
                                        <p:tav tm="100000">
                                          <p:val>
                                            <p:strVal val="#ppt_x"/>
                                          </p:val>
                                        </p:tav>
                                      </p:tavLst>
                                    </p:anim>
                                    <p:anim calcmode="lin" valueType="num">
                                      <p:cBhvr>
                                        <p:cTn id="78" dur="300" decel="100000" fill="hold"/>
                                        <p:tgtEl>
                                          <p:spTgt spid="26"/>
                                        </p:tgtEl>
                                        <p:attrNameLst>
                                          <p:attrName>ppt_y</p:attrName>
                                        </p:attrNameLst>
                                      </p:cBhvr>
                                      <p:tavLst>
                                        <p:tav tm="0">
                                          <p:val>
                                            <p:strVal val="#ppt_y+0.016"/>
                                          </p:val>
                                        </p:tav>
                                        <p:tav tm="100000">
                                          <p:val>
                                            <p:strVal val="#ppt_y"/>
                                          </p:val>
                                        </p:tav>
                                      </p:tavLst>
                                    </p:anim>
                                  </p:childTnLst>
                                </p:cTn>
                              </p:par>
                            </p:childTnLst>
                          </p:cTn>
                        </p:par>
                        <p:par>
                          <p:cTn id="79" fill="hold">
                            <p:stCondLst>
                              <p:cond delay="900"/>
                            </p:stCondLst>
                            <p:childTnLst>
                              <p:par>
                                <p:cTn id="80" presetID="42" presetClass="entr" presetSubtype="0" fill="hold" nodeType="after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300"/>
                                        <p:tgtEl>
                                          <p:spTgt spid="29"/>
                                        </p:tgtEl>
                                      </p:cBhvr>
                                    </p:animEffect>
                                    <p:anim calcmode="lin" valueType="num">
                                      <p:cBhvr>
                                        <p:cTn id="83" dur="300" decel="100000" fill="hold"/>
                                        <p:tgtEl>
                                          <p:spTgt spid="29"/>
                                        </p:tgtEl>
                                        <p:attrNameLst>
                                          <p:attrName>ppt_x</p:attrName>
                                        </p:attrNameLst>
                                      </p:cBhvr>
                                      <p:tavLst>
                                        <p:tav tm="0">
                                          <p:val>
                                            <p:strVal val="#ppt_x"/>
                                          </p:val>
                                        </p:tav>
                                        <p:tav tm="100000">
                                          <p:val>
                                            <p:strVal val="#ppt_x"/>
                                          </p:val>
                                        </p:tav>
                                      </p:tavLst>
                                    </p:anim>
                                    <p:anim calcmode="lin" valueType="num">
                                      <p:cBhvr>
                                        <p:cTn id="84" dur="300" decel="100000" fill="hold"/>
                                        <p:tgtEl>
                                          <p:spTgt spid="29"/>
                                        </p:tgtEl>
                                        <p:attrNameLst>
                                          <p:attrName>ppt_y</p:attrName>
                                        </p:attrNameLst>
                                      </p:cBhvr>
                                      <p:tavLst>
                                        <p:tav tm="0">
                                          <p:val>
                                            <p:strVal val="#ppt_y+0.01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300"/>
                                        <p:tgtEl>
                                          <p:spTgt spid="30"/>
                                        </p:tgtEl>
                                      </p:cBhvr>
                                    </p:animEffect>
                                    <p:anim calcmode="lin" valueType="num">
                                      <p:cBhvr>
                                        <p:cTn id="88" dur="300" decel="100000" fill="hold"/>
                                        <p:tgtEl>
                                          <p:spTgt spid="30"/>
                                        </p:tgtEl>
                                        <p:attrNameLst>
                                          <p:attrName>ppt_x</p:attrName>
                                        </p:attrNameLst>
                                      </p:cBhvr>
                                      <p:tavLst>
                                        <p:tav tm="0">
                                          <p:val>
                                            <p:strVal val="#ppt_x"/>
                                          </p:val>
                                        </p:tav>
                                        <p:tav tm="100000">
                                          <p:val>
                                            <p:strVal val="#ppt_x"/>
                                          </p:val>
                                        </p:tav>
                                      </p:tavLst>
                                    </p:anim>
                                    <p:anim calcmode="lin" valueType="num">
                                      <p:cBhvr>
                                        <p:cTn id="89" dur="300" decel="100000" fill="hold"/>
                                        <p:tgtEl>
                                          <p:spTgt spid="30"/>
                                        </p:tgtEl>
                                        <p:attrNameLst>
                                          <p:attrName>ppt_y</p:attrName>
                                        </p:attrNameLst>
                                      </p:cBhvr>
                                      <p:tavLst>
                                        <p:tav tm="0">
                                          <p:val>
                                            <p:strVal val="#ppt_y+0.01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300"/>
                                        <p:tgtEl>
                                          <p:spTgt spid="31"/>
                                        </p:tgtEl>
                                      </p:cBhvr>
                                    </p:animEffect>
                                    <p:anim calcmode="lin" valueType="num">
                                      <p:cBhvr>
                                        <p:cTn id="93" dur="300" decel="100000" fill="hold"/>
                                        <p:tgtEl>
                                          <p:spTgt spid="31"/>
                                        </p:tgtEl>
                                        <p:attrNameLst>
                                          <p:attrName>ppt_x</p:attrName>
                                        </p:attrNameLst>
                                      </p:cBhvr>
                                      <p:tavLst>
                                        <p:tav tm="0">
                                          <p:val>
                                            <p:strVal val="#ppt_x"/>
                                          </p:val>
                                        </p:tav>
                                        <p:tav tm="100000">
                                          <p:val>
                                            <p:strVal val="#ppt_x"/>
                                          </p:val>
                                        </p:tav>
                                      </p:tavLst>
                                    </p:anim>
                                    <p:anim calcmode="lin" valueType="num">
                                      <p:cBhvr>
                                        <p:cTn id="94" dur="300" decel="100000" fill="hold"/>
                                        <p:tgtEl>
                                          <p:spTgt spid="31"/>
                                        </p:tgtEl>
                                        <p:attrNameLst>
                                          <p:attrName>ppt_y</p:attrName>
                                        </p:attrNameLst>
                                      </p:cBhvr>
                                      <p:tavLst>
                                        <p:tav tm="0">
                                          <p:val>
                                            <p:strVal val="#ppt_y+0.01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300"/>
                                        <p:tgtEl>
                                          <p:spTgt spid="32"/>
                                        </p:tgtEl>
                                      </p:cBhvr>
                                    </p:animEffect>
                                    <p:anim calcmode="lin" valueType="num">
                                      <p:cBhvr>
                                        <p:cTn id="98" dur="300" decel="100000" fill="hold"/>
                                        <p:tgtEl>
                                          <p:spTgt spid="32"/>
                                        </p:tgtEl>
                                        <p:attrNameLst>
                                          <p:attrName>ppt_x</p:attrName>
                                        </p:attrNameLst>
                                      </p:cBhvr>
                                      <p:tavLst>
                                        <p:tav tm="0">
                                          <p:val>
                                            <p:strVal val="#ppt_x"/>
                                          </p:val>
                                        </p:tav>
                                        <p:tav tm="100000">
                                          <p:val>
                                            <p:strVal val="#ppt_x"/>
                                          </p:val>
                                        </p:tav>
                                      </p:tavLst>
                                    </p:anim>
                                    <p:anim calcmode="lin" valueType="num">
                                      <p:cBhvr>
                                        <p:cTn id="99" dur="300" decel="100000" fill="hold"/>
                                        <p:tgtEl>
                                          <p:spTgt spid="32"/>
                                        </p:tgtEl>
                                        <p:attrNameLst>
                                          <p:attrName>ppt_y</p:attrName>
                                        </p:attrNameLst>
                                      </p:cBhvr>
                                      <p:tavLst>
                                        <p:tav tm="0">
                                          <p:val>
                                            <p:strVal val="#ppt_y+0.01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300"/>
                                        <p:tgtEl>
                                          <p:spTgt spid="33"/>
                                        </p:tgtEl>
                                      </p:cBhvr>
                                    </p:animEffect>
                                    <p:anim calcmode="lin" valueType="num">
                                      <p:cBhvr>
                                        <p:cTn id="103" dur="300" decel="100000" fill="hold"/>
                                        <p:tgtEl>
                                          <p:spTgt spid="33"/>
                                        </p:tgtEl>
                                        <p:attrNameLst>
                                          <p:attrName>ppt_x</p:attrName>
                                        </p:attrNameLst>
                                      </p:cBhvr>
                                      <p:tavLst>
                                        <p:tav tm="0">
                                          <p:val>
                                            <p:strVal val="#ppt_x"/>
                                          </p:val>
                                        </p:tav>
                                        <p:tav tm="100000">
                                          <p:val>
                                            <p:strVal val="#ppt_x"/>
                                          </p:val>
                                        </p:tav>
                                      </p:tavLst>
                                    </p:anim>
                                    <p:anim calcmode="lin" valueType="num">
                                      <p:cBhvr>
                                        <p:cTn id="104" dur="300" decel="100000" fill="hold"/>
                                        <p:tgtEl>
                                          <p:spTgt spid="33"/>
                                        </p:tgtEl>
                                        <p:attrNameLst>
                                          <p:attrName>ppt_y</p:attrName>
                                        </p:attrNameLst>
                                      </p:cBhvr>
                                      <p:tavLst>
                                        <p:tav tm="0">
                                          <p:val>
                                            <p:strVal val="#ppt_y+0.01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300"/>
                                        <p:tgtEl>
                                          <p:spTgt spid="34"/>
                                        </p:tgtEl>
                                      </p:cBhvr>
                                    </p:animEffect>
                                    <p:anim calcmode="lin" valueType="num">
                                      <p:cBhvr>
                                        <p:cTn id="108" dur="300" decel="100000" fill="hold"/>
                                        <p:tgtEl>
                                          <p:spTgt spid="34"/>
                                        </p:tgtEl>
                                        <p:attrNameLst>
                                          <p:attrName>ppt_x</p:attrName>
                                        </p:attrNameLst>
                                      </p:cBhvr>
                                      <p:tavLst>
                                        <p:tav tm="0">
                                          <p:val>
                                            <p:strVal val="#ppt_x"/>
                                          </p:val>
                                        </p:tav>
                                        <p:tav tm="100000">
                                          <p:val>
                                            <p:strVal val="#ppt_x"/>
                                          </p:val>
                                        </p:tav>
                                      </p:tavLst>
                                    </p:anim>
                                    <p:anim calcmode="lin" valueType="num">
                                      <p:cBhvr>
                                        <p:cTn id="109" dur="300" decel="100000" fill="hold"/>
                                        <p:tgtEl>
                                          <p:spTgt spid="34"/>
                                        </p:tgtEl>
                                        <p:attrNameLst>
                                          <p:attrName>ppt_y</p:attrName>
                                        </p:attrNameLst>
                                      </p:cBhvr>
                                      <p:tavLst>
                                        <p:tav tm="0">
                                          <p:val>
                                            <p:strVal val="#ppt_y+0.016"/>
                                          </p:val>
                                        </p:tav>
                                        <p:tav tm="100000">
                                          <p:val>
                                            <p:strVal val="#ppt_y"/>
                                          </p:val>
                                        </p:tav>
                                      </p:tavLst>
                                    </p:anim>
                                  </p:childTnLst>
                                </p:cTn>
                              </p:par>
                            </p:childTnLst>
                          </p:cTn>
                        </p:par>
                        <p:par>
                          <p:cTn id="110" fill="hold">
                            <p:stCondLst>
                              <p:cond delay="1200"/>
                            </p:stCondLst>
                            <p:childTnLst>
                              <p:par>
                                <p:cTn id="111" presetID="42" presetClass="entr" presetSubtype="0" fill="hold" nodeType="after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3" dur="300"/>
                                        <p:tgtEl>
                                          <p:spTgt spid="37"/>
                                        </p:tgtEl>
                                      </p:cBhvr>
                                    </p:animEffect>
                                    <p:anim calcmode="lin" valueType="num">
                                      <p:cBhvr>
                                        <p:cTn id="114" dur="300" decel="100000" fill="hold"/>
                                        <p:tgtEl>
                                          <p:spTgt spid="37"/>
                                        </p:tgtEl>
                                        <p:attrNameLst>
                                          <p:attrName>ppt_x</p:attrName>
                                        </p:attrNameLst>
                                      </p:cBhvr>
                                      <p:tavLst>
                                        <p:tav tm="0">
                                          <p:val>
                                            <p:strVal val="#ppt_x"/>
                                          </p:val>
                                        </p:tav>
                                        <p:tav tm="100000">
                                          <p:val>
                                            <p:strVal val="#ppt_x"/>
                                          </p:val>
                                        </p:tav>
                                      </p:tavLst>
                                    </p:anim>
                                    <p:anim calcmode="lin" valueType="num">
                                      <p:cBhvr>
                                        <p:cTn id="115" dur="300" decel="100000" fill="hold"/>
                                        <p:tgtEl>
                                          <p:spTgt spid="37"/>
                                        </p:tgtEl>
                                        <p:attrNameLst>
                                          <p:attrName>ppt_y</p:attrName>
                                        </p:attrNameLst>
                                      </p:cBhvr>
                                      <p:tavLst>
                                        <p:tav tm="0">
                                          <p:val>
                                            <p:strVal val="#ppt_y+0.016"/>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300"/>
                                        <p:tgtEl>
                                          <p:spTgt spid="38"/>
                                        </p:tgtEl>
                                      </p:cBhvr>
                                    </p:animEffect>
                                    <p:anim calcmode="lin" valueType="num">
                                      <p:cBhvr>
                                        <p:cTn id="119" dur="300" decel="100000" fill="hold"/>
                                        <p:tgtEl>
                                          <p:spTgt spid="38"/>
                                        </p:tgtEl>
                                        <p:attrNameLst>
                                          <p:attrName>ppt_x</p:attrName>
                                        </p:attrNameLst>
                                      </p:cBhvr>
                                      <p:tavLst>
                                        <p:tav tm="0">
                                          <p:val>
                                            <p:strVal val="#ppt_x"/>
                                          </p:val>
                                        </p:tav>
                                        <p:tav tm="100000">
                                          <p:val>
                                            <p:strVal val="#ppt_x"/>
                                          </p:val>
                                        </p:tav>
                                      </p:tavLst>
                                    </p:anim>
                                    <p:anim calcmode="lin" valueType="num">
                                      <p:cBhvr>
                                        <p:cTn id="120" dur="300" decel="100000" fill="hold"/>
                                        <p:tgtEl>
                                          <p:spTgt spid="38"/>
                                        </p:tgtEl>
                                        <p:attrNameLst>
                                          <p:attrName>ppt_y</p:attrName>
                                        </p:attrNameLst>
                                      </p:cBhvr>
                                      <p:tavLst>
                                        <p:tav tm="0">
                                          <p:val>
                                            <p:strVal val="#ppt_y+0.016"/>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300"/>
                                        <p:tgtEl>
                                          <p:spTgt spid="39"/>
                                        </p:tgtEl>
                                      </p:cBhvr>
                                    </p:animEffect>
                                    <p:anim calcmode="lin" valueType="num">
                                      <p:cBhvr>
                                        <p:cTn id="124" dur="300" decel="100000" fill="hold"/>
                                        <p:tgtEl>
                                          <p:spTgt spid="39"/>
                                        </p:tgtEl>
                                        <p:attrNameLst>
                                          <p:attrName>ppt_x</p:attrName>
                                        </p:attrNameLst>
                                      </p:cBhvr>
                                      <p:tavLst>
                                        <p:tav tm="0">
                                          <p:val>
                                            <p:strVal val="#ppt_x"/>
                                          </p:val>
                                        </p:tav>
                                        <p:tav tm="100000">
                                          <p:val>
                                            <p:strVal val="#ppt_x"/>
                                          </p:val>
                                        </p:tav>
                                      </p:tavLst>
                                    </p:anim>
                                    <p:anim calcmode="lin" valueType="num">
                                      <p:cBhvr>
                                        <p:cTn id="125" dur="300" decel="100000" fill="hold"/>
                                        <p:tgtEl>
                                          <p:spTgt spid="39"/>
                                        </p:tgtEl>
                                        <p:attrNameLst>
                                          <p:attrName>ppt_y</p:attrName>
                                        </p:attrNameLst>
                                      </p:cBhvr>
                                      <p:tavLst>
                                        <p:tav tm="0">
                                          <p:val>
                                            <p:strVal val="#ppt_y+0.016"/>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fade">
                                      <p:cBhvr>
                                        <p:cTn id="128" dur="300"/>
                                        <p:tgtEl>
                                          <p:spTgt spid="40"/>
                                        </p:tgtEl>
                                      </p:cBhvr>
                                    </p:animEffect>
                                    <p:anim calcmode="lin" valueType="num">
                                      <p:cBhvr>
                                        <p:cTn id="129" dur="300" decel="100000" fill="hold"/>
                                        <p:tgtEl>
                                          <p:spTgt spid="40"/>
                                        </p:tgtEl>
                                        <p:attrNameLst>
                                          <p:attrName>ppt_x</p:attrName>
                                        </p:attrNameLst>
                                      </p:cBhvr>
                                      <p:tavLst>
                                        <p:tav tm="0">
                                          <p:val>
                                            <p:strVal val="#ppt_x"/>
                                          </p:val>
                                        </p:tav>
                                        <p:tav tm="100000">
                                          <p:val>
                                            <p:strVal val="#ppt_x"/>
                                          </p:val>
                                        </p:tav>
                                      </p:tavLst>
                                    </p:anim>
                                    <p:anim calcmode="lin" valueType="num">
                                      <p:cBhvr>
                                        <p:cTn id="130" dur="300" decel="100000" fill="hold"/>
                                        <p:tgtEl>
                                          <p:spTgt spid="40"/>
                                        </p:tgtEl>
                                        <p:attrNameLst>
                                          <p:attrName>ppt_y</p:attrName>
                                        </p:attrNameLst>
                                      </p:cBhvr>
                                      <p:tavLst>
                                        <p:tav tm="0">
                                          <p:val>
                                            <p:strVal val="#ppt_y+0.016"/>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41"/>
                                        </p:tgtEl>
                                        <p:attrNameLst>
                                          <p:attrName>style.visibility</p:attrName>
                                        </p:attrNameLst>
                                      </p:cBhvr>
                                      <p:to>
                                        <p:strVal val="visible"/>
                                      </p:to>
                                    </p:set>
                                    <p:animEffect transition="in" filter="fade">
                                      <p:cBhvr>
                                        <p:cTn id="133" dur="300"/>
                                        <p:tgtEl>
                                          <p:spTgt spid="41"/>
                                        </p:tgtEl>
                                      </p:cBhvr>
                                    </p:animEffect>
                                    <p:anim calcmode="lin" valueType="num">
                                      <p:cBhvr>
                                        <p:cTn id="134" dur="300" decel="100000" fill="hold"/>
                                        <p:tgtEl>
                                          <p:spTgt spid="41"/>
                                        </p:tgtEl>
                                        <p:attrNameLst>
                                          <p:attrName>ppt_x</p:attrName>
                                        </p:attrNameLst>
                                      </p:cBhvr>
                                      <p:tavLst>
                                        <p:tav tm="0">
                                          <p:val>
                                            <p:strVal val="#ppt_x"/>
                                          </p:val>
                                        </p:tav>
                                        <p:tav tm="100000">
                                          <p:val>
                                            <p:strVal val="#ppt_x"/>
                                          </p:val>
                                        </p:tav>
                                      </p:tavLst>
                                    </p:anim>
                                    <p:anim calcmode="lin" valueType="num">
                                      <p:cBhvr>
                                        <p:cTn id="135" dur="300" decel="100000" fill="hold"/>
                                        <p:tgtEl>
                                          <p:spTgt spid="41"/>
                                        </p:tgtEl>
                                        <p:attrNameLst>
                                          <p:attrName>ppt_y</p:attrName>
                                        </p:attrNameLst>
                                      </p:cBhvr>
                                      <p:tavLst>
                                        <p:tav tm="0">
                                          <p:val>
                                            <p:strVal val="#ppt_y+0.016"/>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42"/>
                                        </p:tgtEl>
                                        <p:attrNameLst>
                                          <p:attrName>style.visibility</p:attrName>
                                        </p:attrNameLst>
                                      </p:cBhvr>
                                      <p:to>
                                        <p:strVal val="visible"/>
                                      </p:to>
                                    </p:set>
                                    <p:animEffect transition="in" filter="fade">
                                      <p:cBhvr>
                                        <p:cTn id="138" dur="300"/>
                                        <p:tgtEl>
                                          <p:spTgt spid="42"/>
                                        </p:tgtEl>
                                      </p:cBhvr>
                                    </p:animEffect>
                                    <p:anim calcmode="lin" valueType="num">
                                      <p:cBhvr>
                                        <p:cTn id="139" dur="300" decel="100000" fill="hold"/>
                                        <p:tgtEl>
                                          <p:spTgt spid="42"/>
                                        </p:tgtEl>
                                        <p:attrNameLst>
                                          <p:attrName>ppt_x</p:attrName>
                                        </p:attrNameLst>
                                      </p:cBhvr>
                                      <p:tavLst>
                                        <p:tav tm="0">
                                          <p:val>
                                            <p:strVal val="#ppt_x"/>
                                          </p:val>
                                        </p:tav>
                                        <p:tav tm="100000">
                                          <p:val>
                                            <p:strVal val="#ppt_x"/>
                                          </p:val>
                                        </p:tav>
                                      </p:tavLst>
                                    </p:anim>
                                    <p:anim calcmode="lin" valueType="num">
                                      <p:cBhvr>
                                        <p:cTn id="140" dur="300" decel="100000" fill="hold"/>
                                        <p:tgtEl>
                                          <p:spTgt spid="42"/>
                                        </p:tgtEl>
                                        <p:attrNameLst>
                                          <p:attrName>ppt_y</p:attrName>
                                        </p:attrNameLst>
                                      </p:cBhvr>
                                      <p:tavLst>
                                        <p:tav tm="0">
                                          <p:val>
                                            <p:strVal val="#ppt_y+0.016"/>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nodeType="clickEffect">
                                  <p:stCondLst>
                                    <p:cond delay="0"/>
                                  </p:stCondLst>
                                  <p:childTnLst>
                                    <p:set>
                                      <p:cBhvr>
                                        <p:cTn id="144" dur="1" fill="hold">
                                          <p:stCondLst>
                                            <p:cond delay="0"/>
                                          </p:stCondLst>
                                        </p:cTn>
                                        <p:tgtEl>
                                          <p:spTgt spid="19"/>
                                        </p:tgtEl>
                                        <p:attrNameLst>
                                          <p:attrName>style.visibility</p:attrName>
                                        </p:attrNameLst>
                                      </p:cBhvr>
                                      <p:to>
                                        <p:strVal val="visible"/>
                                      </p:to>
                                    </p:set>
                                    <p:animEffect transition="in" filter="wipe(left)">
                                      <p:cBhvr>
                                        <p:cTn id="145" dur="400"/>
                                        <p:tgtEl>
                                          <p:spTgt spid="19"/>
                                        </p:tgtEl>
                                      </p:cBhvr>
                                    </p:animEffect>
                                  </p:childTnLst>
                                </p:cTn>
                              </p:par>
                              <p:par>
                                <p:cTn id="146" presetID="22" presetClass="entr" presetSubtype="8" fill="hold" grpId="0" nodeType="withEffect">
                                  <p:stCondLst>
                                    <p:cond delay="0"/>
                                  </p:stCondLst>
                                  <p:childTnLst>
                                    <p:set>
                                      <p:cBhvr>
                                        <p:cTn id="147" dur="1" fill="hold">
                                          <p:stCondLst>
                                            <p:cond delay="0"/>
                                          </p:stCondLst>
                                        </p:cTn>
                                        <p:tgtEl>
                                          <p:spTgt spid="20"/>
                                        </p:tgtEl>
                                        <p:attrNameLst>
                                          <p:attrName>style.visibility</p:attrName>
                                        </p:attrNameLst>
                                      </p:cBhvr>
                                      <p:to>
                                        <p:strVal val="visible"/>
                                      </p:to>
                                    </p:set>
                                    <p:animEffect transition="in" filter="wipe(left)">
                                      <p:cBhvr>
                                        <p:cTn id="148" dur="400"/>
                                        <p:tgtEl>
                                          <p:spTgt spid="20"/>
                                        </p:tgtEl>
                                      </p:cBhvr>
                                    </p:animEffect>
                                  </p:childTnLst>
                                </p:cTn>
                              </p:par>
                              <p:par>
                                <p:cTn id="149" presetID="22" presetClass="entr" presetSubtype="8" fill="hold" nodeType="withEffect">
                                  <p:stCondLst>
                                    <p:cond delay="0"/>
                                  </p:stCondLst>
                                  <p:childTnLst>
                                    <p:set>
                                      <p:cBhvr>
                                        <p:cTn id="150" dur="1" fill="hold">
                                          <p:stCondLst>
                                            <p:cond delay="0"/>
                                          </p:stCondLst>
                                        </p:cTn>
                                        <p:tgtEl>
                                          <p:spTgt spid="27"/>
                                        </p:tgtEl>
                                        <p:attrNameLst>
                                          <p:attrName>style.visibility</p:attrName>
                                        </p:attrNameLst>
                                      </p:cBhvr>
                                      <p:to>
                                        <p:strVal val="visible"/>
                                      </p:to>
                                    </p:set>
                                    <p:animEffect transition="in" filter="wipe(left)">
                                      <p:cBhvr>
                                        <p:cTn id="151" dur="400"/>
                                        <p:tgtEl>
                                          <p:spTgt spid="27"/>
                                        </p:tgtEl>
                                      </p:cBhvr>
                                    </p:animEffect>
                                  </p:childTnLst>
                                </p:cTn>
                              </p:par>
                              <p:par>
                                <p:cTn id="152" presetID="22" presetClass="entr" presetSubtype="8" fill="hold" grpId="0" nodeType="withEffect">
                                  <p:stCondLst>
                                    <p:cond delay="0"/>
                                  </p:stCondLst>
                                  <p:childTnLst>
                                    <p:set>
                                      <p:cBhvr>
                                        <p:cTn id="153" dur="1" fill="hold">
                                          <p:stCondLst>
                                            <p:cond delay="0"/>
                                          </p:stCondLst>
                                        </p:cTn>
                                        <p:tgtEl>
                                          <p:spTgt spid="28"/>
                                        </p:tgtEl>
                                        <p:attrNameLst>
                                          <p:attrName>style.visibility</p:attrName>
                                        </p:attrNameLst>
                                      </p:cBhvr>
                                      <p:to>
                                        <p:strVal val="visible"/>
                                      </p:to>
                                    </p:set>
                                    <p:animEffect transition="in" filter="wipe(left)">
                                      <p:cBhvr>
                                        <p:cTn id="154" dur="400"/>
                                        <p:tgtEl>
                                          <p:spTgt spid="28"/>
                                        </p:tgtEl>
                                      </p:cBhvr>
                                    </p:animEffect>
                                  </p:childTnLst>
                                </p:cTn>
                              </p:par>
                              <p:par>
                                <p:cTn id="155" presetID="22" presetClass="entr" presetSubtype="8"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animEffect transition="in" filter="wipe(left)">
                                      <p:cBhvr>
                                        <p:cTn id="157" dur="400"/>
                                        <p:tgtEl>
                                          <p:spTgt spid="35"/>
                                        </p:tgtEl>
                                      </p:cBhvr>
                                    </p:animEffect>
                                  </p:childTnLst>
                                </p:cTn>
                              </p:par>
                              <p:par>
                                <p:cTn id="158" presetID="22" presetClass="entr" presetSubtype="8" fill="hold" grpId="0"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wipe(left)">
                                      <p:cBhvr>
                                        <p:cTn id="160" dur="400"/>
                                        <p:tgtEl>
                                          <p:spTgt spid="36"/>
                                        </p:tgtEl>
                                      </p:cBhvr>
                                    </p:animEffect>
                                  </p:childTnLst>
                                </p:cTn>
                              </p:par>
                              <p:par>
                                <p:cTn id="161" presetID="22" presetClass="entr" presetSubtype="8" fill="hold"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wipe(left)">
                                      <p:cBhvr>
                                        <p:cTn id="163" dur="400"/>
                                        <p:tgtEl>
                                          <p:spTgt spid="43"/>
                                        </p:tgtEl>
                                      </p:cBhvr>
                                    </p:animEffect>
                                  </p:childTnLst>
                                </p:cTn>
                              </p:par>
                              <p:par>
                                <p:cTn id="164" presetID="22" presetClass="entr" presetSubtype="8" fill="hold" grpId="0"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wipe(left)">
                                      <p:cBhvr>
                                        <p:cTn id="166"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2" grpId="0" animBg="1"/>
      <p:bldP spid="23" grpId="0" animBg="1"/>
      <p:bldP spid="24" grpId="0" animBg="1"/>
      <p:bldP spid="25" grpId="0" animBg="1"/>
      <p:bldP spid="26" grpId="0" animBg="1"/>
      <p:bldP spid="28" grpId="0" animBg="1"/>
      <p:bldP spid="30" grpId="0" animBg="1"/>
      <p:bldP spid="31" grpId="0" animBg="1"/>
      <p:bldP spid="32" grpId="0" animBg="1"/>
      <p:bldP spid="33" grpId="0" animBg="1"/>
      <p:bldP spid="34" grpId="0" animBg="1"/>
      <p:bldP spid="36" grpId="0" animBg="1"/>
      <p:bldP spid="38" grpId="0" animBg="1"/>
      <p:bldP spid="39" grpId="0" animBg="1"/>
      <p:bldP spid="40" grpId="0" animBg="1"/>
      <p:bldP spid="41" grpId="0" animBg="1"/>
      <p:bldP spid="42" grpId="0"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xt_199"/>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02: LITERATURE</a:t>
            </a:r>
            <a:endParaRPr lang="en-US" sz="1100" dirty="0"/>
          </a:p>
        </p:txBody>
      </p:sp>
      <p:sp>
        <p:nvSpPr>
          <p:cNvPr id="3" name="kicker_200"/>
          <p:cNvSpPr txBox="1"/>
          <p:nvPr/>
        </p:nvSpPr>
        <p:spPr>
          <a:xfrm>
            <a:off x="457200" y="548640"/>
            <a:ext cx="728091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SURVEY 3/4 · POSITIONING &amp; FLIGHT CONTROL</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Positioning and control research exposes implementation limits</a:t>
            </a:r>
            <a:endParaRPr lang="en-US" sz="4000" dirty="0"/>
          </a:p>
        </p:txBody>
      </p:sp>
      <p:sp>
        <p:nvSpPr>
          <p:cNvPr id="5" name="txt_201"/>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ESTIMATES FROM SUMMARY §14 · NO CROSS-METHOD BENCHMARK</a:t>
            </a:r>
            <a:endParaRPr lang="en-US" sz="1000" dirty="0"/>
          </a:p>
        </p:txBody>
      </p:sp>
      <p:sp>
        <p:nvSpPr>
          <p:cNvPr id="6" name="txt_202"/>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Full refs A01–A02 · matrix A03–A08</a:t>
            </a:r>
            <a:endParaRPr lang="en-US" sz="1000" dirty="0"/>
          </a:p>
        </p:txBody>
      </p:sp>
      <p:sp>
        <p:nvSpPr>
          <p:cNvPr id="7" name="txt_203"/>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[ 07 / 18 ]</a:t>
            </a:r>
            <a:endParaRPr lang="en-US" sz="1200" dirty="0"/>
          </a:p>
        </p:txBody>
      </p:sp>
      <p:sp>
        <p:nvSpPr>
          <p:cNvPr id="9" name="box_204"/>
          <p:cNvSpPr/>
          <p:nvPr/>
        </p:nvSpPr>
        <p:spPr>
          <a:xfrm>
            <a:off x="457200" y="2148840"/>
            <a:ext cx="3456432" cy="384048"/>
          </a:xfrm>
          <a:prstGeom prst="roundRect">
            <a:avLst>
              <a:gd name="adj" fmla="val 14286"/>
            </a:avLst>
          </a:prstGeom>
          <a:solidFill>
            <a:srgbClr val="1E293B">
              <a:alpha val="90000"/>
            </a:srgbClr>
          </a:solidFill>
          <a:ln w="9525">
            <a:solidFill>
              <a:srgbClr val="00F0FF">
                <a:alpha val="22000"/>
              </a:srgbClr>
            </a:solidFill>
            <a:prstDash val="solid"/>
          </a:ln>
        </p:spPr>
      </p:sp>
      <p:sp>
        <p:nvSpPr>
          <p:cNvPr id="10" name="txt_205"/>
          <p:cNvSpPr txBox="1"/>
          <p:nvPr/>
        </p:nvSpPr>
        <p:spPr>
          <a:xfrm>
            <a:off x="566928" y="2176272"/>
            <a:ext cx="3291840" cy="329184"/>
          </a:xfrm>
          <a:prstGeom prst="rect">
            <a:avLst/>
          </a:prstGeom>
          <a:noFill/>
          <a:ln/>
        </p:spPr>
        <p:txBody>
          <a:bodyPr wrap="square" lIns="0" tIns="0" rIns="0" bIns="0" rtlCol="0" anchor="ctr"/>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AIRCRAFT  </a:t>
            </a:r>
            <a:r>
              <a:rPr lang="en-US" sz="1100" dirty="0">
                <a:solidFill>
                  <a:srgbClr val="F8FAFC"/>
                </a:solidFill>
                <a:latin typeface="JetBrains Mono" pitchFamily="34" charset="0"/>
                <a:ea typeface="JetBrains Mono" pitchFamily="34" charset="-122"/>
                <a:cs typeface="JetBrains Mono" pitchFamily="34" charset="-120"/>
              </a:rPr>
              <a:t>M8N GNSS · est. 2.5–5 m</a:t>
            </a:r>
            <a:endParaRPr lang="en-US" sz="1500" dirty="0"/>
          </a:p>
        </p:txBody>
      </p:sp>
      <p:sp>
        <p:nvSpPr>
          <p:cNvPr id="11" name="box_206"/>
          <p:cNvSpPr/>
          <p:nvPr/>
        </p:nvSpPr>
        <p:spPr>
          <a:xfrm>
            <a:off x="4480560" y="2148840"/>
            <a:ext cx="3456432" cy="384048"/>
          </a:xfrm>
          <a:prstGeom prst="roundRect">
            <a:avLst>
              <a:gd name="adj" fmla="val 14286"/>
            </a:avLst>
          </a:prstGeom>
          <a:solidFill>
            <a:srgbClr val="1E293B">
              <a:alpha val="90000"/>
            </a:srgbClr>
          </a:solidFill>
          <a:ln w="9525">
            <a:solidFill>
              <a:srgbClr val="00F0FF">
                <a:alpha val="22000"/>
              </a:srgbClr>
            </a:solidFill>
            <a:prstDash val="solid"/>
          </a:ln>
        </p:spPr>
      </p:sp>
      <p:sp>
        <p:nvSpPr>
          <p:cNvPr id="12" name="txt_207"/>
          <p:cNvSpPr txBox="1"/>
          <p:nvPr/>
        </p:nvSpPr>
        <p:spPr>
          <a:xfrm>
            <a:off x="4590288" y="2176272"/>
            <a:ext cx="3291840" cy="329184"/>
          </a:xfrm>
          <a:prstGeom prst="rect">
            <a:avLst/>
          </a:prstGeom>
          <a:noFill/>
          <a:ln/>
        </p:spPr>
        <p:txBody>
          <a:bodyPr wrap="square" lIns="0" tIns="0" rIns="0" bIns="0" rtlCol="0" anchor="ctr"/>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GROUND STATION  </a:t>
            </a:r>
            <a:r>
              <a:rPr lang="en-US" sz="1100" dirty="0">
                <a:solidFill>
                  <a:srgbClr val="F8FAFC"/>
                </a:solidFill>
                <a:latin typeface="JetBrains Mono" pitchFamily="34" charset="0"/>
                <a:ea typeface="JetBrains Mono" pitchFamily="34" charset="-122"/>
                <a:cs typeface="JetBrains Mono" pitchFamily="34" charset="-120"/>
              </a:rPr>
              <a:t>compares both</a:t>
            </a:r>
            <a:endParaRPr lang="en-US" sz="1500" dirty="0"/>
          </a:p>
        </p:txBody>
      </p:sp>
      <p:sp>
        <p:nvSpPr>
          <p:cNvPr id="13" name="box_208"/>
          <p:cNvSpPr/>
          <p:nvPr/>
        </p:nvSpPr>
        <p:spPr>
          <a:xfrm>
            <a:off x="8275320" y="2148840"/>
            <a:ext cx="3456432" cy="384048"/>
          </a:xfrm>
          <a:prstGeom prst="roundRect">
            <a:avLst>
              <a:gd name="adj" fmla="val 14286"/>
            </a:avLst>
          </a:prstGeom>
          <a:solidFill>
            <a:srgbClr val="1E293B">
              <a:alpha val="90000"/>
            </a:srgbClr>
          </a:solidFill>
          <a:ln w="9525">
            <a:solidFill>
              <a:srgbClr val="00F0FF">
                <a:alpha val="22000"/>
              </a:srgbClr>
            </a:solidFill>
            <a:prstDash val="solid"/>
          </a:ln>
        </p:spPr>
      </p:sp>
      <p:sp>
        <p:nvSpPr>
          <p:cNvPr id="14" name="txt_209"/>
          <p:cNvSpPr txBox="1"/>
          <p:nvPr/>
        </p:nvSpPr>
        <p:spPr>
          <a:xfrm>
            <a:off x="8385048" y="2176272"/>
            <a:ext cx="3291840" cy="329184"/>
          </a:xfrm>
          <a:prstGeom prst="rect">
            <a:avLst/>
          </a:prstGeom>
          <a:noFill/>
          <a:ln/>
        </p:spPr>
        <p:txBody>
          <a:bodyPr wrap="square" lIns="0" tIns="0" rIns="0" bIns="0" rtlCol="0" anchor="ctr"/>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VISITOR  </a:t>
            </a:r>
            <a:r>
              <a:rPr lang="en-US" sz="1100" dirty="0">
                <a:solidFill>
                  <a:srgbClr val="F8FAFC"/>
                </a:solidFill>
                <a:latin typeface="JetBrains Mono" pitchFamily="34" charset="0"/>
                <a:ea typeface="JetBrains Mono" pitchFamily="34" charset="-122"/>
                <a:cs typeface="JetBrains Mono" pitchFamily="34" charset="-120"/>
              </a:rPr>
              <a:t>browser · est. 7–13 m</a:t>
            </a:r>
            <a:endParaRPr lang="en-US" sz="1500" dirty="0"/>
          </a:p>
        </p:txBody>
      </p:sp>
      <p:sp>
        <p:nvSpPr>
          <p:cNvPr id="15" name="ln_210"/>
          <p:cNvSpPr/>
          <p:nvPr/>
        </p:nvSpPr>
        <p:spPr>
          <a:xfrm>
            <a:off x="3931920" y="2340864"/>
            <a:ext cx="530352" cy="914"/>
          </a:xfrm>
          <a:prstGeom prst="line">
            <a:avLst/>
          </a:prstGeom>
          <a:noFill/>
          <a:ln w="25400">
            <a:solidFill>
              <a:srgbClr val="00F0FF"/>
            </a:solidFill>
            <a:prstDash val="solid"/>
            <a:tailEnd type="triangle"/>
          </a:ln>
        </p:spPr>
      </p:sp>
      <p:sp>
        <p:nvSpPr>
          <p:cNvPr id="16" name="ln_211"/>
          <p:cNvSpPr/>
          <p:nvPr/>
        </p:nvSpPr>
        <p:spPr>
          <a:xfrm flipH="1">
            <a:off x="7955280" y="2340864"/>
            <a:ext cx="301752" cy="914"/>
          </a:xfrm>
          <a:prstGeom prst="line">
            <a:avLst/>
          </a:prstGeom>
          <a:noFill/>
          <a:ln w="25400">
            <a:solidFill>
              <a:srgbClr val="00F0FF"/>
            </a:solidFill>
            <a:prstDash val="solid"/>
            <a:tailEnd type="triangle"/>
          </a:ln>
        </p:spPr>
      </p:sp>
      <p:sp>
        <p:nvSpPr>
          <p:cNvPr id="17" name="txt_212"/>
          <p:cNvSpPr txBox="1"/>
          <p:nvPr/>
        </p:nvSpPr>
        <p:spPr>
          <a:xfrm>
            <a:off x="548640" y="2651760"/>
            <a:ext cx="219456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WORK · YEAR</a:t>
            </a:r>
            <a:endParaRPr lang="en-US" sz="1100" dirty="0"/>
          </a:p>
        </p:txBody>
      </p:sp>
      <p:sp>
        <p:nvSpPr>
          <p:cNvPr id="18" name="txt_213"/>
          <p:cNvSpPr txBox="1"/>
          <p:nvPr/>
        </p:nvSpPr>
        <p:spPr>
          <a:xfrm>
            <a:off x="2834640" y="2651760"/>
            <a:ext cx="283464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METHOD &amp; CONTEXT</a:t>
            </a:r>
            <a:endParaRPr lang="en-US" sz="1100" dirty="0"/>
          </a:p>
        </p:txBody>
      </p:sp>
      <p:sp>
        <p:nvSpPr>
          <p:cNvPr id="19" name="txt_214"/>
          <p:cNvSpPr txBox="1"/>
          <p:nvPr/>
        </p:nvSpPr>
        <p:spPr>
          <a:xfrm>
            <a:off x="5760720" y="2651760"/>
            <a:ext cx="297180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REPORTED FINDING / LIMIT</a:t>
            </a:r>
            <a:endParaRPr lang="en-US" sz="1100" dirty="0"/>
          </a:p>
        </p:txBody>
      </p:sp>
      <p:sp>
        <p:nvSpPr>
          <p:cNvPr id="20" name="txt_215"/>
          <p:cNvSpPr txBox="1"/>
          <p:nvPr/>
        </p:nvSpPr>
        <p:spPr>
          <a:xfrm>
            <a:off x="8823960" y="2651760"/>
            <a:ext cx="2999232"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 NAVI DECISION</a:t>
            </a:r>
            <a:endParaRPr lang="en-US" sz="1100" dirty="0"/>
          </a:p>
        </p:txBody>
      </p:sp>
      <p:sp>
        <p:nvSpPr>
          <p:cNvPr id="21" name="box_216"/>
          <p:cNvSpPr/>
          <p:nvPr/>
        </p:nvSpPr>
        <p:spPr>
          <a:xfrm>
            <a:off x="457200" y="2926080"/>
            <a:ext cx="11277295" cy="768096"/>
          </a:xfrm>
          <a:prstGeom prst="roundRect">
            <a:avLst>
              <a:gd name="adj" fmla="val 7143"/>
            </a:avLst>
          </a:prstGeom>
          <a:solidFill>
            <a:srgbClr val="131C2E">
              <a:alpha val="78000"/>
            </a:srgbClr>
          </a:solidFill>
          <a:ln w="9525">
            <a:solidFill>
              <a:srgbClr val="00F0FF">
                <a:alpha val="22000"/>
              </a:srgbClr>
            </a:solidFill>
            <a:prstDash val="solid"/>
          </a:ln>
        </p:spPr>
      </p:sp>
      <p:sp>
        <p:nvSpPr>
          <p:cNvPr id="22" name="chip_217"/>
          <p:cNvSpPr txBox="1"/>
          <p:nvPr/>
        </p:nvSpPr>
        <p:spPr>
          <a:xfrm>
            <a:off x="548640" y="3017520"/>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U03</a:t>
            </a:r>
            <a:endParaRPr lang="en-US" sz="1000" dirty="0"/>
          </a:p>
        </p:txBody>
      </p:sp>
      <p:sp>
        <p:nvSpPr>
          <p:cNvPr id="23" name="txt_218"/>
          <p:cNvSpPr txBox="1"/>
          <p:nvPr/>
        </p:nvSpPr>
        <p:spPr>
          <a:xfrm>
            <a:off x="1088136" y="3017520"/>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2022 · RECENT</a:t>
            </a:r>
            <a:endParaRPr lang="en-US" sz="1000" dirty="0"/>
          </a:p>
        </p:txBody>
      </p:sp>
      <p:sp>
        <p:nvSpPr>
          <p:cNvPr id="24" name="txt_219"/>
          <p:cNvSpPr txBox="1"/>
          <p:nvPr/>
        </p:nvSpPr>
        <p:spPr>
          <a:xfrm>
            <a:off x="548640" y="3291840"/>
            <a:ext cx="2148840" cy="384048"/>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Indoor UWB waypoint drone</a:t>
            </a:r>
            <a:endParaRPr lang="en-US" sz="1300" dirty="0"/>
          </a:p>
        </p:txBody>
      </p:sp>
      <p:sp>
        <p:nvSpPr>
          <p:cNvPr id="25" name="txt_220"/>
          <p:cNvSpPr txBox="1"/>
          <p:nvPr/>
        </p:nvSpPr>
        <p:spPr>
          <a:xfrm>
            <a:off x="2834640" y="3008376"/>
            <a:ext cx="272491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UWB trilateration with altimeter; CNN corridor flight from one camera.</a:t>
            </a:r>
            <a:endParaRPr lang="en-US" sz="1400" dirty="0"/>
          </a:p>
        </p:txBody>
      </p:sp>
      <p:sp>
        <p:nvSpPr>
          <p:cNvPr id="26" name="txt_221"/>
          <p:cNvSpPr txBox="1"/>
          <p:nvPr/>
        </p:nvSpPr>
        <p:spPr>
          <a:xfrm>
            <a:off x="5760720" y="3008376"/>
            <a:ext cx="286207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Indoor error within 0.12 m; 90% corridor success. Anchors needed, indoor only.</a:t>
            </a:r>
            <a:endParaRPr lang="en-US" sz="1400" dirty="0"/>
          </a:p>
        </p:txBody>
      </p:sp>
      <p:sp>
        <p:nvSpPr>
          <p:cNvPr id="27" name="box_222"/>
          <p:cNvSpPr/>
          <p:nvPr/>
        </p:nvSpPr>
        <p:spPr>
          <a:xfrm>
            <a:off x="8732520" y="2971800"/>
            <a:ext cx="2953512" cy="676656"/>
          </a:xfrm>
          <a:prstGeom prst="roundRect">
            <a:avLst>
              <a:gd name="adj" fmla="val 8108"/>
            </a:avLst>
          </a:prstGeom>
          <a:solidFill>
            <a:srgbClr val="00F0FF">
              <a:alpha val="8000"/>
            </a:srgbClr>
          </a:solidFill>
          <a:ln/>
        </p:spPr>
      </p:sp>
      <p:sp>
        <p:nvSpPr>
          <p:cNvPr id="28" name="txt_223"/>
          <p:cNvSpPr txBox="1"/>
          <p:nvPr/>
        </p:nvSpPr>
        <p:spPr>
          <a:xfrm>
            <a:off x="8823960" y="3008376"/>
            <a:ext cx="281635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Outdoor GNSS chosen; UWB accuracy is not claimed for NAVI.</a:t>
            </a:r>
            <a:endParaRPr lang="en-US" sz="1400" dirty="0"/>
          </a:p>
        </p:txBody>
      </p:sp>
      <p:sp>
        <p:nvSpPr>
          <p:cNvPr id="29" name="box_224"/>
          <p:cNvSpPr/>
          <p:nvPr/>
        </p:nvSpPr>
        <p:spPr>
          <a:xfrm>
            <a:off x="457200" y="3749040"/>
            <a:ext cx="11277295" cy="768096"/>
          </a:xfrm>
          <a:prstGeom prst="roundRect">
            <a:avLst>
              <a:gd name="adj" fmla="val 7143"/>
            </a:avLst>
          </a:prstGeom>
          <a:solidFill>
            <a:srgbClr val="131C2E">
              <a:alpha val="78000"/>
            </a:srgbClr>
          </a:solidFill>
          <a:ln w="9525">
            <a:solidFill>
              <a:srgbClr val="00F0FF">
                <a:alpha val="22000"/>
              </a:srgbClr>
            </a:solidFill>
            <a:prstDash val="solid"/>
          </a:ln>
        </p:spPr>
      </p:sp>
      <p:sp>
        <p:nvSpPr>
          <p:cNvPr id="30" name="chip_225"/>
          <p:cNvSpPr txBox="1"/>
          <p:nvPr/>
        </p:nvSpPr>
        <p:spPr>
          <a:xfrm>
            <a:off x="548640" y="3840480"/>
            <a:ext cx="4663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U09</a:t>
            </a:r>
            <a:endParaRPr lang="en-US" sz="1000" dirty="0"/>
          </a:p>
        </p:txBody>
      </p:sp>
      <p:sp>
        <p:nvSpPr>
          <p:cNvPr id="31" name="txt_226"/>
          <p:cNvSpPr txBox="1"/>
          <p:nvPr/>
        </p:nvSpPr>
        <p:spPr>
          <a:xfrm>
            <a:off x="1088136" y="3840480"/>
            <a:ext cx="173736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2009 · FOUNDATIONAL</a:t>
            </a:r>
            <a:endParaRPr lang="en-US" sz="1000" dirty="0"/>
          </a:p>
        </p:txBody>
      </p:sp>
      <p:sp>
        <p:nvSpPr>
          <p:cNvPr id="32" name="txt_227"/>
          <p:cNvSpPr txBox="1"/>
          <p:nvPr/>
        </p:nvSpPr>
        <p:spPr>
          <a:xfrm>
            <a:off x="548640" y="4114800"/>
            <a:ext cx="2148840" cy="384048"/>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HMM map matching</a:t>
            </a:r>
            <a:endParaRPr lang="en-US" sz="1300" dirty="0"/>
          </a:p>
        </p:txBody>
      </p:sp>
      <p:sp>
        <p:nvSpPr>
          <p:cNvPr id="33" name="txt_228"/>
          <p:cNvSpPr txBox="1"/>
          <p:nvPr/>
        </p:nvSpPr>
        <p:spPr>
          <a:xfrm>
            <a:off x="2834640" y="3831336"/>
            <a:ext cx="272491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Hidden Markov model matches noisy, sparse vehicle GPS to roads (80 km drive).</a:t>
            </a:r>
            <a:endParaRPr lang="en-US" sz="1400" dirty="0"/>
          </a:p>
        </p:txBody>
      </p:sp>
      <p:sp>
        <p:nvSpPr>
          <p:cNvPr id="34" name="txt_229"/>
          <p:cNvSpPr txBox="1"/>
          <p:nvPr/>
        </p:nvSpPr>
        <p:spPr>
          <a:xfrm>
            <a:off x="5760720" y="3831336"/>
            <a:ext cx="286207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Robust to sparse sampling and added noise. Vehicle road data, offline.</a:t>
            </a:r>
            <a:endParaRPr lang="en-US" sz="1400" dirty="0"/>
          </a:p>
        </p:txBody>
      </p:sp>
      <p:sp>
        <p:nvSpPr>
          <p:cNvPr id="35" name="box_230"/>
          <p:cNvSpPr/>
          <p:nvPr/>
        </p:nvSpPr>
        <p:spPr>
          <a:xfrm>
            <a:off x="8732520" y="3794760"/>
            <a:ext cx="2953512" cy="676656"/>
          </a:xfrm>
          <a:prstGeom prst="roundRect">
            <a:avLst>
              <a:gd name="adj" fmla="val 8108"/>
            </a:avLst>
          </a:prstGeom>
          <a:solidFill>
            <a:srgbClr val="00F0FF">
              <a:alpha val="8000"/>
            </a:srgbClr>
          </a:solidFill>
          <a:ln/>
        </p:spPr>
      </p:sp>
      <p:sp>
        <p:nvSpPr>
          <p:cNvPr id="36" name="txt_231"/>
          <p:cNvSpPr txBox="1"/>
          <p:nvPr/>
        </p:nvSpPr>
        <p:spPr>
          <a:xfrm>
            <a:off x="8823960" y="3831336"/>
            <a:ext cx="281635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Motivates sequence-aware snapping. NAVI has not implemented an HMM.</a:t>
            </a:r>
            <a:endParaRPr lang="en-US" sz="1400" dirty="0"/>
          </a:p>
        </p:txBody>
      </p:sp>
      <p:sp>
        <p:nvSpPr>
          <p:cNvPr id="37" name="box_232"/>
          <p:cNvSpPr/>
          <p:nvPr/>
        </p:nvSpPr>
        <p:spPr>
          <a:xfrm>
            <a:off x="457200" y="4572000"/>
            <a:ext cx="11277295" cy="768096"/>
          </a:xfrm>
          <a:prstGeom prst="roundRect">
            <a:avLst>
              <a:gd name="adj" fmla="val 7143"/>
            </a:avLst>
          </a:prstGeom>
          <a:solidFill>
            <a:srgbClr val="131C2E">
              <a:alpha val="78000"/>
            </a:srgbClr>
          </a:solidFill>
          <a:ln w="9525">
            <a:solidFill>
              <a:srgbClr val="00F0FF">
                <a:alpha val="22000"/>
              </a:srgbClr>
            </a:solidFill>
            <a:prstDash val="solid"/>
          </a:ln>
        </p:spPr>
      </p:sp>
      <p:sp>
        <p:nvSpPr>
          <p:cNvPr id="38" name="chip_233"/>
          <p:cNvSpPr txBox="1"/>
          <p:nvPr/>
        </p:nvSpPr>
        <p:spPr>
          <a:xfrm>
            <a:off x="548640" y="4663440"/>
            <a:ext cx="4663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U10</a:t>
            </a:r>
            <a:endParaRPr lang="en-US" sz="1000" dirty="0"/>
          </a:p>
        </p:txBody>
      </p:sp>
      <p:sp>
        <p:nvSpPr>
          <p:cNvPr id="39" name="txt_234"/>
          <p:cNvSpPr txBox="1"/>
          <p:nvPr/>
        </p:nvSpPr>
        <p:spPr>
          <a:xfrm>
            <a:off x="1088136" y="4663440"/>
            <a:ext cx="173736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2017 · FOUNDATIONAL</a:t>
            </a:r>
            <a:endParaRPr lang="en-US" sz="1000" dirty="0"/>
          </a:p>
        </p:txBody>
      </p:sp>
      <p:sp>
        <p:nvSpPr>
          <p:cNvPr id="40" name="txt_235"/>
          <p:cNvSpPr txBox="1"/>
          <p:nvPr/>
        </p:nvSpPr>
        <p:spPr>
          <a:xfrm>
            <a:off x="548640" y="4937760"/>
            <a:ext cx="2148840" cy="384048"/>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Open flight-control platforms</a:t>
            </a:r>
            <a:endParaRPr lang="en-US" sz="1300" dirty="0"/>
          </a:p>
        </p:txBody>
      </p:sp>
      <p:sp>
        <p:nvSpPr>
          <p:cNvPr id="41" name="txt_236"/>
          <p:cNvSpPr txBox="1"/>
          <p:nvPr/>
        </p:nvSpPr>
        <p:spPr>
          <a:xfrm>
            <a:off x="2834640" y="4654296"/>
            <a:ext cx="272491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Survey comparing 15+ open hardware and software autopilots.</a:t>
            </a:r>
            <a:endParaRPr lang="en-US" sz="1400" dirty="0"/>
          </a:p>
        </p:txBody>
      </p:sp>
      <p:sp>
        <p:nvSpPr>
          <p:cNvPr id="42" name="txt_237"/>
          <p:cNvSpPr txBox="1"/>
          <p:nvPr/>
        </p:nvSpPr>
        <p:spPr>
          <a:xfrm>
            <a:off x="5760720" y="4654296"/>
            <a:ext cx="286207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ArduPilot is a mature open stack. Board support has changed since 2017.</a:t>
            </a:r>
            <a:endParaRPr lang="en-US" sz="1400" dirty="0"/>
          </a:p>
        </p:txBody>
      </p:sp>
      <p:sp>
        <p:nvSpPr>
          <p:cNvPr id="43" name="box_238"/>
          <p:cNvSpPr/>
          <p:nvPr/>
        </p:nvSpPr>
        <p:spPr>
          <a:xfrm>
            <a:off x="8732520" y="4617720"/>
            <a:ext cx="2953512" cy="676656"/>
          </a:xfrm>
          <a:prstGeom prst="roundRect">
            <a:avLst>
              <a:gd name="adj" fmla="val 8108"/>
            </a:avLst>
          </a:prstGeom>
          <a:solidFill>
            <a:srgbClr val="00F0FF">
              <a:alpha val="8000"/>
            </a:srgbClr>
          </a:solidFill>
          <a:ln/>
        </p:spPr>
      </p:sp>
      <p:sp>
        <p:nvSpPr>
          <p:cNvPr id="44" name="txt_239"/>
          <p:cNvSpPr txBox="1"/>
          <p:nvPr/>
        </p:nvSpPr>
        <p:spPr>
          <a:xfrm>
            <a:off x="8823960" y="4654296"/>
            <a:ext cx="281635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Open ArduPilot + MAVLink; confirm F405 V3 on the current firmware list.</a:t>
            </a:r>
            <a:endParaRPr lang="en-US" sz="1400" dirty="0"/>
          </a:p>
        </p:txBody>
      </p:sp>
      <p:sp>
        <p:nvSpPr>
          <p:cNvPr id="45" name="box_240"/>
          <p:cNvSpPr/>
          <p:nvPr/>
        </p:nvSpPr>
        <p:spPr>
          <a:xfrm>
            <a:off x="457200" y="5394960"/>
            <a:ext cx="11277295" cy="768096"/>
          </a:xfrm>
          <a:prstGeom prst="roundRect">
            <a:avLst>
              <a:gd name="adj" fmla="val 7143"/>
            </a:avLst>
          </a:prstGeom>
          <a:solidFill>
            <a:srgbClr val="131C2E">
              <a:alpha val="78000"/>
            </a:srgbClr>
          </a:solidFill>
          <a:ln w="9525">
            <a:solidFill>
              <a:srgbClr val="00F0FF">
                <a:alpha val="22000"/>
              </a:srgbClr>
            </a:solidFill>
            <a:prstDash val="solid"/>
          </a:ln>
        </p:spPr>
      </p:sp>
      <p:sp>
        <p:nvSpPr>
          <p:cNvPr id="46" name="chip_241"/>
          <p:cNvSpPr txBox="1"/>
          <p:nvPr/>
        </p:nvSpPr>
        <p:spPr>
          <a:xfrm>
            <a:off x="548640" y="5486400"/>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S06</a:t>
            </a:r>
            <a:endParaRPr lang="en-US" sz="1000" dirty="0"/>
          </a:p>
        </p:txBody>
      </p:sp>
      <p:sp>
        <p:nvSpPr>
          <p:cNvPr id="47" name="txt_242"/>
          <p:cNvSpPr txBox="1"/>
          <p:nvPr/>
        </p:nvSpPr>
        <p:spPr>
          <a:xfrm>
            <a:off x="1088136" y="5486400"/>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48" name="txt_243"/>
          <p:cNvSpPr txBox="1"/>
          <p:nvPr/>
        </p:nvSpPr>
        <p:spPr>
          <a:xfrm>
            <a:off x="548640" y="5760720"/>
            <a:ext cx="2148840" cy="384048"/>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Switched smartphone navigation</a:t>
            </a:r>
            <a:endParaRPr lang="en-US" sz="1300" dirty="0"/>
          </a:p>
        </p:txBody>
      </p:sp>
      <p:sp>
        <p:nvSpPr>
          <p:cNvPr id="49" name="txt_244"/>
          <p:cNvSpPr txBox="1"/>
          <p:nvPr/>
        </p:nvSpPr>
        <p:spPr>
          <a:xfrm>
            <a:off x="2834640" y="5477256"/>
            <a:ext cx="272491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Adaptive Kalman filter switching GNSS-aided and IMU-only modes; one phone, ~150 m.</a:t>
            </a:r>
            <a:endParaRPr lang="en-US" sz="1400" dirty="0"/>
          </a:p>
        </p:txBody>
      </p:sp>
      <p:sp>
        <p:nvSpPr>
          <p:cNvPr id="50" name="txt_245"/>
          <p:cNvSpPr txBox="1"/>
          <p:nvPr/>
        </p:nvSpPr>
        <p:spPr>
          <a:xfrm>
            <a:off x="5760720" y="5477256"/>
            <a:ext cx="286207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2D RMSE &lt; 1 m in GNSS-lost segments vs planned path. Needs raw sensor logging.</a:t>
            </a:r>
            <a:endParaRPr lang="en-US" sz="1400" dirty="0"/>
          </a:p>
        </p:txBody>
      </p:sp>
      <p:sp>
        <p:nvSpPr>
          <p:cNvPr id="51" name="box_246"/>
          <p:cNvSpPr/>
          <p:nvPr/>
        </p:nvSpPr>
        <p:spPr>
          <a:xfrm>
            <a:off x="8732520" y="5440680"/>
            <a:ext cx="2953512" cy="676656"/>
          </a:xfrm>
          <a:prstGeom prst="roundRect">
            <a:avLst>
              <a:gd name="adj" fmla="val 8108"/>
            </a:avLst>
          </a:prstGeom>
          <a:solidFill>
            <a:srgbClr val="00F0FF">
              <a:alpha val="8000"/>
            </a:srgbClr>
          </a:solidFill>
          <a:ln/>
        </p:spPr>
      </p:sp>
      <p:sp>
        <p:nvSpPr>
          <p:cNvPr id="52" name="txt_247"/>
          <p:cNvSpPr txBox="1"/>
          <p:nvPr/>
        </p:nvSpPr>
        <p:spPr>
          <a:xfrm>
            <a:off x="8823960" y="5477256"/>
            <a:ext cx="2816352" cy="640080"/>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Browser geolocation lacks raw IMU; measure handset error instead.</a:t>
            </a:r>
            <a:endParaRPr lang="en-US" sz="14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par>
                          <p:cTn id="11" fill="hold">
                            <p:stCondLst>
                              <p:cond delay="300"/>
                            </p:stCondLst>
                            <p:childTnLst>
                              <p:par>
                                <p:cTn id="12" presetID="22" presetClass="entr" presetSubtype="8"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300"/>
                                        <p:tgtEl>
                                          <p:spTgt spid="15"/>
                                        </p:tgtEl>
                                      </p:cBhvr>
                                    </p:animEffect>
                                  </p:childTnLst>
                                </p:cTn>
                              </p:par>
                            </p:childTnLst>
                          </p:cTn>
                        </p:par>
                        <p:par>
                          <p:cTn id="15" fill="hold">
                            <p:stCondLst>
                              <p:cond delay="600"/>
                            </p:stCondLst>
                            <p:childTnLst>
                              <p:par>
                                <p:cTn id="16" presetID="10"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300"/>
                                        <p:tgtEl>
                                          <p:spTgt spid="12"/>
                                        </p:tgtEl>
                                      </p:cBhvr>
                                    </p:animEffect>
                                  </p:childTnLst>
                                </p:cTn>
                              </p:par>
                            </p:childTnLst>
                          </p:cTn>
                        </p:par>
                        <p:par>
                          <p:cTn id="22" fill="hold">
                            <p:stCondLst>
                              <p:cond delay="900"/>
                            </p:stCondLst>
                            <p:childTnLst>
                              <p:par>
                                <p:cTn id="23" presetID="22" presetClass="entr" presetSubtype="2"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right)">
                                      <p:cBhvr>
                                        <p:cTn id="25" dur="3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00"/>
                                        <p:tgtEl>
                                          <p:spTgt spid="21"/>
                                        </p:tgtEl>
                                      </p:cBhvr>
                                    </p:animEffect>
                                    <p:anim calcmode="lin" valueType="num">
                                      <p:cBhvr>
                                        <p:cTn id="51" dur="300" decel="100000" fill="hold"/>
                                        <p:tgtEl>
                                          <p:spTgt spid="21"/>
                                        </p:tgtEl>
                                        <p:attrNameLst>
                                          <p:attrName>ppt_x</p:attrName>
                                        </p:attrNameLst>
                                      </p:cBhvr>
                                      <p:tavLst>
                                        <p:tav tm="0">
                                          <p:val>
                                            <p:strVal val="#ppt_x"/>
                                          </p:val>
                                        </p:tav>
                                        <p:tav tm="100000">
                                          <p:val>
                                            <p:strVal val="#ppt_x"/>
                                          </p:val>
                                        </p:tav>
                                      </p:tavLst>
                                    </p:anim>
                                    <p:anim calcmode="lin" valueType="num">
                                      <p:cBhvr>
                                        <p:cTn id="52" dur="300" decel="100000" fill="hold"/>
                                        <p:tgtEl>
                                          <p:spTgt spid="21"/>
                                        </p:tgtEl>
                                        <p:attrNameLst>
                                          <p:attrName>ppt_y</p:attrName>
                                        </p:attrNameLst>
                                      </p:cBhvr>
                                      <p:tavLst>
                                        <p:tav tm="0">
                                          <p:val>
                                            <p:strVal val="#ppt_y+0.01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anim calcmode="lin" valueType="num">
                                      <p:cBhvr>
                                        <p:cTn id="56" dur="300" decel="100000" fill="hold"/>
                                        <p:tgtEl>
                                          <p:spTgt spid="22"/>
                                        </p:tgtEl>
                                        <p:attrNameLst>
                                          <p:attrName>ppt_x</p:attrName>
                                        </p:attrNameLst>
                                      </p:cBhvr>
                                      <p:tavLst>
                                        <p:tav tm="0">
                                          <p:val>
                                            <p:strVal val="#ppt_x"/>
                                          </p:val>
                                        </p:tav>
                                        <p:tav tm="100000">
                                          <p:val>
                                            <p:strVal val="#ppt_x"/>
                                          </p:val>
                                        </p:tav>
                                      </p:tavLst>
                                    </p:anim>
                                    <p:anim calcmode="lin" valueType="num">
                                      <p:cBhvr>
                                        <p:cTn id="57" dur="300" decel="100000" fill="hold"/>
                                        <p:tgtEl>
                                          <p:spTgt spid="22"/>
                                        </p:tgtEl>
                                        <p:attrNameLst>
                                          <p:attrName>ppt_y</p:attrName>
                                        </p:attrNameLst>
                                      </p:cBhvr>
                                      <p:tavLst>
                                        <p:tav tm="0">
                                          <p:val>
                                            <p:strVal val="#ppt_y+0.01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00"/>
                                        <p:tgtEl>
                                          <p:spTgt spid="23"/>
                                        </p:tgtEl>
                                      </p:cBhvr>
                                    </p:animEffect>
                                    <p:anim calcmode="lin" valueType="num">
                                      <p:cBhvr>
                                        <p:cTn id="61" dur="300" decel="100000" fill="hold"/>
                                        <p:tgtEl>
                                          <p:spTgt spid="23"/>
                                        </p:tgtEl>
                                        <p:attrNameLst>
                                          <p:attrName>ppt_x</p:attrName>
                                        </p:attrNameLst>
                                      </p:cBhvr>
                                      <p:tavLst>
                                        <p:tav tm="0">
                                          <p:val>
                                            <p:strVal val="#ppt_x"/>
                                          </p:val>
                                        </p:tav>
                                        <p:tav tm="100000">
                                          <p:val>
                                            <p:strVal val="#ppt_x"/>
                                          </p:val>
                                        </p:tav>
                                      </p:tavLst>
                                    </p:anim>
                                    <p:anim calcmode="lin" valueType="num">
                                      <p:cBhvr>
                                        <p:cTn id="62" dur="300" decel="100000" fill="hold"/>
                                        <p:tgtEl>
                                          <p:spTgt spid="23"/>
                                        </p:tgtEl>
                                        <p:attrNameLst>
                                          <p:attrName>ppt_y</p:attrName>
                                        </p:attrNameLst>
                                      </p:cBhvr>
                                      <p:tavLst>
                                        <p:tav tm="0">
                                          <p:val>
                                            <p:strVal val="#ppt_y+0.01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00"/>
                                        <p:tgtEl>
                                          <p:spTgt spid="24"/>
                                        </p:tgtEl>
                                      </p:cBhvr>
                                    </p:animEffect>
                                    <p:anim calcmode="lin" valueType="num">
                                      <p:cBhvr>
                                        <p:cTn id="66" dur="300" decel="100000" fill="hold"/>
                                        <p:tgtEl>
                                          <p:spTgt spid="24"/>
                                        </p:tgtEl>
                                        <p:attrNameLst>
                                          <p:attrName>ppt_x</p:attrName>
                                        </p:attrNameLst>
                                      </p:cBhvr>
                                      <p:tavLst>
                                        <p:tav tm="0">
                                          <p:val>
                                            <p:strVal val="#ppt_x"/>
                                          </p:val>
                                        </p:tav>
                                        <p:tav tm="100000">
                                          <p:val>
                                            <p:strVal val="#ppt_x"/>
                                          </p:val>
                                        </p:tav>
                                      </p:tavLst>
                                    </p:anim>
                                    <p:anim calcmode="lin" valueType="num">
                                      <p:cBhvr>
                                        <p:cTn id="67" dur="300" decel="100000" fill="hold"/>
                                        <p:tgtEl>
                                          <p:spTgt spid="24"/>
                                        </p:tgtEl>
                                        <p:attrNameLst>
                                          <p:attrName>ppt_y</p:attrName>
                                        </p:attrNameLst>
                                      </p:cBhvr>
                                      <p:tavLst>
                                        <p:tav tm="0">
                                          <p:val>
                                            <p:strVal val="#ppt_y+0.01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00"/>
                                        <p:tgtEl>
                                          <p:spTgt spid="25"/>
                                        </p:tgtEl>
                                      </p:cBhvr>
                                    </p:animEffect>
                                    <p:anim calcmode="lin" valueType="num">
                                      <p:cBhvr>
                                        <p:cTn id="71" dur="300" decel="100000" fill="hold"/>
                                        <p:tgtEl>
                                          <p:spTgt spid="25"/>
                                        </p:tgtEl>
                                        <p:attrNameLst>
                                          <p:attrName>ppt_x</p:attrName>
                                        </p:attrNameLst>
                                      </p:cBhvr>
                                      <p:tavLst>
                                        <p:tav tm="0">
                                          <p:val>
                                            <p:strVal val="#ppt_x"/>
                                          </p:val>
                                        </p:tav>
                                        <p:tav tm="100000">
                                          <p:val>
                                            <p:strVal val="#ppt_x"/>
                                          </p:val>
                                        </p:tav>
                                      </p:tavLst>
                                    </p:anim>
                                    <p:anim calcmode="lin" valueType="num">
                                      <p:cBhvr>
                                        <p:cTn id="72" dur="300" decel="100000" fill="hold"/>
                                        <p:tgtEl>
                                          <p:spTgt spid="25"/>
                                        </p:tgtEl>
                                        <p:attrNameLst>
                                          <p:attrName>ppt_y</p:attrName>
                                        </p:attrNameLst>
                                      </p:cBhvr>
                                      <p:tavLst>
                                        <p:tav tm="0">
                                          <p:val>
                                            <p:strVal val="#ppt_y+0.01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300"/>
                                        <p:tgtEl>
                                          <p:spTgt spid="26"/>
                                        </p:tgtEl>
                                      </p:cBhvr>
                                    </p:animEffect>
                                    <p:anim calcmode="lin" valueType="num">
                                      <p:cBhvr>
                                        <p:cTn id="76" dur="300" decel="100000" fill="hold"/>
                                        <p:tgtEl>
                                          <p:spTgt spid="26"/>
                                        </p:tgtEl>
                                        <p:attrNameLst>
                                          <p:attrName>ppt_x</p:attrName>
                                        </p:attrNameLst>
                                      </p:cBhvr>
                                      <p:tavLst>
                                        <p:tav tm="0">
                                          <p:val>
                                            <p:strVal val="#ppt_x"/>
                                          </p:val>
                                        </p:tav>
                                        <p:tav tm="100000">
                                          <p:val>
                                            <p:strVal val="#ppt_x"/>
                                          </p:val>
                                        </p:tav>
                                      </p:tavLst>
                                    </p:anim>
                                    <p:anim calcmode="lin" valueType="num">
                                      <p:cBhvr>
                                        <p:cTn id="77" dur="300" decel="100000" fill="hold"/>
                                        <p:tgtEl>
                                          <p:spTgt spid="26"/>
                                        </p:tgtEl>
                                        <p:attrNameLst>
                                          <p:attrName>ppt_y</p:attrName>
                                        </p:attrNameLst>
                                      </p:cBhvr>
                                      <p:tavLst>
                                        <p:tav tm="0">
                                          <p:val>
                                            <p:strVal val="#ppt_y+0.016"/>
                                          </p:val>
                                        </p:tav>
                                        <p:tav tm="100000">
                                          <p:val>
                                            <p:strVal val="#ppt_y"/>
                                          </p:val>
                                        </p:tav>
                                      </p:tavLst>
                                    </p:anim>
                                  </p:childTnLst>
                                </p:cTn>
                              </p:par>
                            </p:childTnLst>
                          </p:cTn>
                        </p:par>
                        <p:par>
                          <p:cTn id="78" fill="hold">
                            <p:stCondLst>
                              <p:cond delay="300"/>
                            </p:stCondLst>
                            <p:childTnLst>
                              <p:par>
                                <p:cTn id="79" presetID="42" presetClass="entr" presetSubtype="0" fill="hold" nodeType="after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300"/>
                                        <p:tgtEl>
                                          <p:spTgt spid="29"/>
                                        </p:tgtEl>
                                      </p:cBhvr>
                                    </p:animEffect>
                                    <p:anim calcmode="lin" valueType="num">
                                      <p:cBhvr>
                                        <p:cTn id="82" dur="300" decel="100000" fill="hold"/>
                                        <p:tgtEl>
                                          <p:spTgt spid="29"/>
                                        </p:tgtEl>
                                        <p:attrNameLst>
                                          <p:attrName>ppt_x</p:attrName>
                                        </p:attrNameLst>
                                      </p:cBhvr>
                                      <p:tavLst>
                                        <p:tav tm="0">
                                          <p:val>
                                            <p:strVal val="#ppt_x"/>
                                          </p:val>
                                        </p:tav>
                                        <p:tav tm="100000">
                                          <p:val>
                                            <p:strVal val="#ppt_x"/>
                                          </p:val>
                                        </p:tav>
                                      </p:tavLst>
                                    </p:anim>
                                    <p:anim calcmode="lin" valueType="num">
                                      <p:cBhvr>
                                        <p:cTn id="83" dur="300" decel="100000" fill="hold"/>
                                        <p:tgtEl>
                                          <p:spTgt spid="29"/>
                                        </p:tgtEl>
                                        <p:attrNameLst>
                                          <p:attrName>ppt_y</p:attrName>
                                        </p:attrNameLst>
                                      </p:cBhvr>
                                      <p:tavLst>
                                        <p:tav tm="0">
                                          <p:val>
                                            <p:strVal val="#ppt_y+0.01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p:tgtEl>
                                          <p:spTgt spid="30"/>
                                        </p:tgtEl>
                                      </p:cBhvr>
                                    </p:animEffect>
                                    <p:anim calcmode="lin" valueType="num">
                                      <p:cBhvr>
                                        <p:cTn id="87" dur="300" decel="100000" fill="hold"/>
                                        <p:tgtEl>
                                          <p:spTgt spid="30"/>
                                        </p:tgtEl>
                                        <p:attrNameLst>
                                          <p:attrName>ppt_x</p:attrName>
                                        </p:attrNameLst>
                                      </p:cBhvr>
                                      <p:tavLst>
                                        <p:tav tm="0">
                                          <p:val>
                                            <p:strVal val="#ppt_x"/>
                                          </p:val>
                                        </p:tav>
                                        <p:tav tm="100000">
                                          <p:val>
                                            <p:strVal val="#ppt_x"/>
                                          </p:val>
                                        </p:tav>
                                      </p:tavLst>
                                    </p:anim>
                                    <p:anim calcmode="lin" valueType="num">
                                      <p:cBhvr>
                                        <p:cTn id="88" dur="300" decel="100000" fill="hold"/>
                                        <p:tgtEl>
                                          <p:spTgt spid="30"/>
                                        </p:tgtEl>
                                        <p:attrNameLst>
                                          <p:attrName>ppt_y</p:attrName>
                                        </p:attrNameLst>
                                      </p:cBhvr>
                                      <p:tavLst>
                                        <p:tav tm="0">
                                          <p:val>
                                            <p:strVal val="#ppt_y+0.01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300"/>
                                        <p:tgtEl>
                                          <p:spTgt spid="31"/>
                                        </p:tgtEl>
                                      </p:cBhvr>
                                    </p:animEffect>
                                    <p:anim calcmode="lin" valueType="num">
                                      <p:cBhvr>
                                        <p:cTn id="92" dur="300" decel="100000" fill="hold"/>
                                        <p:tgtEl>
                                          <p:spTgt spid="31"/>
                                        </p:tgtEl>
                                        <p:attrNameLst>
                                          <p:attrName>ppt_x</p:attrName>
                                        </p:attrNameLst>
                                      </p:cBhvr>
                                      <p:tavLst>
                                        <p:tav tm="0">
                                          <p:val>
                                            <p:strVal val="#ppt_x"/>
                                          </p:val>
                                        </p:tav>
                                        <p:tav tm="100000">
                                          <p:val>
                                            <p:strVal val="#ppt_x"/>
                                          </p:val>
                                        </p:tav>
                                      </p:tavLst>
                                    </p:anim>
                                    <p:anim calcmode="lin" valueType="num">
                                      <p:cBhvr>
                                        <p:cTn id="93" dur="300" decel="100000" fill="hold"/>
                                        <p:tgtEl>
                                          <p:spTgt spid="31"/>
                                        </p:tgtEl>
                                        <p:attrNameLst>
                                          <p:attrName>ppt_y</p:attrName>
                                        </p:attrNameLst>
                                      </p:cBhvr>
                                      <p:tavLst>
                                        <p:tav tm="0">
                                          <p:val>
                                            <p:strVal val="#ppt_y+0.016"/>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300"/>
                                        <p:tgtEl>
                                          <p:spTgt spid="32"/>
                                        </p:tgtEl>
                                      </p:cBhvr>
                                    </p:animEffect>
                                    <p:anim calcmode="lin" valueType="num">
                                      <p:cBhvr>
                                        <p:cTn id="97" dur="300" decel="100000" fill="hold"/>
                                        <p:tgtEl>
                                          <p:spTgt spid="32"/>
                                        </p:tgtEl>
                                        <p:attrNameLst>
                                          <p:attrName>ppt_x</p:attrName>
                                        </p:attrNameLst>
                                      </p:cBhvr>
                                      <p:tavLst>
                                        <p:tav tm="0">
                                          <p:val>
                                            <p:strVal val="#ppt_x"/>
                                          </p:val>
                                        </p:tav>
                                        <p:tav tm="100000">
                                          <p:val>
                                            <p:strVal val="#ppt_x"/>
                                          </p:val>
                                        </p:tav>
                                      </p:tavLst>
                                    </p:anim>
                                    <p:anim calcmode="lin" valueType="num">
                                      <p:cBhvr>
                                        <p:cTn id="98" dur="300" decel="100000" fill="hold"/>
                                        <p:tgtEl>
                                          <p:spTgt spid="32"/>
                                        </p:tgtEl>
                                        <p:attrNameLst>
                                          <p:attrName>ppt_y</p:attrName>
                                        </p:attrNameLst>
                                      </p:cBhvr>
                                      <p:tavLst>
                                        <p:tav tm="0">
                                          <p:val>
                                            <p:strVal val="#ppt_y+0.01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300"/>
                                        <p:tgtEl>
                                          <p:spTgt spid="33"/>
                                        </p:tgtEl>
                                      </p:cBhvr>
                                    </p:animEffect>
                                    <p:anim calcmode="lin" valueType="num">
                                      <p:cBhvr>
                                        <p:cTn id="102" dur="300" decel="100000" fill="hold"/>
                                        <p:tgtEl>
                                          <p:spTgt spid="33"/>
                                        </p:tgtEl>
                                        <p:attrNameLst>
                                          <p:attrName>ppt_x</p:attrName>
                                        </p:attrNameLst>
                                      </p:cBhvr>
                                      <p:tavLst>
                                        <p:tav tm="0">
                                          <p:val>
                                            <p:strVal val="#ppt_x"/>
                                          </p:val>
                                        </p:tav>
                                        <p:tav tm="100000">
                                          <p:val>
                                            <p:strVal val="#ppt_x"/>
                                          </p:val>
                                        </p:tav>
                                      </p:tavLst>
                                    </p:anim>
                                    <p:anim calcmode="lin" valueType="num">
                                      <p:cBhvr>
                                        <p:cTn id="103" dur="300" decel="100000" fill="hold"/>
                                        <p:tgtEl>
                                          <p:spTgt spid="33"/>
                                        </p:tgtEl>
                                        <p:attrNameLst>
                                          <p:attrName>ppt_y</p:attrName>
                                        </p:attrNameLst>
                                      </p:cBhvr>
                                      <p:tavLst>
                                        <p:tav tm="0">
                                          <p:val>
                                            <p:strVal val="#ppt_y+0.016"/>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300"/>
                                        <p:tgtEl>
                                          <p:spTgt spid="34"/>
                                        </p:tgtEl>
                                      </p:cBhvr>
                                    </p:animEffect>
                                    <p:anim calcmode="lin" valueType="num">
                                      <p:cBhvr>
                                        <p:cTn id="107" dur="300" decel="100000" fill="hold"/>
                                        <p:tgtEl>
                                          <p:spTgt spid="34"/>
                                        </p:tgtEl>
                                        <p:attrNameLst>
                                          <p:attrName>ppt_x</p:attrName>
                                        </p:attrNameLst>
                                      </p:cBhvr>
                                      <p:tavLst>
                                        <p:tav tm="0">
                                          <p:val>
                                            <p:strVal val="#ppt_x"/>
                                          </p:val>
                                        </p:tav>
                                        <p:tav tm="100000">
                                          <p:val>
                                            <p:strVal val="#ppt_x"/>
                                          </p:val>
                                        </p:tav>
                                      </p:tavLst>
                                    </p:anim>
                                    <p:anim calcmode="lin" valueType="num">
                                      <p:cBhvr>
                                        <p:cTn id="108" dur="300" decel="100000" fill="hold"/>
                                        <p:tgtEl>
                                          <p:spTgt spid="34"/>
                                        </p:tgtEl>
                                        <p:attrNameLst>
                                          <p:attrName>ppt_y</p:attrName>
                                        </p:attrNameLst>
                                      </p:cBhvr>
                                      <p:tavLst>
                                        <p:tav tm="0">
                                          <p:val>
                                            <p:strVal val="#ppt_y+0.016"/>
                                          </p:val>
                                        </p:tav>
                                        <p:tav tm="100000">
                                          <p:val>
                                            <p:strVal val="#ppt_y"/>
                                          </p:val>
                                        </p:tav>
                                      </p:tavLst>
                                    </p:anim>
                                  </p:childTnLst>
                                </p:cTn>
                              </p:par>
                            </p:childTnLst>
                          </p:cTn>
                        </p:par>
                        <p:par>
                          <p:cTn id="109" fill="hold">
                            <p:stCondLst>
                              <p:cond delay="600"/>
                            </p:stCondLst>
                            <p:childTnLst>
                              <p:par>
                                <p:cTn id="110" presetID="42" presetClass="entr" presetSubtype="0" fill="hold" nodeType="after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300"/>
                                        <p:tgtEl>
                                          <p:spTgt spid="37"/>
                                        </p:tgtEl>
                                      </p:cBhvr>
                                    </p:animEffect>
                                    <p:anim calcmode="lin" valueType="num">
                                      <p:cBhvr>
                                        <p:cTn id="113" dur="300" decel="100000" fill="hold"/>
                                        <p:tgtEl>
                                          <p:spTgt spid="37"/>
                                        </p:tgtEl>
                                        <p:attrNameLst>
                                          <p:attrName>ppt_x</p:attrName>
                                        </p:attrNameLst>
                                      </p:cBhvr>
                                      <p:tavLst>
                                        <p:tav tm="0">
                                          <p:val>
                                            <p:strVal val="#ppt_x"/>
                                          </p:val>
                                        </p:tav>
                                        <p:tav tm="100000">
                                          <p:val>
                                            <p:strVal val="#ppt_x"/>
                                          </p:val>
                                        </p:tav>
                                      </p:tavLst>
                                    </p:anim>
                                    <p:anim calcmode="lin" valueType="num">
                                      <p:cBhvr>
                                        <p:cTn id="114" dur="300" decel="100000" fill="hold"/>
                                        <p:tgtEl>
                                          <p:spTgt spid="37"/>
                                        </p:tgtEl>
                                        <p:attrNameLst>
                                          <p:attrName>ppt_y</p:attrName>
                                        </p:attrNameLst>
                                      </p:cBhvr>
                                      <p:tavLst>
                                        <p:tav tm="0">
                                          <p:val>
                                            <p:strVal val="#ppt_y+0.016"/>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300"/>
                                        <p:tgtEl>
                                          <p:spTgt spid="38"/>
                                        </p:tgtEl>
                                      </p:cBhvr>
                                    </p:animEffect>
                                    <p:anim calcmode="lin" valueType="num">
                                      <p:cBhvr>
                                        <p:cTn id="118" dur="300" decel="100000" fill="hold"/>
                                        <p:tgtEl>
                                          <p:spTgt spid="38"/>
                                        </p:tgtEl>
                                        <p:attrNameLst>
                                          <p:attrName>ppt_x</p:attrName>
                                        </p:attrNameLst>
                                      </p:cBhvr>
                                      <p:tavLst>
                                        <p:tav tm="0">
                                          <p:val>
                                            <p:strVal val="#ppt_x"/>
                                          </p:val>
                                        </p:tav>
                                        <p:tav tm="100000">
                                          <p:val>
                                            <p:strVal val="#ppt_x"/>
                                          </p:val>
                                        </p:tav>
                                      </p:tavLst>
                                    </p:anim>
                                    <p:anim calcmode="lin" valueType="num">
                                      <p:cBhvr>
                                        <p:cTn id="119" dur="300" decel="100000" fill="hold"/>
                                        <p:tgtEl>
                                          <p:spTgt spid="38"/>
                                        </p:tgtEl>
                                        <p:attrNameLst>
                                          <p:attrName>ppt_y</p:attrName>
                                        </p:attrNameLst>
                                      </p:cBhvr>
                                      <p:tavLst>
                                        <p:tav tm="0">
                                          <p:val>
                                            <p:strVal val="#ppt_y+0.016"/>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300"/>
                                        <p:tgtEl>
                                          <p:spTgt spid="39"/>
                                        </p:tgtEl>
                                      </p:cBhvr>
                                    </p:animEffect>
                                    <p:anim calcmode="lin" valueType="num">
                                      <p:cBhvr>
                                        <p:cTn id="123" dur="300" decel="100000" fill="hold"/>
                                        <p:tgtEl>
                                          <p:spTgt spid="39"/>
                                        </p:tgtEl>
                                        <p:attrNameLst>
                                          <p:attrName>ppt_x</p:attrName>
                                        </p:attrNameLst>
                                      </p:cBhvr>
                                      <p:tavLst>
                                        <p:tav tm="0">
                                          <p:val>
                                            <p:strVal val="#ppt_x"/>
                                          </p:val>
                                        </p:tav>
                                        <p:tav tm="100000">
                                          <p:val>
                                            <p:strVal val="#ppt_x"/>
                                          </p:val>
                                        </p:tav>
                                      </p:tavLst>
                                    </p:anim>
                                    <p:anim calcmode="lin" valueType="num">
                                      <p:cBhvr>
                                        <p:cTn id="124" dur="300" decel="100000" fill="hold"/>
                                        <p:tgtEl>
                                          <p:spTgt spid="39"/>
                                        </p:tgtEl>
                                        <p:attrNameLst>
                                          <p:attrName>ppt_y</p:attrName>
                                        </p:attrNameLst>
                                      </p:cBhvr>
                                      <p:tavLst>
                                        <p:tav tm="0">
                                          <p:val>
                                            <p:strVal val="#ppt_y+0.016"/>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300"/>
                                        <p:tgtEl>
                                          <p:spTgt spid="40"/>
                                        </p:tgtEl>
                                      </p:cBhvr>
                                    </p:animEffect>
                                    <p:anim calcmode="lin" valueType="num">
                                      <p:cBhvr>
                                        <p:cTn id="128" dur="300" decel="100000" fill="hold"/>
                                        <p:tgtEl>
                                          <p:spTgt spid="40"/>
                                        </p:tgtEl>
                                        <p:attrNameLst>
                                          <p:attrName>ppt_x</p:attrName>
                                        </p:attrNameLst>
                                      </p:cBhvr>
                                      <p:tavLst>
                                        <p:tav tm="0">
                                          <p:val>
                                            <p:strVal val="#ppt_x"/>
                                          </p:val>
                                        </p:tav>
                                        <p:tav tm="100000">
                                          <p:val>
                                            <p:strVal val="#ppt_x"/>
                                          </p:val>
                                        </p:tav>
                                      </p:tavLst>
                                    </p:anim>
                                    <p:anim calcmode="lin" valueType="num">
                                      <p:cBhvr>
                                        <p:cTn id="129" dur="300" decel="100000" fill="hold"/>
                                        <p:tgtEl>
                                          <p:spTgt spid="40"/>
                                        </p:tgtEl>
                                        <p:attrNameLst>
                                          <p:attrName>ppt_y</p:attrName>
                                        </p:attrNameLst>
                                      </p:cBhvr>
                                      <p:tavLst>
                                        <p:tav tm="0">
                                          <p:val>
                                            <p:strVal val="#ppt_y+0.016"/>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fade">
                                      <p:cBhvr>
                                        <p:cTn id="132" dur="300"/>
                                        <p:tgtEl>
                                          <p:spTgt spid="41"/>
                                        </p:tgtEl>
                                      </p:cBhvr>
                                    </p:animEffect>
                                    <p:anim calcmode="lin" valueType="num">
                                      <p:cBhvr>
                                        <p:cTn id="133" dur="300" decel="100000" fill="hold"/>
                                        <p:tgtEl>
                                          <p:spTgt spid="41"/>
                                        </p:tgtEl>
                                        <p:attrNameLst>
                                          <p:attrName>ppt_x</p:attrName>
                                        </p:attrNameLst>
                                      </p:cBhvr>
                                      <p:tavLst>
                                        <p:tav tm="0">
                                          <p:val>
                                            <p:strVal val="#ppt_x"/>
                                          </p:val>
                                        </p:tav>
                                        <p:tav tm="100000">
                                          <p:val>
                                            <p:strVal val="#ppt_x"/>
                                          </p:val>
                                        </p:tav>
                                      </p:tavLst>
                                    </p:anim>
                                    <p:anim calcmode="lin" valueType="num">
                                      <p:cBhvr>
                                        <p:cTn id="134" dur="300" decel="100000" fill="hold"/>
                                        <p:tgtEl>
                                          <p:spTgt spid="41"/>
                                        </p:tgtEl>
                                        <p:attrNameLst>
                                          <p:attrName>ppt_y</p:attrName>
                                        </p:attrNameLst>
                                      </p:cBhvr>
                                      <p:tavLst>
                                        <p:tav tm="0">
                                          <p:val>
                                            <p:strVal val="#ppt_y+0.016"/>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42"/>
                                        </p:tgtEl>
                                        <p:attrNameLst>
                                          <p:attrName>style.visibility</p:attrName>
                                        </p:attrNameLst>
                                      </p:cBhvr>
                                      <p:to>
                                        <p:strVal val="visible"/>
                                      </p:to>
                                    </p:set>
                                    <p:animEffect transition="in" filter="fade">
                                      <p:cBhvr>
                                        <p:cTn id="137" dur="300"/>
                                        <p:tgtEl>
                                          <p:spTgt spid="42"/>
                                        </p:tgtEl>
                                      </p:cBhvr>
                                    </p:animEffect>
                                    <p:anim calcmode="lin" valueType="num">
                                      <p:cBhvr>
                                        <p:cTn id="138" dur="300" decel="100000" fill="hold"/>
                                        <p:tgtEl>
                                          <p:spTgt spid="42"/>
                                        </p:tgtEl>
                                        <p:attrNameLst>
                                          <p:attrName>ppt_x</p:attrName>
                                        </p:attrNameLst>
                                      </p:cBhvr>
                                      <p:tavLst>
                                        <p:tav tm="0">
                                          <p:val>
                                            <p:strVal val="#ppt_x"/>
                                          </p:val>
                                        </p:tav>
                                        <p:tav tm="100000">
                                          <p:val>
                                            <p:strVal val="#ppt_x"/>
                                          </p:val>
                                        </p:tav>
                                      </p:tavLst>
                                    </p:anim>
                                    <p:anim calcmode="lin" valueType="num">
                                      <p:cBhvr>
                                        <p:cTn id="139" dur="300" decel="100000" fill="hold"/>
                                        <p:tgtEl>
                                          <p:spTgt spid="42"/>
                                        </p:tgtEl>
                                        <p:attrNameLst>
                                          <p:attrName>ppt_y</p:attrName>
                                        </p:attrNameLst>
                                      </p:cBhvr>
                                      <p:tavLst>
                                        <p:tav tm="0">
                                          <p:val>
                                            <p:strVal val="#ppt_y+0.016"/>
                                          </p:val>
                                        </p:tav>
                                        <p:tav tm="100000">
                                          <p:val>
                                            <p:strVal val="#ppt_y"/>
                                          </p:val>
                                        </p:tav>
                                      </p:tavLst>
                                    </p:anim>
                                  </p:childTnLst>
                                </p:cTn>
                              </p:par>
                            </p:childTnLst>
                          </p:cTn>
                        </p:par>
                        <p:par>
                          <p:cTn id="140" fill="hold">
                            <p:stCondLst>
                              <p:cond delay="900"/>
                            </p:stCondLst>
                            <p:childTnLst>
                              <p:par>
                                <p:cTn id="141" presetID="42" presetClass="entr" presetSubtype="0" fill="hold" nodeType="afterEffect">
                                  <p:stCondLst>
                                    <p:cond delay="0"/>
                                  </p:stCondLst>
                                  <p:childTnLst>
                                    <p:set>
                                      <p:cBhvr>
                                        <p:cTn id="142" dur="1" fill="hold">
                                          <p:stCondLst>
                                            <p:cond delay="0"/>
                                          </p:stCondLst>
                                        </p:cTn>
                                        <p:tgtEl>
                                          <p:spTgt spid="45"/>
                                        </p:tgtEl>
                                        <p:attrNameLst>
                                          <p:attrName>style.visibility</p:attrName>
                                        </p:attrNameLst>
                                      </p:cBhvr>
                                      <p:to>
                                        <p:strVal val="visible"/>
                                      </p:to>
                                    </p:set>
                                    <p:animEffect transition="in" filter="fade">
                                      <p:cBhvr>
                                        <p:cTn id="143" dur="300"/>
                                        <p:tgtEl>
                                          <p:spTgt spid="45"/>
                                        </p:tgtEl>
                                      </p:cBhvr>
                                    </p:animEffect>
                                    <p:anim calcmode="lin" valueType="num">
                                      <p:cBhvr>
                                        <p:cTn id="144" dur="300" decel="100000" fill="hold"/>
                                        <p:tgtEl>
                                          <p:spTgt spid="45"/>
                                        </p:tgtEl>
                                        <p:attrNameLst>
                                          <p:attrName>ppt_x</p:attrName>
                                        </p:attrNameLst>
                                      </p:cBhvr>
                                      <p:tavLst>
                                        <p:tav tm="0">
                                          <p:val>
                                            <p:strVal val="#ppt_x"/>
                                          </p:val>
                                        </p:tav>
                                        <p:tav tm="100000">
                                          <p:val>
                                            <p:strVal val="#ppt_x"/>
                                          </p:val>
                                        </p:tav>
                                      </p:tavLst>
                                    </p:anim>
                                    <p:anim calcmode="lin" valueType="num">
                                      <p:cBhvr>
                                        <p:cTn id="145" dur="300" decel="100000" fill="hold"/>
                                        <p:tgtEl>
                                          <p:spTgt spid="45"/>
                                        </p:tgtEl>
                                        <p:attrNameLst>
                                          <p:attrName>ppt_y</p:attrName>
                                        </p:attrNameLst>
                                      </p:cBhvr>
                                      <p:tavLst>
                                        <p:tav tm="0">
                                          <p:val>
                                            <p:strVal val="#ppt_y+0.016"/>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46"/>
                                        </p:tgtEl>
                                        <p:attrNameLst>
                                          <p:attrName>style.visibility</p:attrName>
                                        </p:attrNameLst>
                                      </p:cBhvr>
                                      <p:to>
                                        <p:strVal val="visible"/>
                                      </p:to>
                                    </p:set>
                                    <p:animEffect transition="in" filter="fade">
                                      <p:cBhvr>
                                        <p:cTn id="148" dur="300"/>
                                        <p:tgtEl>
                                          <p:spTgt spid="46"/>
                                        </p:tgtEl>
                                      </p:cBhvr>
                                    </p:animEffect>
                                    <p:anim calcmode="lin" valueType="num">
                                      <p:cBhvr>
                                        <p:cTn id="149" dur="300" decel="100000" fill="hold"/>
                                        <p:tgtEl>
                                          <p:spTgt spid="46"/>
                                        </p:tgtEl>
                                        <p:attrNameLst>
                                          <p:attrName>ppt_x</p:attrName>
                                        </p:attrNameLst>
                                      </p:cBhvr>
                                      <p:tavLst>
                                        <p:tav tm="0">
                                          <p:val>
                                            <p:strVal val="#ppt_x"/>
                                          </p:val>
                                        </p:tav>
                                        <p:tav tm="100000">
                                          <p:val>
                                            <p:strVal val="#ppt_x"/>
                                          </p:val>
                                        </p:tav>
                                      </p:tavLst>
                                    </p:anim>
                                    <p:anim calcmode="lin" valueType="num">
                                      <p:cBhvr>
                                        <p:cTn id="150" dur="300" decel="100000" fill="hold"/>
                                        <p:tgtEl>
                                          <p:spTgt spid="46"/>
                                        </p:tgtEl>
                                        <p:attrNameLst>
                                          <p:attrName>ppt_y</p:attrName>
                                        </p:attrNameLst>
                                      </p:cBhvr>
                                      <p:tavLst>
                                        <p:tav tm="0">
                                          <p:val>
                                            <p:strVal val="#ppt_y+0.016"/>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47"/>
                                        </p:tgtEl>
                                        <p:attrNameLst>
                                          <p:attrName>style.visibility</p:attrName>
                                        </p:attrNameLst>
                                      </p:cBhvr>
                                      <p:to>
                                        <p:strVal val="visible"/>
                                      </p:to>
                                    </p:set>
                                    <p:animEffect transition="in" filter="fade">
                                      <p:cBhvr>
                                        <p:cTn id="153" dur="300"/>
                                        <p:tgtEl>
                                          <p:spTgt spid="47"/>
                                        </p:tgtEl>
                                      </p:cBhvr>
                                    </p:animEffect>
                                    <p:anim calcmode="lin" valueType="num">
                                      <p:cBhvr>
                                        <p:cTn id="154" dur="300" decel="100000" fill="hold"/>
                                        <p:tgtEl>
                                          <p:spTgt spid="47"/>
                                        </p:tgtEl>
                                        <p:attrNameLst>
                                          <p:attrName>ppt_x</p:attrName>
                                        </p:attrNameLst>
                                      </p:cBhvr>
                                      <p:tavLst>
                                        <p:tav tm="0">
                                          <p:val>
                                            <p:strVal val="#ppt_x"/>
                                          </p:val>
                                        </p:tav>
                                        <p:tav tm="100000">
                                          <p:val>
                                            <p:strVal val="#ppt_x"/>
                                          </p:val>
                                        </p:tav>
                                      </p:tavLst>
                                    </p:anim>
                                    <p:anim calcmode="lin" valueType="num">
                                      <p:cBhvr>
                                        <p:cTn id="155" dur="300" decel="100000" fill="hold"/>
                                        <p:tgtEl>
                                          <p:spTgt spid="47"/>
                                        </p:tgtEl>
                                        <p:attrNameLst>
                                          <p:attrName>ppt_y</p:attrName>
                                        </p:attrNameLst>
                                      </p:cBhvr>
                                      <p:tavLst>
                                        <p:tav tm="0">
                                          <p:val>
                                            <p:strVal val="#ppt_y+0.016"/>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48"/>
                                        </p:tgtEl>
                                        <p:attrNameLst>
                                          <p:attrName>style.visibility</p:attrName>
                                        </p:attrNameLst>
                                      </p:cBhvr>
                                      <p:to>
                                        <p:strVal val="visible"/>
                                      </p:to>
                                    </p:set>
                                    <p:animEffect transition="in" filter="fade">
                                      <p:cBhvr>
                                        <p:cTn id="158" dur="300"/>
                                        <p:tgtEl>
                                          <p:spTgt spid="48"/>
                                        </p:tgtEl>
                                      </p:cBhvr>
                                    </p:animEffect>
                                    <p:anim calcmode="lin" valueType="num">
                                      <p:cBhvr>
                                        <p:cTn id="159" dur="300" decel="100000" fill="hold"/>
                                        <p:tgtEl>
                                          <p:spTgt spid="48"/>
                                        </p:tgtEl>
                                        <p:attrNameLst>
                                          <p:attrName>ppt_x</p:attrName>
                                        </p:attrNameLst>
                                      </p:cBhvr>
                                      <p:tavLst>
                                        <p:tav tm="0">
                                          <p:val>
                                            <p:strVal val="#ppt_x"/>
                                          </p:val>
                                        </p:tav>
                                        <p:tav tm="100000">
                                          <p:val>
                                            <p:strVal val="#ppt_x"/>
                                          </p:val>
                                        </p:tav>
                                      </p:tavLst>
                                    </p:anim>
                                    <p:anim calcmode="lin" valueType="num">
                                      <p:cBhvr>
                                        <p:cTn id="160" dur="300" decel="100000" fill="hold"/>
                                        <p:tgtEl>
                                          <p:spTgt spid="48"/>
                                        </p:tgtEl>
                                        <p:attrNameLst>
                                          <p:attrName>ppt_y</p:attrName>
                                        </p:attrNameLst>
                                      </p:cBhvr>
                                      <p:tavLst>
                                        <p:tav tm="0">
                                          <p:val>
                                            <p:strVal val="#ppt_y+0.016"/>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49"/>
                                        </p:tgtEl>
                                        <p:attrNameLst>
                                          <p:attrName>style.visibility</p:attrName>
                                        </p:attrNameLst>
                                      </p:cBhvr>
                                      <p:to>
                                        <p:strVal val="visible"/>
                                      </p:to>
                                    </p:set>
                                    <p:animEffect transition="in" filter="fade">
                                      <p:cBhvr>
                                        <p:cTn id="163" dur="300"/>
                                        <p:tgtEl>
                                          <p:spTgt spid="49"/>
                                        </p:tgtEl>
                                      </p:cBhvr>
                                    </p:animEffect>
                                    <p:anim calcmode="lin" valueType="num">
                                      <p:cBhvr>
                                        <p:cTn id="164" dur="300" decel="100000" fill="hold"/>
                                        <p:tgtEl>
                                          <p:spTgt spid="49"/>
                                        </p:tgtEl>
                                        <p:attrNameLst>
                                          <p:attrName>ppt_x</p:attrName>
                                        </p:attrNameLst>
                                      </p:cBhvr>
                                      <p:tavLst>
                                        <p:tav tm="0">
                                          <p:val>
                                            <p:strVal val="#ppt_x"/>
                                          </p:val>
                                        </p:tav>
                                        <p:tav tm="100000">
                                          <p:val>
                                            <p:strVal val="#ppt_x"/>
                                          </p:val>
                                        </p:tav>
                                      </p:tavLst>
                                    </p:anim>
                                    <p:anim calcmode="lin" valueType="num">
                                      <p:cBhvr>
                                        <p:cTn id="165" dur="300" decel="100000" fill="hold"/>
                                        <p:tgtEl>
                                          <p:spTgt spid="49"/>
                                        </p:tgtEl>
                                        <p:attrNameLst>
                                          <p:attrName>ppt_y</p:attrName>
                                        </p:attrNameLst>
                                      </p:cBhvr>
                                      <p:tavLst>
                                        <p:tav tm="0">
                                          <p:val>
                                            <p:strVal val="#ppt_y+0.016"/>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50"/>
                                        </p:tgtEl>
                                        <p:attrNameLst>
                                          <p:attrName>style.visibility</p:attrName>
                                        </p:attrNameLst>
                                      </p:cBhvr>
                                      <p:to>
                                        <p:strVal val="visible"/>
                                      </p:to>
                                    </p:set>
                                    <p:animEffect transition="in" filter="fade">
                                      <p:cBhvr>
                                        <p:cTn id="168" dur="300"/>
                                        <p:tgtEl>
                                          <p:spTgt spid="50"/>
                                        </p:tgtEl>
                                      </p:cBhvr>
                                    </p:animEffect>
                                    <p:anim calcmode="lin" valueType="num">
                                      <p:cBhvr>
                                        <p:cTn id="169" dur="300" decel="100000" fill="hold"/>
                                        <p:tgtEl>
                                          <p:spTgt spid="50"/>
                                        </p:tgtEl>
                                        <p:attrNameLst>
                                          <p:attrName>ppt_x</p:attrName>
                                        </p:attrNameLst>
                                      </p:cBhvr>
                                      <p:tavLst>
                                        <p:tav tm="0">
                                          <p:val>
                                            <p:strVal val="#ppt_x"/>
                                          </p:val>
                                        </p:tav>
                                        <p:tav tm="100000">
                                          <p:val>
                                            <p:strVal val="#ppt_x"/>
                                          </p:val>
                                        </p:tav>
                                      </p:tavLst>
                                    </p:anim>
                                    <p:anim calcmode="lin" valueType="num">
                                      <p:cBhvr>
                                        <p:cTn id="170" dur="300" decel="100000" fill="hold"/>
                                        <p:tgtEl>
                                          <p:spTgt spid="50"/>
                                        </p:tgtEl>
                                        <p:attrNameLst>
                                          <p:attrName>ppt_y</p:attrName>
                                        </p:attrNameLst>
                                      </p:cBhvr>
                                      <p:tavLst>
                                        <p:tav tm="0">
                                          <p:val>
                                            <p:strVal val="#ppt_y+0.016"/>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27"/>
                                        </p:tgtEl>
                                        <p:attrNameLst>
                                          <p:attrName>style.visibility</p:attrName>
                                        </p:attrNameLst>
                                      </p:cBhvr>
                                      <p:to>
                                        <p:strVal val="visible"/>
                                      </p:to>
                                    </p:set>
                                    <p:animEffect transition="in" filter="wipe(left)">
                                      <p:cBhvr>
                                        <p:cTn id="175" dur="400"/>
                                        <p:tgtEl>
                                          <p:spTgt spid="27"/>
                                        </p:tgtEl>
                                      </p:cBhvr>
                                    </p:animEffect>
                                  </p:childTnLst>
                                </p:cTn>
                              </p:par>
                              <p:par>
                                <p:cTn id="176" presetID="22" presetClass="entr" presetSubtype="8" fill="hold" grpId="0" nodeType="withEffect">
                                  <p:stCondLst>
                                    <p:cond delay="0"/>
                                  </p:stCondLst>
                                  <p:childTnLst>
                                    <p:set>
                                      <p:cBhvr>
                                        <p:cTn id="177" dur="1" fill="hold">
                                          <p:stCondLst>
                                            <p:cond delay="0"/>
                                          </p:stCondLst>
                                        </p:cTn>
                                        <p:tgtEl>
                                          <p:spTgt spid="28"/>
                                        </p:tgtEl>
                                        <p:attrNameLst>
                                          <p:attrName>style.visibility</p:attrName>
                                        </p:attrNameLst>
                                      </p:cBhvr>
                                      <p:to>
                                        <p:strVal val="visible"/>
                                      </p:to>
                                    </p:set>
                                    <p:animEffect transition="in" filter="wipe(left)">
                                      <p:cBhvr>
                                        <p:cTn id="178" dur="400"/>
                                        <p:tgtEl>
                                          <p:spTgt spid="28"/>
                                        </p:tgtEl>
                                      </p:cBhvr>
                                    </p:animEffect>
                                  </p:childTnLst>
                                </p:cTn>
                              </p:par>
                              <p:par>
                                <p:cTn id="179" presetID="22" presetClass="entr" presetSubtype="8" fill="hold" nodeType="withEffect">
                                  <p:stCondLst>
                                    <p:cond delay="0"/>
                                  </p:stCondLst>
                                  <p:childTnLst>
                                    <p:set>
                                      <p:cBhvr>
                                        <p:cTn id="180" dur="1" fill="hold">
                                          <p:stCondLst>
                                            <p:cond delay="0"/>
                                          </p:stCondLst>
                                        </p:cTn>
                                        <p:tgtEl>
                                          <p:spTgt spid="35"/>
                                        </p:tgtEl>
                                        <p:attrNameLst>
                                          <p:attrName>style.visibility</p:attrName>
                                        </p:attrNameLst>
                                      </p:cBhvr>
                                      <p:to>
                                        <p:strVal val="visible"/>
                                      </p:to>
                                    </p:set>
                                    <p:animEffect transition="in" filter="wipe(left)">
                                      <p:cBhvr>
                                        <p:cTn id="181" dur="400"/>
                                        <p:tgtEl>
                                          <p:spTgt spid="35"/>
                                        </p:tgtEl>
                                      </p:cBhvr>
                                    </p:animEffect>
                                  </p:childTnLst>
                                </p:cTn>
                              </p:par>
                              <p:par>
                                <p:cTn id="182" presetID="22" presetClass="entr" presetSubtype="8" fill="hold" grpId="0" nodeType="withEffect">
                                  <p:stCondLst>
                                    <p:cond delay="0"/>
                                  </p:stCondLst>
                                  <p:childTnLst>
                                    <p:set>
                                      <p:cBhvr>
                                        <p:cTn id="183" dur="1" fill="hold">
                                          <p:stCondLst>
                                            <p:cond delay="0"/>
                                          </p:stCondLst>
                                        </p:cTn>
                                        <p:tgtEl>
                                          <p:spTgt spid="36"/>
                                        </p:tgtEl>
                                        <p:attrNameLst>
                                          <p:attrName>style.visibility</p:attrName>
                                        </p:attrNameLst>
                                      </p:cBhvr>
                                      <p:to>
                                        <p:strVal val="visible"/>
                                      </p:to>
                                    </p:set>
                                    <p:animEffect transition="in" filter="wipe(left)">
                                      <p:cBhvr>
                                        <p:cTn id="184" dur="400"/>
                                        <p:tgtEl>
                                          <p:spTgt spid="36"/>
                                        </p:tgtEl>
                                      </p:cBhvr>
                                    </p:animEffect>
                                  </p:childTnLst>
                                </p:cTn>
                              </p:par>
                              <p:par>
                                <p:cTn id="185" presetID="22" presetClass="entr" presetSubtype="8" fill="hold" nodeType="withEffect">
                                  <p:stCondLst>
                                    <p:cond delay="0"/>
                                  </p:stCondLst>
                                  <p:childTnLst>
                                    <p:set>
                                      <p:cBhvr>
                                        <p:cTn id="186" dur="1" fill="hold">
                                          <p:stCondLst>
                                            <p:cond delay="0"/>
                                          </p:stCondLst>
                                        </p:cTn>
                                        <p:tgtEl>
                                          <p:spTgt spid="43"/>
                                        </p:tgtEl>
                                        <p:attrNameLst>
                                          <p:attrName>style.visibility</p:attrName>
                                        </p:attrNameLst>
                                      </p:cBhvr>
                                      <p:to>
                                        <p:strVal val="visible"/>
                                      </p:to>
                                    </p:set>
                                    <p:animEffect transition="in" filter="wipe(left)">
                                      <p:cBhvr>
                                        <p:cTn id="187" dur="400"/>
                                        <p:tgtEl>
                                          <p:spTgt spid="43"/>
                                        </p:tgtEl>
                                      </p:cBhvr>
                                    </p:animEffect>
                                  </p:childTnLst>
                                </p:cTn>
                              </p:par>
                              <p:par>
                                <p:cTn id="188" presetID="22" presetClass="entr" presetSubtype="8" fill="hold" grpId="0" nodeType="withEffect">
                                  <p:stCondLst>
                                    <p:cond delay="0"/>
                                  </p:stCondLst>
                                  <p:childTnLst>
                                    <p:set>
                                      <p:cBhvr>
                                        <p:cTn id="189" dur="1" fill="hold">
                                          <p:stCondLst>
                                            <p:cond delay="0"/>
                                          </p:stCondLst>
                                        </p:cTn>
                                        <p:tgtEl>
                                          <p:spTgt spid="44"/>
                                        </p:tgtEl>
                                        <p:attrNameLst>
                                          <p:attrName>style.visibility</p:attrName>
                                        </p:attrNameLst>
                                      </p:cBhvr>
                                      <p:to>
                                        <p:strVal val="visible"/>
                                      </p:to>
                                    </p:set>
                                    <p:animEffect transition="in" filter="wipe(left)">
                                      <p:cBhvr>
                                        <p:cTn id="190" dur="400"/>
                                        <p:tgtEl>
                                          <p:spTgt spid="44"/>
                                        </p:tgtEl>
                                      </p:cBhvr>
                                    </p:animEffect>
                                  </p:childTnLst>
                                </p:cTn>
                              </p:par>
                              <p:par>
                                <p:cTn id="191" presetID="22" presetClass="entr" presetSubtype="8" fill="hold" nodeType="withEffect">
                                  <p:stCondLst>
                                    <p:cond delay="0"/>
                                  </p:stCondLst>
                                  <p:childTnLst>
                                    <p:set>
                                      <p:cBhvr>
                                        <p:cTn id="192" dur="1" fill="hold">
                                          <p:stCondLst>
                                            <p:cond delay="0"/>
                                          </p:stCondLst>
                                        </p:cTn>
                                        <p:tgtEl>
                                          <p:spTgt spid="51"/>
                                        </p:tgtEl>
                                        <p:attrNameLst>
                                          <p:attrName>style.visibility</p:attrName>
                                        </p:attrNameLst>
                                      </p:cBhvr>
                                      <p:to>
                                        <p:strVal val="visible"/>
                                      </p:to>
                                    </p:set>
                                    <p:animEffect transition="in" filter="wipe(left)">
                                      <p:cBhvr>
                                        <p:cTn id="193" dur="400"/>
                                        <p:tgtEl>
                                          <p:spTgt spid="51"/>
                                        </p:tgtEl>
                                      </p:cBhvr>
                                    </p:animEffect>
                                  </p:childTnLst>
                                </p:cTn>
                              </p:par>
                              <p:par>
                                <p:cTn id="194" presetID="22" presetClass="entr" presetSubtype="8" fill="hold" grpId="0" nodeType="withEffect">
                                  <p:stCondLst>
                                    <p:cond delay="0"/>
                                  </p:stCondLst>
                                  <p:childTnLst>
                                    <p:set>
                                      <p:cBhvr>
                                        <p:cTn id="195" dur="1" fill="hold">
                                          <p:stCondLst>
                                            <p:cond delay="0"/>
                                          </p:stCondLst>
                                        </p:cTn>
                                        <p:tgtEl>
                                          <p:spTgt spid="52"/>
                                        </p:tgtEl>
                                        <p:attrNameLst>
                                          <p:attrName>style.visibility</p:attrName>
                                        </p:attrNameLst>
                                      </p:cBhvr>
                                      <p:to>
                                        <p:strVal val="visible"/>
                                      </p:to>
                                    </p:set>
                                    <p:animEffect transition="in" filter="wipe(left)">
                                      <p:cBhvr>
                                        <p:cTn id="196"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30" grpId="0" animBg="1"/>
      <p:bldP spid="31" grpId="0" animBg="1"/>
      <p:bldP spid="32" grpId="0" animBg="1"/>
      <p:bldP spid="33" grpId="0" animBg="1"/>
      <p:bldP spid="34" grpId="0" animBg="1"/>
      <p:bldP spid="36" grpId="0" animBg="1"/>
      <p:bldP spid="38" grpId="0" animBg="1"/>
      <p:bldP spid="39" grpId="0" animBg="1"/>
      <p:bldP spid="40" grpId="0" animBg="1"/>
      <p:bldP spid="41" grpId="0" animBg="1"/>
      <p:bldP spid="42" grpId="0" animBg="1"/>
      <p:bldP spid="44" grpId="0" animBg="1"/>
      <p:bldP spid="46" grpId="0" animBg="1"/>
      <p:bldP spid="47" grpId="0" animBg="1"/>
      <p:bldP spid="48" grpId="0" animBg="1"/>
      <p:bldP spid="49" grpId="0" animBg="1"/>
      <p:bldP spid="50" grpId="0" animBg="1"/>
      <p:bldP spid="5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xt_248"/>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02: LITERATURE</a:t>
            </a:r>
            <a:endParaRPr lang="en-US" sz="1100" dirty="0"/>
          </a:p>
        </p:txBody>
      </p:sp>
      <p:sp>
        <p:nvSpPr>
          <p:cNvPr id="3" name="kicker_249"/>
          <p:cNvSpPr txBox="1"/>
          <p:nvPr/>
        </p:nvSpPr>
        <p:spPr>
          <a:xfrm>
            <a:off x="457200" y="548640"/>
            <a:ext cx="740664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SURVEY 4/4 · PLANNING, SAFETY &amp; EVALUATION</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Recent planning and evaluation work defines the validation task</a:t>
            </a:r>
            <a:endParaRPr lang="en-US" sz="4000" dirty="0"/>
          </a:p>
        </p:txBody>
      </p:sp>
      <p:sp>
        <p:nvSpPr>
          <p:cNvPr id="5" name="txt_250"/>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S04 / S07 PARTIAL READS FLAGGED</a:t>
            </a:r>
            <a:endParaRPr lang="en-US" sz="1000" dirty="0"/>
          </a:p>
        </p:txBody>
      </p:sp>
      <p:sp>
        <p:nvSpPr>
          <p:cNvPr id="6" name="txt_251"/>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Full refs A01–A02 · matrix A03–A08</a:t>
            </a:r>
            <a:endParaRPr lang="en-US" sz="1000" dirty="0"/>
          </a:p>
        </p:txBody>
      </p:sp>
      <p:sp>
        <p:nvSpPr>
          <p:cNvPr id="7" name="txt_252"/>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[ 08 / 18 ]</a:t>
            </a:r>
            <a:endParaRPr lang="en-US" sz="1200" dirty="0"/>
          </a:p>
        </p:txBody>
      </p:sp>
      <p:sp>
        <p:nvSpPr>
          <p:cNvPr id="9" name="txt_253"/>
          <p:cNvSpPr txBox="1"/>
          <p:nvPr/>
        </p:nvSpPr>
        <p:spPr>
          <a:xfrm>
            <a:off x="548640" y="2148840"/>
            <a:ext cx="219456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WORK · YEAR</a:t>
            </a:r>
            <a:endParaRPr lang="en-US" sz="1100" dirty="0"/>
          </a:p>
        </p:txBody>
      </p:sp>
      <p:sp>
        <p:nvSpPr>
          <p:cNvPr id="10" name="txt_254"/>
          <p:cNvSpPr txBox="1"/>
          <p:nvPr/>
        </p:nvSpPr>
        <p:spPr>
          <a:xfrm>
            <a:off x="2834640" y="2148840"/>
            <a:ext cx="283464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METHOD &amp; CONTEXT</a:t>
            </a:r>
            <a:endParaRPr lang="en-US" sz="1100" dirty="0"/>
          </a:p>
        </p:txBody>
      </p:sp>
      <p:sp>
        <p:nvSpPr>
          <p:cNvPr id="11" name="txt_255"/>
          <p:cNvSpPr txBox="1"/>
          <p:nvPr/>
        </p:nvSpPr>
        <p:spPr>
          <a:xfrm>
            <a:off x="5760720" y="2148840"/>
            <a:ext cx="2971800" cy="237744"/>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REPORTED FINDING / LIMIT</a:t>
            </a:r>
            <a:endParaRPr lang="en-US" sz="1100" dirty="0"/>
          </a:p>
        </p:txBody>
      </p:sp>
      <p:sp>
        <p:nvSpPr>
          <p:cNvPr id="12" name="txt_256"/>
          <p:cNvSpPr txBox="1"/>
          <p:nvPr/>
        </p:nvSpPr>
        <p:spPr>
          <a:xfrm>
            <a:off x="8823960" y="2148840"/>
            <a:ext cx="2999232"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 NAVI DECISION</a:t>
            </a:r>
            <a:endParaRPr lang="en-US" sz="1100" dirty="0"/>
          </a:p>
        </p:txBody>
      </p:sp>
      <p:sp>
        <p:nvSpPr>
          <p:cNvPr id="13" name="box_257"/>
          <p:cNvSpPr/>
          <p:nvPr/>
        </p:nvSpPr>
        <p:spPr>
          <a:xfrm>
            <a:off x="457200" y="2423160"/>
            <a:ext cx="11277295" cy="713232"/>
          </a:xfrm>
          <a:prstGeom prst="roundRect">
            <a:avLst>
              <a:gd name="adj" fmla="val 7692"/>
            </a:avLst>
          </a:prstGeom>
          <a:solidFill>
            <a:srgbClr val="131C2E">
              <a:alpha val="78000"/>
            </a:srgbClr>
          </a:solidFill>
          <a:ln w="9525">
            <a:solidFill>
              <a:srgbClr val="00F0FF">
                <a:alpha val="22000"/>
              </a:srgbClr>
            </a:solidFill>
            <a:prstDash val="solid"/>
          </a:ln>
        </p:spPr>
      </p:sp>
      <p:sp>
        <p:nvSpPr>
          <p:cNvPr id="14" name="chip_258"/>
          <p:cNvSpPr txBox="1"/>
          <p:nvPr/>
        </p:nvSpPr>
        <p:spPr>
          <a:xfrm>
            <a:off x="548640" y="2514600"/>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U02</a:t>
            </a:r>
            <a:endParaRPr lang="en-US" sz="1000" dirty="0"/>
          </a:p>
        </p:txBody>
      </p:sp>
      <p:sp>
        <p:nvSpPr>
          <p:cNvPr id="15" name="txt_259"/>
          <p:cNvSpPr txBox="1"/>
          <p:nvPr/>
        </p:nvSpPr>
        <p:spPr>
          <a:xfrm>
            <a:off x="1088136" y="2514600"/>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2025 · RECENT</a:t>
            </a:r>
            <a:endParaRPr lang="en-US" sz="1000" dirty="0"/>
          </a:p>
        </p:txBody>
      </p:sp>
      <p:sp>
        <p:nvSpPr>
          <p:cNvPr id="16" name="txt_260"/>
          <p:cNvSpPr txBox="1"/>
          <p:nvPr/>
        </p:nvSpPr>
        <p:spPr>
          <a:xfrm>
            <a:off x="548640" y="2788920"/>
            <a:ext cx="2148840" cy="329184"/>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UAV obstacle survey</a:t>
            </a:r>
            <a:endParaRPr lang="en-US" sz="1300" dirty="0"/>
          </a:p>
        </p:txBody>
      </p:sp>
      <p:sp>
        <p:nvSpPr>
          <p:cNvPr id="17" name="txt_261"/>
          <p:cNvSpPr txBox="1"/>
          <p:nvPr/>
        </p:nvSpPr>
        <p:spPr>
          <a:xfrm>
            <a:off x="2834640" y="2505456"/>
            <a:ext cx="272491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ODA methods compared by obstacle, sensors, maps.</a:t>
            </a:r>
            <a:endParaRPr lang="en-US" sz="1400" dirty="0"/>
          </a:p>
        </p:txBody>
      </p:sp>
      <p:sp>
        <p:nvSpPr>
          <p:cNvPr id="18" name="txt_262"/>
          <p:cNvSpPr txBox="1"/>
          <p:nvPr/>
        </p:nvSpPr>
        <p:spPr>
          <a:xfrm>
            <a:off x="5760720" y="2505456"/>
            <a:ext cx="286207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&lt;50% handle static + dynamic obstacles; 7.35% energy-aware.</a:t>
            </a:r>
            <a:endParaRPr lang="en-US" sz="1400" dirty="0"/>
          </a:p>
        </p:txBody>
      </p:sp>
      <p:sp>
        <p:nvSpPr>
          <p:cNvPr id="19" name="box_263"/>
          <p:cNvSpPr/>
          <p:nvPr/>
        </p:nvSpPr>
        <p:spPr>
          <a:xfrm>
            <a:off x="8732520" y="2468880"/>
            <a:ext cx="2953512" cy="621792"/>
          </a:xfrm>
          <a:prstGeom prst="roundRect">
            <a:avLst>
              <a:gd name="adj" fmla="val 8824"/>
            </a:avLst>
          </a:prstGeom>
          <a:solidFill>
            <a:srgbClr val="00F0FF">
              <a:alpha val="8000"/>
            </a:srgbClr>
          </a:solidFill>
          <a:ln/>
        </p:spPr>
      </p:sp>
      <p:sp>
        <p:nvSpPr>
          <p:cNvPr id="20" name="txt_264"/>
          <p:cNvSpPr txBox="1"/>
          <p:nvPr/>
        </p:nvSpPr>
        <p:spPr>
          <a:xfrm>
            <a:off x="8823960" y="2505456"/>
            <a:ext cx="281635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No sensing → inspected routes, altitude survey, RC takeover.</a:t>
            </a:r>
            <a:endParaRPr lang="en-US" sz="1400" dirty="0"/>
          </a:p>
        </p:txBody>
      </p:sp>
      <p:sp>
        <p:nvSpPr>
          <p:cNvPr id="21" name="box_265"/>
          <p:cNvSpPr/>
          <p:nvPr/>
        </p:nvSpPr>
        <p:spPr>
          <a:xfrm>
            <a:off x="457200" y="3182112"/>
            <a:ext cx="11277295" cy="713232"/>
          </a:xfrm>
          <a:prstGeom prst="roundRect">
            <a:avLst>
              <a:gd name="adj" fmla="val 7692"/>
            </a:avLst>
          </a:prstGeom>
          <a:solidFill>
            <a:srgbClr val="131C2E">
              <a:alpha val="78000"/>
            </a:srgbClr>
          </a:solidFill>
          <a:ln w="9525">
            <a:solidFill>
              <a:srgbClr val="00F0FF">
                <a:alpha val="22000"/>
              </a:srgbClr>
            </a:solidFill>
            <a:prstDash val="solid"/>
          </a:ln>
        </p:spPr>
      </p:sp>
      <p:sp>
        <p:nvSpPr>
          <p:cNvPr id="22" name="chip_266"/>
          <p:cNvSpPr txBox="1"/>
          <p:nvPr/>
        </p:nvSpPr>
        <p:spPr>
          <a:xfrm>
            <a:off x="548640" y="3273552"/>
            <a:ext cx="46634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000" b="1" dirty="0">
                <a:solidFill>
                  <a:srgbClr val="94A3B8"/>
                </a:solidFill>
                <a:latin typeface="JetBrains Mono" pitchFamily="34" charset="0"/>
                <a:ea typeface="JetBrains Mono" pitchFamily="34" charset="-122"/>
                <a:cs typeface="JetBrains Mono" pitchFamily="34" charset="-120"/>
              </a:rPr>
              <a:t>U06</a:t>
            </a:r>
            <a:endParaRPr lang="en-US" sz="1000" dirty="0"/>
          </a:p>
        </p:txBody>
      </p:sp>
      <p:sp>
        <p:nvSpPr>
          <p:cNvPr id="23" name="txt_267"/>
          <p:cNvSpPr txBox="1"/>
          <p:nvPr/>
        </p:nvSpPr>
        <p:spPr>
          <a:xfrm>
            <a:off x="1088136" y="3273552"/>
            <a:ext cx="173736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2013 · FOUNDATIONAL</a:t>
            </a:r>
            <a:endParaRPr lang="en-US" sz="1000" dirty="0"/>
          </a:p>
        </p:txBody>
      </p:sp>
      <p:sp>
        <p:nvSpPr>
          <p:cNvPr id="24" name="txt_268"/>
          <p:cNvSpPr txBox="1"/>
          <p:nvPr/>
        </p:nvSpPr>
        <p:spPr>
          <a:xfrm>
            <a:off x="548640" y="3547872"/>
            <a:ext cx="2148840" cy="329184"/>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Human-aware navigation</a:t>
            </a:r>
            <a:endParaRPr lang="en-US" sz="1300" dirty="0"/>
          </a:p>
        </p:txBody>
      </p:sp>
      <p:sp>
        <p:nvSpPr>
          <p:cNvPr id="25" name="txt_269"/>
          <p:cNvSpPr txBox="1"/>
          <p:nvPr/>
        </p:nvSpPr>
        <p:spPr>
          <a:xfrm>
            <a:off x="2834640" y="3264408"/>
            <a:ext cx="272491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Comfort, naturalness, sociability: methods and evaluation.</a:t>
            </a:r>
            <a:endParaRPr lang="en-US" sz="1400" dirty="0"/>
          </a:p>
        </p:txBody>
      </p:sp>
      <p:sp>
        <p:nvSpPr>
          <p:cNvPr id="26" name="txt_270"/>
          <p:cNvSpPr txBox="1"/>
          <p:nvPr/>
        </p:nvSpPr>
        <p:spPr>
          <a:xfrm>
            <a:off x="5760720" y="3264408"/>
            <a:ext cx="286207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Discomfort models or questionnaires; wheeled robots.</a:t>
            </a:r>
            <a:endParaRPr lang="en-US" sz="1400" dirty="0"/>
          </a:p>
        </p:txBody>
      </p:sp>
      <p:sp>
        <p:nvSpPr>
          <p:cNvPr id="27" name="box_271"/>
          <p:cNvSpPr/>
          <p:nvPr/>
        </p:nvSpPr>
        <p:spPr>
          <a:xfrm>
            <a:off x="8732520" y="3227832"/>
            <a:ext cx="2953512" cy="621792"/>
          </a:xfrm>
          <a:prstGeom prst="roundRect">
            <a:avLst>
              <a:gd name="adj" fmla="val 8824"/>
            </a:avLst>
          </a:prstGeom>
          <a:solidFill>
            <a:srgbClr val="00F0FF">
              <a:alpha val="8000"/>
            </a:srgbClr>
          </a:solidFill>
          <a:ln/>
        </p:spPr>
      </p:sp>
      <p:sp>
        <p:nvSpPr>
          <p:cNvPr id="28" name="txt_272"/>
          <p:cNvSpPr txBox="1"/>
          <p:nvPr/>
        </p:nvSpPr>
        <p:spPr>
          <a:xfrm>
            <a:off x="8823960" y="3264408"/>
            <a:ext cx="281635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Hysteresis avoids oscillating holds; collect comfort ratings.</a:t>
            </a:r>
            <a:endParaRPr lang="en-US" sz="1400" dirty="0"/>
          </a:p>
        </p:txBody>
      </p:sp>
      <p:sp>
        <p:nvSpPr>
          <p:cNvPr id="29" name="box_273"/>
          <p:cNvSpPr/>
          <p:nvPr/>
        </p:nvSpPr>
        <p:spPr>
          <a:xfrm>
            <a:off x="457200" y="3941064"/>
            <a:ext cx="11277295" cy="713232"/>
          </a:xfrm>
          <a:prstGeom prst="roundRect">
            <a:avLst>
              <a:gd name="adj" fmla="val 7692"/>
            </a:avLst>
          </a:prstGeom>
          <a:solidFill>
            <a:srgbClr val="131C2E">
              <a:alpha val="78000"/>
            </a:srgbClr>
          </a:solidFill>
          <a:ln w="9525">
            <a:solidFill>
              <a:srgbClr val="00F0FF">
                <a:alpha val="22000"/>
              </a:srgbClr>
            </a:solidFill>
            <a:prstDash val="solid"/>
          </a:ln>
        </p:spPr>
      </p:sp>
      <p:sp>
        <p:nvSpPr>
          <p:cNvPr id="30" name="chip_274"/>
          <p:cNvSpPr txBox="1"/>
          <p:nvPr/>
        </p:nvSpPr>
        <p:spPr>
          <a:xfrm>
            <a:off x="548640" y="4032504"/>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S04</a:t>
            </a:r>
            <a:endParaRPr lang="en-US" sz="1000" dirty="0"/>
          </a:p>
        </p:txBody>
      </p:sp>
      <p:sp>
        <p:nvSpPr>
          <p:cNvPr id="31" name="txt_275"/>
          <p:cNvSpPr txBox="1"/>
          <p:nvPr/>
        </p:nvSpPr>
        <p:spPr>
          <a:xfrm>
            <a:off x="1088136" y="4032504"/>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32" name="txt_276"/>
          <p:cNvSpPr txBox="1"/>
          <p:nvPr/>
        </p:nvSpPr>
        <p:spPr>
          <a:xfrm>
            <a:off x="548640" y="4306824"/>
            <a:ext cx="2148840" cy="329184"/>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Social-nav requirements</a:t>
            </a:r>
            <a:endParaRPr lang="en-US" sz="1300" dirty="0"/>
          </a:p>
        </p:txBody>
      </p:sp>
      <p:sp>
        <p:nvSpPr>
          <p:cNvPr id="33" name="txt_277"/>
          <p:cNvSpPr txBox="1"/>
          <p:nvPr/>
        </p:nvSpPr>
        <p:spPr>
          <a:xfrm>
            <a:off x="2834640" y="4023360"/>
            <a:ext cx="272491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Links user-study requirements to planners and metrics.</a:t>
            </a:r>
            <a:endParaRPr lang="en-US" sz="1400" dirty="0"/>
          </a:p>
        </p:txBody>
      </p:sp>
      <p:sp>
        <p:nvSpPr>
          <p:cNvPr id="34" name="txt_278"/>
          <p:cNvSpPr txBox="1"/>
          <p:nvPr/>
        </p:nvSpPr>
        <p:spPr>
          <a:xfrm>
            <a:off x="5760720" y="4023360"/>
            <a:ext cx="286207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Physical safety, perceived safety, naturalness, norms. Partial read.</a:t>
            </a:r>
            <a:endParaRPr lang="en-US" sz="1400" dirty="0"/>
          </a:p>
        </p:txBody>
      </p:sp>
      <p:sp>
        <p:nvSpPr>
          <p:cNvPr id="35" name="box_279"/>
          <p:cNvSpPr/>
          <p:nvPr/>
        </p:nvSpPr>
        <p:spPr>
          <a:xfrm>
            <a:off x="8732520" y="3986784"/>
            <a:ext cx="2953512" cy="621792"/>
          </a:xfrm>
          <a:prstGeom prst="roundRect">
            <a:avLst>
              <a:gd name="adj" fmla="val 8824"/>
            </a:avLst>
          </a:prstGeom>
          <a:solidFill>
            <a:srgbClr val="00F0FF">
              <a:alpha val="8000"/>
            </a:srgbClr>
          </a:solidFill>
          <a:ln/>
        </p:spPr>
      </p:sp>
      <p:sp>
        <p:nvSpPr>
          <p:cNvPr id="36" name="txt_280"/>
          <p:cNvSpPr txBox="1"/>
          <p:nvPr/>
        </p:nvSpPr>
        <p:spPr>
          <a:xfrm>
            <a:off x="8823960" y="4023360"/>
            <a:ext cx="281635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Map each acceptance target to a requirement category.</a:t>
            </a:r>
            <a:endParaRPr lang="en-US" sz="1400" dirty="0"/>
          </a:p>
        </p:txBody>
      </p:sp>
      <p:sp>
        <p:nvSpPr>
          <p:cNvPr id="37" name="box_281"/>
          <p:cNvSpPr/>
          <p:nvPr/>
        </p:nvSpPr>
        <p:spPr>
          <a:xfrm>
            <a:off x="457200" y="4700016"/>
            <a:ext cx="11277295" cy="713232"/>
          </a:xfrm>
          <a:prstGeom prst="roundRect">
            <a:avLst>
              <a:gd name="adj" fmla="val 7692"/>
            </a:avLst>
          </a:prstGeom>
          <a:solidFill>
            <a:srgbClr val="131C2E">
              <a:alpha val="78000"/>
            </a:srgbClr>
          </a:solidFill>
          <a:ln w="9525">
            <a:solidFill>
              <a:srgbClr val="00F0FF">
                <a:alpha val="22000"/>
              </a:srgbClr>
            </a:solidFill>
            <a:prstDash val="solid"/>
          </a:ln>
        </p:spPr>
      </p:sp>
      <p:sp>
        <p:nvSpPr>
          <p:cNvPr id="38" name="chip_282"/>
          <p:cNvSpPr txBox="1"/>
          <p:nvPr/>
        </p:nvSpPr>
        <p:spPr>
          <a:xfrm>
            <a:off x="548640" y="4791456"/>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S05</a:t>
            </a:r>
            <a:endParaRPr lang="en-US" sz="1000" dirty="0"/>
          </a:p>
        </p:txBody>
      </p:sp>
      <p:sp>
        <p:nvSpPr>
          <p:cNvPr id="39" name="txt_283"/>
          <p:cNvSpPr txBox="1"/>
          <p:nvPr/>
        </p:nvSpPr>
        <p:spPr>
          <a:xfrm>
            <a:off x="1088136" y="4791456"/>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40" name="txt_284"/>
          <p:cNvSpPr txBox="1"/>
          <p:nvPr/>
        </p:nvSpPr>
        <p:spPr>
          <a:xfrm>
            <a:off x="548640" y="5065776"/>
            <a:ext cx="2148840" cy="329184"/>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UAV path-planning survey</a:t>
            </a:r>
            <a:endParaRPr lang="en-US" sz="1300" dirty="0"/>
          </a:p>
        </p:txBody>
      </p:sp>
      <p:sp>
        <p:nvSpPr>
          <p:cNvPr id="41" name="txt_285"/>
          <p:cNvSpPr txBox="1"/>
          <p:nvPr/>
        </p:nvSpPr>
        <p:spPr>
          <a:xfrm>
            <a:off x="2834640" y="4782312"/>
            <a:ext cx="272491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Taxonomy: classical/exact, soft-computing, hybrid planners.</a:t>
            </a:r>
            <a:endParaRPr lang="en-US" sz="1400" dirty="0"/>
          </a:p>
        </p:txBody>
      </p:sp>
      <p:sp>
        <p:nvSpPr>
          <p:cNvPr id="42" name="txt_286"/>
          <p:cNvSpPr txBox="1"/>
          <p:nvPr/>
        </p:nvSpPr>
        <p:spPr>
          <a:xfrm>
            <a:off x="5760720" y="4782312"/>
            <a:ext cx="286207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No planner optimal everywhere; graph search suits known maps.</a:t>
            </a:r>
            <a:endParaRPr lang="en-US" sz="1400" dirty="0"/>
          </a:p>
        </p:txBody>
      </p:sp>
      <p:sp>
        <p:nvSpPr>
          <p:cNvPr id="43" name="box_287"/>
          <p:cNvSpPr/>
          <p:nvPr/>
        </p:nvSpPr>
        <p:spPr>
          <a:xfrm>
            <a:off x="8732520" y="4745736"/>
            <a:ext cx="2953512" cy="621792"/>
          </a:xfrm>
          <a:prstGeom prst="roundRect">
            <a:avLst>
              <a:gd name="adj" fmla="val 8824"/>
            </a:avLst>
          </a:prstGeom>
          <a:solidFill>
            <a:srgbClr val="00F0FF">
              <a:alpha val="8000"/>
            </a:srgbClr>
          </a:solidFill>
          <a:ln/>
        </p:spPr>
      </p:sp>
      <p:sp>
        <p:nvSpPr>
          <p:cNvPr id="44" name="txt_288"/>
          <p:cNvSpPr txBox="1"/>
          <p:nvPr/>
        </p:nvSpPr>
        <p:spPr>
          <a:xfrm>
            <a:off x="8823960" y="4782312"/>
            <a:ext cx="281635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Dijkstra fits the static inspected graph; replanning is future work.</a:t>
            </a:r>
            <a:endParaRPr lang="en-US" sz="1400" dirty="0"/>
          </a:p>
        </p:txBody>
      </p:sp>
      <p:sp>
        <p:nvSpPr>
          <p:cNvPr id="45" name="box_289"/>
          <p:cNvSpPr/>
          <p:nvPr/>
        </p:nvSpPr>
        <p:spPr>
          <a:xfrm>
            <a:off x="457200" y="5458968"/>
            <a:ext cx="11277295" cy="713232"/>
          </a:xfrm>
          <a:prstGeom prst="roundRect">
            <a:avLst>
              <a:gd name="adj" fmla="val 7692"/>
            </a:avLst>
          </a:prstGeom>
          <a:solidFill>
            <a:srgbClr val="131C2E">
              <a:alpha val="78000"/>
            </a:srgbClr>
          </a:solidFill>
          <a:ln w="9525">
            <a:solidFill>
              <a:srgbClr val="00F0FF">
                <a:alpha val="22000"/>
              </a:srgbClr>
            </a:solidFill>
            <a:prstDash val="solid"/>
          </a:ln>
        </p:spPr>
      </p:sp>
      <p:sp>
        <p:nvSpPr>
          <p:cNvPr id="46" name="chip_290"/>
          <p:cNvSpPr txBox="1"/>
          <p:nvPr/>
        </p:nvSpPr>
        <p:spPr>
          <a:xfrm>
            <a:off x="548640" y="5550408"/>
            <a:ext cx="4663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S07</a:t>
            </a:r>
            <a:endParaRPr lang="en-US" sz="1000" dirty="0"/>
          </a:p>
        </p:txBody>
      </p:sp>
      <p:sp>
        <p:nvSpPr>
          <p:cNvPr id="47" name="txt_291"/>
          <p:cNvSpPr txBox="1"/>
          <p:nvPr/>
        </p:nvSpPr>
        <p:spPr>
          <a:xfrm>
            <a:off x="1088136" y="5550408"/>
            <a:ext cx="1737360" cy="237744"/>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2024 · RECENT</a:t>
            </a:r>
            <a:endParaRPr lang="en-US" sz="1000" dirty="0"/>
          </a:p>
        </p:txBody>
      </p:sp>
      <p:sp>
        <p:nvSpPr>
          <p:cNvPr id="48" name="txt_292"/>
          <p:cNvSpPr txBox="1"/>
          <p:nvPr/>
        </p:nvSpPr>
        <p:spPr>
          <a:xfrm>
            <a:off x="548640" y="5824728"/>
            <a:ext cx="2148840" cy="329184"/>
          </a:xfrm>
          <a:prstGeom prst="rect">
            <a:avLst/>
          </a:prstGeom>
          <a:noFill/>
          <a:ln/>
        </p:spPr>
        <p:txBody>
          <a:bodyPr wrap="square" lIns="0" tIns="0" rIns="0" bIns="0" rtlCol="0" anchor="t"/>
          <a:lstStyle/>
          <a:p>
            <a:pPr marL="0" indent="0">
              <a:buNone/>
            </a:pPr>
            <a:r>
              <a:rPr lang="en-US" sz="1300" b="1" dirty="0">
                <a:solidFill>
                  <a:srgbClr val="F8FAFC"/>
                </a:solidFill>
                <a:latin typeface="Inter" pitchFamily="34" charset="0"/>
                <a:ea typeface="Inter" pitchFamily="34" charset="-122"/>
                <a:cs typeface="Inter" pitchFamily="34" charset="-120"/>
              </a:rPr>
              <a:t>Phone GNSS/PDR fusion</a:t>
            </a:r>
            <a:endParaRPr lang="en-US" sz="1300" dirty="0"/>
          </a:p>
        </p:txBody>
      </p:sp>
      <p:sp>
        <p:nvSpPr>
          <p:cNvPr id="49" name="txt_293"/>
          <p:cNvSpPr txBox="1"/>
          <p:nvPr/>
        </p:nvSpPr>
        <p:spPr>
          <a:xfrm>
            <a:off x="2834640" y="5541264"/>
            <a:ext cx="272491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Android PDR (steps, length, heading) + GNSS. Methods read only.</a:t>
            </a:r>
            <a:endParaRPr lang="en-US" sz="1400" dirty="0"/>
          </a:p>
        </p:txBody>
      </p:sp>
      <p:sp>
        <p:nvSpPr>
          <p:cNvPr id="50" name="txt_294"/>
          <p:cNvSpPr txBox="1"/>
          <p:nvPr/>
        </p:nvSpPr>
        <p:spPr>
          <a:xfrm>
            <a:off x="5760720" y="5541264"/>
            <a:ext cx="286207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Steps &gt;96%; heading error 5.25°. Fusion results not accessed.</a:t>
            </a:r>
            <a:endParaRPr lang="en-US" sz="1400" dirty="0"/>
          </a:p>
        </p:txBody>
      </p:sp>
      <p:sp>
        <p:nvSpPr>
          <p:cNvPr id="51" name="box_295"/>
          <p:cNvSpPr/>
          <p:nvPr/>
        </p:nvSpPr>
        <p:spPr>
          <a:xfrm>
            <a:off x="8732520" y="5504688"/>
            <a:ext cx="2953512" cy="621792"/>
          </a:xfrm>
          <a:prstGeom prst="roundRect">
            <a:avLst>
              <a:gd name="adj" fmla="val 8824"/>
            </a:avLst>
          </a:prstGeom>
          <a:solidFill>
            <a:srgbClr val="00F0FF">
              <a:alpha val="8000"/>
            </a:srgbClr>
          </a:solidFill>
          <a:ln/>
        </p:spPr>
      </p:sp>
      <p:sp>
        <p:nvSpPr>
          <p:cNvPr id="52" name="txt_296"/>
          <p:cNvSpPr txBox="1"/>
          <p:nvPr/>
        </p:nvSpPr>
        <p:spPr>
          <a:xfrm>
            <a:off x="8823960" y="5541264"/>
            <a:ext cx="2816352" cy="585216"/>
          </a:xfrm>
          <a:prstGeom prst="rect">
            <a:avLst/>
          </a:prstGeom>
          <a:noFill/>
          <a:ln/>
        </p:spPr>
        <p:txBody>
          <a:bodyPr wrap="square" lIns="0" tIns="0" rIns="0" bIns="0" rtlCol="0" anchor="t"/>
          <a:lstStyle/>
          <a:p>
            <a:pPr marL="0" indent="0">
              <a:buNone/>
            </a:pPr>
            <a:r>
              <a:rPr lang="en-US" sz="1400" dirty="0">
                <a:solidFill>
                  <a:srgbClr val="F8FAFC"/>
                </a:solidFill>
                <a:latin typeface="Inter" pitchFamily="34" charset="0"/>
                <a:ea typeface="Inter" pitchFamily="34" charset="-122"/>
                <a:cs typeface="Inter" pitchFamily="34" charset="-120"/>
              </a:rPr>
              <a:t>Needs a native app; conflicts with zero-install. Logged option.</a:t>
            </a:r>
            <a:endParaRPr lang="en-US" sz="14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00"/>
                                        <p:tgtEl>
                                          <p:spTgt spid="12"/>
                                        </p:tgtEl>
                                      </p:cBhvr>
                                    </p:animEffect>
                                  </p:childTnLst>
                                </p:cTn>
                              </p:par>
                            </p:childTnLst>
                          </p:cTn>
                        </p:par>
                        <p:par>
                          <p:cTn id="17" fill="hold">
                            <p:stCondLst>
                              <p:cond delay="300"/>
                            </p:stCondLst>
                            <p:childTnLst>
                              <p:par>
                                <p:cTn id="18" presetID="42"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300"/>
                                        <p:tgtEl>
                                          <p:spTgt spid="13"/>
                                        </p:tgtEl>
                                      </p:cBhvr>
                                    </p:animEffect>
                                    <p:anim calcmode="lin" valueType="num">
                                      <p:cBhvr>
                                        <p:cTn id="21" dur="300" decel="100000" fill="hold"/>
                                        <p:tgtEl>
                                          <p:spTgt spid="13"/>
                                        </p:tgtEl>
                                        <p:attrNameLst>
                                          <p:attrName>ppt_x</p:attrName>
                                        </p:attrNameLst>
                                      </p:cBhvr>
                                      <p:tavLst>
                                        <p:tav tm="0">
                                          <p:val>
                                            <p:strVal val="#ppt_x"/>
                                          </p:val>
                                        </p:tav>
                                        <p:tav tm="100000">
                                          <p:val>
                                            <p:strVal val="#ppt_x"/>
                                          </p:val>
                                        </p:tav>
                                      </p:tavLst>
                                    </p:anim>
                                    <p:anim calcmode="lin" valueType="num">
                                      <p:cBhvr>
                                        <p:cTn id="22" dur="300" decel="100000" fill="hold"/>
                                        <p:tgtEl>
                                          <p:spTgt spid="13"/>
                                        </p:tgtEl>
                                        <p:attrNameLst>
                                          <p:attrName>ppt_y</p:attrName>
                                        </p:attrNameLst>
                                      </p:cBhvr>
                                      <p:tavLst>
                                        <p:tav tm="0">
                                          <p:val>
                                            <p:strVal val="#ppt_y+0.01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anim calcmode="lin" valueType="num">
                                      <p:cBhvr>
                                        <p:cTn id="26" dur="300" decel="100000" fill="hold"/>
                                        <p:tgtEl>
                                          <p:spTgt spid="14"/>
                                        </p:tgtEl>
                                        <p:attrNameLst>
                                          <p:attrName>ppt_x</p:attrName>
                                        </p:attrNameLst>
                                      </p:cBhvr>
                                      <p:tavLst>
                                        <p:tav tm="0">
                                          <p:val>
                                            <p:strVal val="#ppt_x"/>
                                          </p:val>
                                        </p:tav>
                                        <p:tav tm="100000">
                                          <p:val>
                                            <p:strVal val="#ppt_x"/>
                                          </p:val>
                                        </p:tav>
                                      </p:tavLst>
                                    </p:anim>
                                    <p:anim calcmode="lin" valueType="num">
                                      <p:cBhvr>
                                        <p:cTn id="27" dur="300" decel="100000" fill="hold"/>
                                        <p:tgtEl>
                                          <p:spTgt spid="14"/>
                                        </p:tgtEl>
                                        <p:attrNameLst>
                                          <p:attrName>ppt_y</p:attrName>
                                        </p:attrNameLst>
                                      </p:cBhvr>
                                      <p:tavLst>
                                        <p:tav tm="0">
                                          <p:val>
                                            <p:strVal val="#ppt_y+0.01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anim calcmode="lin" valueType="num">
                                      <p:cBhvr>
                                        <p:cTn id="31" dur="300" decel="100000" fill="hold"/>
                                        <p:tgtEl>
                                          <p:spTgt spid="15"/>
                                        </p:tgtEl>
                                        <p:attrNameLst>
                                          <p:attrName>ppt_x</p:attrName>
                                        </p:attrNameLst>
                                      </p:cBhvr>
                                      <p:tavLst>
                                        <p:tav tm="0">
                                          <p:val>
                                            <p:strVal val="#ppt_x"/>
                                          </p:val>
                                        </p:tav>
                                        <p:tav tm="100000">
                                          <p:val>
                                            <p:strVal val="#ppt_x"/>
                                          </p:val>
                                        </p:tav>
                                      </p:tavLst>
                                    </p:anim>
                                    <p:anim calcmode="lin" valueType="num">
                                      <p:cBhvr>
                                        <p:cTn id="32" dur="300" decel="100000" fill="hold"/>
                                        <p:tgtEl>
                                          <p:spTgt spid="15"/>
                                        </p:tgtEl>
                                        <p:attrNameLst>
                                          <p:attrName>ppt_y</p:attrName>
                                        </p:attrNameLst>
                                      </p:cBhvr>
                                      <p:tavLst>
                                        <p:tav tm="0">
                                          <p:val>
                                            <p:strVal val="#ppt_y+0.01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00"/>
                                        <p:tgtEl>
                                          <p:spTgt spid="16"/>
                                        </p:tgtEl>
                                      </p:cBhvr>
                                    </p:animEffect>
                                    <p:anim calcmode="lin" valueType="num">
                                      <p:cBhvr>
                                        <p:cTn id="36" dur="300" decel="100000" fill="hold"/>
                                        <p:tgtEl>
                                          <p:spTgt spid="16"/>
                                        </p:tgtEl>
                                        <p:attrNameLst>
                                          <p:attrName>ppt_x</p:attrName>
                                        </p:attrNameLst>
                                      </p:cBhvr>
                                      <p:tavLst>
                                        <p:tav tm="0">
                                          <p:val>
                                            <p:strVal val="#ppt_x"/>
                                          </p:val>
                                        </p:tav>
                                        <p:tav tm="100000">
                                          <p:val>
                                            <p:strVal val="#ppt_x"/>
                                          </p:val>
                                        </p:tav>
                                      </p:tavLst>
                                    </p:anim>
                                    <p:anim calcmode="lin" valueType="num">
                                      <p:cBhvr>
                                        <p:cTn id="37" dur="300" decel="100000" fill="hold"/>
                                        <p:tgtEl>
                                          <p:spTgt spid="16"/>
                                        </p:tgtEl>
                                        <p:attrNameLst>
                                          <p:attrName>ppt_y</p:attrName>
                                        </p:attrNameLst>
                                      </p:cBhvr>
                                      <p:tavLst>
                                        <p:tav tm="0">
                                          <p:val>
                                            <p:strVal val="#ppt_y+0.01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anim calcmode="lin" valueType="num">
                                      <p:cBhvr>
                                        <p:cTn id="41" dur="300" decel="100000" fill="hold"/>
                                        <p:tgtEl>
                                          <p:spTgt spid="17"/>
                                        </p:tgtEl>
                                        <p:attrNameLst>
                                          <p:attrName>ppt_x</p:attrName>
                                        </p:attrNameLst>
                                      </p:cBhvr>
                                      <p:tavLst>
                                        <p:tav tm="0">
                                          <p:val>
                                            <p:strVal val="#ppt_x"/>
                                          </p:val>
                                        </p:tav>
                                        <p:tav tm="100000">
                                          <p:val>
                                            <p:strVal val="#ppt_x"/>
                                          </p:val>
                                        </p:tav>
                                      </p:tavLst>
                                    </p:anim>
                                    <p:anim calcmode="lin" valueType="num">
                                      <p:cBhvr>
                                        <p:cTn id="42" dur="300" decel="100000" fill="hold"/>
                                        <p:tgtEl>
                                          <p:spTgt spid="17"/>
                                        </p:tgtEl>
                                        <p:attrNameLst>
                                          <p:attrName>ppt_y</p:attrName>
                                        </p:attrNameLst>
                                      </p:cBhvr>
                                      <p:tavLst>
                                        <p:tav tm="0">
                                          <p:val>
                                            <p:strVal val="#ppt_y+0.01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anim calcmode="lin" valueType="num">
                                      <p:cBhvr>
                                        <p:cTn id="46" dur="300" decel="100000" fill="hold"/>
                                        <p:tgtEl>
                                          <p:spTgt spid="18"/>
                                        </p:tgtEl>
                                        <p:attrNameLst>
                                          <p:attrName>ppt_x</p:attrName>
                                        </p:attrNameLst>
                                      </p:cBhvr>
                                      <p:tavLst>
                                        <p:tav tm="0">
                                          <p:val>
                                            <p:strVal val="#ppt_x"/>
                                          </p:val>
                                        </p:tav>
                                        <p:tav tm="100000">
                                          <p:val>
                                            <p:strVal val="#ppt_x"/>
                                          </p:val>
                                        </p:tav>
                                      </p:tavLst>
                                    </p:anim>
                                    <p:anim calcmode="lin" valueType="num">
                                      <p:cBhvr>
                                        <p:cTn id="47" dur="300" decel="100000" fill="hold"/>
                                        <p:tgtEl>
                                          <p:spTgt spid="18"/>
                                        </p:tgtEl>
                                        <p:attrNameLst>
                                          <p:attrName>ppt_y</p:attrName>
                                        </p:attrNameLst>
                                      </p:cBhvr>
                                      <p:tavLst>
                                        <p:tav tm="0">
                                          <p:val>
                                            <p:strVal val="#ppt_y+0.016"/>
                                          </p:val>
                                        </p:tav>
                                        <p:tav tm="100000">
                                          <p:val>
                                            <p:strVal val="#ppt_y"/>
                                          </p:val>
                                        </p:tav>
                                      </p:tavLst>
                                    </p:anim>
                                  </p:childTnLst>
                                </p:cTn>
                              </p:par>
                            </p:childTnLst>
                          </p:cTn>
                        </p:par>
                        <p:par>
                          <p:cTn id="48" fill="hold">
                            <p:stCondLst>
                              <p:cond delay="600"/>
                            </p:stCondLst>
                            <p:childTnLst>
                              <p:par>
                                <p:cTn id="49" presetID="42" presetClass="entr" presetSubtype="0"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00"/>
                                        <p:tgtEl>
                                          <p:spTgt spid="21"/>
                                        </p:tgtEl>
                                      </p:cBhvr>
                                    </p:animEffect>
                                    <p:anim calcmode="lin" valueType="num">
                                      <p:cBhvr>
                                        <p:cTn id="52" dur="300" decel="100000" fill="hold"/>
                                        <p:tgtEl>
                                          <p:spTgt spid="21"/>
                                        </p:tgtEl>
                                        <p:attrNameLst>
                                          <p:attrName>ppt_x</p:attrName>
                                        </p:attrNameLst>
                                      </p:cBhvr>
                                      <p:tavLst>
                                        <p:tav tm="0">
                                          <p:val>
                                            <p:strVal val="#ppt_x"/>
                                          </p:val>
                                        </p:tav>
                                        <p:tav tm="100000">
                                          <p:val>
                                            <p:strVal val="#ppt_x"/>
                                          </p:val>
                                        </p:tav>
                                      </p:tavLst>
                                    </p:anim>
                                    <p:anim calcmode="lin" valueType="num">
                                      <p:cBhvr>
                                        <p:cTn id="53" dur="300" decel="100000" fill="hold"/>
                                        <p:tgtEl>
                                          <p:spTgt spid="21"/>
                                        </p:tgtEl>
                                        <p:attrNameLst>
                                          <p:attrName>ppt_y</p:attrName>
                                        </p:attrNameLst>
                                      </p:cBhvr>
                                      <p:tavLst>
                                        <p:tav tm="0">
                                          <p:val>
                                            <p:strVal val="#ppt_y+0.01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p:tgtEl>
                                          <p:spTgt spid="22"/>
                                        </p:tgtEl>
                                      </p:cBhvr>
                                    </p:animEffect>
                                    <p:anim calcmode="lin" valueType="num">
                                      <p:cBhvr>
                                        <p:cTn id="57" dur="300" decel="100000" fill="hold"/>
                                        <p:tgtEl>
                                          <p:spTgt spid="22"/>
                                        </p:tgtEl>
                                        <p:attrNameLst>
                                          <p:attrName>ppt_x</p:attrName>
                                        </p:attrNameLst>
                                      </p:cBhvr>
                                      <p:tavLst>
                                        <p:tav tm="0">
                                          <p:val>
                                            <p:strVal val="#ppt_x"/>
                                          </p:val>
                                        </p:tav>
                                        <p:tav tm="100000">
                                          <p:val>
                                            <p:strVal val="#ppt_x"/>
                                          </p:val>
                                        </p:tav>
                                      </p:tavLst>
                                    </p:anim>
                                    <p:anim calcmode="lin" valueType="num">
                                      <p:cBhvr>
                                        <p:cTn id="58" dur="300" decel="100000" fill="hold"/>
                                        <p:tgtEl>
                                          <p:spTgt spid="22"/>
                                        </p:tgtEl>
                                        <p:attrNameLst>
                                          <p:attrName>ppt_y</p:attrName>
                                        </p:attrNameLst>
                                      </p:cBhvr>
                                      <p:tavLst>
                                        <p:tav tm="0">
                                          <p:val>
                                            <p:strVal val="#ppt_y+0.01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anim calcmode="lin" valueType="num">
                                      <p:cBhvr>
                                        <p:cTn id="62" dur="300" decel="100000" fill="hold"/>
                                        <p:tgtEl>
                                          <p:spTgt spid="23"/>
                                        </p:tgtEl>
                                        <p:attrNameLst>
                                          <p:attrName>ppt_x</p:attrName>
                                        </p:attrNameLst>
                                      </p:cBhvr>
                                      <p:tavLst>
                                        <p:tav tm="0">
                                          <p:val>
                                            <p:strVal val="#ppt_x"/>
                                          </p:val>
                                        </p:tav>
                                        <p:tav tm="100000">
                                          <p:val>
                                            <p:strVal val="#ppt_x"/>
                                          </p:val>
                                        </p:tav>
                                      </p:tavLst>
                                    </p:anim>
                                    <p:anim calcmode="lin" valueType="num">
                                      <p:cBhvr>
                                        <p:cTn id="63" dur="300" decel="100000" fill="hold"/>
                                        <p:tgtEl>
                                          <p:spTgt spid="23"/>
                                        </p:tgtEl>
                                        <p:attrNameLst>
                                          <p:attrName>ppt_y</p:attrName>
                                        </p:attrNameLst>
                                      </p:cBhvr>
                                      <p:tavLst>
                                        <p:tav tm="0">
                                          <p:val>
                                            <p:strVal val="#ppt_y+0.01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300"/>
                                        <p:tgtEl>
                                          <p:spTgt spid="24"/>
                                        </p:tgtEl>
                                      </p:cBhvr>
                                    </p:animEffect>
                                    <p:anim calcmode="lin" valueType="num">
                                      <p:cBhvr>
                                        <p:cTn id="67" dur="300" decel="100000" fill="hold"/>
                                        <p:tgtEl>
                                          <p:spTgt spid="24"/>
                                        </p:tgtEl>
                                        <p:attrNameLst>
                                          <p:attrName>ppt_x</p:attrName>
                                        </p:attrNameLst>
                                      </p:cBhvr>
                                      <p:tavLst>
                                        <p:tav tm="0">
                                          <p:val>
                                            <p:strVal val="#ppt_x"/>
                                          </p:val>
                                        </p:tav>
                                        <p:tav tm="100000">
                                          <p:val>
                                            <p:strVal val="#ppt_x"/>
                                          </p:val>
                                        </p:tav>
                                      </p:tavLst>
                                    </p:anim>
                                    <p:anim calcmode="lin" valueType="num">
                                      <p:cBhvr>
                                        <p:cTn id="68" dur="300" decel="100000" fill="hold"/>
                                        <p:tgtEl>
                                          <p:spTgt spid="24"/>
                                        </p:tgtEl>
                                        <p:attrNameLst>
                                          <p:attrName>ppt_y</p:attrName>
                                        </p:attrNameLst>
                                      </p:cBhvr>
                                      <p:tavLst>
                                        <p:tav tm="0">
                                          <p:val>
                                            <p:strVal val="#ppt_y+0.01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anim calcmode="lin" valueType="num">
                                      <p:cBhvr>
                                        <p:cTn id="72" dur="300" decel="100000" fill="hold"/>
                                        <p:tgtEl>
                                          <p:spTgt spid="25"/>
                                        </p:tgtEl>
                                        <p:attrNameLst>
                                          <p:attrName>ppt_x</p:attrName>
                                        </p:attrNameLst>
                                      </p:cBhvr>
                                      <p:tavLst>
                                        <p:tav tm="0">
                                          <p:val>
                                            <p:strVal val="#ppt_x"/>
                                          </p:val>
                                        </p:tav>
                                        <p:tav tm="100000">
                                          <p:val>
                                            <p:strVal val="#ppt_x"/>
                                          </p:val>
                                        </p:tav>
                                      </p:tavLst>
                                    </p:anim>
                                    <p:anim calcmode="lin" valueType="num">
                                      <p:cBhvr>
                                        <p:cTn id="73" dur="300" decel="100000" fill="hold"/>
                                        <p:tgtEl>
                                          <p:spTgt spid="25"/>
                                        </p:tgtEl>
                                        <p:attrNameLst>
                                          <p:attrName>ppt_y</p:attrName>
                                        </p:attrNameLst>
                                      </p:cBhvr>
                                      <p:tavLst>
                                        <p:tav tm="0">
                                          <p:val>
                                            <p:strVal val="#ppt_y+0.016"/>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00"/>
                                        <p:tgtEl>
                                          <p:spTgt spid="26"/>
                                        </p:tgtEl>
                                      </p:cBhvr>
                                    </p:animEffect>
                                    <p:anim calcmode="lin" valueType="num">
                                      <p:cBhvr>
                                        <p:cTn id="77" dur="300" decel="100000" fill="hold"/>
                                        <p:tgtEl>
                                          <p:spTgt spid="26"/>
                                        </p:tgtEl>
                                        <p:attrNameLst>
                                          <p:attrName>ppt_x</p:attrName>
                                        </p:attrNameLst>
                                      </p:cBhvr>
                                      <p:tavLst>
                                        <p:tav tm="0">
                                          <p:val>
                                            <p:strVal val="#ppt_x"/>
                                          </p:val>
                                        </p:tav>
                                        <p:tav tm="100000">
                                          <p:val>
                                            <p:strVal val="#ppt_x"/>
                                          </p:val>
                                        </p:tav>
                                      </p:tavLst>
                                    </p:anim>
                                    <p:anim calcmode="lin" valueType="num">
                                      <p:cBhvr>
                                        <p:cTn id="78" dur="300" decel="100000" fill="hold"/>
                                        <p:tgtEl>
                                          <p:spTgt spid="26"/>
                                        </p:tgtEl>
                                        <p:attrNameLst>
                                          <p:attrName>ppt_y</p:attrName>
                                        </p:attrNameLst>
                                      </p:cBhvr>
                                      <p:tavLst>
                                        <p:tav tm="0">
                                          <p:val>
                                            <p:strVal val="#ppt_y+0.016"/>
                                          </p:val>
                                        </p:tav>
                                        <p:tav tm="100000">
                                          <p:val>
                                            <p:strVal val="#ppt_y"/>
                                          </p:val>
                                        </p:tav>
                                      </p:tavLst>
                                    </p:anim>
                                  </p:childTnLst>
                                </p:cTn>
                              </p:par>
                            </p:childTnLst>
                          </p:cTn>
                        </p:par>
                        <p:par>
                          <p:cTn id="79" fill="hold">
                            <p:stCondLst>
                              <p:cond delay="900"/>
                            </p:stCondLst>
                            <p:childTnLst>
                              <p:par>
                                <p:cTn id="80" presetID="42" presetClass="entr" presetSubtype="0" fill="hold" nodeType="after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300"/>
                                        <p:tgtEl>
                                          <p:spTgt spid="29"/>
                                        </p:tgtEl>
                                      </p:cBhvr>
                                    </p:animEffect>
                                    <p:anim calcmode="lin" valueType="num">
                                      <p:cBhvr>
                                        <p:cTn id="83" dur="300" decel="100000" fill="hold"/>
                                        <p:tgtEl>
                                          <p:spTgt spid="29"/>
                                        </p:tgtEl>
                                        <p:attrNameLst>
                                          <p:attrName>ppt_x</p:attrName>
                                        </p:attrNameLst>
                                      </p:cBhvr>
                                      <p:tavLst>
                                        <p:tav tm="0">
                                          <p:val>
                                            <p:strVal val="#ppt_x"/>
                                          </p:val>
                                        </p:tav>
                                        <p:tav tm="100000">
                                          <p:val>
                                            <p:strVal val="#ppt_x"/>
                                          </p:val>
                                        </p:tav>
                                      </p:tavLst>
                                    </p:anim>
                                    <p:anim calcmode="lin" valueType="num">
                                      <p:cBhvr>
                                        <p:cTn id="84" dur="300" decel="100000" fill="hold"/>
                                        <p:tgtEl>
                                          <p:spTgt spid="29"/>
                                        </p:tgtEl>
                                        <p:attrNameLst>
                                          <p:attrName>ppt_y</p:attrName>
                                        </p:attrNameLst>
                                      </p:cBhvr>
                                      <p:tavLst>
                                        <p:tav tm="0">
                                          <p:val>
                                            <p:strVal val="#ppt_y+0.01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300"/>
                                        <p:tgtEl>
                                          <p:spTgt spid="30"/>
                                        </p:tgtEl>
                                      </p:cBhvr>
                                    </p:animEffect>
                                    <p:anim calcmode="lin" valueType="num">
                                      <p:cBhvr>
                                        <p:cTn id="88" dur="300" decel="100000" fill="hold"/>
                                        <p:tgtEl>
                                          <p:spTgt spid="30"/>
                                        </p:tgtEl>
                                        <p:attrNameLst>
                                          <p:attrName>ppt_x</p:attrName>
                                        </p:attrNameLst>
                                      </p:cBhvr>
                                      <p:tavLst>
                                        <p:tav tm="0">
                                          <p:val>
                                            <p:strVal val="#ppt_x"/>
                                          </p:val>
                                        </p:tav>
                                        <p:tav tm="100000">
                                          <p:val>
                                            <p:strVal val="#ppt_x"/>
                                          </p:val>
                                        </p:tav>
                                      </p:tavLst>
                                    </p:anim>
                                    <p:anim calcmode="lin" valueType="num">
                                      <p:cBhvr>
                                        <p:cTn id="89" dur="300" decel="100000" fill="hold"/>
                                        <p:tgtEl>
                                          <p:spTgt spid="30"/>
                                        </p:tgtEl>
                                        <p:attrNameLst>
                                          <p:attrName>ppt_y</p:attrName>
                                        </p:attrNameLst>
                                      </p:cBhvr>
                                      <p:tavLst>
                                        <p:tav tm="0">
                                          <p:val>
                                            <p:strVal val="#ppt_y+0.01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300"/>
                                        <p:tgtEl>
                                          <p:spTgt spid="31"/>
                                        </p:tgtEl>
                                      </p:cBhvr>
                                    </p:animEffect>
                                    <p:anim calcmode="lin" valueType="num">
                                      <p:cBhvr>
                                        <p:cTn id="93" dur="300" decel="100000" fill="hold"/>
                                        <p:tgtEl>
                                          <p:spTgt spid="31"/>
                                        </p:tgtEl>
                                        <p:attrNameLst>
                                          <p:attrName>ppt_x</p:attrName>
                                        </p:attrNameLst>
                                      </p:cBhvr>
                                      <p:tavLst>
                                        <p:tav tm="0">
                                          <p:val>
                                            <p:strVal val="#ppt_x"/>
                                          </p:val>
                                        </p:tav>
                                        <p:tav tm="100000">
                                          <p:val>
                                            <p:strVal val="#ppt_x"/>
                                          </p:val>
                                        </p:tav>
                                      </p:tavLst>
                                    </p:anim>
                                    <p:anim calcmode="lin" valueType="num">
                                      <p:cBhvr>
                                        <p:cTn id="94" dur="300" decel="100000" fill="hold"/>
                                        <p:tgtEl>
                                          <p:spTgt spid="31"/>
                                        </p:tgtEl>
                                        <p:attrNameLst>
                                          <p:attrName>ppt_y</p:attrName>
                                        </p:attrNameLst>
                                      </p:cBhvr>
                                      <p:tavLst>
                                        <p:tav tm="0">
                                          <p:val>
                                            <p:strVal val="#ppt_y+0.01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300"/>
                                        <p:tgtEl>
                                          <p:spTgt spid="32"/>
                                        </p:tgtEl>
                                      </p:cBhvr>
                                    </p:animEffect>
                                    <p:anim calcmode="lin" valueType="num">
                                      <p:cBhvr>
                                        <p:cTn id="98" dur="300" decel="100000" fill="hold"/>
                                        <p:tgtEl>
                                          <p:spTgt spid="32"/>
                                        </p:tgtEl>
                                        <p:attrNameLst>
                                          <p:attrName>ppt_x</p:attrName>
                                        </p:attrNameLst>
                                      </p:cBhvr>
                                      <p:tavLst>
                                        <p:tav tm="0">
                                          <p:val>
                                            <p:strVal val="#ppt_x"/>
                                          </p:val>
                                        </p:tav>
                                        <p:tav tm="100000">
                                          <p:val>
                                            <p:strVal val="#ppt_x"/>
                                          </p:val>
                                        </p:tav>
                                      </p:tavLst>
                                    </p:anim>
                                    <p:anim calcmode="lin" valueType="num">
                                      <p:cBhvr>
                                        <p:cTn id="99" dur="300" decel="100000" fill="hold"/>
                                        <p:tgtEl>
                                          <p:spTgt spid="32"/>
                                        </p:tgtEl>
                                        <p:attrNameLst>
                                          <p:attrName>ppt_y</p:attrName>
                                        </p:attrNameLst>
                                      </p:cBhvr>
                                      <p:tavLst>
                                        <p:tav tm="0">
                                          <p:val>
                                            <p:strVal val="#ppt_y+0.01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300"/>
                                        <p:tgtEl>
                                          <p:spTgt spid="33"/>
                                        </p:tgtEl>
                                      </p:cBhvr>
                                    </p:animEffect>
                                    <p:anim calcmode="lin" valueType="num">
                                      <p:cBhvr>
                                        <p:cTn id="103" dur="300" decel="100000" fill="hold"/>
                                        <p:tgtEl>
                                          <p:spTgt spid="33"/>
                                        </p:tgtEl>
                                        <p:attrNameLst>
                                          <p:attrName>ppt_x</p:attrName>
                                        </p:attrNameLst>
                                      </p:cBhvr>
                                      <p:tavLst>
                                        <p:tav tm="0">
                                          <p:val>
                                            <p:strVal val="#ppt_x"/>
                                          </p:val>
                                        </p:tav>
                                        <p:tav tm="100000">
                                          <p:val>
                                            <p:strVal val="#ppt_x"/>
                                          </p:val>
                                        </p:tav>
                                      </p:tavLst>
                                    </p:anim>
                                    <p:anim calcmode="lin" valueType="num">
                                      <p:cBhvr>
                                        <p:cTn id="104" dur="300" decel="100000" fill="hold"/>
                                        <p:tgtEl>
                                          <p:spTgt spid="33"/>
                                        </p:tgtEl>
                                        <p:attrNameLst>
                                          <p:attrName>ppt_y</p:attrName>
                                        </p:attrNameLst>
                                      </p:cBhvr>
                                      <p:tavLst>
                                        <p:tav tm="0">
                                          <p:val>
                                            <p:strVal val="#ppt_y+0.016"/>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300"/>
                                        <p:tgtEl>
                                          <p:spTgt spid="34"/>
                                        </p:tgtEl>
                                      </p:cBhvr>
                                    </p:animEffect>
                                    <p:anim calcmode="lin" valueType="num">
                                      <p:cBhvr>
                                        <p:cTn id="108" dur="300" decel="100000" fill="hold"/>
                                        <p:tgtEl>
                                          <p:spTgt spid="34"/>
                                        </p:tgtEl>
                                        <p:attrNameLst>
                                          <p:attrName>ppt_x</p:attrName>
                                        </p:attrNameLst>
                                      </p:cBhvr>
                                      <p:tavLst>
                                        <p:tav tm="0">
                                          <p:val>
                                            <p:strVal val="#ppt_x"/>
                                          </p:val>
                                        </p:tav>
                                        <p:tav tm="100000">
                                          <p:val>
                                            <p:strVal val="#ppt_x"/>
                                          </p:val>
                                        </p:tav>
                                      </p:tavLst>
                                    </p:anim>
                                    <p:anim calcmode="lin" valueType="num">
                                      <p:cBhvr>
                                        <p:cTn id="109" dur="300" decel="100000" fill="hold"/>
                                        <p:tgtEl>
                                          <p:spTgt spid="34"/>
                                        </p:tgtEl>
                                        <p:attrNameLst>
                                          <p:attrName>ppt_y</p:attrName>
                                        </p:attrNameLst>
                                      </p:cBhvr>
                                      <p:tavLst>
                                        <p:tav tm="0">
                                          <p:val>
                                            <p:strVal val="#ppt_y+0.016"/>
                                          </p:val>
                                        </p:tav>
                                        <p:tav tm="100000">
                                          <p:val>
                                            <p:strVal val="#ppt_y"/>
                                          </p:val>
                                        </p:tav>
                                      </p:tavLst>
                                    </p:anim>
                                  </p:childTnLst>
                                </p:cTn>
                              </p:par>
                            </p:childTnLst>
                          </p:cTn>
                        </p:par>
                        <p:par>
                          <p:cTn id="110" fill="hold">
                            <p:stCondLst>
                              <p:cond delay="1200"/>
                            </p:stCondLst>
                            <p:childTnLst>
                              <p:par>
                                <p:cTn id="111" presetID="42" presetClass="entr" presetSubtype="0" fill="hold" nodeType="after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3" dur="300"/>
                                        <p:tgtEl>
                                          <p:spTgt spid="37"/>
                                        </p:tgtEl>
                                      </p:cBhvr>
                                    </p:animEffect>
                                    <p:anim calcmode="lin" valueType="num">
                                      <p:cBhvr>
                                        <p:cTn id="114" dur="300" decel="100000" fill="hold"/>
                                        <p:tgtEl>
                                          <p:spTgt spid="37"/>
                                        </p:tgtEl>
                                        <p:attrNameLst>
                                          <p:attrName>ppt_x</p:attrName>
                                        </p:attrNameLst>
                                      </p:cBhvr>
                                      <p:tavLst>
                                        <p:tav tm="0">
                                          <p:val>
                                            <p:strVal val="#ppt_x"/>
                                          </p:val>
                                        </p:tav>
                                        <p:tav tm="100000">
                                          <p:val>
                                            <p:strVal val="#ppt_x"/>
                                          </p:val>
                                        </p:tav>
                                      </p:tavLst>
                                    </p:anim>
                                    <p:anim calcmode="lin" valueType="num">
                                      <p:cBhvr>
                                        <p:cTn id="115" dur="300" decel="100000" fill="hold"/>
                                        <p:tgtEl>
                                          <p:spTgt spid="37"/>
                                        </p:tgtEl>
                                        <p:attrNameLst>
                                          <p:attrName>ppt_y</p:attrName>
                                        </p:attrNameLst>
                                      </p:cBhvr>
                                      <p:tavLst>
                                        <p:tav tm="0">
                                          <p:val>
                                            <p:strVal val="#ppt_y+0.016"/>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300"/>
                                        <p:tgtEl>
                                          <p:spTgt spid="38"/>
                                        </p:tgtEl>
                                      </p:cBhvr>
                                    </p:animEffect>
                                    <p:anim calcmode="lin" valueType="num">
                                      <p:cBhvr>
                                        <p:cTn id="119" dur="300" decel="100000" fill="hold"/>
                                        <p:tgtEl>
                                          <p:spTgt spid="38"/>
                                        </p:tgtEl>
                                        <p:attrNameLst>
                                          <p:attrName>ppt_x</p:attrName>
                                        </p:attrNameLst>
                                      </p:cBhvr>
                                      <p:tavLst>
                                        <p:tav tm="0">
                                          <p:val>
                                            <p:strVal val="#ppt_x"/>
                                          </p:val>
                                        </p:tav>
                                        <p:tav tm="100000">
                                          <p:val>
                                            <p:strVal val="#ppt_x"/>
                                          </p:val>
                                        </p:tav>
                                      </p:tavLst>
                                    </p:anim>
                                    <p:anim calcmode="lin" valueType="num">
                                      <p:cBhvr>
                                        <p:cTn id="120" dur="300" decel="100000" fill="hold"/>
                                        <p:tgtEl>
                                          <p:spTgt spid="38"/>
                                        </p:tgtEl>
                                        <p:attrNameLst>
                                          <p:attrName>ppt_y</p:attrName>
                                        </p:attrNameLst>
                                      </p:cBhvr>
                                      <p:tavLst>
                                        <p:tav tm="0">
                                          <p:val>
                                            <p:strVal val="#ppt_y+0.016"/>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300"/>
                                        <p:tgtEl>
                                          <p:spTgt spid="39"/>
                                        </p:tgtEl>
                                      </p:cBhvr>
                                    </p:animEffect>
                                    <p:anim calcmode="lin" valueType="num">
                                      <p:cBhvr>
                                        <p:cTn id="124" dur="300" decel="100000" fill="hold"/>
                                        <p:tgtEl>
                                          <p:spTgt spid="39"/>
                                        </p:tgtEl>
                                        <p:attrNameLst>
                                          <p:attrName>ppt_x</p:attrName>
                                        </p:attrNameLst>
                                      </p:cBhvr>
                                      <p:tavLst>
                                        <p:tav tm="0">
                                          <p:val>
                                            <p:strVal val="#ppt_x"/>
                                          </p:val>
                                        </p:tav>
                                        <p:tav tm="100000">
                                          <p:val>
                                            <p:strVal val="#ppt_x"/>
                                          </p:val>
                                        </p:tav>
                                      </p:tavLst>
                                    </p:anim>
                                    <p:anim calcmode="lin" valueType="num">
                                      <p:cBhvr>
                                        <p:cTn id="125" dur="300" decel="100000" fill="hold"/>
                                        <p:tgtEl>
                                          <p:spTgt spid="39"/>
                                        </p:tgtEl>
                                        <p:attrNameLst>
                                          <p:attrName>ppt_y</p:attrName>
                                        </p:attrNameLst>
                                      </p:cBhvr>
                                      <p:tavLst>
                                        <p:tav tm="0">
                                          <p:val>
                                            <p:strVal val="#ppt_y+0.016"/>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fade">
                                      <p:cBhvr>
                                        <p:cTn id="128" dur="300"/>
                                        <p:tgtEl>
                                          <p:spTgt spid="40"/>
                                        </p:tgtEl>
                                      </p:cBhvr>
                                    </p:animEffect>
                                    <p:anim calcmode="lin" valueType="num">
                                      <p:cBhvr>
                                        <p:cTn id="129" dur="300" decel="100000" fill="hold"/>
                                        <p:tgtEl>
                                          <p:spTgt spid="40"/>
                                        </p:tgtEl>
                                        <p:attrNameLst>
                                          <p:attrName>ppt_x</p:attrName>
                                        </p:attrNameLst>
                                      </p:cBhvr>
                                      <p:tavLst>
                                        <p:tav tm="0">
                                          <p:val>
                                            <p:strVal val="#ppt_x"/>
                                          </p:val>
                                        </p:tav>
                                        <p:tav tm="100000">
                                          <p:val>
                                            <p:strVal val="#ppt_x"/>
                                          </p:val>
                                        </p:tav>
                                      </p:tavLst>
                                    </p:anim>
                                    <p:anim calcmode="lin" valueType="num">
                                      <p:cBhvr>
                                        <p:cTn id="130" dur="300" decel="100000" fill="hold"/>
                                        <p:tgtEl>
                                          <p:spTgt spid="40"/>
                                        </p:tgtEl>
                                        <p:attrNameLst>
                                          <p:attrName>ppt_y</p:attrName>
                                        </p:attrNameLst>
                                      </p:cBhvr>
                                      <p:tavLst>
                                        <p:tav tm="0">
                                          <p:val>
                                            <p:strVal val="#ppt_y+0.016"/>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41"/>
                                        </p:tgtEl>
                                        <p:attrNameLst>
                                          <p:attrName>style.visibility</p:attrName>
                                        </p:attrNameLst>
                                      </p:cBhvr>
                                      <p:to>
                                        <p:strVal val="visible"/>
                                      </p:to>
                                    </p:set>
                                    <p:animEffect transition="in" filter="fade">
                                      <p:cBhvr>
                                        <p:cTn id="133" dur="300"/>
                                        <p:tgtEl>
                                          <p:spTgt spid="41"/>
                                        </p:tgtEl>
                                      </p:cBhvr>
                                    </p:animEffect>
                                    <p:anim calcmode="lin" valueType="num">
                                      <p:cBhvr>
                                        <p:cTn id="134" dur="300" decel="100000" fill="hold"/>
                                        <p:tgtEl>
                                          <p:spTgt spid="41"/>
                                        </p:tgtEl>
                                        <p:attrNameLst>
                                          <p:attrName>ppt_x</p:attrName>
                                        </p:attrNameLst>
                                      </p:cBhvr>
                                      <p:tavLst>
                                        <p:tav tm="0">
                                          <p:val>
                                            <p:strVal val="#ppt_x"/>
                                          </p:val>
                                        </p:tav>
                                        <p:tav tm="100000">
                                          <p:val>
                                            <p:strVal val="#ppt_x"/>
                                          </p:val>
                                        </p:tav>
                                      </p:tavLst>
                                    </p:anim>
                                    <p:anim calcmode="lin" valueType="num">
                                      <p:cBhvr>
                                        <p:cTn id="135" dur="300" decel="100000" fill="hold"/>
                                        <p:tgtEl>
                                          <p:spTgt spid="41"/>
                                        </p:tgtEl>
                                        <p:attrNameLst>
                                          <p:attrName>ppt_y</p:attrName>
                                        </p:attrNameLst>
                                      </p:cBhvr>
                                      <p:tavLst>
                                        <p:tav tm="0">
                                          <p:val>
                                            <p:strVal val="#ppt_y+0.016"/>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42"/>
                                        </p:tgtEl>
                                        <p:attrNameLst>
                                          <p:attrName>style.visibility</p:attrName>
                                        </p:attrNameLst>
                                      </p:cBhvr>
                                      <p:to>
                                        <p:strVal val="visible"/>
                                      </p:to>
                                    </p:set>
                                    <p:animEffect transition="in" filter="fade">
                                      <p:cBhvr>
                                        <p:cTn id="138" dur="300"/>
                                        <p:tgtEl>
                                          <p:spTgt spid="42"/>
                                        </p:tgtEl>
                                      </p:cBhvr>
                                    </p:animEffect>
                                    <p:anim calcmode="lin" valueType="num">
                                      <p:cBhvr>
                                        <p:cTn id="139" dur="300" decel="100000" fill="hold"/>
                                        <p:tgtEl>
                                          <p:spTgt spid="42"/>
                                        </p:tgtEl>
                                        <p:attrNameLst>
                                          <p:attrName>ppt_x</p:attrName>
                                        </p:attrNameLst>
                                      </p:cBhvr>
                                      <p:tavLst>
                                        <p:tav tm="0">
                                          <p:val>
                                            <p:strVal val="#ppt_x"/>
                                          </p:val>
                                        </p:tav>
                                        <p:tav tm="100000">
                                          <p:val>
                                            <p:strVal val="#ppt_x"/>
                                          </p:val>
                                        </p:tav>
                                      </p:tavLst>
                                    </p:anim>
                                    <p:anim calcmode="lin" valueType="num">
                                      <p:cBhvr>
                                        <p:cTn id="140" dur="300" decel="100000" fill="hold"/>
                                        <p:tgtEl>
                                          <p:spTgt spid="42"/>
                                        </p:tgtEl>
                                        <p:attrNameLst>
                                          <p:attrName>ppt_y</p:attrName>
                                        </p:attrNameLst>
                                      </p:cBhvr>
                                      <p:tavLst>
                                        <p:tav tm="0">
                                          <p:val>
                                            <p:strVal val="#ppt_y+0.016"/>
                                          </p:val>
                                        </p:tav>
                                        <p:tav tm="100000">
                                          <p:val>
                                            <p:strVal val="#ppt_y"/>
                                          </p:val>
                                        </p:tav>
                                      </p:tavLst>
                                    </p:anim>
                                  </p:childTnLst>
                                </p:cTn>
                              </p:par>
                            </p:childTnLst>
                          </p:cTn>
                        </p:par>
                        <p:par>
                          <p:cTn id="141" fill="hold">
                            <p:stCondLst>
                              <p:cond delay="1500"/>
                            </p:stCondLst>
                            <p:childTnLst>
                              <p:par>
                                <p:cTn id="142" presetID="42" presetClass="entr" presetSubtype="0" fill="hold" nodeType="afterEffect">
                                  <p:stCondLst>
                                    <p:cond delay="0"/>
                                  </p:stCondLst>
                                  <p:childTnLst>
                                    <p:set>
                                      <p:cBhvr>
                                        <p:cTn id="143" dur="1" fill="hold">
                                          <p:stCondLst>
                                            <p:cond delay="0"/>
                                          </p:stCondLst>
                                        </p:cTn>
                                        <p:tgtEl>
                                          <p:spTgt spid="45"/>
                                        </p:tgtEl>
                                        <p:attrNameLst>
                                          <p:attrName>style.visibility</p:attrName>
                                        </p:attrNameLst>
                                      </p:cBhvr>
                                      <p:to>
                                        <p:strVal val="visible"/>
                                      </p:to>
                                    </p:set>
                                    <p:animEffect transition="in" filter="fade">
                                      <p:cBhvr>
                                        <p:cTn id="144" dur="300"/>
                                        <p:tgtEl>
                                          <p:spTgt spid="45"/>
                                        </p:tgtEl>
                                      </p:cBhvr>
                                    </p:animEffect>
                                    <p:anim calcmode="lin" valueType="num">
                                      <p:cBhvr>
                                        <p:cTn id="145" dur="300" decel="100000" fill="hold"/>
                                        <p:tgtEl>
                                          <p:spTgt spid="45"/>
                                        </p:tgtEl>
                                        <p:attrNameLst>
                                          <p:attrName>ppt_x</p:attrName>
                                        </p:attrNameLst>
                                      </p:cBhvr>
                                      <p:tavLst>
                                        <p:tav tm="0">
                                          <p:val>
                                            <p:strVal val="#ppt_x"/>
                                          </p:val>
                                        </p:tav>
                                        <p:tav tm="100000">
                                          <p:val>
                                            <p:strVal val="#ppt_x"/>
                                          </p:val>
                                        </p:tav>
                                      </p:tavLst>
                                    </p:anim>
                                    <p:anim calcmode="lin" valueType="num">
                                      <p:cBhvr>
                                        <p:cTn id="146" dur="300" decel="100000" fill="hold"/>
                                        <p:tgtEl>
                                          <p:spTgt spid="45"/>
                                        </p:tgtEl>
                                        <p:attrNameLst>
                                          <p:attrName>ppt_y</p:attrName>
                                        </p:attrNameLst>
                                      </p:cBhvr>
                                      <p:tavLst>
                                        <p:tav tm="0">
                                          <p:val>
                                            <p:strVal val="#ppt_y+0.01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46"/>
                                        </p:tgtEl>
                                        <p:attrNameLst>
                                          <p:attrName>style.visibility</p:attrName>
                                        </p:attrNameLst>
                                      </p:cBhvr>
                                      <p:to>
                                        <p:strVal val="visible"/>
                                      </p:to>
                                    </p:set>
                                    <p:animEffect transition="in" filter="fade">
                                      <p:cBhvr>
                                        <p:cTn id="149" dur="300"/>
                                        <p:tgtEl>
                                          <p:spTgt spid="46"/>
                                        </p:tgtEl>
                                      </p:cBhvr>
                                    </p:animEffect>
                                    <p:anim calcmode="lin" valueType="num">
                                      <p:cBhvr>
                                        <p:cTn id="150" dur="300" decel="100000" fill="hold"/>
                                        <p:tgtEl>
                                          <p:spTgt spid="46"/>
                                        </p:tgtEl>
                                        <p:attrNameLst>
                                          <p:attrName>ppt_x</p:attrName>
                                        </p:attrNameLst>
                                      </p:cBhvr>
                                      <p:tavLst>
                                        <p:tav tm="0">
                                          <p:val>
                                            <p:strVal val="#ppt_x"/>
                                          </p:val>
                                        </p:tav>
                                        <p:tav tm="100000">
                                          <p:val>
                                            <p:strVal val="#ppt_x"/>
                                          </p:val>
                                        </p:tav>
                                      </p:tavLst>
                                    </p:anim>
                                    <p:anim calcmode="lin" valueType="num">
                                      <p:cBhvr>
                                        <p:cTn id="151" dur="300" decel="100000" fill="hold"/>
                                        <p:tgtEl>
                                          <p:spTgt spid="46"/>
                                        </p:tgtEl>
                                        <p:attrNameLst>
                                          <p:attrName>ppt_y</p:attrName>
                                        </p:attrNameLst>
                                      </p:cBhvr>
                                      <p:tavLst>
                                        <p:tav tm="0">
                                          <p:val>
                                            <p:strVal val="#ppt_y+0.016"/>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47"/>
                                        </p:tgtEl>
                                        <p:attrNameLst>
                                          <p:attrName>style.visibility</p:attrName>
                                        </p:attrNameLst>
                                      </p:cBhvr>
                                      <p:to>
                                        <p:strVal val="visible"/>
                                      </p:to>
                                    </p:set>
                                    <p:animEffect transition="in" filter="fade">
                                      <p:cBhvr>
                                        <p:cTn id="154" dur="300"/>
                                        <p:tgtEl>
                                          <p:spTgt spid="47"/>
                                        </p:tgtEl>
                                      </p:cBhvr>
                                    </p:animEffect>
                                    <p:anim calcmode="lin" valueType="num">
                                      <p:cBhvr>
                                        <p:cTn id="155" dur="300" decel="100000" fill="hold"/>
                                        <p:tgtEl>
                                          <p:spTgt spid="47"/>
                                        </p:tgtEl>
                                        <p:attrNameLst>
                                          <p:attrName>ppt_x</p:attrName>
                                        </p:attrNameLst>
                                      </p:cBhvr>
                                      <p:tavLst>
                                        <p:tav tm="0">
                                          <p:val>
                                            <p:strVal val="#ppt_x"/>
                                          </p:val>
                                        </p:tav>
                                        <p:tav tm="100000">
                                          <p:val>
                                            <p:strVal val="#ppt_x"/>
                                          </p:val>
                                        </p:tav>
                                      </p:tavLst>
                                    </p:anim>
                                    <p:anim calcmode="lin" valueType="num">
                                      <p:cBhvr>
                                        <p:cTn id="156" dur="300" decel="100000" fill="hold"/>
                                        <p:tgtEl>
                                          <p:spTgt spid="47"/>
                                        </p:tgtEl>
                                        <p:attrNameLst>
                                          <p:attrName>ppt_y</p:attrName>
                                        </p:attrNameLst>
                                      </p:cBhvr>
                                      <p:tavLst>
                                        <p:tav tm="0">
                                          <p:val>
                                            <p:strVal val="#ppt_y+0.016"/>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48"/>
                                        </p:tgtEl>
                                        <p:attrNameLst>
                                          <p:attrName>style.visibility</p:attrName>
                                        </p:attrNameLst>
                                      </p:cBhvr>
                                      <p:to>
                                        <p:strVal val="visible"/>
                                      </p:to>
                                    </p:set>
                                    <p:animEffect transition="in" filter="fade">
                                      <p:cBhvr>
                                        <p:cTn id="159" dur="300"/>
                                        <p:tgtEl>
                                          <p:spTgt spid="48"/>
                                        </p:tgtEl>
                                      </p:cBhvr>
                                    </p:animEffect>
                                    <p:anim calcmode="lin" valueType="num">
                                      <p:cBhvr>
                                        <p:cTn id="160" dur="300" decel="100000" fill="hold"/>
                                        <p:tgtEl>
                                          <p:spTgt spid="48"/>
                                        </p:tgtEl>
                                        <p:attrNameLst>
                                          <p:attrName>ppt_x</p:attrName>
                                        </p:attrNameLst>
                                      </p:cBhvr>
                                      <p:tavLst>
                                        <p:tav tm="0">
                                          <p:val>
                                            <p:strVal val="#ppt_x"/>
                                          </p:val>
                                        </p:tav>
                                        <p:tav tm="100000">
                                          <p:val>
                                            <p:strVal val="#ppt_x"/>
                                          </p:val>
                                        </p:tav>
                                      </p:tavLst>
                                    </p:anim>
                                    <p:anim calcmode="lin" valueType="num">
                                      <p:cBhvr>
                                        <p:cTn id="161" dur="300" decel="100000" fill="hold"/>
                                        <p:tgtEl>
                                          <p:spTgt spid="48"/>
                                        </p:tgtEl>
                                        <p:attrNameLst>
                                          <p:attrName>ppt_y</p:attrName>
                                        </p:attrNameLst>
                                      </p:cBhvr>
                                      <p:tavLst>
                                        <p:tav tm="0">
                                          <p:val>
                                            <p:strVal val="#ppt_y+0.016"/>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49"/>
                                        </p:tgtEl>
                                        <p:attrNameLst>
                                          <p:attrName>style.visibility</p:attrName>
                                        </p:attrNameLst>
                                      </p:cBhvr>
                                      <p:to>
                                        <p:strVal val="visible"/>
                                      </p:to>
                                    </p:set>
                                    <p:animEffect transition="in" filter="fade">
                                      <p:cBhvr>
                                        <p:cTn id="164" dur="300"/>
                                        <p:tgtEl>
                                          <p:spTgt spid="49"/>
                                        </p:tgtEl>
                                      </p:cBhvr>
                                    </p:animEffect>
                                    <p:anim calcmode="lin" valueType="num">
                                      <p:cBhvr>
                                        <p:cTn id="165" dur="300" decel="100000" fill="hold"/>
                                        <p:tgtEl>
                                          <p:spTgt spid="49"/>
                                        </p:tgtEl>
                                        <p:attrNameLst>
                                          <p:attrName>ppt_x</p:attrName>
                                        </p:attrNameLst>
                                      </p:cBhvr>
                                      <p:tavLst>
                                        <p:tav tm="0">
                                          <p:val>
                                            <p:strVal val="#ppt_x"/>
                                          </p:val>
                                        </p:tav>
                                        <p:tav tm="100000">
                                          <p:val>
                                            <p:strVal val="#ppt_x"/>
                                          </p:val>
                                        </p:tav>
                                      </p:tavLst>
                                    </p:anim>
                                    <p:anim calcmode="lin" valueType="num">
                                      <p:cBhvr>
                                        <p:cTn id="166" dur="300" decel="100000" fill="hold"/>
                                        <p:tgtEl>
                                          <p:spTgt spid="49"/>
                                        </p:tgtEl>
                                        <p:attrNameLst>
                                          <p:attrName>ppt_y</p:attrName>
                                        </p:attrNameLst>
                                      </p:cBhvr>
                                      <p:tavLst>
                                        <p:tav tm="0">
                                          <p:val>
                                            <p:strVal val="#ppt_y+0.016"/>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9" dur="300"/>
                                        <p:tgtEl>
                                          <p:spTgt spid="50"/>
                                        </p:tgtEl>
                                      </p:cBhvr>
                                    </p:animEffect>
                                    <p:anim calcmode="lin" valueType="num">
                                      <p:cBhvr>
                                        <p:cTn id="170" dur="300" decel="100000" fill="hold"/>
                                        <p:tgtEl>
                                          <p:spTgt spid="50"/>
                                        </p:tgtEl>
                                        <p:attrNameLst>
                                          <p:attrName>ppt_x</p:attrName>
                                        </p:attrNameLst>
                                      </p:cBhvr>
                                      <p:tavLst>
                                        <p:tav tm="0">
                                          <p:val>
                                            <p:strVal val="#ppt_x"/>
                                          </p:val>
                                        </p:tav>
                                        <p:tav tm="100000">
                                          <p:val>
                                            <p:strVal val="#ppt_x"/>
                                          </p:val>
                                        </p:tav>
                                      </p:tavLst>
                                    </p:anim>
                                    <p:anim calcmode="lin" valueType="num">
                                      <p:cBhvr>
                                        <p:cTn id="171" dur="300" decel="100000" fill="hold"/>
                                        <p:tgtEl>
                                          <p:spTgt spid="50"/>
                                        </p:tgtEl>
                                        <p:attrNameLst>
                                          <p:attrName>ppt_y</p:attrName>
                                        </p:attrNameLst>
                                      </p:cBhvr>
                                      <p:tavLst>
                                        <p:tav tm="0">
                                          <p:val>
                                            <p:strVal val="#ppt_y+0.016"/>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nodeType="clickEffect">
                                  <p:stCondLst>
                                    <p:cond delay="0"/>
                                  </p:stCondLst>
                                  <p:childTnLst>
                                    <p:set>
                                      <p:cBhvr>
                                        <p:cTn id="175" dur="1" fill="hold">
                                          <p:stCondLst>
                                            <p:cond delay="0"/>
                                          </p:stCondLst>
                                        </p:cTn>
                                        <p:tgtEl>
                                          <p:spTgt spid="19"/>
                                        </p:tgtEl>
                                        <p:attrNameLst>
                                          <p:attrName>style.visibility</p:attrName>
                                        </p:attrNameLst>
                                      </p:cBhvr>
                                      <p:to>
                                        <p:strVal val="visible"/>
                                      </p:to>
                                    </p:set>
                                    <p:animEffect transition="in" filter="wipe(left)">
                                      <p:cBhvr>
                                        <p:cTn id="176" dur="400"/>
                                        <p:tgtEl>
                                          <p:spTgt spid="19"/>
                                        </p:tgtEl>
                                      </p:cBhvr>
                                    </p:animEffect>
                                  </p:childTnLst>
                                </p:cTn>
                              </p:par>
                              <p:par>
                                <p:cTn id="177" presetID="22" presetClass="entr" presetSubtype="8" fill="hold" grpId="0" nodeType="withEffect">
                                  <p:stCondLst>
                                    <p:cond delay="0"/>
                                  </p:stCondLst>
                                  <p:childTnLst>
                                    <p:set>
                                      <p:cBhvr>
                                        <p:cTn id="178" dur="1" fill="hold">
                                          <p:stCondLst>
                                            <p:cond delay="0"/>
                                          </p:stCondLst>
                                        </p:cTn>
                                        <p:tgtEl>
                                          <p:spTgt spid="20"/>
                                        </p:tgtEl>
                                        <p:attrNameLst>
                                          <p:attrName>style.visibility</p:attrName>
                                        </p:attrNameLst>
                                      </p:cBhvr>
                                      <p:to>
                                        <p:strVal val="visible"/>
                                      </p:to>
                                    </p:set>
                                    <p:animEffect transition="in" filter="wipe(left)">
                                      <p:cBhvr>
                                        <p:cTn id="179" dur="400"/>
                                        <p:tgtEl>
                                          <p:spTgt spid="20"/>
                                        </p:tgtEl>
                                      </p:cBhvr>
                                    </p:animEffect>
                                  </p:childTnLst>
                                </p:cTn>
                              </p:par>
                              <p:par>
                                <p:cTn id="180" presetID="22" presetClass="entr" presetSubtype="8" fill="hold" nodeType="withEffect">
                                  <p:stCondLst>
                                    <p:cond delay="0"/>
                                  </p:stCondLst>
                                  <p:childTnLst>
                                    <p:set>
                                      <p:cBhvr>
                                        <p:cTn id="181" dur="1" fill="hold">
                                          <p:stCondLst>
                                            <p:cond delay="0"/>
                                          </p:stCondLst>
                                        </p:cTn>
                                        <p:tgtEl>
                                          <p:spTgt spid="27"/>
                                        </p:tgtEl>
                                        <p:attrNameLst>
                                          <p:attrName>style.visibility</p:attrName>
                                        </p:attrNameLst>
                                      </p:cBhvr>
                                      <p:to>
                                        <p:strVal val="visible"/>
                                      </p:to>
                                    </p:set>
                                    <p:animEffect transition="in" filter="wipe(left)">
                                      <p:cBhvr>
                                        <p:cTn id="182" dur="400"/>
                                        <p:tgtEl>
                                          <p:spTgt spid="27"/>
                                        </p:tgtEl>
                                      </p:cBhvr>
                                    </p:animEffect>
                                  </p:childTnLst>
                                </p:cTn>
                              </p:par>
                              <p:par>
                                <p:cTn id="183" presetID="22" presetClass="entr" presetSubtype="8" fill="hold" grpId="0" nodeType="withEffect">
                                  <p:stCondLst>
                                    <p:cond delay="0"/>
                                  </p:stCondLst>
                                  <p:childTnLst>
                                    <p:set>
                                      <p:cBhvr>
                                        <p:cTn id="184" dur="1" fill="hold">
                                          <p:stCondLst>
                                            <p:cond delay="0"/>
                                          </p:stCondLst>
                                        </p:cTn>
                                        <p:tgtEl>
                                          <p:spTgt spid="28"/>
                                        </p:tgtEl>
                                        <p:attrNameLst>
                                          <p:attrName>style.visibility</p:attrName>
                                        </p:attrNameLst>
                                      </p:cBhvr>
                                      <p:to>
                                        <p:strVal val="visible"/>
                                      </p:to>
                                    </p:set>
                                    <p:animEffect transition="in" filter="wipe(left)">
                                      <p:cBhvr>
                                        <p:cTn id="185" dur="400"/>
                                        <p:tgtEl>
                                          <p:spTgt spid="28"/>
                                        </p:tgtEl>
                                      </p:cBhvr>
                                    </p:animEffect>
                                  </p:childTnLst>
                                </p:cTn>
                              </p:par>
                              <p:par>
                                <p:cTn id="186" presetID="22" presetClass="entr" presetSubtype="8" fill="hold" nodeType="withEffect">
                                  <p:stCondLst>
                                    <p:cond delay="0"/>
                                  </p:stCondLst>
                                  <p:childTnLst>
                                    <p:set>
                                      <p:cBhvr>
                                        <p:cTn id="187" dur="1" fill="hold">
                                          <p:stCondLst>
                                            <p:cond delay="0"/>
                                          </p:stCondLst>
                                        </p:cTn>
                                        <p:tgtEl>
                                          <p:spTgt spid="35"/>
                                        </p:tgtEl>
                                        <p:attrNameLst>
                                          <p:attrName>style.visibility</p:attrName>
                                        </p:attrNameLst>
                                      </p:cBhvr>
                                      <p:to>
                                        <p:strVal val="visible"/>
                                      </p:to>
                                    </p:set>
                                    <p:animEffect transition="in" filter="wipe(left)">
                                      <p:cBhvr>
                                        <p:cTn id="188" dur="400"/>
                                        <p:tgtEl>
                                          <p:spTgt spid="35"/>
                                        </p:tgtEl>
                                      </p:cBhvr>
                                    </p:animEffect>
                                  </p:childTnLst>
                                </p:cTn>
                              </p:par>
                              <p:par>
                                <p:cTn id="189" presetID="22" presetClass="entr" presetSubtype="8" fill="hold" grpId="0" nodeType="withEffect">
                                  <p:stCondLst>
                                    <p:cond delay="0"/>
                                  </p:stCondLst>
                                  <p:childTnLst>
                                    <p:set>
                                      <p:cBhvr>
                                        <p:cTn id="190" dur="1" fill="hold">
                                          <p:stCondLst>
                                            <p:cond delay="0"/>
                                          </p:stCondLst>
                                        </p:cTn>
                                        <p:tgtEl>
                                          <p:spTgt spid="36"/>
                                        </p:tgtEl>
                                        <p:attrNameLst>
                                          <p:attrName>style.visibility</p:attrName>
                                        </p:attrNameLst>
                                      </p:cBhvr>
                                      <p:to>
                                        <p:strVal val="visible"/>
                                      </p:to>
                                    </p:set>
                                    <p:animEffect transition="in" filter="wipe(left)">
                                      <p:cBhvr>
                                        <p:cTn id="191" dur="400"/>
                                        <p:tgtEl>
                                          <p:spTgt spid="36"/>
                                        </p:tgtEl>
                                      </p:cBhvr>
                                    </p:animEffect>
                                  </p:childTnLst>
                                </p:cTn>
                              </p:par>
                              <p:par>
                                <p:cTn id="192" presetID="22" presetClass="entr" presetSubtype="8" fill="hold" nodeType="withEffect">
                                  <p:stCondLst>
                                    <p:cond delay="0"/>
                                  </p:stCondLst>
                                  <p:childTnLst>
                                    <p:set>
                                      <p:cBhvr>
                                        <p:cTn id="193" dur="1" fill="hold">
                                          <p:stCondLst>
                                            <p:cond delay="0"/>
                                          </p:stCondLst>
                                        </p:cTn>
                                        <p:tgtEl>
                                          <p:spTgt spid="43"/>
                                        </p:tgtEl>
                                        <p:attrNameLst>
                                          <p:attrName>style.visibility</p:attrName>
                                        </p:attrNameLst>
                                      </p:cBhvr>
                                      <p:to>
                                        <p:strVal val="visible"/>
                                      </p:to>
                                    </p:set>
                                    <p:animEffect transition="in" filter="wipe(left)">
                                      <p:cBhvr>
                                        <p:cTn id="194" dur="400"/>
                                        <p:tgtEl>
                                          <p:spTgt spid="43"/>
                                        </p:tgtEl>
                                      </p:cBhvr>
                                    </p:animEffect>
                                  </p:childTnLst>
                                </p:cTn>
                              </p:par>
                              <p:par>
                                <p:cTn id="195" presetID="22" presetClass="entr" presetSubtype="8" fill="hold" grpId="0" nodeType="withEffect">
                                  <p:stCondLst>
                                    <p:cond delay="0"/>
                                  </p:stCondLst>
                                  <p:childTnLst>
                                    <p:set>
                                      <p:cBhvr>
                                        <p:cTn id="196" dur="1" fill="hold">
                                          <p:stCondLst>
                                            <p:cond delay="0"/>
                                          </p:stCondLst>
                                        </p:cTn>
                                        <p:tgtEl>
                                          <p:spTgt spid="44"/>
                                        </p:tgtEl>
                                        <p:attrNameLst>
                                          <p:attrName>style.visibility</p:attrName>
                                        </p:attrNameLst>
                                      </p:cBhvr>
                                      <p:to>
                                        <p:strVal val="visible"/>
                                      </p:to>
                                    </p:set>
                                    <p:animEffect transition="in" filter="wipe(left)">
                                      <p:cBhvr>
                                        <p:cTn id="197" dur="400"/>
                                        <p:tgtEl>
                                          <p:spTgt spid="44"/>
                                        </p:tgtEl>
                                      </p:cBhvr>
                                    </p:animEffect>
                                  </p:childTnLst>
                                </p:cTn>
                              </p:par>
                              <p:par>
                                <p:cTn id="198" presetID="22" presetClass="entr" presetSubtype="8" fill="hold" nodeType="withEffect">
                                  <p:stCondLst>
                                    <p:cond delay="0"/>
                                  </p:stCondLst>
                                  <p:childTnLst>
                                    <p:set>
                                      <p:cBhvr>
                                        <p:cTn id="199" dur="1" fill="hold">
                                          <p:stCondLst>
                                            <p:cond delay="0"/>
                                          </p:stCondLst>
                                        </p:cTn>
                                        <p:tgtEl>
                                          <p:spTgt spid="51"/>
                                        </p:tgtEl>
                                        <p:attrNameLst>
                                          <p:attrName>style.visibility</p:attrName>
                                        </p:attrNameLst>
                                      </p:cBhvr>
                                      <p:to>
                                        <p:strVal val="visible"/>
                                      </p:to>
                                    </p:set>
                                    <p:animEffect transition="in" filter="wipe(left)">
                                      <p:cBhvr>
                                        <p:cTn id="200" dur="400"/>
                                        <p:tgtEl>
                                          <p:spTgt spid="51"/>
                                        </p:tgtEl>
                                      </p:cBhvr>
                                    </p:animEffect>
                                  </p:childTnLst>
                                </p:cTn>
                              </p:par>
                              <p:par>
                                <p:cTn id="201" presetID="22" presetClass="entr" presetSubtype="8" fill="hold" grpId="0" nodeType="withEffect">
                                  <p:stCondLst>
                                    <p:cond delay="0"/>
                                  </p:stCondLst>
                                  <p:childTnLst>
                                    <p:set>
                                      <p:cBhvr>
                                        <p:cTn id="202" dur="1" fill="hold">
                                          <p:stCondLst>
                                            <p:cond delay="0"/>
                                          </p:stCondLst>
                                        </p:cTn>
                                        <p:tgtEl>
                                          <p:spTgt spid="52"/>
                                        </p:tgtEl>
                                        <p:attrNameLst>
                                          <p:attrName>style.visibility</p:attrName>
                                        </p:attrNameLst>
                                      </p:cBhvr>
                                      <p:to>
                                        <p:strVal val="visible"/>
                                      </p:to>
                                    </p:set>
                                    <p:animEffect transition="in" filter="wipe(left)">
                                      <p:cBhvr>
                                        <p:cTn id="203"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2" grpId="0" animBg="1"/>
      <p:bldP spid="23" grpId="0" animBg="1"/>
      <p:bldP spid="24" grpId="0" animBg="1"/>
      <p:bldP spid="25" grpId="0" animBg="1"/>
      <p:bldP spid="26" grpId="0" animBg="1"/>
      <p:bldP spid="28" grpId="0" animBg="1"/>
      <p:bldP spid="30" grpId="0" animBg="1"/>
      <p:bldP spid="31" grpId="0" animBg="1"/>
      <p:bldP spid="32" grpId="0" animBg="1"/>
      <p:bldP spid="33" grpId="0" animBg="1"/>
      <p:bldP spid="34" grpId="0" animBg="1"/>
      <p:bldP spid="36" grpId="0" animBg="1"/>
      <p:bldP spid="38" grpId="0" animBg="1"/>
      <p:bldP spid="39" grpId="0" animBg="1"/>
      <p:bldP spid="40" grpId="0" animBg="1"/>
      <p:bldP spid="41" grpId="0" animBg="1"/>
      <p:bldP spid="42" grpId="0" animBg="1"/>
      <p:bldP spid="44" grpId="0" animBg="1"/>
      <p:bldP spid="46" grpId="0" animBg="1"/>
      <p:bldP spid="47" grpId="0" animBg="1"/>
      <p:bldP spid="48" grpId="0" animBg="1"/>
      <p:bldP spid="49" grpId="0" animBg="1"/>
      <p:bldP spid="50" grpId="0" animBg="1"/>
      <p:bldP spid="5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xt_297"/>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02: CONCEPT</a:t>
            </a:r>
            <a:endParaRPr lang="en-US" sz="1100" dirty="0"/>
          </a:p>
        </p:txBody>
      </p:sp>
      <p:sp>
        <p:nvSpPr>
          <p:cNvPr id="3" name="kicker_298"/>
          <p:cNvSpPr txBox="1"/>
          <p:nvPr/>
        </p:nvSpPr>
        <p:spPr>
          <a:xfrm>
            <a:off x="457200" y="548640"/>
            <a:ext cx="313182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CONCEPT FORMULATION</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NAVI combines routing, pacing, and a visible aerial guide</a:t>
            </a:r>
            <a:endParaRPr lang="en-US" sz="4000" dirty="0"/>
          </a:p>
        </p:txBody>
      </p:sp>
      <p:sp>
        <p:nvSpPr>
          <p:cNvPr id="5" name="txt_299"/>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CONCEPTUAL SIMULATION · NO FLIGHT PERFORMED</a:t>
            </a:r>
            <a:endParaRPr lang="en-US" sz="1000" dirty="0"/>
          </a:p>
        </p:txBody>
      </p:sp>
      <p:sp>
        <p:nvSpPr>
          <p:cNvPr id="6" name="txt_300"/>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 p3; §5 p5; §10 p9</a:t>
            </a:r>
            <a:endParaRPr lang="en-US" sz="1000" dirty="0"/>
          </a:p>
        </p:txBody>
      </p:sp>
      <p:sp>
        <p:nvSpPr>
          <p:cNvPr id="7" name="txt_301"/>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[ 09 / 18 ]</a:t>
            </a:r>
            <a:endParaRPr lang="en-US" sz="1200" dirty="0"/>
          </a:p>
        </p:txBody>
      </p:sp>
      <p:sp>
        <p:nvSpPr>
          <p:cNvPr id="9" name="path_302"/>
          <p:cNvSpPr/>
          <p:nvPr/>
        </p:nvSpPr>
        <p:spPr>
          <a:xfrm>
            <a:off x="822960" y="3657600"/>
            <a:ext cx="4297680" cy="914400"/>
          </a:xfrm>
          <a:custGeom>
            <a:avLst/>
            <a:gdLst/>
            <a:ahLst/>
            <a:cxnLst/>
            <a:rect l="l" t="t" r="r" b="b"/>
            <a:pathLst>
              <a:path w="4297680" h="914400">
                <a:moveTo>
                  <a:pt x="0" y="914400"/>
                </a:moveTo>
                <a:lnTo>
                  <a:pt x="1554480" y="914400"/>
                </a:lnTo>
                <a:lnTo>
                  <a:pt x="2286000" y="0"/>
                </a:lnTo>
                <a:lnTo>
                  <a:pt x="4297680" y="0"/>
                </a:lnTo>
              </a:path>
            </a:pathLst>
          </a:custGeom>
          <a:ln w="38100">
            <a:solidFill>
              <a:srgbClr val="00F0FF"/>
            </a:solidFill>
            <a:prstDash val="solid"/>
          </a:ln>
        </p:spPr>
      </p:sp>
      <p:sp>
        <p:nvSpPr>
          <p:cNvPr id="10" name="path_303"/>
          <p:cNvSpPr/>
          <p:nvPr/>
        </p:nvSpPr>
        <p:spPr>
          <a:xfrm>
            <a:off x="5120640" y="2926080"/>
            <a:ext cx="2743200" cy="731520"/>
          </a:xfrm>
          <a:custGeom>
            <a:avLst/>
            <a:gdLst/>
            <a:ahLst/>
            <a:cxnLst/>
            <a:rect l="l" t="t" r="r" b="b"/>
            <a:pathLst>
              <a:path w="2743200" h="731520">
                <a:moveTo>
                  <a:pt x="0" y="731520"/>
                </a:moveTo>
                <a:lnTo>
                  <a:pt x="731520" y="0"/>
                </a:lnTo>
                <a:lnTo>
                  <a:pt x="2743200" y="0"/>
                </a:lnTo>
              </a:path>
            </a:pathLst>
          </a:custGeom>
          <a:ln w="38100">
            <a:solidFill>
              <a:srgbClr val="00F0FF"/>
            </a:solidFill>
            <a:prstDash val="solid"/>
          </a:ln>
        </p:spPr>
      </p:sp>
      <p:sp>
        <p:nvSpPr>
          <p:cNvPr id="11" name="path_304"/>
          <p:cNvSpPr/>
          <p:nvPr/>
        </p:nvSpPr>
        <p:spPr>
          <a:xfrm>
            <a:off x="7863840" y="2926080"/>
            <a:ext cx="3108960" cy="731520"/>
          </a:xfrm>
          <a:custGeom>
            <a:avLst/>
            <a:gdLst/>
            <a:ahLst/>
            <a:cxnLst/>
            <a:rect l="l" t="t" r="r" b="b"/>
            <a:pathLst>
              <a:path w="3108960" h="731520">
                <a:moveTo>
                  <a:pt x="0" y="0"/>
                </a:moveTo>
                <a:lnTo>
                  <a:pt x="731520" y="731520"/>
                </a:lnTo>
                <a:lnTo>
                  <a:pt x="3108960" y="731520"/>
                </a:lnTo>
              </a:path>
            </a:pathLst>
          </a:custGeom>
          <a:ln w="38100">
            <a:solidFill>
              <a:srgbClr val="00F0FF"/>
            </a:solidFill>
            <a:prstDash val="solid"/>
          </a:ln>
        </p:spPr>
      </p:sp>
      <p:sp>
        <p:nvSpPr>
          <p:cNvPr id="12" name="badge_305"/>
          <p:cNvSpPr txBox="1"/>
          <p:nvPr/>
        </p:nvSpPr>
        <p:spPr>
          <a:xfrm>
            <a:off x="630936" y="4379976"/>
            <a:ext cx="384048" cy="384048"/>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300" b="1" dirty="0">
                <a:solidFill>
                  <a:srgbClr val="10B981"/>
                </a:solidFill>
                <a:latin typeface="JetBrains Mono" pitchFamily="34" charset="0"/>
                <a:ea typeface="JetBrains Mono" pitchFamily="34" charset="-122"/>
                <a:cs typeface="JetBrains Mono" pitchFamily="34" charset="-120"/>
              </a:rPr>
              <a:t>P</a:t>
            </a:r>
            <a:endParaRPr lang="en-US" sz="1300" dirty="0"/>
          </a:p>
        </p:txBody>
      </p:sp>
      <p:sp>
        <p:nvSpPr>
          <p:cNvPr id="13" name="badge_306"/>
          <p:cNvSpPr txBox="1"/>
          <p:nvPr/>
        </p:nvSpPr>
        <p:spPr>
          <a:xfrm>
            <a:off x="10780776" y="3465576"/>
            <a:ext cx="384048" cy="384048"/>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300" b="1" dirty="0">
                <a:solidFill>
                  <a:srgbClr val="10B981"/>
                </a:solidFill>
                <a:latin typeface="JetBrains Mono" pitchFamily="34" charset="0"/>
                <a:ea typeface="JetBrains Mono" pitchFamily="34" charset="-122"/>
                <a:cs typeface="JetBrains Mono" pitchFamily="34" charset="-120"/>
              </a:rPr>
              <a:t>P</a:t>
            </a:r>
            <a:endParaRPr lang="en-US" sz="1300" dirty="0"/>
          </a:p>
        </p:txBody>
      </p:sp>
      <p:sp>
        <p:nvSpPr>
          <p:cNvPr id="14" name="txt_307"/>
          <p:cNvSpPr txBox="1"/>
          <p:nvPr/>
        </p:nvSpPr>
        <p:spPr>
          <a:xfrm>
            <a:off x="502920" y="4846320"/>
            <a:ext cx="3017520" cy="621792"/>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01 DESTINATION → ROUTE</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Nearest pad → nearest entrance (Dijkstra)</a:t>
            </a:r>
            <a:endParaRPr lang="en-US" sz="1500" dirty="0"/>
          </a:p>
        </p:txBody>
      </p:sp>
      <p:sp>
        <p:nvSpPr>
          <p:cNvPr id="15" name="txt_308"/>
          <p:cNvSpPr txBox="1"/>
          <p:nvPr/>
        </p:nvSpPr>
        <p:spPr>
          <a:xfrm>
            <a:off x="3154680" y="3858768"/>
            <a:ext cx="2651760" cy="621792"/>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02 CHECKS → MISSION</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Geofence + whitelist, then upload</a:t>
            </a:r>
            <a:endParaRPr lang="en-US" sz="1500" dirty="0"/>
          </a:p>
        </p:txBody>
      </p:sp>
      <p:sp>
        <p:nvSpPr>
          <p:cNvPr id="16" name="txt_309"/>
          <p:cNvSpPr txBox="1"/>
          <p:nvPr/>
        </p:nvSpPr>
        <p:spPr>
          <a:xfrm>
            <a:off x="5897880" y="3200400"/>
            <a:ext cx="2057400" cy="621792"/>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03 LEAD THE VISITOR</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Aircraft ≈15 m ahead (design target)</a:t>
            </a:r>
            <a:endParaRPr lang="en-US" sz="1500" dirty="0"/>
          </a:p>
        </p:txBody>
      </p:sp>
      <p:sp>
        <p:nvSpPr>
          <p:cNvPr id="17" name="txt_310"/>
          <p:cNvSpPr txBox="1"/>
          <p:nvPr/>
        </p:nvSpPr>
        <p:spPr>
          <a:xfrm>
            <a:off x="8686800" y="3858768"/>
            <a:ext cx="2560320" cy="621792"/>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04 ARRIVE</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Land at pad near destination</a:t>
            </a:r>
            <a:endParaRPr lang="en-US" sz="1500" dirty="0"/>
          </a:p>
        </p:txBody>
      </p:sp>
      <p:sp>
        <p:nvSpPr>
          <p:cNvPr id="18" name="badge_311"/>
          <p:cNvSpPr txBox="1"/>
          <p:nvPr/>
        </p:nvSpPr>
        <p:spPr>
          <a:xfrm>
            <a:off x="5888736" y="2761488"/>
            <a:ext cx="329184" cy="329184"/>
          </a:xfrm>
          <a:prstGeom prst="ellipse">
            <a:avLst/>
          </a:prstGeom>
          <a:solidFill>
            <a:srgbClr val="090D16"/>
          </a:solidFill>
          <a:ln w="15875">
            <a:solidFill>
              <a:srgbClr val="F8FAFC"/>
            </a:solidFill>
          </a:ln>
        </p:spPr>
        <p:txBody>
          <a:bodyPr wrap="square" lIns="0" tIns="0" rIns="0" bIns="0" rtlCol="0" anchor="ctr"/>
          <a:lstStyle/>
          <a:p>
            <a:pPr marL="0" indent="0" algn="ctr">
              <a:buNone/>
            </a:pPr>
            <a:r>
              <a:rPr lang="en-US" sz="1200" b="1" dirty="0">
                <a:solidFill>
                  <a:srgbClr val="F8FAFC"/>
                </a:solidFill>
                <a:latin typeface="JetBrains Mono" pitchFamily="34" charset="0"/>
                <a:ea typeface="JetBrains Mono" pitchFamily="34" charset="-122"/>
                <a:cs typeface="JetBrains Mono" pitchFamily="34" charset="-120"/>
              </a:rPr>
              <a:t>V</a:t>
            </a:r>
            <a:endParaRPr lang="en-US" sz="1200" dirty="0"/>
          </a:p>
        </p:txBody>
      </p:sp>
      <p:sp>
        <p:nvSpPr>
          <p:cNvPr id="19" name="badge_312"/>
          <p:cNvSpPr txBox="1"/>
          <p:nvPr/>
        </p:nvSpPr>
        <p:spPr>
          <a:xfrm>
            <a:off x="7360920" y="2697480"/>
            <a:ext cx="457200" cy="457200"/>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UAV</a:t>
            </a:r>
            <a:endParaRPr lang="en-US" sz="1000" dirty="0"/>
          </a:p>
        </p:txBody>
      </p:sp>
      <p:sp>
        <p:nvSpPr>
          <p:cNvPr id="20" name="ln_313"/>
          <p:cNvSpPr/>
          <p:nvPr/>
        </p:nvSpPr>
        <p:spPr>
          <a:xfrm>
            <a:off x="6263640" y="2670048"/>
            <a:ext cx="1051560" cy="914"/>
          </a:xfrm>
          <a:prstGeom prst="line">
            <a:avLst/>
          </a:prstGeom>
          <a:noFill/>
          <a:ln w="12700">
            <a:solidFill>
              <a:srgbClr val="00F0FF"/>
            </a:solidFill>
            <a:prstDash val="dash"/>
            <a:tailEnd type="triangle"/>
          </a:ln>
        </p:spPr>
      </p:sp>
      <p:sp>
        <p:nvSpPr>
          <p:cNvPr id="21" name="txt_314"/>
          <p:cNvSpPr txBox="1"/>
          <p:nvPr/>
        </p:nvSpPr>
        <p:spPr>
          <a:xfrm>
            <a:off x="6263640" y="2414016"/>
            <a:ext cx="1188720" cy="219456"/>
          </a:xfrm>
          <a:prstGeom prst="rect">
            <a:avLst/>
          </a:prstGeom>
          <a:noFill/>
          <a:ln/>
        </p:spPr>
        <p:txBody>
          <a:bodyPr wrap="square" lIns="0" tIns="0" rIns="0" bIns="0" rtlCol="0" anchor="t"/>
          <a:lstStyle/>
          <a:p>
            <a:pPr marL="0" indent="0">
              <a:buNone/>
            </a:pPr>
            <a:r>
              <a:rPr lang="en-US" sz="1100" dirty="0">
                <a:solidFill>
                  <a:srgbClr val="00F0FF"/>
                </a:solidFill>
                <a:latin typeface="JetBrains Mono" pitchFamily="34" charset="0"/>
                <a:ea typeface="JetBrains Mono" pitchFamily="34" charset="-122"/>
                <a:cs typeface="JetBrains Mono" pitchFamily="34" charset="-120"/>
              </a:rPr>
              <a:t>LEAD ≈15 m</a:t>
            </a:r>
            <a:endParaRPr lang="en-US" sz="1100" dirty="0"/>
          </a:p>
        </p:txBody>
      </p:sp>
      <p:sp>
        <p:nvSpPr>
          <p:cNvPr id="22" name="chip_315"/>
          <p:cNvSpPr txBox="1"/>
          <p:nvPr/>
        </p:nvSpPr>
        <p:spPr>
          <a:xfrm>
            <a:off x="7955280" y="2395728"/>
            <a:ext cx="2752344" cy="237744"/>
          </a:xfrm>
          <a:prstGeom prst="roundRect">
            <a:avLst>
              <a:gd name="adj" fmla="val 19231"/>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1100" b="1" dirty="0">
                <a:solidFill>
                  <a:srgbClr val="F59E0B"/>
                </a:solidFill>
                <a:latin typeface="JetBrains Mono" pitchFamily="34" charset="0"/>
                <a:ea typeface="JetBrains Mono" pitchFamily="34" charset="-122"/>
                <a:cs typeface="JetBrains Mono" pitchFamily="34" charset="-120"/>
              </a:rPr>
              <a:t>VISITOR STOPS → AIRCRAFT HOLDS</a:t>
            </a:r>
            <a:endParaRPr lang="en-US" sz="1100" dirty="0"/>
          </a:p>
        </p:txBody>
      </p:sp>
      <p:sp>
        <p:nvSpPr>
          <p:cNvPr id="23" name="chip_316"/>
          <p:cNvSpPr txBox="1"/>
          <p:nvPr/>
        </p:nvSpPr>
        <p:spPr>
          <a:xfrm>
            <a:off x="457200" y="2148840"/>
            <a:ext cx="4093464" cy="237744"/>
          </a:xfrm>
          <a:prstGeom prst="roundRect">
            <a:avLst>
              <a:gd name="adj" fmla="val 19231"/>
            </a:avLst>
          </a:prstGeom>
          <a:solidFill>
            <a:srgbClr val="94A3B8">
              <a:alpha val="12000"/>
            </a:srgbClr>
          </a:solidFill>
          <a:ln w="9525">
            <a:solidFill>
              <a:srgbClr val="94A3B8">
                <a:alpha val="65000"/>
              </a:srgbClr>
            </a:solidFill>
          </a:ln>
        </p:spPr>
        <p:txBody>
          <a:bodyPr wrap="square" lIns="0" tIns="0" rIns="0" bIns="0" rtlCol="0" anchor="ctr"/>
          <a:lstStyle/>
          <a:p>
            <a:pPr marL="0" indent="0" algn="ctr">
              <a:buNone/>
            </a:pPr>
            <a:r>
              <a:rPr lang="en-US" sz="1100" b="1" dirty="0">
                <a:solidFill>
                  <a:srgbClr val="94A3B8"/>
                </a:solidFill>
                <a:latin typeface="JetBrains Mono" pitchFamily="34" charset="0"/>
                <a:ea typeface="JetBrains Mono" pitchFamily="34" charset="-122"/>
                <a:cs typeface="JetBrains Mono" pitchFamily="34" charset="-120"/>
              </a:rPr>
              <a:t>CONCEPTUAL SIMULATION · NOT A REAL CAMPUS PATH</a:t>
            </a:r>
            <a:endParaRPr lang="en-US" sz="1100" dirty="0"/>
          </a:p>
        </p:txBody>
      </p:sp>
      <p:sp>
        <p:nvSpPr>
          <p:cNvPr id="24" name="box_317"/>
          <p:cNvSpPr/>
          <p:nvPr/>
        </p:nvSpPr>
        <p:spPr>
          <a:xfrm>
            <a:off x="457200" y="5541264"/>
            <a:ext cx="11277295" cy="676656"/>
          </a:xfrm>
          <a:prstGeom prst="roundRect">
            <a:avLst>
              <a:gd name="adj" fmla="val 8108"/>
            </a:avLst>
          </a:prstGeom>
          <a:solidFill>
            <a:srgbClr val="00F0FF">
              <a:alpha val="8000"/>
            </a:srgbClr>
          </a:solidFill>
          <a:ln w="9525">
            <a:solidFill>
              <a:srgbClr val="00F0FF">
                <a:alpha val="60000"/>
              </a:srgbClr>
            </a:solidFill>
            <a:prstDash val="solid"/>
          </a:ln>
        </p:spPr>
      </p:sp>
      <p:sp>
        <p:nvSpPr>
          <p:cNvPr id="25" name="txt_318"/>
          <p:cNvSpPr txBox="1"/>
          <p:nvPr/>
        </p:nvSpPr>
        <p:spPr>
          <a:xfrm>
            <a:off x="621792" y="5577840"/>
            <a:ext cx="10948111" cy="603504"/>
          </a:xfrm>
          <a:prstGeom prst="rect">
            <a:avLst/>
          </a:prstGeom>
          <a:noFill/>
          <a:ln/>
        </p:spPr>
        <p:txBody>
          <a:bodyPr wrap="square" lIns="0" tIns="0" rIns="0" bIns="0" rtlCol="0" anchor="ctr"/>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INTEGRATION GAP  </a:t>
            </a:r>
            <a:r>
              <a:rPr lang="en-US" sz="1400" dirty="0">
                <a:solidFill>
                  <a:srgbClr val="F8FAFC"/>
                </a:solidFill>
                <a:latin typeface="Inter" pitchFamily="34" charset="0"/>
                <a:ea typeface="Inter" pitchFamily="34" charset="-122"/>
                <a:cs typeface="Inter" pitchFamily="34" charset="-120"/>
              </a:rPr>
              <a:t>The selected literature informs a system combining mapped campus routes, launch-pad coverage, a physical aerial guide, phone-position pacing and defined fault responses on affordable hardware. Waypoint flight and aerial guidance are not claimed as new.</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45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300"/>
                                        <p:tgtEl>
                                          <p:spTgt spid="14"/>
                                        </p:tgtEl>
                                      </p:cBhvr>
                                    </p:animEffect>
                                  </p:childTnLst>
                                </p:cTn>
                              </p:par>
                            </p:childTnLst>
                          </p:cTn>
                        </p:par>
                        <p:par>
                          <p:cTn id="15" fill="hold">
                            <p:stCondLst>
                              <p:cond delay="700"/>
                            </p:stCondLst>
                            <p:childTnLst>
                              <p:par>
                                <p:cTn id="16" presetID="10"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00"/>
                                        <p:tgtEl>
                                          <p:spTgt spid="15"/>
                                        </p:tgtEl>
                                      </p:cBhvr>
                                    </p:animEffect>
                                  </p:childTnLst>
                                </p:cTn>
                              </p:par>
                            </p:childTnLst>
                          </p:cTn>
                        </p:par>
                        <p:par>
                          <p:cTn id="19" fill="hold">
                            <p:stCondLst>
                              <p:cond delay="1000"/>
                            </p:stCondLst>
                            <p:childTnLst>
                              <p:par>
                                <p:cTn id="20" presetID="22" presetClass="entr" presetSubtype="8"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400"/>
                                        <p:tgtEl>
                                          <p:spTgt spid="10"/>
                                        </p:tgtEl>
                                      </p:cBhvr>
                                    </p:animEffect>
                                  </p:childTnLst>
                                </p:cTn>
                              </p:par>
                            </p:childTnLst>
                          </p:cTn>
                        </p:par>
                        <p:par>
                          <p:cTn id="23" fill="hold">
                            <p:stCondLst>
                              <p:cond delay="14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3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300"/>
                                        <p:tgtEl>
                                          <p:spTgt spid="19"/>
                                        </p:tgtEl>
                                      </p:cBhvr>
                                    </p:animEffect>
                                  </p:childTnLst>
                                </p:cTn>
                              </p:par>
                              <p:par>
                                <p:cTn id="30" presetID="10"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3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00"/>
                                        <p:tgtEl>
                                          <p:spTgt spid="16"/>
                                        </p:tgtEl>
                                      </p:cBhvr>
                                    </p:animEffect>
                                  </p:childTnLst>
                                </p:cTn>
                              </p:par>
                            </p:childTnLst>
                          </p:cTn>
                        </p:par>
                        <p:par>
                          <p:cTn id="39" fill="hold">
                            <p:stCondLst>
                              <p:cond delay="1700"/>
                            </p:stCondLst>
                            <p:childTnLst>
                              <p:par>
                                <p:cTn id="40" presetID="22" presetClass="entr" presetSubtype="8"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450"/>
                                        <p:tgtEl>
                                          <p:spTgt spid="11"/>
                                        </p:tgtEl>
                                      </p:cBhvr>
                                    </p:animEffect>
                                  </p:childTnLst>
                                </p:cTn>
                              </p:par>
                            </p:childTnLst>
                          </p:cTn>
                        </p:par>
                        <p:par>
                          <p:cTn id="43" fill="hold">
                            <p:stCondLst>
                              <p:cond delay="215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300"/>
                                        <p:tgtEl>
                                          <p:spTgt spid="1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3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anim calcmode="lin" valueType="num">
                                      <p:cBhvr>
                                        <p:cTn id="60" dur="400" decel="100000" fill="hold"/>
                                        <p:tgtEl>
                                          <p:spTgt spid="24"/>
                                        </p:tgtEl>
                                        <p:attrNameLst>
                                          <p:attrName>ppt_x</p:attrName>
                                        </p:attrNameLst>
                                      </p:cBhvr>
                                      <p:tavLst>
                                        <p:tav tm="0">
                                          <p:val>
                                            <p:strVal val="#ppt_x"/>
                                          </p:val>
                                        </p:tav>
                                        <p:tav tm="100000">
                                          <p:val>
                                            <p:strVal val="#ppt_x"/>
                                          </p:val>
                                        </p:tav>
                                      </p:tavLst>
                                    </p:anim>
                                    <p:anim calcmode="lin" valueType="num">
                                      <p:cBhvr>
                                        <p:cTn id="61" dur="400" decel="100000" fill="hold"/>
                                        <p:tgtEl>
                                          <p:spTgt spid="24"/>
                                        </p:tgtEl>
                                        <p:attrNameLst>
                                          <p:attrName>ppt_y</p:attrName>
                                        </p:attrNameLst>
                                      </p:cBhvr>
                                      <p:tavLst>
                                        <p:tav tm="0">
                                          <p:val>
                                            <p:strVal val="#ppt_y+0.01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anim calcmode="lin" valueType="num">
                                      <p:cBhvr>
                                        <p:cTn id="65" dur="400" decel="100000" fill="hold"/>
                                        <p:tgtEl>
                                          <p:spTgt spid="25"/>
                                        </p:tgtEl>
                                        <p:attrNameLst>
                                          <p:attrName>ppt_x</p:attrName>
                                        </p:attrNameLst>
                                      </p:cBhvr>
                                      <p:tavLst>
                                        <p:tav tm="0">
                                          <p:val>
                                            <p:strVal val="#ppt_x"/>
                                          </p:val>
                                        </p:tav>
                                        <p:tav tm="100000">
                                          <p:val>
                                            <p:strVal val="#ppt_x"/>
                                          </p:val>
                                        </p:tav>
                                      </p:tavLst>
                                    </p:anim>
                                    <p:anim calcmode="lin" valueType="num">
                                      <p:cBhvr>
                                        <p:cTn id="66" dur="400" decel="100000" fill="hold"/>
                                        <p:tgtEl>
                                          <p:spTgt spid="25"/>
                                        </p:tgtEl>
                                        <p:attrNameLst>
                                          <p:attrName>ppt_y</p:attrName>
                                        </p:attrNameLst>
                                      </p:cBhvr>
                                      <p:tavLst>
                                        <p:tav tm="0">
                                          <p:val>
                                            <p:strVal val="#ppt_y+0.01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xt_319"/>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03: SYSTEM ARCHITECTURE</a:t>
            </a:r>
            <a:endParaRPr lang="en-US" sz="1100" dirty="0"/>
          </a:p>
        </p:txBody>
      </p:sp>
      <p:sp>
        <p:nvSpPr>
          <p:cNvPr id="3" name="kicker_320"/>
          <p:cNvSpPr txBox="1"/>
          <p:nvPr/>
        </p:nvSpPr>
        <p:spPr>
          <a:xfrm>
            <a:off x="457200" y="548640"/>
            <a:ext cx="313182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SYSTEM ARCHITECTURE</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Ground-station planning keeps onboard computation simple</a:t>
            </a:r>
            <a:endParaRPr lang="en-US" sz="4000" dirty="0"/>
          </a:p>
        </p:txBody>
      </p:sp>
      <p:sp>
        <p:nvSpPr>
          <p:cNvPr id="5" name="txt_321"/>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DESIGN · TELEMETRY SIMULATED TODAY · MAVLINK INTEGRATION PENDING</a:t>
            </a:r>
            <a:endParaRPr lang="en-US" sz="1000" dirty="0"/>
          </a:p>
        </p:txBody>
      </p:sp>
      <p:sp>
        <p:nvSpPr>
          <p:cNvPr id="6" name="txt_322"/>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§4–5 p5; §11 p10; §13 p11</a:t>
            </a:r>
            <a:endParaRPr lang="en-US" sz="1000" dirty="0"/>
          </a:p>
        </p:txBody>
      </p:sp>
      <p:sp>
        <p:nvSpPr>
          <p:cNvPr id="7" name="txt_323"/>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[ 10 / 18 ]</a:t>
            </a:r>
            <a:endParaRPr lang="en-US" sz="1200" dirty="0"/>
          </a:p>
        </p:txBody>
      </p:sp>
      <p:sp>
        <p:nvSpPr>
          <p:cNvPr id="9" name="box_324"/>
          <p:cNvSpPr/>
          <p:nvPr/>
        </p:nvSpPr>
        <p:spPr>
          <a:xfrm>
            <a:off x="457200" y="2148840"/>
            <a:ext cx="3749040" cy="4069080"/>
          </a:xfrm>
          <a:prstGeom prst="roundRect">
            <a:avLst>
              <a:gd name="adj" fmla="val 1463"/>
            </a:avLst>
          </a:prstGeom>
          <a:solidFill>
            <a:srgbClr val="131C2E">
              <a:alpha val="65000"/>
            </a:srgbClr>
          </a:solidFill>
          <a:ln w="9525">
            <a:solidFill>
              <a:srgbClr val="00F0FF">
                <a:alpha val="22000"/>
              </a:srgbClr>
            </a:solidFill>
            <a:prstDash val="solid"/>
          </a:ln>
        </p:spPr>
      </p:sp>
      <p:sp>
        <p:nvSpPr>
          <p:cNvPr id="10" name="txt_325"/>
          <p:cNvSpPr txBox="1"/>
          <p:nvPr/>
        </p:nvSpPr>
        <p:spPr>
          <a:xfrm>
            <a:off x="594360" y="2221992"/>
            <a:ext cx="2743200" cy="237744"/>
          </a:xfrm>
          <a:prstGeom prst="rect">
            <a:avLst/>
          </a:prstGeom>
          <a:noFill/>
          <a:ln/>
        </p:spPr>
        <p:txBody>
          <a:bodyPr wrap="square" lIns="0" tIns="0" rIns="0" bIns="0" rtlCol="0" anchor="t"/>
          <a:lstStyle/>
          <a:p>
            <a:pPr marL="0" indent="0">
              <a:buNone/>
            </a:pPr>
            <a:r>
              <a:rPr lang="en-US" sz="1200" b="1" dirty="0">
                <a:solidFill>
                  <a:srgbClr val="94A3B8"/>
                </a:solidFill>
                <a:latin typeface="JetBrains Mono" pitchFamily="34" charset="0"/>
                <a:ea typeface="JetBrains Mono" pitchFamily="34" charset="-122"/>
                <a:cs typeface="JetBrains Mono" pitchFamily="34" charset="-120"/>
              </a:rPr>
              <a:t>GROUND SIDE</a:t>
            </a:r>
            <a:endParaRPr lang="en-US" sz="1200" dirty="0"/>
          </a:p>
        </p:txBody>
      </p:sp>
      <p:sp>
        <p:nvSpPr>
          <p:cNvPr id="11" name="box_326"/>
          <p:cNvSpPr/>
          <p:nvPr/>
        </p:nvSpPr>
        <p:spPr>
          <a:xfrm>
            <a:off x="594360" y="2514600"/>
            <a:ext cx="3474720" cy="603504"/>
          </a:xfrm>
          <a:prstGeom prst="roundRect">
            <a:avLst>
              <a:gd name="adj" fmla="val 9091"/>
            </a:avLst>
          </a:prstGeom>
          <a:solidFill>
            <a:srgbClr val="1E293B">
              <a:alpha val="95000"/>
            </a:srgbClr>
          </a:solidFill>
          <a:ln w="9525">
            <a:solidFill>
              <a:srgbClr val="00F0FF">
                <a:alpha val="55000"/>
              </a:srgbClr>
            </a:solidFill>
            <a:prstDash val="solid"/>
          </a:ln>
        </p:spPr>
      </p:sp>
      <p:sp>
        <p:nvSpPr>
          <p:cNvPr id="12" name="txt_327"/>
          <p:cNvSpPr txBox="1"/>
          <p:nvPr/>
        </p:nvSpPr>
        <p:spPr>
          <a:xfrm>
            <a:off x="685800" y="2569464"/>
            <a:ext cx="3310128" cy="530352"/>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VISITOR PHONE / GATE KIOSK</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Pick destination; share position</a:t>
            </a:r>
            <a:endParaRPr lang="en-US" sz="1500" dirty="0"/>
          </a:p>
        </p:txBody>
      </p:sp>
      <p:sp>
        <p:nvSpPr>
          <p:cNvPr id="13" name="box_328"/>
          <p:cNvSpPr/>
          <p:nvPr/>
        </p:nvSpPr>
        <p:spPr>
          <a:xfrm>
            <a:off x="594360" y="3337560"/>
            <a:ext cx="3474720" cy="2066544"/>
          </a:xfrm>
          <a:prstGeom prst="roundRect">
            <a:avLst>
              <a:gd name="adj" fmla="val 2655"/>
            </a:avLst>
          </a:prstGeom>
          <a:solidFill>
            <a:srgbClr val="1E293B">
              <a:alpha val="95000"/>
            </a:srgbClr>
          </a:solidFill>
          <a:ln w="9525">
            <a:solidFill>
              <a:srgbClr val="00F0FF">
                <a:alpha val="55000"/>
              </a:srgbClr>
            </a:solidFill>
            <a:prstDash val="solid"/>
          </a:ln>
        </p:spPr>
      </p:sp>
      <p:sp>
        <p:nvSpPr>
          <p:cNvPr id="14" name="txt_329"/>
          <p:cNvSpPr txBox="1"/>
          <p:nvPr/>
        </p:nvSpPr>
        <p:spPr>
          <a:xfrm>
            <a:off x="685800" y="3401568"/>
            <a:ext cx="3291840"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GROUND STATION · laptop or Raspberry Pi</a:t>
            </a:r>
            <a:endParaRPr lang="en-US" sz="1100" dirty="0"/>
          </a:p>
        </p:txBody>
      </p:sp>
      <p:sp>
        <p:nvSpPr>
          <p:cNvPr id="15" name="box_330"/>
          <p:cNvSpPr/>
          <p:nvPr/>
        </p:nvSpPr>
        <p:spPr>
          <a:xfrm>
            <a:off x="731520" y="3685032"/>
            <a:ext cx="3200400" cy="347472"/>
          </a:xfrm>
          <a:prstGeom prst="roundRect">
            <a:avLst>
              <a:gd name="adj" fmla="val 15789"/>
            </a:avLst>
          </a:prstGeom>
          <a:solidFill>
            <a:srgbClr val="131C2E"/>
          </a:solidFill>
          <a:ln w="9525">
            <a:solidFill>
              <a:srgbClr val="00F0FF">
                <a:alpha val="30000"/>
              </a:srgbClr>
            </a:solidFill>
            <a:prstDash val="solid"/>
          </a:ln>
        </p:spPr>
      </p:sp>
      <p:sp>
        <p:nvSpPr>
          <p:cNvPr id="16" name="txt_331"/>
          <p:cNvSpPr txBox="1"/>
          <p:nvPr/>
        </p:nvSpPr>
        <p:spPr>
          <a:xfrm>
            <a:off x="822960" y="3685032"/>
            <a:ext cx="3017520" cy="347472"/>
          </a:xfrm>
          <a:prstGeom prst="rect">
            <a:avLst/>
          </a:prstGeom>
          <a:noFill/>
          <a:ln/>
        </p:spPr>
        <p:txBody>
          <a:bodyPr wrap="square" lIns="0" tIns="0" rIns="0" bIns="0" rtlCol="0" anchor="ctr"/>
          <a:lstStyle/>
          <a:p>
            <a:pPr marL="0" indent="0">
              <a:buNone/>
            </a:pPr>
            <a:r>
              <a:rPr lang="en-US" sz="1100" b="1" dirty="0">
                <a:solidFill>
                  <a:srgbClr val="F8FAFC"/>
                </a:solidFill>
                <a:latin typeface="JetBrains Mono" pitchFamily="34" charset="0"/>
                <a:ea typeface="JetBrains Mono" pitchFamily="34" charset="-122"/>
                <a:cs typeface="JetBrains Mono" pitchFamily="34" charset="-120"/>
              </a:rPr>
              <a:t>ROUTE PLANNER  </a:t>
            </a:r>
            <a:r>
              <a:rPr lang="en-US" sz="1100" dirty="0">
                <a:solidFill>
                  <a:srgbClr val="94A3B8"/>
                </a:solidFill>
                <a:latin typeface="Inter" pitchFamily="34" charset="0"/>
                <a:ea typeface="Inter" pitchFamily="34" charset="-122"/>
                <a:cs typeface="Inter" pitchFamily="34" charset="-120"/>
              </a:rPr>
              <a:t>Dijkstra, leg split</a:t>
            </a:r>
            <a:endParaRPr lang="en-US" sz="1500" dirty="0"/>
          </a:p>
        </p:txBody>
      </p:sp>
      <p:sp>
        <p:nvSpPr>
          <p:cNvPr id="17" name="box_332"/>
          <p:cNvSpPr/>
          <p:nvPr/>
        </p:nvSpPr>
        <p:spPr>
          <a:xfrm>
            <a:off x="731520" y="4105656"/>
            <a:ext cx="3200400" cy="347472"/>
          </a:xfrm>
          <a:prstGeom prst="roundRect">
            <a:avLst>
              <a:gd name="adj" fmla="val 15789"/>
            </a:avLst>
          </a:prstGeom>
          <a:solidFill>
            <a:srgbClr val="131C2E"/>
          </a:solidFill>
          <a:ln w="9525">
            <a:solidFill>
              <a:srgbClr val="00F0FF">
                <a:alpha val="30000"/>
              </a:srgbClr>
            </a:solidFill>
            <a:prstDash val="solid"/>
          </a:ln>
        </p:spPr>
      </p:sp>
      <p:sp>
        <p:nvSpPr>
          <p:cNvPr id="18" name="txt_333"/>
          <p:cNvSpPr txBox="1"/>
          <p:nvPr/>
        </p:nvSpPr>
        <p:spPr>
          <a:xfrm>
            <a:off x="822960" y="4105656"/>
            <a:ext cx="3017520" cy="347472"/>
          </a:xfrm>
          <a:prstGeom prst="rect">
            <a:avLst/>
          </a:prstGeom>
          <a:noFill/>
          <a:ln/>
        </p:spPr>
        <p:txBody>
          <a:bodyPr wrap="square" lIns="0" tIns="0" rIns="0" bIns="0" rtlCol="0" anchor="ctr"/>
          <a:lstStyle/>
          <a:p>
            <a:pPr marL="0" indent="0">
              <a:buNone/>
            </a:pPr>
            <a:r>
              <a:rPr lang="en-US" sz="1100" b="1" dirty="0">
                <a:solidFill>
                  <a:srgbClr val="F8FAFC"/>
                </a:solidFill>
                <a:latin typeface="JetBrains Mono" pitchFamily="34" charset="0"/>
                <a:ea typeface="JetBrains Mono" pitchFamily="34" charset="-122"/>
                <a:cs typeface="JetBrains Mono" pitchFamily="34" charset="-120"/>
              </a:rPr>
              <a:t>MISSION VALIDATOR  </a:t>
            </a:r>
            <a:r>
              <a:rPr lang="en-US" sz="1100" dirty="0">
                <a:solidFill>
                  <a:srgbClr val="94A3B8"/>
                </a:solidFill>
                <a:latin typeface="Inter" pitchFamily="34" charset="0"/>
                <a:ea typeface="Inter" pitchFamily="34" charset="-122"/>
                <a:cs typeface="Inter" pitchFamily="34" charset="-120"/>
              </a:rPr>
              <a:t>fence, whitelist</a:t>
            </a:r>
            <a:endParaRPr lang="en-US" sz="1500" dirty="0"/>
          </a:p>
        </p:txBody>
      </p:sp>
      <p:sp>
        <p:nvSpPr>
          <p:cNvPr id="19" name="box_334"/>
          <p:cNvSpPr/>
          <p:nvPr/>
        </p:nvSpPr>
        <p:spPr>
          <a:xfrm>
            <a:off x="731520" y="4526280"/>
            <a:ext cx="3200400" cy="347472"/>
          </a:xfrm>
          <a:prstGeom prst="roundRect">
            <a:avLst>
              <a:gd name="adj" fmla="val 15789"/>
            </a:avLst>
          </a:prstGeom>
          <a:solidFill>
            <a:srgbClr val="131C2E"/>
          </a:solidFill>
          <a:ln w="9525">
            <a:solidFill>
              <a:srgbClr val="00F0FF">
                <a:alpha val="30000"/>
              </a:srgbClr>
            </a:solidFill>
            <a:prstDash val="solid"/>
          </a:ln>
        </p:spPr>
      </p:sp>
      <p:sp>
        <p:nvSpPr>
          <p:cNvPr id="20" name="txt_335"/>
          <p:cNvSpPr txBox="1"/>
          <p:nvPr/>
        </p:nvSpPr>
        <p:spPr>
          <a:xfrm>
            <a:off x="822960" y="4526280"/>
            <a:ext cx="3017520" cy="347472"/>
          </a:xfrm>
          <a:prstGeom prst="rect">
            <a:avLst/>
          </a:prstGeom>
          <a:noFill/>
          <a:ln/>
        </p:spPr>
        <p:txBody>
          <a:bodyPr wrap="square" lIns="0" tIns="0" rIns="0" bIns="0" rtlCol="0" anchor="ctr"/>
          <a:lstStyle/>
          <a:p>
            <a:pPr marL="0" indent="0">
              <a:buNone/>
            </a:pPr>
            <a:r>
              <a:rPr lang="en-US" sz="1100" b="1" dirty="0">
                <a:solidFill>
                  <a:srgbClr val="F8FAFC"/>
                </a:solidFill>
                <a:latin typeface="JetBrains Mono" pitchFamily="34" charset="0"/>
                <a:ea typeface="JetBrains Mono" pitchFamily="34" charset="-122"/>
                <a:cs typeface="JetBrains Mono" pitchFamily="34" charset="-120"/>
              </a:rPr>
              <a:t>PACING CONTROLLER  </a:t>
            </a:r>
            <a:r>
              <a:rPr lang="en-US" sz="1100" dirty="0">
                <a:solidFill>
                  <a:srgbClr val="94A3B8"/>
                </a:solidFill>
                <a:latin typeface="Inter" pitchFamily="34" charset="0"/>
                <a:ea typeface="Inter" pitchFamily="34" charset="-122"/>
                <a:cs typeface="Inter" pitchFamily="34" charset="-120"/>
              </a:rPr>
              <a:t>pending</a:t>
            </a:r>
            <a:endParaRPr lang="en-US" sz="1500" dirty="0"/>
          </a:p>
        </p:txBody>
      </p:sp>
      <p:sp>
        <p:nvSpPr>
          <p:cNvPr id="21" name="box_336"/>
          <p:cNvSpPr/>
          <p:nvPr/>
        </p:nvSpPr>
        <p:spPr>
          <a:xfrm>
            <a:off x="731520" y="4946904"/>
            <a:ext cx="3200400" cy="347472"/>
          </a:xfrm>
          <a:prstGeom prst="roundRect">
            <a:avLst>
              <a:gd name="adj" fmla="val 15789"/>
            </a:avLst>
          </a:prstGeom>
          <a:solidFill>
            <a:srgbClr val="131C2E"/>
          </a:solidFill>
          <a:ln w="9525">
            <a:solidFill>
              <a:srgbClr val="00F0FF">
                <a:alpha val="30000"/>
              </a:srgbClr>
            </a:solidFill>
            <a:prstDash val="solid"/>
          </a:ln>
        </p:spPr>
      </p:sp>
      <p:sp>
        <p:nvSpPr>
          <p:cNvPr id="22" name="txt_337"/>
          <p:cNvSpPr txBox="1"/>
          <p:nvPr/>
        </p:nvSpPr>
        <p:spPr>
          <a:xfrm>
            <a:off x="822960" y="4946904"/>
            <a:ext cx="3017520" cy="347472"/>
          </a:xfrm>
          <a:prstGeom prst="rect">
            <a:avLst/>
          </a:prstGeom>
          <a:noFill/>
          <a:ln/>
        </p:spPr>
        <p:txBody>
          <a:bodyPr wrap="square" lIns="0" tIns="0" rIns="0" bIns="0" rtlCol="0" anchor="ctr"/>
          <a:lstStyle/>
          <a:p>
            <a:pPr marL="0" indent="0">
              <a:buNone/>
            </a:pPr>
            <a:r>
              <a:rPr lang="en-US" sz="1100" b="1" dirty="0">
                <a:solidFill>
                  <a:srgbClr val="F8FAFC"/>
                </a:solidFill>
                <a:latin typeface="JetBrains Mono" pitchFamily="34" charset="0"/>
                <a:ea typeface="JetBrains Mono" pitchFamily="34" charset="-122"/>
                <a:cs typeface="JetBrains Mono" pitchFamily="34" charset="-120"/>
              </a:rPr>
              <a:t>LIVE MAP &amp; STATUS  </a:t>
            </a:r>
            <a:r>
              <a:rPr lang="en-US" sz="1100" dirty="0">
                <a:solidFill>
                  <a:srgbClr val="94A3B8"/>
                </a:solidFill>
                <a:latin typeface="Inter" pitchFamily="34" charset="0"/>
                <a:ea typeface="Inter" pitchFamily="34" charset="-122"/>
                <a:cs typeface="Inter" pitchFamily="34" charset="-120"/>
              </a:rPr>
              <a:t>simulated today</a:t>
            </a:r>
            <a:endParaRPr lang="en-US" sz="1500" dirty="0"/>
          </a:p>
        </p:txBody>
      </p:sp>
      <p:sp>
        <p:nvSpPr>
          <p:cNvPr id="23" name="box_338"/>
          <p:cNvSpPr/>
          <p:nvPr/>
        </p:nvSpPr>
        <p:spPr>
          <a:xfrm>
            <a:off x="594360" y="5532120"/>
            <a:ext cx="3474720" cy="585216"/>
          </a:xfrm>
          <a:prstGeom prst="roundRect">
            <a:avLst>
              <a:gd name="adj" fmla="val 9375"/>
            </a:avLst>
          </a:prstGeom>
          <a:solidFill>
            <a:srgbClr val="1E293B">
              <a:alpha val="95000"/>
            </a:srgbClr>
          </a:solidFill>
          <a:ln w="9525">
            <a:solidFill>
              <a:srgbClr val="F59E0B">
                <a:alpha val="55000"/>
              </a:srgbClr>
            </a:solidFill>
            <a:prstDash val="solid"/>
          </a:ln>
        </p:spPr>
      </p:sp>
      <p:sp>
        <p:nvSpPr>
          <p:cNvPr id="24" name="txt_339"/>
          <p:cNvSpPr txBox="1"/>
          <p:nvPr/>
        </p:nvSpPr>
        <p:spPr>
          <a:xfrm>
            <a:off x="685800" y="5586984"/>
            <a:ext cx="3310128" cy="512064"/>
          </a:xfrm>
          <a:prstGeom prst="rect">
            <a:avLst/>
          </a:prstGeom>
          <a:noFill/>
          <a:ln/>
        </p:spPr>
        <p:txBody>
          <a:bodyPr wrap="square" lIns="0" tIns="0" rIns="0" bIns="0" rtlCol="0" anchor="t"/>
          <a:lstStyle/>
          <a:p>
            <a:pPr marL="0" indent="0">
              <a:buNone/>
            </a:pPr>
            <a:r>
              <a:rPr lang="en-US" sz="1200" b="1" dirty="0">
                <a:solidFill>
                  <a:srgbClr val="F59E0B"/>
                </a:solidFill>
                <a:latin typeface="JetBrains Mono" pitchFamily="34" charset="0"/>
                <a:ea typeface="JetBrains Mono" pitchFamily="34" charset="-122"/>
                <a:cs typeface="JetBrains Mono" pitchFamily="34" charset="-120"/>
              </a:rPr>
              <a:t>SAFETY OPERATOR · FS-i6X TX</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Independent takeover, hold, land</a:t>
            </a:r>
            <a:endParaRPr lang="en-US" sz="1500" dirty="0"/>
          </a:p>
        </p:txBody>
      </p:sp>
      <p:sp>
        <p:nvSpPr>
          <p:cNvPr id="25" name="box_340"/>
          <p:cNvSpPr/>
          <p:nvPr/>
        </p:nvSpPr>
        <p:spPr>
          <a:xfrm>
            <a:off x="4343400" y="2148840"/>
            <a:ext cx="1417320" cy="4069080"/>
          </a:xfrm>
          <a:prstGeom prst="roundRect">
            <a:avLst>
              <a:gd name="adj" fmla="val 3871"/>
            </a:avLst>
          </a:prstGeom>
          <a:solidFill>
            <a:srgbClr val="00F0FF">
              <a:alpha val="6000"/>
            </a:srgbClr>
          </a:solidFill>
          <a:ln w="9525">
            <a:solidFill>
              <a:srgbClr val="00F0FF">
                <a:alpha val="40000"/>
              </a:srgbClr>
            </a:solidFill>
            <a:prstDash val="dash"/>
          </a:ln>
        </p:spPr>
      </p:sp>
      <p:sp>
        <p:nvSpPr>
          <p:cNvPr id="26" name="txt_341"/>
          <p:cNvSpPr txBox="1"/>
          <p:nvPr/>
        </p:nvSpPr>
        <p:spPr>
          <a:xfrm>
            <a:off x="4416552" y="2240280"/>
            <a:ext cx="1271016" cy="1051560"/>
          </a:xfrm>
          <a:prstGeom prst="rect">
            <a:avLst/>
          </a:prstGeom>
          <a:noFill/>
          <a:ln/>
        </p:spPr>
        <p:txBody>
          <a:bodyPr wrap="square" lIns="0" tIns="0" rIns="0" bIns="0" rtlCol="0" anchor="t"/>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TELEMETRY BUS</a:t>
            </a:r>
            <a:endParaRPr lang="en-US" sz="1500" dirty="0"/>
          </a:p>
          <a:p>
            <a:pPr marL="0" indent="0" algn="ctr">
              <a:buNone/>
            </a:pPr>
            <a:r>
              <a:rPr lang="en-US" sz="1100" dirty="0">
                <a:solidFill>
                  <a:srgbClr val="F8FAFC"/>
                </a:solidFill>
                <a:latin typeface="JetBrains Mono" pitchFamily="34" charset="0"/>
                <a:ea typeface="JetBrains Mono" pitchFamily="34" charset="-122"/>
                <a:cs typeface="JetBrains Mono" pitchFamily="34" charset="-120"/>
              </a:rPr>
              <a:t>MAVLink</a:t>
            </a:r>
            <a:endParaRPr lang="en-US" sz="1500" dirty="0"/>
          </a:p>
          <a:p>
            <a:pPr marL="0" indent="0" algn="ctr">
              <a:buNone/>
            </a:pPr>
            <a:r>
              <a:rPr lang="en-US" sz="1000" dirty="0">
                <a:solidFill>
                  <a:srgbClr val="94A3B8"/>
                </a:solidFill>
                <a:latin typeface="JetBrains Mono" pitchFamily="34" charset="0"/>
                <a:ea typeface="JetBrains Mono" pitchFamily="34" charset="-122"/>
                <a:cs typeface="JetBrains Mono" pitchFamily="34" charset="-120"/>
              </a:rPr>
              <a:t>SiK 433 MHz pair (primary)</a:t>
            </a:r>
            <a:endParaRPr lang="en-US" sz="1500" dirty="0"/>
          </a:p>
          <a:p>
            <a:pPr marL="0" indent="0" algn="ctr">
              <a:buNone/>
            </a:pPr>
            <a:r>
              <a:rPr lang="en-US" sz="1000" dirty="0">
                <a:solidFill>
                  <a:srgbClr val="94A3B8"/>
                </a:solidFill>
                <a:latin typeface="JetBrains Mono" pitchFamily="34" charset="0"/>
                <a:ea typeface="JetBrains Mono" pitchFamily="34" charset="-122"/>
                <a:cs typeface="JetBrains Mono" pitchFamily="34" charset="-120"/>
              </a:rPr>
              <a:t>ESP32 Wi-Fi (alt., ~20–30 m)</a:t>
            </a:r>
            <a:endParaRPr lang="en-US" sz="1500" dirty="0"/>
          </a:p>
        </p:txBody>
      </p:sp>
      <p:sp>
        <p:nvSpPr>
          <p:cNvPr id="27" name="box_342"/>
          <p:cNvSpPr/>
          <p:nvPr/>
        </p:nvSpPr>
        <p:spPr>
          <a:xfrm>
            <a:off x="5943600" y="2148840"/>
            <a:ext cx="5790895" cy="4069080"/>
          </a:xfrm>
          <a:prstGeom prst="roundRect">
            <a:avLst>
              <a:gd name="adj" fmla="val 1348"/>
            </a:avLst>
          </a:prstGeom>
          <a:solidFill>
            <a:srgbClr val="131C2E">
              <a:alpha val="65000"/>
            </a:srgbClr>
          </a:solidFill>
          <a:ln w="9525">
            <a:solidFill>
              <a:srgbClr val="00F0FF">
                <a:alpha val="22000"/>
              </a:srgbClr>
            </a:solidFill>
            <a:prstDash val="solid"/>
          </a:ln>
        </p:spPr>
      </p:sp>
      <p:sp>
        <p:nvSpPr>
          <p:cNvPr id="28" name="txt_343"/>
          <p:cNvSpPr txBox="1"/>
          <p:nvPr/>
        </p:nvSpPr>
        <p:spPr>
          <a:xfrm>
            <a:off x="6080760" y="2221992"/>
            <a:ext cx="3657600" cy="237744"/>
          </a:xfrm>
          <a:prstGeom prst="rect">
            <a:avLst/>
          </a:prstGeom>
          <a:noFill/>
          <a:ln/>
        </p:spPr>
        <p:txBody>
          <a:bodyPr wrap="square" lIns="0" tIns="0" rIns="0" bIns="0" rtlCol="0" anchor="t"/>
          <a:lstStyle/>
          <a:p>
            <a:pPr marL="0" indent="0">
              <a:buNone/>
            </a:pPr>
            <a:r>
              <a:rPr lang="en-US" sz="1200" b="1" dirty="0">
                <a:solidFill>
                  <a:srgbClr val="94A3B8"/>
                </a:solidFill>
                <a:latin typeface="JetBrains Mono" pitchFamily="34" charset="0"/>
                <a:ea typeface="JetBrains Mono" pitchFamily="34" charset="-122"/>
                <a:cs typeface="JetBrains Mono" pitchFamily="34" charset="-120"/>
              </a:rPr>
              <a:t>AIRCRAFT · F450 · DESIGN</a:t>
            </a:r>
            <a:endParaRPr lang="en-US" sz="1200" dirty="0"/>
          </a:p>
        </p:txBody>
      </p:sp>
      <p:sp>
        <p:nvSpPr>
          <p:cNvPr id="29" name="box_344"/>
          <p:cNvSpPr/>
          <p:nvPr/>
        </p:nvSpPr>
        <p:spPr>
          <a:xfrm>
            <a:off x="6126480" y="2532888"/>
            <a:ext cx="2697480" cy="1033272"/>
          </a:xfrm>
          <a:prstGeom prst="roundRect">
            <a:avLst>
              <a:gd name="adj" fmla="val 5310"/>
            </a:avLst>
          </a:prstGeom>
          <a:solidFill>
            <a:srgbClr val="1E293B">
              <a:alpha val="95000"/>
            </a:srgbClr>
          </a:solidFill>
          <a:ln w="9525">
            <a:solidFill>
              <a:srgbClr val="00F0FF">
                <a:alpha val="55000"/>
              </a:srgbClr>
            </a:solidFill>
            <a:prstDash val="solid"/>
          </a:ln>
        </p:spPr>
      </p:sp>
      <p:sp>
        <p:nvSpPr>
          <p:cNvPr id="30" name="txt_345"/>
          <p:cNvSpPr txBox="1"/>
          <p:nvPr/>
        </p:nvSpPr>
        <p:spPr>
          <a:xfrm>
            <a:off x="6217920" y="2587752"/>
            <a:ext cx="2532888" cy="96012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F405 V3 FC · ARDUPILOT</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Stabilisation, AUTO/GUIDED, onboard failsafes, EKF</a:t>
            </a:r>
            <a:endParaRPr lang="en-US" sz="1500" dirty="0"/>
          </a:p>
        </p:txBody>
      </p:sp>
      <p:sp>
        <p:nvSpPr>
          <p:cNvPr id="31" name="box_346"/>
          <p:cNvSpPr/>
          <p:nvPr/>
        </p:nvSpPr>
        <p:spPr>
          <a:xfrm>
            <a:off x="6766560" y="3749040"/>
            <a:ext cx="2057400" cy="603504"/>
          </a:xfrm>
          <a:prstGeom prst="roundRect">
            <a:avLst>
              <a:gd name="adj" fmla="val 9091"/>
            </a:avLst>
          </a:prstGeom>
          <a:solidFill>
            <a:srgbClr val="1E293B">
              <a:alpha val="95000"/>
            </a:srgbClr>
          </a:solidFill>
          <a:ln w="9525">
            <a:solidFill>
              <a:srgbClr val="00F0FF">
                <a:alpha val="55000"/>
              </a:srgbClr>
            </a:solidFill>
            <a:prstDash val="solid"/>
          </a:ln>
        </p:spPr>
      </p:sp>
      <p:sp>
        <p:nvSpPr>
          <p:cNvPr id="32" name="txt_347"/>
          <p:cNvSpPr txBox="1"/>
          <p:nvPr/>
        </p:nvSpPr>
        <p:spPr>
          <a:xfrm>
            <a:off x="6858000" y="3803904"/>
            <a:ext cx="1892808" cy="530352"/>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SiK 433 ONBOARD</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MAVLink to ground</a:t>
            </a:r>
            <a:endParaRPr lang="en-US" sz="1500" dirty="0"/>
          </a:p>
        </p:txBody>
      </p:sp>
      <p:sp>
        <p:nvSpPr>
          <p:cNvPr id="33" name="box_348"/>
          <p:cNvSpPr/>
          <p:nvPr/>
        </p:nvSpPr>
        <p:spPr>
          <a:xfrm>
            <a:off x="6126480" y="5532120"/>
            <a:ext cx="2697480" cy="585216"/>
          </a:xfrm>
          <a:prstGeom prst="roundRect">
            <a:avLst>
              <a:gd name="adj" fmla="val 9375"/>
            </a:avLst>
          </a:prstGeom>
          <a:solidFill>
            <a:srgbClr val="1E293B">
              <a:alpha val="95000"/>
            </a:srgbClr>
          </a:solidFill>
          <a:ln w="9525">
            <a:solidFill>
              <a:srgbClr val="F59E0B">
                <a:alpha val="55000"/>
              </a:srgbClr>
            </a:solidFill>
            <a:prstDash val="solid"/>
          </a:ln>
        </p:spPr>
      </p:sp>
      <p:sp>
        <p:nvSpPr>
          <p:cNvPr id="34" name="txt_349"/>
          <p:cNvSpPr txBox="1"/>
          <p:nvPr/>
        </p:nvSpPr>
        <p:spPr>
          <a:xfrm>
            <a:off x="6217920" y="5586984"/>
            <a:ext cx="2532888" cy="512064"/>
          </a:xfrm>
          <a:prstGeom prst="rect">
            <a:avLst/>
          </a:prstGeom>
          <a:noFill/>
          <a:ln/>
        </p:spPr>
        <p:txBody>
          <a:bodyPr wrap="square" lIns="0" tIns="0" rIns="0" bIns="0" rtlCol="0" anchor="t"/>
          <a:lstStyle/>
          <a:p>
            <a:pPr marL="0" indent="0">
              <a:buNone/>
            </a:pPr>
            <a:r>
              <a:rPr lang="en-US" sz="1200" b="1" dirty="0">
                <a:solidFill>
                  <a:srgbClr val="F59E0B"/>
                </a:solidFill>
                <a:latin typeface="JetBrains Mono" pitchFamily="34" charset="0"/>
                <a:ea typeface="JetBrains Mono" pitchFamily="34" charset="-122"/>
                <a:cs typeface="JetBrains Mono" pitchFamily="34" charset="-120"/>
              </a:rPr>
              <a:t>iA6B RECEIVER · iBUS</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RC input to FC</a:t>
            </a:r>
            <a:endParaRPr lang="en-US" sz="1500" dirty="0"/>
          </a:p>
        </p:txBody>
      </p:sp>
      <p:sp>
        <p:nvSpPr>
          <p:cNvPr id="35" name="box_350"/>
          <p:cNvSpPr/>
          <p:nvPr/>
        </p:nvSpPr>
        <p:spPr>
          <a:xfrm>
            <a:off x="9052560" y="2532888"/>
            <a:ext cx="2514600" cy="658368"/>
          </a:xfrm>
          <a:prstGeom prst="roundRect">
            <a:avLst>
              <a:gd name="adj" fmla="val 8333"/>
            </a:avLst>
          </a:prstGeom>
          <a:solidFill>
            <a:srgbClr val="1E293B">
              <a:alpha val="95000"/>
            </a:srgbClr>
          </a:solidFill>
          <a:ln w="9525">
            <a:solidFill>
              <a:srgbClr val="00F0FF">
                <a:alpha val="55000"/>
              </a:srgbClr>
            </a:solidFill>
            <a:prstDash val="solid"/>
          </a:ln>
        </p:spPr>
      </p:sp>
      <p:sp>
        <p:nvSpPr>
          <p:cNvPr id="36" name="txt_351"/>
          <p:cNvSpPr txBox="1"/>
          <p:nvPr/>
        </p:nvSpPr>
        <p:spPr>
          <a:xfrm>
            <a:off x="9144000" y="2587752"/>
            <a:ext cx="2350008" cy="585216"/>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M8N GPS + COMPASS</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Position &amp; heading (mast)</a:t>
            </a:r>
            <a:endParaRPr lang="en-US" sz="1500" dirty="0"/>
          </a:p>
        </p:txBody>
      </p:sp>
      <p:sp>
        <p:nvSpPr>
          <p:cNvPr id="37" name="box_352"/>
          <p:cNvSpPr/>
          <p:nvPr/>
        </p:nvSpPr>
        <p:spPr>
          <a:xfrm>
            <a:off x="9052560" y="3337560"/>
            <a:ext cx="2514600" cy="658368"/>
          </a:xfrm>
          <a:prstGeom prst="roundRect">
            <a:avLst>
              <a:gd name="adj" fmla="val 8333"/>
            </a:avLst>
          </a:prstGeom>
          <a:solidFill>
            <a:srgbClr val="1E293B">
              <a:alpha val="95000"/>
            </a:srgbClr>
          </a:solidFill>
          <a:ln w="9525">
            <a:solidFill>
              <a:srgbClr val="00F0FF">
                <a:alpha val="55000"/>
              </a:srgbClr>
            </a:solidFill>
            <a:prstDash val="solid"/>
          </a:ln>
        </p:spPr>
      </p:sp>
      <p:sp>
        <p:nvSpPr>
          <p:cNvPr id="38" name="txt_353"/>
          <p:cNvSpPr txBox="1"/>
          <p:nvPr/>
        </p:nvSpPr>
        <p:spPr>
          <a:xfrm>
            <a:off x="9144000" y="3392424"/>
            <a:ext cx="2350008" cy="585216"/>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4× 30A ESC → A2212</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PWM; propulsion power</a:t>
            </a:r>
            <a:endParaRPr lang="en-US" sz="1500" dirty="0"/>
          </a:p>
        </p:txBody>
      </p:sp>
      <p:sp>
        <p:nvSpPr>
          <p:cNvPr id="39" name="box_354"/>
          <p:cNvSpPr/>
          <p:nvPr/>
        </p:nvSpPr>
        <p:spPr>
          <a:xfrm>
            <a:off x="9052560" y="4142232"/>
            <a:ext cx="2514600" cy="676656"/>
          </a:xfrm>
          <a:prstGeom prst="roundRect">
            <a:avLst>
              <a:gd name="adj" fmla="val 8108"/>
            </a:avLst>
          </a:prstGeom>
          <a:solidFill>
            <a:srgbClr val="1E293B">
              <a:alpha val="95000"/>
            </a:srgbClr>
          </a:solidFill>
          <a:ln w="9525">
            <a:solidFill>
              <a:srgbClr val="00F0FF">
                <a:alpha val="55000"/>
              </a:srgbClr>
            </a:solidFill>
            <a:prstDash val="solid"/>
          </a:ln>
        </p:spPr>
      </p:sp>
      <p:sp>
        <p:nvSpPr>
          <p:cNvPr id="40" name="txt_355"/>
          <p:cNvSpPr txBox="1"/>
          <p:nvPr/>
        </p:nvSpPr>
        <p:spPr>
          <a:xfrm>
            <a:off x="9144000" y="4197096"/>
            <a:ext cx="2350008" cy="603504"/>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POWER MODULE · XT60</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V/I sense + regulated 5 V</a:t>
            </a:r>
            <a:endParaRPr lang="en-US" sz="1500" dirty="0"/>
          </a:p>
        </p:txBody>
      </p:sp>
      <p:sp>
        <p:nvSpPr>
          <p:cNvPr id="41" name="box_356"/>
          <p:cNvSpPr/>
          <p:nvPr/>
        </p:nvSpPr>
        <p:spPr>
          <a:xfrm>
            <a:off x="9052560" y="4965192"/>
            <a:ext cx="2514600" cy="548640"/>
          </a:xfrm>
          <a:prstGeom prst="roundRect">
            <a:avLst>
              <a:gd name="adj" fmla="val 10000"/>
            </a:avLst>
          </a:prstGeom>
          <a:solidFill>
            <a:srgbClr val="1E293B">
              <a:alpha val="95000"/>
            </a:srgbClr>
          </a:solidFill>
          <a:ln w="9525">
            <a:solidFill>
              <a:srgbClr val="94A3B8">
                <a:alpha val="55000"/>
              </a:srgbClr>
            </a:solidFill>
            <a:prstDash val="solid"/>
          </a:ln>
        </p:spPr>
      </p:sp>
      <p:sp>
        <p:nvSpPr>
          <p:cNvPr id="42" name="txt_357"/>
          <p:cNvSpPr txBox="1"/>
          <p:nvPr/>
        </p:nvSpPr>
        <p:spPr>
          <a:xfrm>
            <a:off x="9144000" y="5020056"/>
            <a:ext cx="2350008" cy="475488"/>
          </a:xfrm>
          <a:prstGeom prst="rect">
            <a:avLst/>
          </a:prstGeom>
          <a:noFill/>
          <a:ln/>
        </p:spPr>
        <p:txBody>
          <a:bodyPr wrap="square" lIns="0" tIns="0" rIns="0" bIns="0" rtlCol="0" anchor="t"/>
          <a:lstStyle/>
          <a:p>
            <a:pPr marL="0" indent="0">
              <a:buNone/>
            </a:pPr>
            <a:r>
              <a:rPr lang="en-US" sz="1200" b="1" dirty="0">
                <a:solidFill>
                  <a:srgbClr val="94A3B8"/>
                </a:solidFill>
                <a:latin typeface="JetBrains Mono" pitchFamily="34" charset="0"/>
                <a:ea typeface="JetBrains Mono" pitchFamily="34" charset="-122"/>
                <a:cs typeface="JetBrains Mono" pitchFamily="34" charset="-120"/>
              </a:rPr>
              <a:t>3S 3300 mAh LiPo</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High current via PDB</a:t>
            </a:r>
            <a:endParaRPr lang="en-US" sz="1500" dirty="0"/>
          </a:p>
        </p:txBody>
      </p:sp>
      <p:sp>
        <p:nvSpPr>
          <p:cNvPr id="43" name="ln_358"/>
          <p:cNvSpPr/>
          <p:nvPr/>
        </p:nvSpPr>
        <p:spPr>
          <a:xfrm>
            <a:off x="8823960" y="2862072"/>
            <a:ext cx="228600" cy="914"/>
          </a:xfrm>
          <a:prstGeom prst="line">
            <a:avLst/>
          </a:prstGeom>
          <a:noFill/>
          <a:ln w="12700">
            <a:solidFill>
              <a:srgbClr val="94A3B8"/>
            </a:solidFill>
            <a:prstDash val="solid"/>
          </a:ln>
        </p:spPr>
      </p:sp>
      <p:sp>
        <p:nvSpPr>
          <p:cNvPr id="44" name="ln_359"/>
          <p:cNvSpPr/>
          <p:nvPr/>
        </p:nvSpPr>
        <p:spPr>
          <a:xfrm>
            <a:off x="8823960" y="3383280"/>
            <a:ext cx="228600" cy="283464"/>
          </a:xfrm>
          <a:prstGeom prst="line">
            <a:avLst/>
          </a:prstGeom>
          <a:noFill/>
          <a:ln w="12700">
            <a:solidFill>
              <a:srgbClr val="94A3B8"/>
            </a:solidFill>
            <a:prstDash val="solid"/>
          </a:ln>
        </p:spPr>
      </p:sp>
      <p:sp>
        <p:nvSpPr>
          <p:cNvPr id="45" name="ln_360"/>
          <p:cNvSpPr/>
          <p:nvPr/>
        </p:nvSpPr>
        <p:spPr>
          <a:xfrm>
            <a:off x="8823960" y="3502152"/>
            <a:ext cx="228600" cy="978408"/>
          </a:xfrm>
          <a:prstGeom prst="line">
            <a:avLst/>
          </a:prstGeom>
          <a:noFill/>
          <a:ln w="12700">
            <a:solidFill>
              <a:srgbClr val="94A3B8"/>
            </a:solidFill>
            <a:prstDash val="dash"/>
          </a:ln>
        </p:spPr>
      </p:sp>
      <p:sp>
        <p:nvSpPr>
          <p:cNvPr id="46" name="ln_361"/>
          <p:cNvSpPr/>
          <p:nvPr/>
        </p:nvSpPr>
        <p:spPr>
          <a:xfrm>
            <a:off x="10305288" y="4818888"/>
            <a:ext cx="914" cy="146304"/>
          </a:xfrm>
          <a:prstGeom prst="line">
            <a:avLst/>
          </a:prstGeom>
          <a:noFill/>
          <a:ln w="12700">
            <a:solidFill>
              <a:srgbClr val="94A3B8"/>
            </a:solidFill>
            <a:prstDash val="solid"/>
          </a:ln>
        </p:spPr>
      </p:sp>
      <p:sp>
        <p:nvSpPr>
          <p:cNvPr id="47" name="ln_362"/>
          <p:cNvSpPr/>
          <p:nvPr/>
        </p:nvSpPr>
        <p:spPr>
          <a:xfrm>
            <a:off x="7772400" y="3566160"/>
            <a:ext cx="914" cy="182880"/>
          </a:xfrm>
          <a:prstGeom prst="line">
            <a:avLst/>
          </a:prstGeom>
          <a:noFill/>
          <a:ln w="12700">
            <a:solidFill>
              <a:srgbClr val="94A3B8"/>
            </a:solidFill>
            <a:prstDash val="solid"/>
          </a:ln>
        </p:spPr>
      </p:sp>
      <p:sp>
        <p:nvSpPr>
          <p:cNvPr id="48" name="ln_363"/>
          <p:cNvSpPr/>
          <p:nvPr/>
        </p:nvSpPr>
        <p:spPr>
          <a:xfrm flipV="1">
            <a:off x="6400800" y="3566160"/>
            <a:ext cx="914" cy="1965960"/>
          </a:xfrm>
          <a:prstGeom prst="line">
            <a:avLst/>
          </a:prstGeom>
          <a:noFill/>
          <a:ln w="12700">
            <a:solidFill>
              <a:srgbClr val="F59E0B"/>
            </a:solidFill>
            <a:prstDash val="solid"/>
          </a:ln>
        </p:spPr>
      </p:sp>
      <p:sp>
        <p:nvSpPr>
          <p:cNvPr id="49" name="ln_364"/>
          <p:cNvSpPr/>
          <p:nvPr/>
        </p:nvSpPr>
        <p:spPr>
          <a:xfrm>
            <a:off x="1371600" y="3118104"/>
            <a:ext cx="914" cy="219456"/>
          </a:xfrm>
          <a:prstGeom prst="line">
            <a:avLst/>
          </a:prstGeom>
          <a:noFill/>
          <a:ln w="28575">
            <a:solidFill>
              <a:srgbClr val="00F0FF"/>
            </a:solidFill>
            <a:prstDash val="solid"/>
            <a:tailEnd type="triangle"/>
          </a:ln>
        </p:spPr>
      </p:sp>
      <p:sp>
        <p:nvSpPr>
          <p:cNvPr id="50" name="txt_365"/>
          <p:cNvSpPr txBox="1"/>
          <p:nvPr/>
        </p:nvSpPr>
        <p:spPr>
          <a:xfrm>
            <a:off x="1463040" y="3118104"/>
            <a:ext cx="2377440" cy="219456"/>
          </a:xfrm>
          <a:prstGeom prst="rect">
            <a:avLst/>
          </a:prstGeom>
          <a:noFill/>
          <a:ln/>
        </p:spPr>
        <p:txBody>
          <a:bodyPr wrap="square" lIns="0" tIns="0" rIns="0" bIns="0" rtlCol="0" anchor="ctr"/>
          <a:lstStyle/>
          <a:p>
            <a:pPr marL="0" indent="0">
              <a:buNone/>
            </a:pPr>
            <a:r>
              <a:rPr lang="en-US" sz="1000" dirty="0">
                <a:solidFill>
                  <a:srgbClr val="00F0FF"/>
                </a:solidFill>
                <a:latin typeface="JetBrains Mono" pitchFamily="34" charset="0"/>
                <a:ea typeface="JetBrains Mono" pitchFamily="34" charset="-122"/>
                <a:cs typeface="JetBrains Mono" pitchFamily="34" charset="-120"/>
              </a:rPr>
              <a:t>HTTPS: dest + position</a:t>
            </a:r>
            <a:endParaRPr lang="en-US" sz="1000" dirty="0"/>
          </a:p>
        </p:txBody>
      </p:sp>
      <p:sp>
        <p:nvSpPr>
          <p:cNvPr id="51" name="ln_366"/>
          <p:cNvSpPr/>
          <p:nvPr/>
        </p:nvSpPr>
        <p:spPr>
          <a:xfrm>
            <a:off x="3931920" y="4279392"/>
            <a:ext cx="457200" cy="914"/>
          </a:xfrm>
          <a:prstGeom prst="line">
            <a:avLst/>
          </a:prstGeom>
          <a:noFill/>
          <a:ln w="28575">
            <a:solidFill>
              <a:srgbClr val="00F0FF"/>
            </a:solidFill>
            <a:prstDash val="solid"/>
          </a:ln>
        </p:spPr>
      </p:sp>
      <p:sp>
        <p:nvSpPr>
          <p:cNvPr id="52" name="ln_367"/>
          <p:cNvSpPr/>
          <p:nvPr/>
        </p:nvSpPr>
        <p:spPr>
          <a:xfrm flipV="1">
            <a:off x="4389120" y="3063240"/>
            <a:ext cx="1737360" cy="1216152"/>
          </a:xfrm>
          <a:prstGeom prst="line">
            <a:avLst/>
          </a:prstGeom>
          <a:noFill/>
          <a:ln w="28575">
            <a:solidFill>
              <a:srgbClr val="00F0FF"/>
            </a:solidFill>
            <a:prstDash val="solid"/>
            <a:tailEnd type="triangle"/>
          </a:ln>
        </p:spPr>
      </p:sp>
      <p:sp>
        <p:nvSpPr>
          <p:cNvPr id="53" name="txt_368"/>
          <p:cNvSpPr txBox="1"/>
          <p:nvPr/>
        </p:nvSpPr>
        <p:spPr>
          <a:xfrm>
            <a:off x="4379976" y="4325112"/>
            <a:ext cx="1371600" cy="365760"/>
          </a:xfrm>
          <a:prstGeom prst="rect">
            <a:avLst/>
          </a:prstGeom>
          <a:noFill/>
          <a:ln/>
        </p:spPr>
        <p:txBody>
          <a:bodyPr wrap="square" lIns="0" tIns="0" rIns="0" bIns="0" rtlCol="0" anchor="t"/>
          <a:lstStyle/>
          <a:p>
            <a:pPr marL="0" indent="0" algn="ctr">
              <a:buNone/>
            </a:pPr>
            <a:r>
              <a:rPr lang="en-US" sz="1000" dirty="0">
                <a:solidFill>
                  <a:srgbClr val="00F0FF"/>
                </a:solidFill>
                <a:latin typeface="JetBrains Mono" pitchFamily="34" charset="0"/>
                <a:ea typeface="JetBrains Mono" pitchFamily="34" charset="-122"/>
                <a:cs typeface="JetBrains Mono" pitchFamily="34" charset="-120"/>
              </a:rPr>
              <a:t>mission + pacing cmds</a:t>
            </a:r>
            <a:endParaRPr lang="en-US" sz="1000" dirty="0"/>
          </a:p>
        </p:txBody>
      </p:sp>
      <p:sp>
        <p:nvSpPr>
          <p:cNvPr id="54" name="ln_369"/>
          <p:cNvSpPr/>
          <p:nvPr/>
        </p:nvSpPr>
        <p:spPr>
          <a:xfrm flipH="1">
            <a:off x="5715000" y="4050792"/>
            <a:ext cx="1051560" cy="1069848"/>
          </a:xfrm>
          <a:prstGeom prst="line">
            <a:avLst/>
          </a:prstGeom>
          <a:noFill/>
          <a:ln w="28575">
            <a:solidFill>
              <a:srgbClr val="3B82F6"/>
            </a:solidFill>
            <a:prstDash val="solid"/>
          </a:ln>
        </p:spPr>
      </p:sp>
      <p:sp>
        <p:nvSpPr>
          <p:cNvPr id="55" name="ln_370"/>
          <p:cNvSpPr/>
          <p:nvPr/>
        </p:nvSpPr>
        <p:spPr>
          <a:xfrm flipH="1">
            <a:off x="3931920" y="5120640"/>
            <a:ext cx="1783080" cy="914"/>
          </a:xfrm>
          <a:prstGeom prst="line">
            <a:avLst/>
          </a:prstGeom>
          <a:noFill/>
          <a:ln w="28575">
            <a:solidFill>
              <a:srgbClr val="3B82F6"/>
            </a:solidFill>
            <a:prstDash val="solid"/>
            <a:tailEnd type="triangle"/>
          </a:ln>
        </p:spPr>
      </p:sp>
      <p:sp>
        <p:nvSpPr>
          <p:cNvPr id="56" name="txt_371"/>
          <p:cNvSpPr txBox="1"/>
          <p:nvPr/>
        </p:nvSpPr>
        <p:spPr>
          <a:xfrm>
            <a:off x="4379976" y="5166360"/>
            <a:ext cx="1371600" cy="219456"/>
          </a:xfrm>
          <a:prstGeom prst="rect">
            <a:avLst/>
          </a:prstGeom>
          <a:noFill/>
          <a:ln/>
        </p:spPr>
        <p:txBody>
          <a:bodyPr wrap="square" lIns="0" tIns="0" rIns="0" bIns="0" rtlCol="0" anchor="t"/>
          <a:lstStyle/>
          <a:p>
            <a:pPr marL="0" indent="0" algn="ctr">
              <a:buNone/>
            </a:pPr>
            <a:r>
              <a:rPr lang="en-US" sz="1000" dirty="0">
                <a:solidFill>
                  <a:srgbClr val="3B82F6"/>
                </a:solidFill>
                <a:latin typeface="JetBrains Mono" pitchFamily="34" charset="0"/>
                <a:ea typeface="JetBrains Mono" pitchFamily="34" charset="-122"/>
                <a:cs typeface="JetBrains Mono" pitchFamily="34" charset="-120"/>
              </a:rPr>
              <a:t>position + status</a:t>
            </a:r>
            <a:endParaRPr lang="en-US" sz="1000" dirty="0"/>
          </a:p>
        </p:txBody>
      </p:sp>
      <p:sp>
        <p:nvSpPr>
          <p:cNvPr id="57" name="ln_372"/>
          <p:cNvSpPr/>
          <p:nvPr/>
        </p:nvSpPr>
        <p:spPr>
          <a:xfrm>
            <a:off x="4069080" y="5824728"/>
            <a:ext cx="2057400" cy="914"/>
          </a:xfrm>
          <a:prstGeom prst="line">
            <a:avLst/>
          </a:prstGeom>
          <a:noFill/>
          <a:ln w="28575">
            <a:solidFill>
              <a:srgbClr val="F59E0B"/>
            </a:solidFill>
            <a:prstDash val="dash"/>
            <a:tailEnd type="triangle"/>
          </a:ln>
        </p:spPr>
      </p:sp>
      <p:sp>
        <p:nvSpPr>
          <p:cNvPr id="58" name="txt_373"/>
          <p:cNvSpPr txBox="1"/>
          <p:nvPr/>
        </p:nvSpPr>
        <p:spPr>
          <a:xfrm>
            <a:off x="4160520" y="5879592"/>
            <a:ext cx="1783080" cy="219456"/>
          </a:xfrm>
          <a:prstGeom prst="rect">
            <a:avLst/>
          </a:prstGeom>
          <a:noFill/>
          <a:ln/>
        </p:spPr>
        <p:txBody>
          <a:bodyPr wrap="square" lIns="0" tIns="0" rIns="0" bIns="0" rtlCol="0" anchor="t"/>
          <a:lstStyle/>
          <a:p>
            <a:pPr marL="0" indent="0" algn="ctr">
              <a:buNone/>
            </a:pPr>
            <a:r>
              <a:rPr lang="en-US" sz="1000" dirty="0">
                <a:solidFill>
                  <a:srgbClr val="F59E0B"/>
                </a:solidFill>
                <a:latin typeface="JetBrains Mono" pitchFamily="34" charset="0"/>
                <a:ea typeface="JetBrains Mono" pitchFamily="34" charset="-122"/>
                <a:cs typeface="JetBrains Mono" pitchFamily="34" charset="-120"/>
              </a:rPr>
              <a:t>RC 2.4 GHz · independent</a:t>
            </a:r>
            <a:endParaRPr lang="en-US" sz="10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35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3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left)">
                                      <p:cBhvr>
                                        <p:cTn id="15" dur="350"/>
                                        <p:tgtEl>
                                          <p:spTgt spid="51"/>
                                        </p:tgtEl>
                                      </p:cBhvr>
                                    </p:animEffect>
                                  </p:childTnLst>
                                </p:cTn>
                              </p:par>
                            </p:childTnLst>
                          </p:cTn>
                        </p:par>
                        <p:par>
                          <p:cTn id="16" fill="hold">
                            <p:stCondLst>
                              <p:cond delay="350"/>
                            </p:stCondLst>
                            <p:childTnLst>
                              <p:par>
                                <p:cTn id="17" presetID="22" presetClass="entr" presetSubtype="8"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left)">
                                      <p:cBhvr>
                                        <p:cTn id="19" dur="350"/>
                                        <p:tgtEl>
                                          <p:spTgt spid="5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3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wipe(right)">
                                      <p:cBhvr>
                                        <p:cTn id="27" dur="350"/>
                                        <p:tgtEl>
                                          <p:spTgt spid="54"/>
                                        </p:tgtEl>
                                      </p:cBhvr>
                                    </p:animEffect>
                                  </p:childTnLst>
                                </p:cTn>
                              </p:par>
                            </p:childTnLst>
                          </p:cTn>
                        </p:par>
                        <p:par>
                          <p:cTn id="28" fill="hold">
                            <p:stCondLst>
                              <p:cond delay="350"/>
                            </p:stCondLst>
                            <p:childTnLst>
                              <p:par>
                                <p:cTn id="29" presetID="22" presetClass="entr" presetSubtype="2" fill="hold"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wipe(right)">
                                      <p:cBhvr>
                                        <p:cTn id="31" dur="350"/>
                                        <p:tgtEl>
                                          <p:spTgt spid="5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300"/>
                                        <p:tgtEl>
                                          <p:spTgt spid="5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wipe(left)">
                                      <p:cBhvr>
                                        <p:cTn id="39" dur="400"/>
                                        <p:tgtEl>
                                          <p:spTgt spid="5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3" grpId="0" animBg="1"/>
      <p:bldP spid="56" grpId="0" animBg="1"/>
      <p:bldP spid="5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xt_374"/>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03: HARDWARE</a:t>
            </a:r>
            <a:endParaRPr lang="en-US" sz="1100" dirty="0"/>
          </a:p>
        </p:txBody>
      </p:sp>
      <p:sp>
        <p:nvSpPr>
          <p:cNvPr id="3" name="kicker_375"/>
          <p:cNvSpPr txBox="1"/>
          <p:nvPr/>
        </p:nvSpPr>
        <p:spPr>
          <a:xfrm>
            <a:off x="457200" y="548640"/>
            <a:ext cx="476631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HARDWARE PLATFORM · DESIGN MODEL</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The planned F450 platform uses separate propulsion ESCs</a:t>
            </a:r>
            <a:endParaRPr lang="en-US" sz="4000" dirty="0"/>
          </a:p>
        </p:txBody>
      </p:sp>
      <p:sp>
        <p:nvSpPr>
          <p:cNvPr id="5" name="txt_376"/>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DESIGN MODEL · PROCUREMENT &amp; ASSEMBLY PENDING</a:t>
            </a:r>
            <a:endParaRPr lang="en-US" sz="1000" dirty="0"/>
          </a:p>
        </p:txBody>
      </p:sp>
      <p:sp>
        <p:nvSpPr>
          <p:cNvPr id="6" name="txt_377"/>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§4 p5; §6–7 pp5–7; NAVI_CAD/README</a:t>
            </a:r>
            <a:endParaRPr lang="en-US" sz="1000" dirty="0"/>
          </a:p>
        </p:txBody>
      </p:sp>
      <p:sp>
        <p:nvSpPr>
          <p:cNvPr id="7" name="txt_378"/>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[ 11 / 18 ]</a:t>
            </a:r>
            <a:endParaRPr lang="en-US" sz="1200" dirty="0"/>
          </a:p>
        </p:txBody>
      </p:sp>
      <p:pic>
        <p:nvPicPr>
          <p:cNvPr id="9" name="img_379" descr="Assembled NAVI F450 design model"/>
          <p:cNvPicPr>
            <a:picLocks noChangeAspect="1"/>
          </p:cNvPicPr>
          <p:nvPr/>
        </p:nvPicPr>
        <p:blipFill>
          <a:blip r:embed="rId3"/>
          <a:stretch>
            <a:fillRect/>
          </a:stretch>
        </p:blipFill>
        <p:spPr>
          <a:xfrm>
            <a:off x="411480" y="2258568"/>
            <a:ext cx="6263640" cy="3797188"/>
          </a:xfrm>
          <a:prstGeom prst="rect">
            <a:avLst/>
          </a:prstGeom>
        </p:spPr>
      </p:pic>
      <p:sp>
        <p:nvSpPr>
          <p:cNvPr id="10" name="badge_380"/>
          <p:cNvSpPr txBox="1"/>
          <p:nvPr/>
        </p:nvSpPr>
        <p:spPr>
          <a:xfrm>
            <a:off x="3431077" y="3822882"/>
            <a:ext cx="109728" cy="109728"/>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11" name="ln_381"/>
          <p:cNvSpPr/>
          <p:nvPr/>
        </p:nvSpPr>
        <p:spPr>
          <a:xfrm>
            <a:off x="2264664" y="2404872"/>
            <a:ext cx="1221277" cy="1472874"/>
          </a:xfrm>
          <a:prstGeom prst="line">
            <a:avLst/>
          </a:prstGeom>
          <a:noFill/>
          <a:ln w="12700">
            <a:solidFill>
              <a:srgbClr val="00F0FF">
                <a:alpha val="90000"/>
              </a:srgbClr>
            </a:solidFill>
            <a:prstDash val="solid"/>
          </a:ln>
        </p:spPr>
      </p:sp>
      <p:sp>
        <p:nvSpPr>
          <p:cNvPr id="12" name="chip_382"/>
          <p:cNvSpPr txBox="1"/>
          <p:nvPr/>
        </p:nvSpPr>
        <p:spPr>
          <a:xfrm>
            <a:off x="502920" y="2286000"/>
            <a:ext cx="17617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F405 V3 FC · iA6B RX</a:t>
            </a:r>
            <a:endParaRPr lang="en-US" sz="1000" dirty="0"/>
          </a:p>
        </p:txBody>
      </p:sp>
      <p:sp>
        <p:nvSpPr>
          <p:cNvPr id="13" name="badge_383"/>
          <p:cNvSpPr txBox="1"/>
          <p:nvPr/>
        </p:nvSpPr>
        <p:spPr>
          <a:xfrm>
            <a:off x="5524693" y="3937515"/>
            <a:ext cx="109728" cy="109728"/>
          </a:xfrm>
          <a:prstGeom prst="ellipse">
            <a:avLst/>
          </a:prstGeom>
          <a:solidFill>
            <a:srgbClr val="090D16"/>
          </a:solidFill>
          <a:ln w="15875">
            <a:solidFill>
              <a:srgbClr val="F59E0B"/>
            </a:solidFill>
          </a:ln>
        </p:spPr>
        <p:txBody>
          <a:bodyPr wrap="square" lIns="0" tIns="0" rIns="0" bIns="0" rtlCol="0" anchor="ctr"/>
          <a:lstStyle/>
          <a:p>
            <a:pPr marL="0" indent="0" algn="ctr">
              <a:buNone/>
            </a:pPr>
            <a:endParaRPr lang="en-US" sz="1100" dirty="0"/>
          </a:p>
        </p:txBody>
      </p:sp>
      <p:sp>
        <p:nvSpPr>
          <p:cNvPr id="14" name="ln_384"/>
          <p:cNvSpPr/>
          <p:nvPr/>
        </p:nvSpPr>
        <p:spPr>
          <a:xfrm flipH="1">
            <a:off x="5579557" y="2514600"/>
            <a:ext cx="1013267" cy="1477779"/>
          </a:xfrm>
          <a:prstGeom prst="line">
            <a:avLst/>
          </a:prstGeom>
          <a:noFill/>
          <a:ln w="12700">
            <a:solidFill>
              <a:srgbClr val="F59E0B">
                <a:alpha val="90000"/>
              </a:srgbClr>
            </a:solidFill>
            <a:prstDash val="solid"/>
          </a:ln>
        </p:spPr>
      </p:sp>
      <p:sp>
        <p:nvSpPr>
          <p:cNvPr id="15" name="chip_385"/>
          <p:cNvSpPr txBox="1"/>
          <p:nvPr/>
        </p:nvSpPr>
        <p:spPr>
          <a:xfrm>
            <a:off x="5440680" y="2395728"/>
            <a:ext cx="1152144" cy="237744"/>
          </a:xfrm>
          <a:prstGeom prst="roundRect">
            <a:avLst>
              <a:gd name="adj" fmla="val 19231"/>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1000" b="1" dirty="0">
                <a:solidFill>
                  <a:srgbClr val="F59E0B"/>
                </a:solidFill>
                <a:latin typeface="JetBrains Mono" pitchFamily="34" charset="0"/>
                <a:ea typeface="JetBrains Mono" pitchFamily="34" charset="-122"/>
                <a:cs typeface="JetBrains Mono" pitchFamily="34" charset="-120"/>
              </a:rPr>
              <a:t>A2212 + 1045</a:t>
            </a:r>
            <a:endParaRPr lang="en-US" sz="1000" dirty="0"/>
          </a:p>
        </p:txBody>
      </p:sp>
      <p:sp>
        <p:nvSpPr>
          <p:cNvPr id="16" name="badge_386"/>
          <p:cNvSpPr txBox="1"/>
          <p:nvPr/>
        </p:nvSpPr>
        <p:spPr>
          <a:xfrm>
            <a:off x="4578263" y="4218363"/>
            <a:ext cx="109728" cy="109728"/>
          </a:xfrm>
          <a:prstGeom prst="ellipse">
            <a:avLst/>
          </a:prstGeom>
          <a:solidFill>
            <a:srgbClr val="090D16"/>
          </a:solidFill>
          <a:ln w="15875">
            <a:solidFill>
              <a:srgbClr val="F59E0B"/>
            </a:solidFill>
          </a:ln>
        </p:spPr>
        <p:txBody>
          <a:bodyPr wrap="square" lIns="0" tIns="0" rIns="0" bIns="0" rtlCol="0" anchor="ctr"/>
          <a:lstStyle/>
          <a:p>
            <a:pPr marL="0" indent="0" algn="ctr">
              <a:buNone/>
            </a:pPr>
            <a:endParaRPr lang="en-US" sz="1100" dirty="0"/>
          </a:p>
        </p:txBody>
      </p:sp>
      <p:sp>
        <p:nvSpPr>
          <p:cNvPr id="17" name="ln_387"/>
          <p:cNvSpPr/>
          <p:nvPr/>
        </p:nvSpPr>
        <p:spPr>
          <a:xfrm flipH="1" flipV="1">
            <a:off x="4633127" y="4273227"/>
            <a:ext cx="624673" cy="463365"/>
          </a:xfrm>
          <a:prstGeom prst="line">
            <a:avLst/>
          </a:prstGeom>
          <a:noFill/>
          <a:ln w="12700">
            <a:solidFill>
              <a:srgbClr val="F59E0B">
                <a:alpha val="90000"/>
              </a:srgbClr>
            </a:solidFill>
            <a:prstDash val="solid"/>
          </a:ln>
        </p:spPr>
      </p:sp>
      <p:sp>
        <p:nvSpPr>
          <p:cNvPr id="18" name="chip_388"/>
          <p:cNvSpPr txBox="1"/>
          <p:nvPr/>
        </p:nvSpPr>
        <p:spPr>
          <a:xfrm>
            <a:off x="5257800" y="4617720"/>
            <a:ext cx="999744" cy="237744"/>
          </a:xfrm>
          <a:prstGeom prst="roundRect">
            <a:avLst>
              <a:gd name="adj" fmla="val 19231"/>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1000" b="1" dirty="0">
                <a:solidFill>
                  <a:srgbClr val="F59E0B"/>
                </a:solidFill>
                <a:latin typeface="JetBrains Mono" pitchFamily="34" charset="0"/>
                <a:ea typeface="JetBrains Mono" pitchFamily="34" charset="-122"/>
                <a:cs typeface="JetBrains Mono" pitchFamily="34" charset="-120"/>
              </a:rPr>
              <a:t>30A ESC ×4</a:t>
            </a:r>
            <a:endParaRPr lang="en-US" sz="1000" dirty="0"/>
          </a:p>
        </p:txBody>
      </p:sp>
      <p:sp>
        <p:nvSpPr>
          <p:cNvPr id="19" name="badge_389"/>
          <p:cNvSpPr txBox="1"/>
          <p:nvPr/>
        </p:nvSpPr>
        <p:spPr>
          <a:xfrm>
            <a:off x="3803912" y="4396043"/>
            <a:ext cx="109728" cy="109728"/>
          </a:xfrm>
          <a:prstGeom prst="ellipse">
            <a:avLst/>
          </a:prstGeom>
          <a:solidFill>
            <a:srgbClr val="090D16"/>
          </a:solidFill>
          <a:ln w="15875">
            <a:solidFill>
              <a:srgbClr val="F59E0B"/>
            </a:solidFill>
          </a:ln>
        </p:spPr>
        <p:txBody>
          <a:bodyPr wrap="square" lIns="0" tIns="0" rIns="0" bIns="0" rtlCol="0" anchor="ctr"/>
          <a:lstStyle/>
          <a:p>
            <a:pPr marL="0" indent="0" algn="ctr">
              <a:buNone/>
            </a:pPr>
            <a:endParaRPr lang="en-US" sz="1100" dirty="0"/>
          </a:p>
        </p:txBody>
      </p:sp>
      <p:sp>
        <p:nvSpPr>
          <p:cNvPr id="20" name="ln_390"/>
          <p:cNvSpPr/>
          <p:nvPr/>
        </p:nvSpPr>
        <p:spPr>
          <a:xfrm flipH="1" flipV="1">
            <a:off x="3858776" y="4450907"/>
            <a:ext cx="1399024" cy="651445"/>
          </a:xfrm>
          <a:prstGeom prst="line">
            <a:avLst/>
          </a:prstGeom>
          <a:noFill/>
          <a:ln w="12700">
            <a:solidFill>
              <a:srgbClr val="F59E0B">
                <a:alpha val="90000"/>
              </a:srgbClr>
            </a:solidFill>
            <a:prstDash val="solid"/>
          </a:ln>
        </p:spPr>
      </p:sp>
      <p:sp>
        <p:nvSpPr>
          <p:cNvPr id="21" name="chip_391"/>
          <p:cNvSpPr txBox="1"/>
          <p:nvPr/>
        </p:nvSpPr>
        <p:spPr>
          <a:xfrm>
            <a:off x="5257800" y="4983480"/>
            <a:ext cx="1075944" cy="237744"/>
          </a:xfrm>
          <a:prstGeom prst="roundRect">
            <a:avLst>
              <a:gd name="adj" fmla="val 19231"/>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1000" b="1" dirty="0">
                <a:solidFill>
                  <a:srgbClr val="F59E0B"/>
                </a:solidFill>
                <a:latin typeface="JetBrains Mono" pitchFamily="34" charset="0"/>
                <a:ea typeface="JetBrains Mono" pitchFamily="34" charset="-122"/>
                <a:cs typeface="JetBrains Mono" pitchFamily="34" charset="-120"/>
              </a:rPr>
              <a:t>3S 3300 mAh</a:t>
            </a:r>
            <a:endParaRPr lang="en-US" sz="1000" dirty="0"/>
          </a:p>
        </p:txBody>
      </p:sp>
      <p:sp>
        <p:nvSpPr>
          <p:cNvPr id="22" name="badge_392"/>
          <p:cNvSpPr txBox="1"/>
          <p:nvPr/>
        </p:nvSpPr>
        <p:spPr>
          <a:xfrm>
            <a:off x="3287678" y="2785462"/>
            <a:ext cx="109728" cy="109728"/>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23" name="ln_393"/>
          <p:cNvSpPr/>
          <p:nvPr/>
        </p:nvSpPr>
        <p:spPr>
          <a:xfrm>
            <a:off x="2036064" y="2816352"/>
            <a:ext cx="1306478" cy="23974"/>
          </a:xfrm>
          <a:prstGeom prst="line">
            <a:avLst/>
          </a:prstGeom>
          <a:noFill/>
          <a:ln w="12700">
            <a:solidFill>
              <a:srgbClr val="10B981">
                <a:alpha val="90000"/>
              </a:srgbClr>
            </a:solidFill>
            <a:prstDash val="solid"/>
          </a:ln>
        </p:spPr>
      </p:sp>
      <p:sp>
        <p:nvSpPr>
          <p:cNvPr id="24" name="chip_394"/>
          <p:cNvSpPr txBox="1"/>
          <p:nvPr/>
        </p:nvSpPr>
        <p:spPr>
          <a:xfrm>
            <a:off x="502920" y="2697480"/>
            <a:ext cx="1533144" cy="237744"/>
          </a:xfrm>
          <a:prstGeom prst="roundRect">
            <a:avLst>
              <a:gd name="adj" fmla="val 19231"/>
            </a:avLst>
          </a:prstGeom>
          <a:solidFill>
            <a:srgbClr val="10B981">
              <a:alpha val="12000"/>
            </a:srgbClr>
          </a:solidFill>
          <a:ln w="9525">
            <a:solidFill>
              <a:srgbClr val="10B981">
                <a:alpha val="65000"/>
              </a:srgbClr>
            </a:solidFill>
          </a:ln>
        </p:spPr>
        <p:txBody>
          <a:bodyPr wrap="square" lIns="0" tIns="0" rIns="0" bIns="0" rtlCol="0" anchor="ctr"/>
          <a:lstStyle/>
          <a:p>
            <a:pPr marL="0" indent="0" algn="ctr">
              <a:buNone/>
            </a:pPr>
            <a:r>
              <a:rPr lang="en-US" sz="1000" b="1" dirty="0">
                <a:solidFill>
                  <a:srgbClr val="10B981"/>
                </a:solidFill>
                <a:latin typeface="JetBrains Mono" pitchFamily="34" charset="0"/>
                <a:ea typeface="JetBrains Mono" pitchFamily="34" charset="-122"/>
                <a:cs typeface="JetBrains Mono" pitchFamily="34" charset="-120"/>
              </a:rPr>
              <a:t>M8N GPS + COMPASS</a:t>
            </a:r>
            <a:endParaRPr lang="en-US" sz="1000" dirty="0"/>
          </a:p>
        </p:txBody>
      </p:sp>
      <p:sp>
        <p:nvSpPr>
          <p:cNvPr id="25" name="badge_395"/>
          <p:cNvSpPr txBox="1"/>
          <p:nvPr/>
        </p:nvSpPr>
        <p:spPr>
          <a:xfrm>
            <a:off x="3431077" y="3501913"/>
            <a:ext cx="109728" cy="109728"/>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26" name="ln_396"/>
          <p:cNvSpPr/>
          <p:nvPr/>
        </p:nvSpPr>
        <p:spPr>
          <a:xfrm>
            <a:off x="1731264" y="3209544"/>
            <a:ext cx="1754677" cy="347233"/>
          </a:xfrm>
          <a:prstGeom prst="line">
            <a:avLst/>
          </a:prstGeom>
          <a:noFill/>
          <a:ln w="12700">
            <a:solidFill>
              <a:srgbClr val="10B981">
                <a:alpha val="90000"/>
              </a:srgbClr>
            </a:solidFill>
            <a:prstDash val="solid"/>
          </a:ln>
        </p:spPr>
      </p:sp>
      <p:sp>
        <p:nvSpPr>
          <p:cNvPr id="27" name="chip_397"/>
          <p:cNvSpPr txBox="1"/>
          <p:nvPr/>
        </p:nvSpPr>
        <p:spPr>
          <a:xfrm>
            <a:off x="502920" y="3090672"/>
            <a:ext cx="1228344" cy="237744"/>
          </a:xfrm>
          <a:prstGeom prst="roundRect">
            <a:avLst>
              <a:gd name="adj" fmla="val 19231"/>
            </a:avLst>
          </a:prstGeom>
          <a:solidFill>
            <a:srgbClr val="10B981">
              <a:alpha val="12000"/>
            </a:srgbClr>
          </a:solidFill>
          <a:ln w="9525">
            <a:solidFill>
              <a:srgbClr val="10B981">
                <a:alpha val="65000"/>
              </a:srgbClr>
            </a:solidFill>
          </a:ln>
        </p:spPr>
        <p:txBody>
          <a:bodyPr wrap="square" lIns="0" tIns="0" rIns="0" bIns="0" rtlCol="0" anchor="ctr"/>
          <a:lstStyle/>
          <a:p>
            <a:pPr marL="0" indent="0" algn="ctr">
              <a:buNone/>
            </a:pPr>
            <a:r>
              <a:rPr lang="en-US" sz="1000" b="1" dirty="0">
                <a:solidFill>
                  <a:srgbClr val="10B981"/>
                </a:solidFill>
                <a:latin typeface="JetBrains Mono" pitchFamily="34" charset="0"/>
                <a:ea typeface="JetBrains Mono" pitchFamily="34" charset="-122"/>
                <a:cs typeface="JetBrains Mono" pitchFamily="34" charset="-120"/>
              </a:rPr>
              <a:t>SiK 433 RADIO</a:t>
            </a:r>
            <a:endParaRPr lang="en-US" sz="1000" dirty="0"/>
          </a:p>
        </p:txBody>
      </p:sp>
      <p:sp>
        <p:nvSpPr>
          <p:cNvPr id="28" name="badge_398"/>
          <p:cNvSpPr txBox="1"/>
          <p:nvPr/>
        </p:nvSpPr>
        <p:spPr>
          <a:xfrm>
            <a:off x="3878480" y="3822882"/>
            <a:ext cx="109728" cy="109728"/>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29" name="ln_399"/>
          <p:cNvSpPr/>
          <p:nvPr/>
        </p:nvSpPr>
        <p:spPr>
          <a:xfrm flipH="1">
            <a:off x="3933344" y="2971800"/>
            <a:ext cx="501496" cy="905946"/>
          </a:xfrm>
          <a:prstGeom prst="line">
            <a:avLst/>
          </a:prstGeom>
          <a:noFill/>
          <a:ln w="12700">
            <a:solidFill>
              <a:srgbClr val="10B981">
                <a:alpha val="90000"/>
              </a:srgbClr>
            </a:solidFill>
            <a:prstDash val="solid"/>
          </a:ln>
        </p:spPr>
      </p:sp>
      <p:sp>
        <p:nvSpPr>
          <p:cNvPr id="30" name="chip_400"/>
          <p:cNvSpPr txBox="1"/>
          <p:nvPr/>
        </p:nvSpPr>
        <p:spPr>
          <a:xfrm>
            <a:off x="4434840" y="2852928"/>
            <a:ext cx="1152144" cy="237744"/>
          </a:xfrm>
          <a:prstGeom prst="roundRect">
            <a:avLst>
              <a:gd name="adj" fmla="val 19231"/>
            </a:avLst>
          </a:prstGeom>
          <a:solidFill>
            <a:srgbClr val="10B981">
              <a:alpha val="12000"/>
            </a:srgbClr>
          </a:solidFill>
          <a:ln w="9525">
            <a:solidFill>
              <a:srgbClr val="10B981">
                <a:alpha val="65000"/>
              </a:srgbClr>
            </a:solidFill>
          </a:ln>
        </p:spPr>
        <p:txBody>
          <a:bodyPr wrap="square" lIns="0" tIns="0" rIns="0" bIns="0" rtlCol="0" anchor="ctr"/>
          <a:lstStyle/>
          <a:p>
            <a:pPr marL="0" indent="0" algn="ctr">
              <a:buNone/>
            </a:pPr>
            <a:r>
              <a:rPr lang="en-US" sz="1000" b="1" dirty="0">
                <a:solidFill>
                  <a:srgbClr val="10B981"/>
                </a:solidFill>
                <a:latin typeface="JetBrains Mono" pitchFamily="34" charset="0"/>
                <a:ea typeface="JetBrains Mono" pitchFamily="34" charset="-122"/>
                <a:cs typeface="JetBrains Mono" pitchFamily="34" charset="-120"/>
              </a:rPr>
              <a:t>POWER MODULE</a:t>
            </a:r>
            <a:endParaRPr lang="en-US" sz="1000" dirty="0"/>
          </a:p>
        </p:txBody>
      </p:sp>
      <p:sp>
        <p:nvSpPr>
          <p:cNvPr id="31" name="txt_401"/>
          <p:cNvSpPr txBox="1"/>
          <p:nvPr/>
        </p:nvSpPr>
        <p:spPr>
          <a:xfrm>
            <a:off x="457200" y="5833872"/>
            <a:ext cx="6126480" cy="402336"/>
          </a:xfrm>
          <a:prstGeom prst="rect">
            <a:avLst/>
          </a:prstGeom>
          <a:noFill/>
          <a:ln/>
        </p:spPr>
        <p:txBody>
          <a:bodyPr wrap="square" lIns="0" tIns="0" rIns="0" bIns="0" rtlCol="0" anchor="t"/>
          <a:lstStyle/>
          <a:p>
            <a:pPr marL="0" indent="0">
              <a:buNone/>
            </a:pPr>
            <a:r>
              <a:rPr lang="en-US" sz="1100" dirty="0">
                <a:solidFill>
                  <a:srgbClr val="3B82F6"/>
                </a:solidFill>
                <a:latin typeface="JetBrains Mono" pitchFamily="34" charset="0"/>
                <a:ea typeface="JetBrains Mono" pitchFamily="34" charset="-122"/>
                <a:cs typeface="JetBrains Mono" pitchFamily="34" charset="-120"/>
              </a:rPr>
              <a:t>DESIGN MODEL: Nominal component geometry and proposed layout. Physical assembly and dimensional verification pending.</a:t>
            </a:r>
            <a:endParaRPr lang="en-US" sz="1100" dirty="0"/>
          </a:p>
        </p:txBody>
      </p:sp>
      <p:sp>
        <p:nvSpPr>
          <p:cNvPr id="32" name="box_402"/>
          <p:cNvSpPr/>
          <p:nvPr/>
        </p:nvSpPr>
        <p:spPr>
          <a:xfrm>
            <a:off x="6903720" y="2148840"/>
            <a:ext cx="4830775" cy="1024128"/>
          </a:xfrm>
          <a:prstGeom prst="roundRect">
            <a:avLst>
              <a:gd name="adj" fmla="val 5357"/>
            </a:avLst>
          </a:prstGeom>
          <a:solidFill>
            <a:srgbClr val="131C2E">
              <a:alpha val="82000"/>
            </a:srgbClr>
          </a:solidFill>
          <a:ln w="9525">
            <a:solidFill>
              <a:srgbClr val="00F0FF">
                <a:alpha val="45000"/>
              </a:srgbClr>
            </a:solidFill>
            <a:prstDash val="solid"/>
          </a:ln>
        </p:spPr>
      </p:sp>
      <p:sp>
        <p:nvSpPr>
          <p:cNvPr id="33" name="box_403"/>
          <p:cNvSpPr/>
          <p:nvPr/>
        </p:nvSpPr>
        <p:spPr>
          <a:xfrm>
            <a:off x="7013448" y="2258568"/>
            <a:ext cx="804672" cy="804672"/>
          </a:xfrm>
          <a:prstGeom prst="roundRect">
            <a:avLst>
              <a:gd name="adj" fmla="val 4545"/>
            </a:avLst>
          </a:prstGeom>
          <a:solidFill>
            <a:srgbClr val="FFFFFF"/>
          </a:solidFill>
          <a:ln/>
        </p:spPr>
      </p:sp>
      <p:pic>
        <p:nvPicPr>
          <p:cNvPr id="34" name="img_404" descr="p_fc_crop.jpg"/>
          <p:cNvPicPr>
            <a:picLocks noChangeAspect="1"/>
          </p:cNvPicPr>
          <p:nvPr/>
        </p:nvPicPr>
        <p:blipFill>
          <a:blip r:embed="rId4"/>
          <a:srcRect/>
          <a:stretch/>
        </p:blipFill>
        <p:spPr>
          <a:xfrm>
            <a:off x="7050024" y="2295144"/>
            <a:ext cx="731520" cy="731520"/>
          </a:xfrm>
          <a:prstGeom prst="rect">
            <a:avLst/>
          </a:prstGeom>
        </p:spPr>
      </p:pic>
      <p:sp>
        <p:nvSpPr>
          <p:cNvPr id="35" name="txt_405"/>
          <p:cNvSpPr txBox="1"/>
          <p:nvPr/>
        </p:nvSpPr>
        <p:spPr>
          <a:xfrm>
            <a:off x="7946136" y="2240280"/>
            <a:ext cx="3696919" cy="877824"/>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FLIGHT CONTROL</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SpeedyBee F405 V3, FC board only · ArduPilot · iA6B RX (iBUS)</a:t>
            </a:r>
            <a:endParaRPr lang="en-US" sz="1500" dirty="0"/>
          </a:p>
          <a:p>
            <a:pPr marL="0" indent="0">
              <a:buNone/>
            </a:pPr>
            <a:r>
              <a:rPr lang="en-US" sz="1000" dirty="0">
                <a:solidFill>
                  <a:srgbClr val="F59E0B"/>
                </a:solidFill>
                <a:latin typeface="JetBrains Mono" pitchFamily="34" charset="0"/>
                <a:ea typeface="JetBrains Mono" pitchFamily="34" charset="-122"/>
                <a:cs typeface="JetBrains Mono" pitchFamily="34" charset="-120"/>
              </a:rPr>
              <a:t>4-IN-1 ESC IN VENDOR PHOTO: REFERENCE ONLY</a:t>
            </a:r>
            <a:endParaRPr lang="en-US" sz="1500" dirty="0"/>
          </a:p>
        </p:txBody>
      </p:sp>
      <p:sp>
        <p:nvSpPr>
          <p:cNvPr id="36" name="box_406"/>
          <p:cNvSpPr/>
          <p:nvPr/>
        </p:nvSpPr>
        <p:spPr>
          <a:xfrm>
            <a:off x="6903720" y="3264408"/>
            <a:ext cx="4830775" cy="1024128"/>
          </a:xfrm>
          <a:prstGeom prst="roundRect">
            <a:avLst>
              <a:gd name="adj" fmla="val 5357"/>
            </a:avLst>
          </a:prstGeom>
          <a:solidFill>
            <a:srgbClr val="131C2E">
              <a:alpha val="82000"/>
            </a:srgbClr>
          </a:solidFill>
          <a:ln w="9525">
            <a:solidFill>
              <a:srgbClr val="F59E0B">
                <a:alpha val="45000"/>
              </a:srgbClr>
            </a:solidFill>
            <a:prstDash val="solid"/>
          </a:ln>
        </p:spPr>
      </p:sp>
      <p:sp>
        <p:nvSpPr>
          <p:cNvPr id="37" name="box_407"/>
          <p:cNvSpPr/>
          <p:nvPr/>
        </p:nvSpPr>
        <p:spPr>
          <a:xfrm>
            <a:off x="7013448" y="3374136"/>
            <a:ext cx="804672" cy="804672"/>
          </a:xfrm>
          <a:prstGeom prst="roundRect">
            <a:avLst>
              <a:gd name="adj" fmla="val 4545"/>
            </a:avLst>
          </a:prstGeom>
          <a:solidFill>
            <a:srgbClr val="FFFFFF"/>
          </a:solidFill>
          <a:ln/>
        </p:spPr>
      </p:sp>
      <p:pic>
        <p:nvPicPr>
          <p:cNvPr id="38" name="img_408" descr="p_kit.jpg"/>
          <p:cNvPicPr>
            <a:picLocks noChangeAspect="1"/>
          </p:cNvPicPr>
          <p:nvPr/>
        </p:nvPicPr>
        <p:blipFill>
          <a:blip r:embed="rId5"/>
          <a:srcRect/>
          <a:stretch/>
        </p:blipFill>
        <p:spPr>
          <a:xfrm>
            <a:off x="7050024" y="3410712"/>
            <a:ext cx="731520" cy="731520"/>
          </a:xfrm>
          <a:prstGeom prst="rect">
            <a:avLst/>
          </a:prstGeom>
        </p:spPr>
      </p:pic>
      <p:sp>
        <p:nvSpPr>
          <p:cNvPr id="39" name="txt_409"/>
          <p:cNvSpPr txBox="1"/>
          <p:nvPr/>
        </p:nvSpPr>
        <p:spPr>
          <a:xfrm>
            <a:off x="7946136" y="3355848"/>
            <a:ext cx="3696919" cy="877824"/>
          </a:xfrm>
          <a:prstGeom prst="rect">
            <a:avLst/>
          </a:prstGeom>
          <a:noFill/>
          <a:ln/>
        </p:spPr>
        <p:txBody>
          <a:bodyPr wrap="square" lIns="0" tIns="0" rIns="0" bIns="0" rtlCol="0" anchor="t"/>
          <a:lstStyle/>
          <a:p>
            <a:pPr marL="0" indent="0">
              <a:buNone/>
            </a:pPr>
            <a:r>
              <a:rPr lang="en-US" sz="1200" b="1" dirty="0">
                <a:solidFill>
                  <a:srgbClr val="F59E0B"/>
                </a:solidFill>
                <a:latin typeface="JetBrains Mono" pitchFamily="34" charset="0"/>
                <a:ea typeface="JetBrains Mono" pitchFamily="34" charset="-122"/>
                <a:cs typeface="JetBrains Mono" pitchFamily="34" charset="-120"/>
              </a:rPr>
              <a:t>PROPULSION &amp; POWER</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F450 + PDB · 4× A2212 1000KV · 4× separate 30A ESCs · 1045 props · 3S 3300 mAh, XT60 (planned)</a:t>
            </a:r>
            <a:endParaRPr lang="en-US" sz="1500" dirty="0"/>
          </a:p>
        </p:txBody>
      </p:sp>
      <p:sp>
        <p:nvSpPr>
          <p:cNvPr id="40" name="box_410"/>
          <p:cNvSpPr/>
          <p:nvPr/>
        </p:nvSpPr>
        <p:spPr>
          <a:xfrm>
            <a:off x="6903720" y="4379976"/>
            <a:ext cx="4830775" cy="1024128"/>
          </a:xfrm>
          <a:prstGeom prst="roundRect">
            <a:avLst>
              <a:gd name="adj" fmla="val 5357"/>
            </a:avLst>
          </a:prstGeom>
          <a:solidFill>
            <a:srgbClr val="131C2E">
              <a:alpha val="82000"/>
            </a:srgbClr>
          </a:solidFill>
          <a:ln w="9525">
            <a:solidFill>
              <a:srgbClr val="10B981">
                <a:alpha val="45000"/>
              </a:srgbClr>
            </a:solidFill>
            <a:prstDash val="solid"/>
          </a:ln>
        </p:spPr>
      </p:sp>
      <p:sp>
        <p:nvSpPr>
          <p:cNvPr id="41" name="box_411"/>
          <p:cNvSpPr/>
          <p:nvPr/>
        </p:nvSpPr>
        <p:spPr>
          <a:xfrm>
            <a:off x="7013448" y="4489704"/>
            <a:ext cx="804672" cy="804672"/>
          </a:xfrm>
          <a:prstGeom prst="roundRect">
            <a:avLst>
              <a:gd name="adj" fmla="val 4545"/>
            </a:avLst>
          </a:prstGeom>
          <a:solidFill>
            <a:srgbClr val="FFFFFF"/>
          </a:solidFill>
          <a:ln/>
        </p:spPr>
      </p:sp>
      <p:pic>
        <p:nvPicPr>
          <p:cNvPr id="42" name="img_412" descr="p_gps.jpg"/>
          <p:cNvPicPr>
            <a:picLocks noChangeAspect="1"/>
          </p:cNvPicPr>
          <p:nvPr/>
        </p:nvPicPr>
        <p:blipFill>
          <a:blip r:embed="rId6"/>
          <a:srcRect/>
          <a:stretch/>
        </p:blipFill>
        <p:spPr>
          <a:xfrm>
            <a:off x="7050024" y="4526280"/>
            <a:ext cx="731520" cy="731520"/>
          </a:xfrm>
          <a:prstGeom prst="rect">
            <a:avLst/>
          </a:prstGeom>
        </p:spPr>
      </p:pic>
      <p:sp>
        <p:nvSpPr>
          <p:cNvPr id="43" name="txt_413"/>
          <p:cNvSpPr txBox="1"/>
          <p:nvPr/>
        </p:nvSpPr>
        <p:spPr>
          <a:xfrm>
            <a:off x="7946136" y="4471416"/>
            <a:ext cx="3696919" cy="877824"/>
          </a:xfrm>
          <a:prstGeom prst="rect">
            <a:avLst/>
          </a:prstGeom>
          <a:noFill/>
          <a:ln/>
        </p:spPr>
        <p:txBody>
          <a:bodyPr wrap="square" lIns="0" tIns="0" rIns="0" bIns="0" rtlCol="0" anchor="t"/>
          <a:lstStyle/>
          <a:p>
            <a:pPr marL="0" indent="0">
              <a:buNone/>
            </a:pPr>
            <a:r>
              <a:rPr lang="en-US" sz="1200" b="1" dirty="0">
                <a:solidFill>
                  <a:srgbClr val="10B981"/>
                </a:solidFill>
                <a:latin typeface="JetBrains Mono" pitchFamily="34" charset="0"/>
                <a:ea typeface="JetBrains Mono" pitchFamily="34" charset="-122"/>
                <a:cs typeface="JetBrains Mono" pitchFamily="34" charset="-120"/>
              </a:rPr>
              <a:t>POSITIONING &amp; LINKS</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NEO-M8N GPS + compass on mast · SiK 433 MHz onboard · XT60 power module (V/I sense, 5 V)</a:t>
            </a:r>
            <a:endParaRPr lang="en-US" sz="1500" dirty="0"/>
          </a:p>
        </p:txBody>
      </p:sp>
      <p:sp>
        <p:nvSpPr>
          <p:cNvPr id="44" name="box_414"/>
          <p:cNvSpPr/>
          <p:nvPr/>
        </p:nvSpPr>
        <p:spPr>
          <a:xfrm>
            <a:off x="6903720" y="5495544"/>
            <a:ext cx="4830775" cy="722376"/>
          </a:xfrm>
          <a:prstGeom prst="roundRect">
            <a:avLst>
              <a:gd name="adj" fmla="val 7595"/>
            </a:avLst>
          </a:prstGeom>
          <a:solidFill>
            <a:srgbClr val="131C2E">
              <a:alpha val="50000"/>
            </a:srgbClr>
          </a:solidFill>
          <a:ln w="9525">
            <a:solidFill>
              <a:srgbClr val="94A3B8">
                <a:alpha val="40000"/>
              </a:srgbClr>
            </a:solidFill>
            <a:prstDash val="dash"/>
          </a:ln>
        </p:spPr>
      </p:sp>
      <p:sp>
        <p:nvSpPr>
          <p:cNvPr id="45" name="txt_415"/>
          <p:cNvSpPr txBox="1"/>
          <p:nvPr/>
        </p:nvSpPr>
        <p:spPr>
          <a:xfrm>
            <a:off x="7013448" y="5550408"/>
            <a:ext cx="4611319" cy="630936"/>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GROUND SUPPORT · NOT ON AIRCRAFT</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FS-i6X transmitter · SiK ground radio · iMAX B6AC charger · LiPo safe bag · laptop / Raspberry Pi</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350"/>
                                        <p:tgtEl>
                                          <p:spTgt spid="32"/>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35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350"/>
                                        <p:tgtEl>
                                          <p:spTgt spid="3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35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35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350"/>
                                        <p:tgtEl>
                                          <p:spTgt spid="36"/>
                                        </p:tgtEl>
                                      </p:cBhvr>
                                    </p:animEffect>
                                  </p:childTnLst>
                                </p:cTn>
                              </p:par>
                              <p:par>
                                <p:cTn id="58" presetID="10" presetClass="entr" presetSubtype="0" fill="hold"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350"/>
                                        <p:tgtEl>
                                          <p:spTgt spid="37"/>
                                        </p:tgtEl>
                                      </p:cBhvr>
                                    </p:animEffect>
                                  </p:childTnLst>
                                </p:cTn>
                              </p:par>
                              <p:par>
                                <p:cTn id="61" presetID="10" presetClass="entr" presetSubtype="0" fill="hold"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35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350"/>
                                        <p:tgtEl>
                                          <p:spTgt spid="3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2" presetID="10" presetClass="entr" presetSubtype="0"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1" presetID="10" presetClass="entr" presetSubtype="0"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par>
                                <p:cTn id="96" presetID="10" presetClass="entr" presetSubtype="0" fill="hold"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350"/>
                                        <p:tgtEl>
                                          <p:spTgt spid="40"/>
                                        </p:tgtEl>
                                      </p:cBhvr>
                                    </p:animEffect>
                                  </p:childTnLst>
                                </p:cTn>
                              </p:par>
                              <p:par>
                                <p:cTn id="99" presetID="10" presetClass="entr" presetSubtype="0" fill="hold"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350"/>
                                        <p:tgtEl>
                                          <p:spTgt spid="41"/>
                                        </p:tgtEl>
                                      </p:cBhvr>
                                    </p:animEffect>
                                  </p:childTnLst>
                                </p:cTn>
                              </p:par>
                              <p:par>
                                <p:cTn id="102" presetID="10" presetClass="entr" presetSubtype="0" fill="hold"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350"/>
                                        <p:tgtEl>
                                          <p:spTgt spid="4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350"/>
                                        <p:tgtEl>
                                          <p:spTgt spid="43"/>
                                        </p:tgtEl>
                                      </p:cBhvr>
                                    </p:animEffect>
                                  </p:childTnLst>
                                </p:cTn>
                              </p:par>
                              <p:par>
                                <p:cTn id="108" presetID="10" presetClass="entr" presetSubtype="0" fill="hold" nodeType="withEffect">
                                  <p:stCondLst>
                                    <p:cond delay="0"/>
                                  </p:stCondLst>
                                  <p:childTnLst>
                                    <p:set>
                                      <p:cBhvr>
                                        <p:cTn id="109" dur="1" fill="hold">
                                          <p:stCondLst>
                                            <p:cond delay="0"/>
                                          </p:stCondLst>
                                        </p:cTn>
                                        <p:tgtEl>
                                          <p:spTgt spid="44"/>
                                        </p:tgtEl>
                                        <p:attrNameLst>
                                          <p:attrName>style.visibility</p:attrName>
                                        </p:attrNameLst>
                                      </p:cBhvr>
                                      <p:to>
                                        <p:strVal val="visible"/>
                                      </p:to>
                                    </p:set>
                                    <p:animEffect transition="in" filter="fade">
                                      <p:cBhvr>
                                        <p:cTn id="110" dur="350"/>
                                        <p:tgtEl>
                                          <p:spTgt spid="4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5"/>
                                        </p:tgtEl>
                                        <p:attrNameLst>
                                          <p:attrName>style.visibility</p:attrName>
                                        </p:attrNameLst>
                                      </p:cBhvr>
                                      <p:to>
                                        <p:strVal val="visible"/>
                                      </p:to>
                                    </p:set>
                                    <p:animEffect transition="in" filter="fade">
                                      <p:cBhvr>
                                        <p:cTn id="113" dur="3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5" grpId="0" animBg="1"/>
      <p:bldP spid="39" grpId="0" animBg="1"/>
      <p:bldP spid="43" grpId="0" animBg="1"/>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xt_416"/>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03: HARDWARE</a:t>
            </a:r>
            <a:endParaRPr lang="en-US" sz="1100" dirty="0"/>
          </a:p>
        </p:txBody>
      </p:sp>
      <p:sp>
        <p:nvSpPr>
          <p:cNvPr id="3" name="kicker_417"/>
          <p:cNvSpPr txBox="1"/>
          <p:nvPr/>
        </p:nvSpPr>
        <p:spPr>
          <a:xfrm>
            <a:off x="457200" y="548640"/>
            <a:ext cx="338328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EXPLODED DESIGN MODEL</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The exploded design model makes integration visible</a:t>
            </a:r>
            <a:endParaRPr lang="en-US" sz="4000" dirty="0"/>
          </a:p>
        </p:txBody>
      </p:sp>
      <p:sp>
        <p:nvSpPr>
          <p:cNvPr id="5" name="txt_418"/>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DESIGN MODEL · NOMINAL GEOMETRY · ASSEMBLY PENDING</a:t>
            </a:r>
            <a:endParaRPr lang="en-US" sz="1000" dirty="0"/>
          </a:p>
        </p:txBody>
      </p:sp>
      <p:sp>
        <p:nvSpPr>
          <p:cNvPr id="6" name="txt_419"/>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NAVI_CAD navi_drone.py explode offsets</a:t>
            </a:r>
            <a:endParaRPr lang="en-US" sz="1000" dirty="0"/>
          </a:p>
        </p:txBody>
      </p:sp>
      <p:sp>
        <p:nvSpPr>
          <p:cNvPr id="7" name="txt_420"/>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[ 12 / 18 ]</a:t>
            </a:r>
            <a:endParaRPr lang="en-US" sz="1200" dirty="0"/>
          </a:p>
        </p:txBody>
      </p:sp>
      <p:pic>
        <p:nvPicPr>
          <p:cNvPr id="9" name="cad_gear" descr="CAD layer: gear"/>
          <p:cNvPicPr>
            <a:picLocks noChangeAspect="1"/>
          </p:cNvPicPr>
          <p:nvPr/>
        </p:nvPicPr>
        <p:blipFill>
          <a:blip r:embed="rId3"/>
          <a:stretch>
            <a:fillRect/>
          </a:stretch>
        </p:blipFill>
        <p:spPr>
          <a:xfrm>
            <a:off x="1808171" y="4056834"/>
            <a:ext cx="1721554" cy="1235115"/>
          </a:xfrm>
          <a:prstGeom prst="rect">
            <a:avLst/>
          </a:prstGeom>
        </p:spPr>
      </p:pic>
      <p:pic>
        <p:nvPicPr>
          <p:cNvPr id="10" name="cad_battery" descr="CAD layer: battery"/>
          <p:cNvPicPr>
            <a:picLocks noChangeAspect="1"/>
          </p:cNvPicPr>
          <p:nvPr/>
        </p:nvPicPr>
        <p:blipFill>
          <a:blip r:embed="rId4"/>
          <a:stretch>
            <a:fillRect/>
          </a:stretch>
        </p:blipFill>
        <p:spPr>
          <a:xfrm>
            <a:off x="2386693" y="4070846"/>
            <a:ext cx="562508" cy="388351"/>
          </a:xfrm>
          <a:prstGeom prst="rect">
            <a:avLst/>
          </a:prstGeom>
        </p:spPr>
      </p:pic>
      <p:pic>
        <p:nvPicPr>
          <p:cNvPr id="11" name="cad_bottom" descr="CAD layer: bottom"/>
          <p:cNvPicPr>
            <a:picLocks noChangeAspect="1"/>
          </p:cNvPicPr>
          <p:nvPr/>
        </p:nvPicPr>
        <p:blipFill>
          <a:blip r:embed="rId5"/>
          <a:stretch>
            <a:fillRect/>
          </a:stretch>
        </p:blipFill>
        <p:spPr>
          <a:xfrm>
            <a:off x="2246566" y="4024805"/>
            <a:ext cx="844762" cy="298269"/>
          </a:xfrm>
          <a:prstGeom prst="rect">
            <a:avLst/>
          </a:prstGeom>
        </p:spPr>
      </p:pic>
      <p:pic>
        <p:nvPicPr>
          <p:cNvPr id="12" name="cad_esc" descr="CAD layer: esc"/>
          <p:cNvPicPr>
            <a:picLocks noChangeAspect="1"/>
          </p:cNvPicPr>
          <p:nvPr/>
        </p:nvPicPr>
        <p:blipFill>
          <a:blip r:embed="rId6"/>
          <a:stretch>
            <a:fillRect/>
          </a:stretch>
        </p:blipFill>
        <p:spPr>
          <a:xfrm>
            <a:off x="1876232" y="3898691"/>
            <a:ext cx="1585431" cy="582526"/>
          </a:xfrm>
          <a:prstGeom prst="rect">
            <a:avLst/>
          </a:prstGeom>
        </p:spPr>
      </p:pic>
      <p:pic>
        <p:nvPicPr>
          <p:cNvPr id="13" name="cad_arms" descr="CAD layer: arms"/>
          <p:cNvPicPr>
            <a:picLocks noChangeAspect="1"/>
          </p:cNvPicPr>
          <p:nvPr/>
        </p:nvPicPr>
        <p:blipFill>
          <a:blip r:embed="rId7"/>
          <a:stretch>
            <a:fillRect/>
          </a:stretch>
        </p:blipFill>
        <p:spPr>
          <a:xfrm>
            <a:off x="1345753" y="3580404"/>
            <a:ext cx="2646389" cy="994898"/>
          </a:xfrm>
          <a:prstGeom prst="rect">
            <a:avLst/>
          </a:prstGeom>
        </p:spPr>
      </p:pic>
      <p:pic>
        <p:nvPicPr>
          <p:cNvPr id="14" name="cad_top" descr="CAD layer: top"/>
          <p:cNvPicPr>
            <a:picLocks noChangeAspect="1"/>
          </p:cNvPicPr>
          <p:nvPr/>
        </p:nvPicPr>
        <p:blipFill>
          <a:blip r:embed="rId8"/>
          <a:stretch>
            <a:fillRect/>
          </a:stretch>
        </p:blipFill>
        <p:spPr>
          <a:xfrm>
            <a:off x="2318631" y="3924714"/>
            <a:ext cx="700632" cy="248224"/>
          </a:xfrm>
          <a:prstGeom prst="rect">
            <a:avLst/>
          </a:prstGeom>
        </p:spPr>
      </p:pic>
      <p:pic>
        <p:nvPicPr>
          <p:cNvPr id="15" name="cad_avionics" descr="CAD layer: avionics"/>
          <p:cNvPicPr>
            <a:picLocks noChangeAspect="1"/>
          </p:cNvPicPr>
          <p:nvPr/>
        </p:nvPicPr>
        <p:blipFill>
          <a:blip r:embed="rId9"/>
          <a:stretch>
            <a:fillRect/>
          </a:stretch>
        </p:blipFill>
        <p:spPr>
          <a:xfrm>
            <a:off x="2390696" y="3332180"/>
            <a:ext cx="556502" cy="834753"/>
          </a:xfrm>
          <a:prstGeom prst="rect">
            <a:avLst/>
          </a:prstGeom>
        </p:spPr>
      </p:pic>
      <p:pic>
        <p:nvPicPr>
          <p:cNvPr id="16" name="cad_motors" descr="CAD layer: motors"/>
          <p:cNvPicPr>
            <a:picLocks noChangeAspect="1"/>
          </p:cNvPicPr>
          <p:nvPr/>
        </p:nvPicPr>
        <p:blipFill>
          <a:blip r:embed="rId10"/>
          <a:stretch>
            <a:fillRect/>
          </a:stretch>
        </p:blipFill>
        <p:spPr>
          <a:xfrm>
            <a:off x="1391795" y="3368212"/>
            <a:ext cx="2554306" cy="1100994"/>
          </a:xfrm>
          <a:prstGeom prst="rect">
            <a:avLst/>
          </a:prstGeom>
        </p:spPr>
      </p:pic>
      <p:pic>
        <p:nvPicPr>
          <p:cNvPr id="17" name="cad_props" descr="CAD layer: props"/>
          <p:cNvPicPr>
            <a:picLocks noChangeAspect="1"/>
          </p:cNvPicPr>
          <p:nvPr/>
        </p:nvPicPr>
        <p:blipFill>
          <a:blip r:embed="rId11"/>
          <a:stretch>
            <a:fillRect/>
          </a:stretch>
        </p:blipFill>
        <p:spPr>
          <a:xfrm>
            <a:off x="777240" y="3214073"/>
            <a:ext cx="3783415" cy="1305178"/>
          </a:xfrm>
          <a:prstGeom prst="rect">
            <a:avLst/>
          </a:prstGeom>
        </p:spPr>
      </p:pic>
      <p:sp>
        <p:nvSpPr>
          <p:cNvPr id="18" name="ln_421"/>
          <p:cNvSpPr/>
          <p:nvPr/>
        </p:nvSpPr>
        <p:spPr>
          <a:xfrm flipH="1">
            <a:off x="4270393" y="2721628"/>
            <a:ext cx="120108" cy="192173"/>
          </a:xfrm>
          <a:prstGeom prst="line">
            <a:avLst/>
          </a:prstGeom>
          <a:noFill/>
          <a:ln w="12700">
            <a:solidFill>
              <a:srgbClr val="00F0FF"/>
            </a:solidFill>
            <a:prstDash val="solid"/>
          </a:ln>
        </p:spPr>
      </p:sp>
      <p:sp>
        <p:nvSpPr>
          <p:cNvPr id="19" name="badge_422"/>
          <p:cNvSpPr txBox="1"/>
          <p:nvPr/>
        </p:nvSpPr>
        <p:spPr>
          <a:xfrm>
            <a:off x="4229245" y="2872654"/>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20" name="badge_423"/>
          <p:cNvSpPr txBox="1"/>
          <p:nvPr/>
        </p:nvSpPr>
        <p:spPr>
          <a:xfrm>
            <a:off x="4244197" y="2575324"/>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1</a:t>
            </a:r>
            <a:endParaRPr lang="en-US" sz="1100" dirty="0"/>
          </a:p>
        </p:txBody>
      </p:sp>
      <p:sp>
        <p:nvSpPr>
          <p:cNvPr id="21" name="ln_424"/>
          <p:cNvSpPr/>
          <p:nvPr/>
        </p:nvSpPr>
        <p:spPr>
          <a:xfrm flipH="1" flipV="1">
            <a:off x="3870032" y="3462297"/>
            <a:ext cx="290262" cy="20018"/>
          </a:xfrm>
          <a:prstGeom prst="line">
            <a:avLst/>
          </a:prstGeom>
          <a:noFill/>
          <a:ln w="12700">
            <a:solidFill>
              <a:srgbClr val="00F0FF"/>
            </a:solidFill>
            <a:prstDash val="solid"/>
          </a:ln>
        </p:spPr>
      </p:sp>
      <p:sp>
        <p:nvSpPr>
          <p:cNvPr id="22" name="badge_425"/>
          <p:cNvSpPr txBox="1"/>
          <p:nvPr/>
        </p:nvSpPr>
        <p:spPr>
          <a:xfrm>
            <a:off x="3828884" y="3421149"/>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23" name="badge_426"/>
          <p:cNvSpPr txBox="1"/>
          <p:nvPr/>
        </p:nvSpPr>
        <p:spPr>
          <a:xfrm>
            <a:off x="4013990" y="3336011"/>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2</a:t>
            </a:r>
            <a:endParaRPr lang="en-US" sz="1100" dirty="0"/>
          </a:p>
        </p:txBody>
      </p:sp>
      <p:sp>
        <p:nvSpPr>
          <p:cNvPr id="24" name="ln_427"/>
          <p:cNvSpPr/>
          <p:nvPr/>
        </p:nvSpPr>
        <p:spPr>
          <a:xfrm>
            <a:off x="2208532" y="2871764"/>
            <a:ext cx="196177" cy="140126"/>
          </a:xfrm>
          <a:prstGeom prst="line">
            <a:avLst/>
          </a:prstGeom>
          <a:noFill/>
          <a:ln w="12700">
            <a:solidFill>
              <a:srgbClr val="00F0FF"/>
            </a:solidFill>
            <a:prstDash val="solid"/>
          </a:ln>
        </p:spPr>
      </p:sp>
      <p:sp>
        <p:nvSpPr>
          <p:cNvPr id="25" name="badge_428"/>
          <p:cNvSpPr txBox="1"/>
          <p:nvPr/>
        </p:nvSpPr>
        <p:spPr>
          <a:xfrm>
            <a:off x="2363561" y="2970742"/>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26" name="badge_429"/>
          <p:cNvSpPr txBox="1"/>
          <p:nvPr/>
        </p:nvSpPr>
        <p:spPr>
          <a:xfrm>
            <a:off x="2062228" y="2725460"/>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3</a:t>
            </a:r>
            <a:endParaRPr lang="en-US" sz="1100" dirty="0"/>
          </a:p>
        </p:txBody>
      </p:sp>
      <p:sp>
        <p:nvSpPr>
          <p:cNvPr id="27" name="ln_430"/>
          <p:cNvSpPr/>
          <p:nvPr/>
        </p:nvSpPr>
        <p:spPr>
          <a:xfrm flipH="1">
            <a:off x="2839101" y="3382225"/>
            <a:ext cx="570515" cy="224202"/>
          </a:xfrm>
          <a:prstGeom prst="line">
            <a:avLst/>
          </a:prstGeom>
          <a:noFill/>
          <a:ln w="12700">
            <a:solidFill>
              <a:srgbClr val="10B981"/>
            </a:solidFill>
            <a:prstDash val="solid"/>
          </a:ln>
        </p:spPr>
      </p:sp>
      <p:sp>
        <p:nvSpPr>
          <p:cNvPr id="28" name="badge_431"/>
          <p:cNvSpPr txBox="1"/>
          <p:nvPr/>
        </p:nvSpPr>
        <p:spPr>
          <a:xfrm>
            <a:off x="2797953" y="3565279"/>
            <a:ext cx="82296" cy="82296"/>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29" name="badge_432"/>
          <p:cNvSpPr txBox="1"/>
          <p:nvPr/>
        </p:nvSpPr>
        <p:spPr>
          <a:xfrm>
            <a:off x="3199304" y="3171913"/>
            <a:ext cx="420624" cy="420624"/>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000" b="1" dirty="0">
                <a:solidFill>
                  <a:srgbClr val="10B981"/>
                </a:solidFill>
                <a:latin typeface="JetBrains Mono" pitchFamily="34" charset="0"/>
                <a:ea typeface="JetBrains Mono" pitchFamily="34" charset="-122"/>
                <a:cs typeface="JetBrains Mono" pitchFamily="34" charset="-120"/>
              </a:rPr>
              <a:t>4–7</a:t>
            </a:r>
            <a:endParaRPr lang="en-US" sz="1000" dirty="0"/>
          </a:p>
        </p:txBody>
      </p:sp>
      <p:sp>
        <p:nvSpPr>
          <p:cNvPr id="30" name="ln_433"/>
          <p:cNvSpPr/>
          <p:nvPr/>
        </p:nvSpPr>
        <p:spPr>
          <a:xfrm>
            <a:off x="1988333" y="3712523"/>
            <a:ext cx="350316" cy="180163"/>
          </a:xfrm>
          <a:prstGeom prst="line">
            <a:avLst/>
          </a:prstGeom>
          <a:noFill/>
          <a:ln w="12700">
            <a:solidFill>
              <a:srgbClr val="00F0FF"/>
            </a:solidFill>
            <a:prstDash val="solid"/>
          </a:ln>
        </p:spPr>
      </p:sp>
      <p:sp>
        <p:nvSpPr>
          <p:cNvPr id="31" name="badge_434"/>
          <p:cNvSpPr txBox="1"/>
          <p:nvPr/>
        </p:nvSpPr>
        <p:spPr>
          <a:xfrm>
            <a:off x="2297501" y="3851537"/>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32" name="badge_435"/>
          <p:cNvSpPr txBox="1"/>
          <p:nvPr/>
        </p:nvSpPr>
        <p:spPr>
          <a:xfrm>
            <a:off x="1842029" y="3566219"/>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8</a:t>
            </a:r>
            <a:endParaRPr lang="en-US" sz="1100" dirty="0"/>
          </a:p>
        </p:txBody>
      </p:sp>
      <p:sp>
        <p:nvSpPr>
          <p:cNvPr id="33" name="ln_436"/>
          <p:cNvSpPr/>
          <p:nvPr/>
        </p:nvSpPr>
        <p:spPr>
          <a:xfrm>
            <a:off x="1267683" y="3702514"/>
            <a:ext cx="220199" cy="210190"/>
          </a:xfrm>
          <a:prstGeom prst="line">
            <a:avLst/>
          </a:prstGeom>
          <a:noFill/>
          <a:ln w="12700">
            <a:solidFill>
              <a:srgbClr val="00F0FF"/>
            </a:solidFill>
            <a:prstDash val="solid"/>
          </a:ln>
        </p:spPr>
      </p:sp>
      <p:sp>
        <p:nvSpPr>
          <p:cNvPr id="34" name="badge_437"/>
          <p:cNvSpPr txBox="1"/>
          <p:nvPr/>
        </p:nvSpPr>
        <p:spPr>
          <a:xfrm>
            <a:off x="1446733" y="3871556"/>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35" name="badge_438"/>
          <p:cNvSpPr txBox="1"/>
          <p:nvPr/>
        </p:nvSpPr>
        <p:spPr>
          <a:xfrm>
            <a:off x="1121379" y="3556210"/>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9</a:t>
            </a:r>
            <a:endParaRPr lang="en-US" sz="1100" dirty="0"/>
          </a:p>
        </p:txBody>
      </p:sp>
      <p:sp>
        <p:nvSpPr>
          <p:cNvPr id="36" name="ln_439"/>
          <p:cNvSpPr/>
          <p:nvPr/>
        </p:nvSpPr>
        <p:spPr>
          <a:xfrm flipV="1">
            <a:off x="1708080" y="4279034"/>
            <a:ext cx="240217" cy="234211"/>
          </a:xfrm>
          <a:prstGeom prst="line">
            <a:avLst/>
          </a:prstGeom>
          <a:noFill/>
          <a:ln w="12700">
            <a:solidFill>
              <a:srgbClr val="00F0FF"/>
            </a:solidFill>
            <a:prstDash val="solid"/>
          </a:ln>
        </p:spPr>
      </p:sp>
      <p:sp>
        <p:nvSpPr>
          <p:cNvPr id="37" name="badge_440"/>
          <p:cNvSpPr txBox="1"/>
          <p:nvPr/>
        </p:nvSpPr>
        <p:spPr>
          <a:xfrm>
            <a:off x="1907149" y="4237886"/>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38" name="badge_441"/>
          <p:cNvSpPr txBox="1"/>
          <p:nvPr/>
        </p:nvSpPr>
        <p:spPr>
          <a:xfrm>
            <a:off x="1561776" y="4366942"/>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10</a:t>
            </a:r>
            <a:endParaRPr lang="en-US" sz="1100" dirty="0"/>
          </a:p>
        </p:txBody>
      </p:sp>
      <p:sp>
        <p:nvSpPr>
          <p:cNvPr id="39" name="ln_442"/>
          <p:cNvSpPr/>
          <p:nvPr/>
        </p:nvSpPr>
        <p:spPr>
          <a:xfrm flipH="1" flipV="1">
            <a:off x="3079318" y="4383128"/>
            <a:ext cx="190172" cy="270244"/>
          </a:xfrm>
          <a:prstGeom prst="line">
            <a:avLst/>
          </a:prstGeom>
          <a:noFill/>
          <a:ln w="12700">
            <a:solidFill>
              <a:srgbClr val="00F0FF"/>
            </a:solidFill>
            <a:prstDash val="solid"/>
          </a:ln>
        </p:spPr>
      </p:sp>
      <p:sp>
        <p:nvSpPr>
          <p:cNvPr id="40" name="badge_443"/>
          <p:cNvSpPr txBox="1"/>
          <p:nvPr/>
        </p:nvSpPr>
        <p:spPr>
          <a:xfrm>
            <a:off x="3038170" y="4341980"/>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41" name="badge_444"/>
          <p:cNvSpPr txBox="1"/>
          <p:nvPr/>
        </p:nvSpPr>
        <p:spPr>
          <a:xfrm>
            <a:off x="3123186" y="4507068"/>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11</a:t>
            </a:r>
            <a:endParaRPr lang="en-US" sz="1100" dirty="0"/>
          </a:p>
        </p:txBody>
      </p:sp>
      <p:sp>
        <p:nvSpPr>
          <p:cNvPr id="42" name="ln_445"/>
          <p:cNvSpPr/>
          <p:nvPr/>
        </p:nvSpPr>
        <p:spPr>
          <a:xfrm flipH="1" flipV="1">
            <a:off x="2939191" y="4853553"/>
            <a:ext cx="310280" cy="70063"/>
          </a:xfrm>
          <a:prstGeom prst="line">
            <a:avLst/>
          </a:prstGeom>
          <a:noFill/>
          <a:ln w="12700">
            <a:solidFill>
              <a:srgbClr val="00F0FF"/>
            </a:solidFill>
            <a:prstDash val="solid"/>
          </a:ln>
        </p:spPr>
      </p:sp>
      <p:sp>
        <p:nvSpPr>
          <p:cNvPr id="43" name="badge_446"/>
          <p:cNvSpPr txBox="1"/>
          <p:nvPr/>
        </p:nvSpPr>
        <p:spPr>
          <a:xfrm>
            <a:off x="2898043" y="4812405"/>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44" name="badge_447"/>
          <p:cNvSpPr txBox="1"/>
          <p:nvPr/>
        </p:nvSpPr>
        <p:spPr>
          <a:xfrm>
            <a:off x="3103167" y="4777312"/>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12</a:t>
            </a:r>
            <a:endParaRPr lang="en-US" sz="1100" dirty="0"/>
          </a:p>
        </p:txBody>
      </p:sp>
      <p:sp>
        <p:nvSpPr>
          <p:cNvPr id="45" name="ln_448"/>
          <p:cNvSpPr/>
          <p:nvPr/>
        </p:nvSpPr>
        <p:spPr>
          <a:xfrm flipH="1">
            <a:off x="3459661" y="5784393"/>
            <a:ext cx="270244" cy="160145"/>
          </a:xfrm>
          <a:prstGeom prst="line">
            <a:avLst/>
          </a:prstGeom>
          <a:noFill/>
          <a:ln w="12700">
            <a:solidFill>
              <a:srgbClr val="00F0FF"/>
            </a:solidFill>
            <a:prstDash val="solid"/>
          </a:ln>
        </p:spPr>
      </p:sp>
      <p:sp>
        <p:nvSpPr>
          <p:cNvPr id="46" name="badge_449"/>
          <p:cNvSpPr txBox="1"/>
          <p:nvPr/>
        </p:nvSpPr>
        <p:spPr>
          <a:xfrm>
            <a:off x="3418513" y="5903389"/>
            <a:ext cx="82296" cy="82296"/>
          </a:xfrm>
          <a:prstGeom prst="ellipse">
            <a:avLst/>
          </a:prstGeom>
          <a:solidFill>
            <a:srgbClr val="090D16"/>
          </a:solidFill>
          <a:ln w="15875">
            <a:solidFill>
              <a:srgbClr val="00F0FF"/>
            </a:solidFill>
          </a:ln>
        </p:spPr>
        <p:txBody>
          <a:bodyPr wrap="square" lIns="0" tIns="0" rIns="0" bIns="0" rtlCol="0" anchor="ctr"/>
          <a:lstStyle/>
          <a:p>
            <a:pPr marL="0" indent="0" algn="ctr">
              <a:buNone/>
            </a:pPr>
            <a:endParaRPr lang="en-US" sz="1100" dirty="0"/>
          </a:p>
        </p:txBody>
      </p:sp>
      <p:sp>
        <p:nvSpPr>
          <p:cNvPr id="47" name="badge_450"/>
          <p:cNvSpPr txBox="1"/>
          <p:nvPr/>
        </p:nvSpPr>
        <p:spPr>
          <a:xfrm>
            <a:off x="3583601" y="5638089"/>
            <a:ext cx="292608" cy="292608"/>
          </a:xfrm>
          <a:prstGeom prst="ellipse">
            <a:avLst/>
          </a:prstGeom>
          <a:solidFill>
            <a:srgbClr val="090D16"/>
          </a:solidFill>
          <a:ln w="15875">
            <a:solidFill>
              <a:srgbClr val="00F0FF"/>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13</a:t>
            </a:r>
            <a:endParaRPr lang="en-US" sz="1100" dirty="0"/>
          </a:p>
        </p:txBody>
      </p:sp>
      <p:sp>
        <p:nvSpPr>
          <p:cNvPr id="48" name="box_451"/>
          <p:cNvSpPr/>
          <p:nvPr/>
        </p:nvSpPr>
        <p:spPr>
          <a:xfrm>
            <a:off x="4800600" y="2148840"/>
            <a:ext cx="2834640" cy="3182112"/>
          </a:xfrm>
          <a:prstGeom prst="roundRect">
            <a:avLst>
              <a:gd name="adj" fmla="val 1935"/>
            </a:avLst>
          </a:prstGeom>
          <a:solidFill>
            <a:srgbClr val="1E293B">
              <a:alpha val="85000"/>
            </a:srgbClr>
          </a:solidFill>
          <a:ln w="9525">
            <a:solidFill>
              <a:srgbClr val="10B981">
                <a:alpha val="55000"/>
              </a:srgbClr>
            </a:solidFill>
            <a:prstDash val="solid"/>
          </a:ln>
        </p:spPr>
      </p:sp>
      <p:sp>
        <p:nvSpPr>
          <p:cNvPr id="49" name="txt_452"/>
          <p:cNvSpPr txBox="1"/>
          <p:nvPr/>
        </p:nvSpPr>
        <p:spPr>
          <a:xfrm>
            <a:off x="4910328" y="2221992"/>
            <a:ext cx="2651760" cy="219456"/>
          </a:xfrm>
          <a:prstGeom prst="rect">
            <a:avLst/>
          </a:prstGeom>
          <a:noFill/>
          <a:ln/>
        </p:spPr>
        <p:txBody>
          <a:bodyPr wrap="square" lIns="0" tIns="0" rIns="0" bIns="0" rtlCol="0" anchor="t"/>
          <a:lstStyle/>
          <a:p>
            <a:pPr marL="0" indent="0">
              <a:buNone/>
            </a:pPr>
            <a:r>
              <a:rPr lang="en-US" sz="1000" b="1" dirty="0">
                <a:solidFill>
                  <a:srgbClr val="10B981"/>
                </a:solidFill>
                <a:latin typeface="JetBrains Mono" pitchFamily="34" charset="0"/>
                <a:ea typeface="JetBrains Mono" pitchFamily="34" charset="-122"/>
                <a:cs typeface="JetBrains Mono" pitchFamily="34" charset="-120"/>
              </a:rPr>
              <a:t>AVIONICS INSET · ASSEMBLED, ENLARGED</a:t>
            </a:r>
            <a:endParaRPr lang="en-US" sz="1000" dirty="0"/>
          </a:p>
        </p:txBody>
      </p:sp>
      <p:pic>
        <p:nvPicPr>
          <p:cNvPr id="50" name="img_453" descr="Enlarged avionics: GPS mast, SiK radio, F405 FC, iA6B receiver, power module"/>
          <p:cNvPicPr>
            <a:picLocks noChangeAspect="1"/>
          </p:cNvPicPr>
          <p:nvPr/>
        </p:nvPicPr>
        <p:blipFill>
          <a:blip r:embed="rId12"/>
          <a:stretch>
            <a:fillRect/>
          </a:stretch>
        </p:blipFill>
        <p:spPr>
          <a:xfrm>
            <a:off x="5093208" y="2496312"/>
            <a:ext cx="1671950" cy="2211934"/>
          </a:xfrm>
          <a:prstGeom prst="rect">
            <a:avLst/>
          </a:prstGeom>
        </p:spPr>
      </p:pic>
      <p:sp>
        <p:nvSpPr>
          <p:cNvPr id="51" name="ln_454"/>
          <p:cNvSpPr/>
          <p:nvPr/>
        </p:nvSpPr>
        <p:spPr>
          <a:xfrm flipH="1">
            <a:off x="6045179" y="2730305"/>
            <a:ext cx="869974" cy="29999"/>
          </a:xfrm>
          <a:prstGeom prst="line">
            <a:avLst/>
          </a:prstGeom>
          <a:noFill/>
          <a:ln w="12700">
            <a:solidFill>
              <a:srgbClr val="10B981"/>
            </a:solidFill>
            <a:prstDash val="solid"/>
          </a:ln>
        </p:spPr>
      </p:sp>
      <p:sp>
        <p:nvSpPr>
          <p:cNvPr id="52" name="badge_455"/>
          <p:cNvSpPr txBox="1"/>
          <p:nvPr/>
        </p:nvSpPr>
        <p:spPr>
          <a:xfrm>
            <a:off x="6004031" y="2719156"/>
            <a:ext cx="82296" cy="82296"/>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53" name="badge_456"/>
          <p:cNvSpPr txBox="1"/>
          <p:nvPr/>
        </p:nvSpPr>
        <p:spPr>
          <a:xfrm>
            <a:off x="6777993" y="2593145"/>
            <a:ext cx="274320" cy="274320"/>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100" b="1" dirty="0">
                <a:solidFill>
                  <a:srgbClr val="10B981"/>
                </a:solidFill>
                <a:latin typeface="JetBrains Mono" pitchFamily="34" charset="0"/>
                <a:ea typeface="JetBrains Mono" pitchFamily="34" charset="-122"/>
                <a:cs typeface="JetBrains Mono" pitchFamily="34" charset="-120"/>
              </a:rPr>
              <a:t>3</a:t>
            </a:r>
            <a:endParaRPr lang="en-US" sz="1100" dirty="0"/>
          </a:p>
        </p:txBody>
      </p:sp>
      <p:sp>
        <p:nvSpPr>
          <p:cNvPr id="54" name="ln_457"/>
          <p:cNvSpPr/>
          <p:nvPr/>
        </p:nvSpPr>
        <p:spPr>
          <a:xfrm flipH="1">
            <a:off x="6195175" y="3350286"/>
            <a:ext cx="719978" cy="319990"/>
          </a:xfrm>
          <a:prstGeom prst="line">
            <a:avLst/>
          </a:prstGeom>
          <a:noFill/>
          <a:ln w="12700">
            <a:solidFill>
              <a:srgbClr val="10B981"/>
            </a:solidFill>
            <a:prstDash val="solid"/>
          </a:ln>
        </p:spPr>
      </p:sp>
      <p:sp>
        <p:nvSpPr>
          <p:cNvPr id="55" name="badge_458"/>
          <p:cNvSpPr txBox="1"/>
          <p:nvPr/>
        </p:nvSpPr>
        <p:spPr>
          <a:xfrm>
            <a:off x="6154027" y="3629129"/>
            <a:ext cx="82296" cy="82296"/>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56" name="badge_459"/>
          <p:cNvSpPr txBox="1"/>
          <p:nvPr/>
        </p:nvSpPr>
        <p:spPr>
          <a:xfrm>
            <a:off x="6777993" y="3213126"/>
            <a:ext cx="274320" cy="274320"/>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100" b="1" dirty="0">
                <a:solidFill>
                  <a:srgbClr val="10B981"/>
                </a:solidFill>
                <a:latin typeface="JetBrains Mono" pitchFamily="34" charset="0"/>
                <a:ea typeface="JetBrains Mono" pitchFamily="34" charset="-122"/>
                <a:cs typeface="JetBrains Mono" pitchFamily="34" charset="-120"/>
              </a:rPr>
              <a:t>6</a:t>
            </a:r>
            <a:endParaRPr lang="en-US" sz="1100" dirty="0"/>
          </a:p>
        </p:txBody>
      </p:sp>
      <p:sp>
        <p:nvSpPr>
          <p:cNvPr id="57" name="ln_460"/>
          <p:cNvSpPr/>
          <p:nvPr/>
        </p:nvSpPr>
        <p:spPr>
          <a:xfrm flipH="1">
            <a:off x="6445167" y="3950268"/>
            <a:ext cx="469986" cy="169995"/>
          </a:xfrm>
          <a:prstGeom prst="line">
            <a:avLst/>
          </a:prstGeom>
          <a:noFill/>
          <a:ln w="12700">
            <a:solidFill>
              <a:srgbClr val="10B981"/>
            </a:solidFill>
            <a:prstDash val="solid"/>
          </a:ln>
        </p:spPr>
      </p:sp>
      <p:sp>
        <p:nvSpPr>
          <p:cNvPr id="58" name="badge_461"/>
          <p:cNvSpPr txBox="1"/>
          <p:nvPr/>
        </p:nvSpPr>
        <p:spPr>
          <a:xfrm>
            <a:off x="6404019" y="4079115"/>
            <a:ext cx="82296" cy="82296"/>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59" name="badge_462"/>
          <p:cNvSpPr txBox="1"/>
          <p:nvPr/>
        </p:nvSpPr>
        <p:spPr>
          <a:xfrm>
            <a:off x="6777993" y="3813108"/>
            <a:ext cx="274320" cy="274320"/>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100" b="1" dirty="0">
                <a:solidFill>
                  <a:srgbClr val="10B981"/>
                </a:solidFill>
                <a:latin typeface="JetBrains Mono" pitchFamily="34" charset="0"/>
                <a:ea typeface="JetBrains Mono" pitchFamily="34" charset="-122"/>
                <a:cs typeface="JetBrains Mono" pitchFamily="34" charset="-120"/>
              </a:rPr>
              <a:t>7</a:t>
            </a:r>
            <a:endParaRPr lang="en-US" sz="1100" dirty="0"/>
          </a:p>
        </p:txBody>
      </p:sp>
      <p:sp>
        <p:nvSpPr>
          <p:cNvPr id="60" name="ln_463"/>
          <p:cNvSpPr/>
          <p:nvPr/>
        </p:nvSpPr>
        <p:spPr>
          <a:xfrm flipV="1">
            <a:off x="5035210" y="4040266"/>
            <a:ext cx="929972" cy="189994"/>
          </a:xfrm>
          <a:prstGeom prst="line">
            <a:avLst/>
          </a:prstGeom>
          <a:noFill/>
          <a:ln w="12700">
            <a:solidFill>
              <a:srgbClr val="10B981"/>
            </a:solidFill>
            <a:prstDash val="solid"/>
          </a:ln>
        </p:spPr>
      </p:sp>
      <p:sp>
        <p:nvSpPr>
          <p:cNvPr id="61" name="badge_464"/>
          <p:cNvSpPr txBox="1"/>
          <p:nvPr/>
        </p:nvSpPr>
        <p:spPr>
          <a:xfrm>
            <a:off x="5924034" y="3999118"/>
            <a:ext cx="82296" cy="82296"/>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62" name="badge_465"/>
          <p:cNvSpPr txBox="1"/>
          <p:nvPr/>
        </p:nvSpPr>
        <p:spPr>
          <a:xfrm>
            <a:off x="4898050" y="4093100"/>
            <a:ext cx="274320" cy="274320"/>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100" b="1" dirty="0">
                <a:solidFill>
                  <a:srgbClr val="10B981"/>
                </a:solidFill>
                <a:latin typeface="JetBrains Mono" pitchFamily="34" charset="0"/>
                <a:ea typeface="JetBrains Mono" pitchFamily="34" charset="-122"/>
                <a:cs typeface="JetBrains Mono" pitchFamily="34" charset="-120"/>
              </a:rPr>
              <a:t>4</a:t>
            </a:r>
            <a:endParaRPr lang="en-US" sz="1100" dirty="0"/>
          </a:p>
        </p:txBody>
      </p:sp>
      <p:sp>
        <p:nvSpPr>
          <p:cNvPr id="63" name="ln_466"/>
          <p:cNvSpPr/>
          <p:nvPr/>
        </p:nvSpPr>
        <p:spPr>
          <a:xfrm flipV="1">
            <a:off x="5035210" y="4430254"/>
            <a:ext cx="529984" cy="199994"/>
          </a:xfrm>
          <a:prstGeom prst="line">
            <a:avLst/>
          </a:prstGeom>
          <a:noFill/>
          <a:ln w="12700">
            <a:solidFill>
              <a:srgbClr val="10B981"/>
            </a:solidFill>
            <a:prstDash val="solid"/>
          </a:ln>
        </p:spPr>
      </p:sp>
      <p:sp>
        <p:nvSpPr>
          <p:cNvPr id="64" name="badge_467"/>
          <p:cNvSpPr txBox="1"/>
          <p:nvPr/>
        </p:nvSpPr>
        <p:spPr>
          <a:xfrm>
            <a:off x="5524046" y="4389106"/>
            <a:ext cx="82296" cy="82296"/>
          </a:xfrm>
          <a:prstGeom prst="ellipse">
            <a:avLst/>
          </a:prstGeom>
          <a:solidFill>
            <a:srgbClr val="090D16"/>
          </a:solidFill>
          <a:ln w="15875">
            <a:solidFill>
              <a:srgbClr val="10B981"/>
            </a:solidFill>
          </a:ln>
        </p:spPr>
        <p:txBody>
          <a:bodyPr wrap="square" lIns="0" tIns="0" rIns="0" bIns="0" rtlCol="0" anchor="ctr"/>
          <a:lstStyle/>
          <a:p>
            <a:pPr marL="0" indent="0" algn="ctr">
              <a:buNone/>
            </a:pPr>
            <a:endParaRPr lang="en-US" sz="1100" dirty="0"/>
          </a:p>
        </p:txBody>
      </p:sp>
      <p:sp>
        <p:nvSpPr>
          <p:cNvPr id="65" name="badge_468"/>
          <p:cNvSpPr txBox="1"/>
          <p:nvPr/>
        </p:nvSpPr>
        <p:spPr>
          <a:xfrm>
            <a:off x="4898050" y="4493088"/>
            <a:ext cx="274320" cy="274320"/>
          </a:xfrm>
          <a:prstGeom prst="ellipse">
            <a:avLst/>
          </a:prstGeom>
          <a:solidFill>
            <a:srgbClr val="090D16"/>
          </a:solidFill>
          <a:ln w="15875">
            <a:solidFill>
              <a:srgbClr val="10B981"/>
            </a:solidFill>
          </a:ln>
        </p:spPr>
        <p:txBody>
          <a:bodyPr wrap="square" lIns="0" tIns="0" rIns="0" bIns="0" rtlCol="0" anchor="ctr"/>
          <a:lstStyle/>
          <a:p>
            <a:pPr marL="0" indent="0" algn="ctr">
              <a:buNone/>
            </a:pPr>
            <a:r>
              <a:rPr lang="en-US" sz="1100" b="1" dirty="0">
                <a:solidFill>
                  <a:srgbClr val="10B981"/>
                </a:solidFill>
                <a:latin typeface="JetBrains Mono" pitchFamily="34" charset="0"/>
                <a:ea typeface="JetBrains Mono" pitchFamily="34" charset="-122"/>
                <a:cs typeface="JetBrains Mono" pitchFamily="34" charset="-120"/>
              </a:rPr>
              <a:t>5</a:t>
            </a:r>
            <a:endParaRPr lang="en-US" sz="1100" dirty="0"/>
          </a:p>
        </p:txBody>
      </p:sp>
      <p:sp>
        <p:nvSpPr>
          <p:cNvPr id="66" name="box_469"/>
          <p:cNvSpPr/>
          <p:nvPr/>
        </p:nvSpPr>
        <p:spPr>
          <a:xfrm>
            <a:off x="4800600" y="5440680"/>
            <a:ext cx="2834640" cy="777240"/>
          </a:xfrm>
          <a:prstGeom prst="roundRect">
            <a:avLst>
              <a:gd name="adj" fmla="val 7059"/>
            </a:avLst>
          </a:prstGeom>
          <a:solidFill>
            <a:srgbClr val="131C2E">
              <a:alpha val="50000"/>
            </a:srgbClr>
          </a:solidFill>
          <a:ln w="9525">
            <a:solidFill>
              <a:srgbClr val="94A3B8">
                <a:alpha val="40000"/>
              </a:srgbClr>
            </a:solidFill>
            <a:prstDash val="dash"/>
          </a:ln>
        </p:spPr>
      </p:sp>
      <p:sp>
        <p:nvSpPr>
          <p:cNvPr id="67" name="txt_470"/>
          <p:cNvSpPr txBox="1"/>
          <p:nvPr/>
        </p:nvSpPr>
        <p:spPr>
          <a:xfrm>
            <a:off x="4910328" y="5495544"/>
            <a:ext cx="2615184" cy="731520"/>
          </a:xfrm>
          <a:prstGeom prst="rect">
            <a:avLst/>
          </a:prstGeom>
          <a:noFill/>
          <a:ln/>
        </p:spPr>
        <p:txBody>
          <a:bodyPr wrap="square" lIns="0" tIns="0" rIns="0" bIns="0" rtlCol="0" anchor="t"/>
          <a:lstStyle/>
          <a:p>
            <a:pPr marL="0" indent="0">
              <a:buNone/>
            </a:pPr>
            <a:r>
              <a:rPr lang="en-US" sz="1000" b="1" dirty="0">
                <a:solidFill>
                  <a:srgbClr val="94A3B8"/>
                </a:solidFill>
                <a:latin typeface="JetBrains Mono" pitchFamily="34" charset="0"/>
                <a:ea typeface="JetBrains Mono" pitchFamily="34" charset="-122"/>
                <a:cs typeface="JetBrains Mono" pitchFamily="34" charset="-120"/>
              </a:rPr>
              <a:t>GROUND SUPPORT · OUTSIDE ASSEMBLY</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FS-i6X transmitter · SiK ground radio · iMAX B6AC charger · LiPo safe bag</a:t>
            </a:r>
            <a:endParaRPr lang="en-US" sz="1500" dirty="0"/>
          </a:p>
        </p:txBody>
      </p:sp>
      <p:sp>
        <p:nvSpPr>
          <p:cNvPr id="68" name="txt_471"/>
          <p:cNvSpPr txBox="1"/>
          <p:nvPr/>
        </p:nvSpPr>
        <p:spPr>
          <a:xfrm>
            <a:off x="7863840" y="2148840"/>
            <a:ext cx="3870655" cy="3611880"/>
          </a:xfrm>
          <a:prstGeom prst="rect">
            <a:avLst/>
          </a:prstGeom>
          <a:noFill/>
          <a:ln/>
        </p:spPr>
        <p:txBody>
          <a:bodyPr wrap="square" lIns="0" tIns="0" rIns="0" bIns="0" rtlCol="0" anchor="t"/>
          <a:lstStyle/>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 1  </a:t>
            </a:r>
            <a:r>
              <a:rPr lang="en-US" sz="1400" dirty="0">
                <a:solidFill>
                  <a:srgbClr val="F8FAFC"/>
                </a:solidFill>
                <a:latin typeface="Inter" pitchFamily="34" charset="0"/>
                <a:ea typeface="Inter" pitchFamily="34" charset="-122"/>
                <a:cs typeface="Inter" pitchFamily="34" charset="-120"/>
              </a:rPr>
              <a:t>1045 propellers ×4</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 2  </a:t>
            </a:r>
            <a:r>
              <a:rPr lang="en-US" sz="1400" dirty="0">
                <a:solidFill>
                  <a:srgbClr val="F8FAFC"/>
                </a:solidFill>
                <a:latin typeface="Inter" pitchFamily="34" charset="0"/>
                <a:ea typeface="Inter" pitchFamily="34" charset="-122"/>
                <a:cs typeface="Inter" pitchFamily="34" charset="-120"/>
              </a:rPr>
              <a:t>Adapters + A2212 1000KV motors ×4</a:t>
            </a:r>
            <a:endParaRPr lang="en-US" sz="1500" dirty="0"/>
          </a:p>
          <a:p>
            <a:pPr marL="0" indent="0">
              <a:lnSpc>
                <a:spcPct val="105000"/>
              </a:lnSpc>
              <a:buNone/>
            </a:pPr>
            <a:r>
              <a:rPr lang="en-US" sz="1300" b="1" dirty="0">
                <a:solidFill>
                  <a:srgbClr val="10B981"/>
                </a:solidFill>
                <a:latin typeface="JetBrains Mono" pitchFamily="34" charset="0"/>
                <a:ea typeface="JetBrains Mono" pitchFamily="34" charset="-122"/>
                <a:cs typeface="JetBrains Mono" pitchFamily="34" charset="-120"/>
              </a:rPr>
              <a:t> 3  </a:t>
            </a:r>
            <a:r>
              <a:rPr lang="en-US" sz="1400" dirty="0">
                <a:solidFill>
                  <a:srgbClr val="F8FAFC"/>
                </a:solidFill>
                <a:latin typeface="Inter" pitchFamily="34" charset="0"/>
                <a:ea typeface="Inter" pitchFamily="34" charset="-122"/>
                <a:cs typeface="Inter" pitchFamily="34" charset="-120"/>
              </a:rPr>
              <a:t>GPS/compass puck and mast</a:t>
            </a:r>
            <a:endParaRPr lang="en-US" sz="1500" dirty="0"/>
          </a:p>
          <a:p>
            <a:pPr marL="0" indent="0">
              <a:lnSpc>
                <a:spcPct val="105000"/>
              </a:lnSpc>
              <a:buNone/>
            </a:pPr>
            <a:r>
              <a:rPr lang="en-US" sz="1300" b="1" dirty="0">
                <a:solidFill>
                  <a:srgbClr val="10B981"/>
                </a:solidFill>
                <a:latin typeface="JetBrains Mono" pitchFamily="34" charset="0"/>
                <a:ea typeface="JetBrains Mono" pitchFamily="34" charset="-122"/>
                <a:cs typeface="JetBrains Mono" pitchFamily="34" charset="-120"/>
              </a:rPr>
              <a:t> 4  </a:t>
            </a:r>
            <a:r>
              <a:rPr lang="en-US" sz="1400" dirty="0">
                <a:solidFill>
                  <a:srgbClr val="F8FAFC"/>
                </a:solidFill>
                <a:latin typeface="Inter" pitchFamily="34" charset="0"/>
                <a:ea typeface="Inter" pitchFamily="34" charset="-122"/>
                <a:cs typeface="Inter" pitchFamily="34" charset="-120"/>
              </a:rPr>
              <a:t>F405 FC + vibration dampers</a:t>
            </a:r>
            <a:endParaRPr lang="en-US" sz="1500" dirty="0"/>
          </a:p>
          <a:p>
            <a:pPr marL="0" indent="0">
              <a:lnSpc>
                <a:spcPct val="105000"/>
              </a:lnSpc>
              <a:buNone/>
            </a:pPr>
            <a:r>
              <a:rPr lang="en-US" sz="1300" b="1" dirty="0">
                <a:solidFill>
                  <a:srgbClr val="10B981"/>
                </a:solidFill>
                <a:latin typeface="JetBrains Mono" pitchFamily="34" charset="0"/>
                <a:ea typeface="JetBrains Mono" pitchFamily="34" charset="-122"/>
                <a:cs typeface="JetBrains Mono" pitchFamily="34" charset="-120"/>
              </a:rPr>
              <a:t> 5  </a:t>
            </a:r>
            <a:r>
              <a:rPr lang="en-US" sz="1400" dirty="0">
                <a:solidFill>
                  <a:srgbClr val="F8FAFC"/>
                </a:solidFill>
                <a:latin typeface="Inter" pitchFamily="34" charset="0"/>
                <a:ea typeface="Inter" pitchFamily="34" charset="-122"/>
                <a:cs typeface="Inter" pitchFamily="34" charset="-120"/>
              </a:rPr>
              <a:t>iA6B receiver</a:t>
            </a:r>
            <a:endParaRPr lang="en-US" sz="1500" dirty="0"/>
          </a:p>
          <a:p>
            <a:pPr marL="0" indent="0">
              <a:lnSpc>
                <a:spcPct val="105000"/>
              </a:lnSpc>
              <a:buNone/>
            </a:pPr>
            <a:r>
              <a:rPr lang="en-US" sz="1300" b="1" dirty="0">
                <a:solidFill>
                  <a:srgbClr val="10B981"/>
                </a:solidFill>
                <a:latin typeface="JetBrains Mono" pitchFamily="34" charset="0"/>
                <a:ea typeface="JetBrains Mono" pitchFamily="34" charset="-122"/>
                <a:cs typeface="JetBrains Mono" pitchFamily="34" charset="-120"/>
              </a:rPr>
              <a:t> 6  </a:t>
            </a:r>
            <a:r>
              <a:rPr lang="en-US" sz="1400" dirty="0">
                <a:solidFill>
                  <a:srgbClr val="F8FAFC"/>
                </a:solidFill>
                <a:latin typeface="Inter" pitchFamily="34" charset="0"/>
                <a:ea typeface="Inter" pitchFamily="34" charset="-122"/>
                <a:cs typeface="Inter" pitchFamily="34" charset="-120"/>
              </a:rPr>
              <a:t>SiK onboard radio + antenna</a:t>
            </a:r>
            <a:endParaRPr lang="en-US" sz="1500" dirty="0"/>
          </a:p>
          <a:p>
            <a:pPr marL="0" indent="0">
              <a:lnSpc>
                <a:spcPct val="105000"/>
              </a:lnSpc>
              <a:buNone/>
            </a:pPr>
            <a:r>
              <a:rPr lang="en-US" sz="1300" b="1" dirty="0">
                <a:solidFill>
                  <a:srgbClr val="10B981"/>
                </a:solidFill>
                <a:latin typeface="JetBrains Mono" pitchFamily="34" charset="0"/>
                <a:ea typeface="JetBrains Mono" pitchFamily="34" charset="-122"/>
                <a:cs typeface="JetBrains Mono" pitchFamily="34" charset="-120"/>
              </a:rPr>
              <a:t> 7  </a:t>
            </a:r>
            <a:r>
              <a:rPr lang="en-US" sz="1400" dirty="0">
                <a:solidFill>
                  <a:srgbClr val="F8FAFC"/>
                </a:solidFill>
                <a:latin typeface="Inter" pitchFamily="34" charset="0"/>
                <a:ea typeface="Inter" pitchFamily="34" charset="-122"/>
                <a:cs typeface="Inter" pitchFamily="34" charset="-120"/>
              </a:rPr>
              <a:t>XT60 power module</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 8  </a:t>
            </a:r>
            <a:r>
              <a:rPr lang="en-US" sz="1400" dirty="0">
                <a:solidFill>
                  <a:srgbClr val="F8FAFC"/>
                </a:solidFill>
                <a:latin typeface="Inter" pitchFamily="34" charset="0"/>
                <a:ea typeface="Inter" pitchFamily="34" charset="-122"/>
                <a:cs typeface="Inter" pitchFamily="34" charset="-120"/>
              </a:rPr>
              <a:t>Upper frame plate</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 9  </a:t>
            </a:r>
            <a:r>
              <a:rPr lang="en-US" sz="1400" dirty="0">
                <a:solidFill>
                  <a:srgbClr val="F8FAFC"/>
                </a:solidFill>
                <a:latin typeface="Inter" pitchFamily="34" charset="0"/>
                <a:ea typeface="Inter" pitchFamily="34" charset="-122"/>
                <a:cs typeface="Inter" pitchFamily="34" charset="-120"/>
              </a:rPr>
              <a:t>F450 arms + motor mounts ×4</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10  </a:t>
            </a:r>
            <a:r>
              <a:rPr lang="en-US" sz="1400" dirty="0">
                <a:solidFill>
                  <a:srgbClr val="F8FAFC"/>
                </a:solidFill>
                <a:latin typeface="Inter" pitchFamily="34" charset="0"/>
                <a:ea typeface="Inter" pitchFamily="34" charset="-122"/>
                <a:cs typeface="Inter" pitchFamily="34" charset="-120"/>
              </a:rPr>
              <a:t>30A discrete ESCs ×4</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11  </a:t>
            </a:r>
            <a:r>
              <a:rPr lang="en-US" sz="1400" dirty="0">
                <a:solidFill>
                  <a:srgbClr val="F8FAFC"/>
                </a:solidFill>
                <a:latin typeface="Inter" pitchFamily="34" charset="0"/>
                <a:ea typeface="Inter" pitchFamily="34" charset="-122"/>
                <a:cs typeface="Inter" pitchFamily="34" charset="-120"/>
              </a:rPr>
              <a:t>Lower plate / power distribution</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12  </a:t>
            </a:r>
            <a:r>
              <a:rPr lang="en-US" sz="1400" dirty="0">
                <a:solidFill>
                  <a:srgbClr val="F8FAFC"/>
                </a:solidFill>
                <a:latin typeface="Inter" pitchFamily="34" charset="0"/>
                <a:ea typeface="Inter" pitchFamily="34" charset="-122"/>
                <a:cs typeface="Inter" pitchFamily="34" charset="-120"/>
              </a:rPr>
              <a:t>3S 3300 mAh battery + straps</a:t>
            </a:r>
            <a:endParaRPr lang="en-US" sz="1500" dirty="0"/>
          </a:p>
          <a:p>
            <a:pPr marL="0" indent="0">
              <a:lnSpc>
                <a:spcPct val="105000"/>
              </a:lnSpc>
              <a:buNone/>
            </a:pPr>
            <a:r>
              <a:rPr lang="en-US" sz="1300" b="1" dirty="0">
                <a:solidFill>
                  <a:srgbClr val="00F0FF"/>
                </a:solidFill>
                <a:latin typeface="JetBrains Mono" pitchFamily="34" charset="0"/>
                <a:ea typeface="JetBrains Mono" pitchFamily="34" charset="-122"/>
                <a:cs typeface="JetBrains Mono" pitchFamily="34" charset="-120"/>
              </a:rPr>
              <a:t>13  </a:t>
            </a:r>
            <a:r>
              <a:rPr lang="en-US" sz="1400" dirty="0">
                <a:solidFill>
                  <a:srgbClr val="F8FAFC"/>
                </a:solidFill>
                <a:latin typeface="Inter" pitchFamily="34" charset="0"/>
                <a:ea typeface="Inter" pitchFamily="34" charset="-122"/>
                <a:cs typeface="Inter" pitchFamily="34" charset="-120"/>
              </a:rPr>
              <a:t>Tall landing gear</a:t>
            </a:r>
            <a:endParaRPr lang="en-US" sz="1500" dirty="0"/>
          </a:p>
        </p:txBody>
      </p:sp>
      <p:sp>
        <p:nvSpPr>
          <p:cNvPr id="69" name="txt_472"/>
          <p:cNvSpPr txBox="1"/>
          <p:nvPr/>
        </p:nvSpPr>
        <p:spPr>
          <a:xfrm>
            <a:off x="7863840" y="5650992"/>
            <a:ext cx="3870655" cy="585216"/>
          </a:xfrm>
          <a:prstGeom prst="rect">
            <a:avLst/>
          </a:prstGeom>
          <a:noFill/>
          <a:ln/>
        </p:spPr>
        <p:txBody>
          <a:bodyPr wrap="square" lIns="0" tIns="0" rIns="0" bIns="0" rtlCol="0" anchor="t"/>
          <a:lstStyle/>
          <a:p>
            <a:pPr marL="0" indent="0">
              <a:buNone/>
            </a:pPr>
            <a:r>
              <a:rPr lang="en-US" sz="1100" dirty="0">
                <a:solidFill>
                  <a:srgbClr val="3B82F6"/>
                </a:solidFill>
                <a:latin typeface="JetBrains Mono" pitchFamily="34" charset="0"/>
                <a:ea typeface="JetBrains Mono" pitchFamily="34" charset="-122"/>
                <a:cs typeface="JetBrains Mono" pitchFamily="34" charset="-120"/>
              </a:rPr>
              <a:t>DESIGN MODEL: Nominal component geometry and proposed layout. Physical assembly and dimensional verification pending.</a:t>
            </a:r>
            <a:endParaRPr lang="en-US" sz="11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 0 L 0 0.133673 E" pathEditMode="relative" rAng="0" ptsTypes="AA">
                                      <p:cBhvr>
                                        <p:cTn id="6" dur="600" decel="100000" fill="hold"/>
                                        <p:tgtEl>
                                          <p:spTgt spid="9"/>
                                        </p:tgtEl>
                                        <p:attrNameLst>
                                          <p:attrName>ppt_x</p:attrName>
                                          <p:attrName>ppt_y</p:attrName>
                                        </p:attrNameLst>
                                      </p:cBhvr>
                                      <p:rCtr x="0" y="6684"/>
                                    </p:animMotion>
                                  </p:childTnLst>
                                </p:cTn>
                              </p:par>
                              <p:par>
                                <p:cTn id="7" presetID="0" presetClass="path" presetSubtype="0" fill="hold" nodeType="withEffect">
                                  <p:stCondLst>
                                    <p:cond delay="0"/>
                                  </p:stCondLst>
                                  <p:childTnLst>
                                    <p:animMotion origin="layout" path="M 0 0 L 0 0.080204 E" pathEditMode="relative" rAng="0" ptsTypes="AA">
                                      <p:cBhvr>
                                        <p:cTn id="8" dur="600" decel="100000" fill="hold"/>
                                        <p:tgtEl>
                                          <p:spTgt spid="10"/>
                                        </p:tgtEl>
                                        <p:attrNameLst>
                                          <p:attrName>ppt_x</p:attrName>
                                          <p:attrName>ppt_y</p:attrName>
                                        </p:attrNameLst>
                                      </p:cBhvr>
                                      <p:rCtr x="0" y="4010"/>
                                    </p:animMotion>
                                  </p:childTnLst>
                                </p:cTn>
                              </p:par>
                              <p:par>
                                <p:cTn id="9" presetID="0" presetClass="path" presetSubtype="0" fill="hold" nodeType="withEffect">
                                  <p:stCondLst>
                                    <p:cond delay="0"/>
                                  </p:stCondLst>
                                  <p:childTnLst>
                                    <p:animMotion origin="layout" path="M 0 0 L 0 0.034373 E" pathEditMode="relative" rAng="0" ptsTypes="AA">
                                      <p:cBhvr>
                                        <p:cTn id="10" dur="600" decel="100000" fill="hold"/>
                                        <p:tgtEl>
                                          <p:spTgt spid="11"/>
                                        </p:tgtEl>
                                        <p:attrNameLst>
                                          <p:attrName>ppt_x</p:attrName>
                                          <p:attrName>ppt_y</p:attrName>
                                        </p:attrNameLst>
                                      </p:cBhvr>
                                      <p:rCtr x="0" y="1719"/>
                                    </p:animMotion>
                                  </p:childTnLst>
                                </p:cTn>
                              </p:par>
                              <p:par>
                                <p:cTn id="11" presetID="0" presetClass="path" presetSubtype="0" fill="hold" nodeType="withEffect">
                                  <p:stCondLst>
                                    <p:cond delay="0"/>
                                  </p:stCondLst>
                                  <p:childTnLst>
                                    <p:animMotion origin="layout" path="M 0 0 L 0 0.022915 E" pathEditMode="relative" rAng="0" ptsTypes="AA">
                                      <p:cBhvr>
                                        <p:cTn id="12" dur="600" decel="100000" fill="hold"/>
                                        <p:tgtEl>
                                          <p:spTgt spid="12"/>
                                        </p:tgtEl>
                                        <p:attrNameLst>
                                          <p:attrName>ppt_x</p:attrName>
                                          <p:attrName>ppt_y</p:attrName>
                                        </p:attrNameLst>
                                      </p:cBhvr>
                                      <p:rCtr x="0" y="1146"/>
                                    </p:animMotion>
                                  </p:childTnLst>
                                </p:cTn>
                              </p:par>
                              <p:par>
                                <p:cTn id="13" presetID="0" presetClass="path" presetSubtype="0" fill="hold" nodeType="withEffect">
                                  <p:stCondLst>
                                    <p:cond delay="0"/>
                                  </p:stCondLst>
                                  <p:childTnLst>
                                    <p:animMotion origin="layout" path="M 0 0 L 0 0.000000 E" pathEditMode="relative" rAng="0" ptsTypes="AA">
                                      <p:cBhvr>
                                        <p:cTn id="14" dur="600" decel="100000" fill="hold"/>
                                        <p:tgtEl>
                                          <p:spTgt spid="13"/>
                                        </p:tgtEl>
                                        <p:attrNameLst>
                                          <p:attrName>ppt_x</p:attrName>
                                          <p:attrName>ppt_y</p:attrName>
                                        </p:attrNameLst>
                                      </p:cBhvr>
                                      <p:rCtr x="0" y="0"/>
                                    </p:animMotion>
                                  </p:childTnLst>
                                </p:cTn>
                              </p:par>
                              <p:par>
                                <p:cTn id="15" presetID="0" presetClass="path" presetSubtype="0" fill="hold" nodeType="withEffect">
                                  <p:stCondLst>
                                    <p:cond delay="0"/>
                                  </p:stCondLst>
                                  <p:childTnLst>
                                    <p:animMotion origin="layout" path="M 0 0 L 0 -0.030554 E" pathEditMode="relative" rAng="0" ptsTypes="AA">
                                      <p:cBhvr>
                                        <p:cTn id="16" dur="600" decel="100000" fill="hold"/>
                                        <p:tgtEl>
                                          <p:spTgt spid="14"/>
                                        </p:tgtEl>
                                        <p:attrNameLst>
                                          <p:attrName>ppt_x</p:attrName>
                                          <p:attrName>ppt_y</p:attrName>
                                        </p:attrNameLst>
                                      </p:cBhvr>
                                      <p:rCtr x="0" y="-1528"/>
                                    </p:animMotion>
                                  </p:childTnLst>
                                </p:cTn>
                              </p:par>
                              <p:par>
                                <p:cTn id="17" presetID="0" presetClass="path" presetSubtype="0" fill="hold" nodeType="withEffect">
                                  <p:stCondLst>
                                    <p:cond delay="0"/>
                                  </p:stCondLst>
                                  <p:childTnLst>
                                    <p:animMotion origin="layout" path="M 0 0 L 0 -0.057288 E" pathEditMode="relative" rAng="0" ptsTypes="AA">
                                      <p:cBhvr>
                                        <p:cTn id="18" dur="600" decel="100000" fill="hold"/>
                                        <p:tgtEl>
                                          <p:spTgt spid="15"/>
                                        </p:tgtEl>
                                        <p:attrNameLst>
                                          <p:attrName>ppt_x</p:attrName>
                                          <p:attrName>ppt_y</p:attrName>
                                        </p:attrNameLst>
                                      </p:cBhvr>
                                      <p:rCtr x="0" y="-2864"/>
                                    </p:animMotion>
                                  </p:childTnLst>
                                </p:cTn>
                              </p:par>
                              <p:par>
                                <p:cTn id="19" presetID="0" presetClass="path" presetSubtype="0" fill="hold" nodeType="withEffect">
                                  <p:stCondLst>
                                    <p:cond delay="0"/>
                                  </p:stCondLst>
                                  <p:childTnLst>
                                    <p:animMotion origin="layout" path="M 0 0 L 0 -0.095481 E" pathEditMode="relative" rAng="0" ptsTypes="AA">
                                      <p:cBhvr>
                                        <p:cTn id="20" dur="600" decel="100000" fill="hold"/>
                                        <p:tgtEl>
                                          <p:spTgt spid="16"/>
                                        </p:tgtEl>
                                        <p:attrNameLst>
                                          <p:attrName>ppt_x</p:attrName>
                                          <p:attrName>ppt_y</p:attrName>
                                        </p:attrNameLst>
                                      </p:cBhvr>
                                      <p:rCtr x="0" y="-4774"/>
                                    </p:animMotion>
                                  </p:childTnLst>
                                </p:cTn>
                              </p:par>
                              <p:par>
                                <p:cTn id="21" presetID="0" presetClass="path" presetSubtype="0" fill="hold" nodeType="withEffect">
                                  <p:stCondLst>
                                    <p:cond delay="0"/>
                                  </p:stCondLst>
                                  <p:childTnLst>
                                    <p:animMotion origin="layout" path="M 0 0 L 0 -0.152769 E" pathEditMode="relative" rAng="0" ptsTypes="AA">
                                      <p:cBhvr>
                                        <p:cTn id="22" dur="600" decel="100000" fill="hold"/>
                                        <p:tgtEl>
                                          <p:spTgt spid="17"/>
                                        </p:tgtEl>
                                        <p:attrNameLst>
                                          <p:attrName>ppt_x</p:attrName>
                                          <p:attrName>ppt_y</p:attrName>
                                        </p:attrNameLst>
                                      </p:cBhvr>
                                      <p:rCtr x="0" y="-7638"/>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3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3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3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35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35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35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35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35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35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35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35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350"/>
                                        <p:tgtEl>
                                          <p:spTgt spid="29"/>
                                        </p:tgtEl>
                                      </p:cBhvr>
                                    </p:animEffect>
                                  </p:childTnLst>
                                </p:cTn>
                              </p:par>
                              <p:par>
                                <p:cTn id="61" presetID="10" presetClass="entr" presetSubtype="0" fill="hold"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350"/>
                                        <p:tgtEl>
                                          <p:spTgt spid="3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350"/>
                                        <p:tgtEl>
                                          <p:spTgt spid="3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350"/>
                                        <p:tgtEl>
                                          <p:spTgt spid="32"/>
                                        </p:tgtEl>
                                      </p:cBhvr>
                                    </p:animEffect>
                                  </p:childTnLst>
                                </p:cTn>
                              </p:par>
                              <p:par>
                                <p:cTn id="70" presetID="10" presetClass="entr" presetSubtype="0" fill="hold"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350"/>
                                        <p:tgtEl>
                                          <p:spTgt spid="3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35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350"/>
                                        <p:tgtEl>
                                          <p:spTgt spid="35"/>
                                        </p:tgtEl>
                                      </p:cBhvr>
                                    </p:animEffect>
                                  </p:childTnLst>
                                </p:cTn>
                              </p:par>
                              <p:par>
                                <p:cTn id="79" presetID="10" presetClass="entr" presetSubtype="0" fill="hold"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350"/>
                                        <p:tgtEl>
                                          <p:spTgt spid="3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350"/>
                                        <p:tgtEl>
                                          <p:spTgt spid="3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350"/>
                                        <p:tgtEl>
                                          <p:spTgt spid="38"/>
                                        </p:tgtEl>
                                      </p:cBhvr>
                                    </p:animEffect>
                                  </p:childTnLst>
                                </p:cTn>
                              </p:par>
                              <p:par>
                                <p:cTn id="88" presetID="10" presetClass="entr" presetSubtype="0" fill="hold"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350"/>
                                        <p:tgtEl>
                                          <p:spTgt spid="3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350"/>
                                        <p:tgtEl>
                                          <p:spTgt spid="4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350"/>
                                        <p:tgtEl>
                                          <p:spTgt spid="41"/>
                                        </p:tgtEl>
                                      </p:cBhvr>
                                    </p:animEffect>
                                  </p:childTnLst>
                                </p:cTn>
                              </p:par>
                              <p:par>
                                <p:cTn id="97" presetID="10" presetClass="entr" presetSubtype="0" fill="hold"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350"/>
                                        <p:tgtEl>
                                          <p:spTgt spid="4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350"/>
                                        <p:tgtEl>
                                          <p:spTgt spid="4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350"/>
                                        <p:tgtEl>
                                          <p:spTgt spid="44"/>
                                        </p:tgtEl>
                                      </p:cBhvr>
                                    </p:animEffect>
                                  </p:childTnLst>
                                </p:cTn>
                              </p:par>
                              <p:par>
                                <p:cTn id="106" presetID="10" presetClass="entr" presetSubtype="0" fill="hold" nodeType="with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fade">
                                      <p:cBhvr>
                                        <p:cTn id="108" dur="350"/>
                                        <p:tgtEl>
                                          <p:spTgt spid="4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fade">
                                      <p:cBhvr>
                                        <p:cTn id="111" dur="350"/>
                                        <p:tgtEl>
                                          <p:spTgt spid="4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7"/>
                                        </p:tgtEl>
                                        <p:attrNameLst>
                                          <p:attrName>style.visibility</p:attrName>
                                        </p:attrNameLst>
                                      </p:cBhvr>
                                      <p:to>
                                        <p:strVal val="visible"/>
                                      </p:to>
                                    </p:set>
                                    <p:animEffect transition="in" filter="fade">
                                      <p:cBhvr>
                                        <p:cTn id="114" dur="350"/>
                                        <p:tgtEl>
                                          <p:spTgt spid="47"/>
                                        </p:tgtEl>
                                      </p:cBhvr>
                                    </p:animEffect>
                                  </p:childTnLst>
                                </p:cTn>
                              </p:par>
                              <p:par>
                                <p:cTn id="115" presetID="10" presetClass="entr" presetSubtype="0" fill="hold" nodeType="withEffect">
                                  <p:stCondLst>
                                    <p:cond delay="8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7" dur="350"/>
                                        <p:tgtEl>
                                          <p:spTgt spid="48"/>
                                        </p:tgtEl>
                                      </p:cBhvr>
                                    </p:animEffect>
                                  </p:childTnLst>
                                </p:cTn>
                              </p:par>
                              <p:par>
                                <p:cTn id="118" presetID="10" presetClass="entr" presetSubtype="0" fill="hold" grpId="0" nodeType="withEffect">
                                  <p:stCondLst>
                                    <p:cond delay="8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20" dur="350"/>
                                        <p:tgtEl>
                                          <p:spTgt spid="49"/>
                                        </p:tgtEl>
                                      </p:cBhvr>
                                    </p:animEffect>
                                  </p:childTnLst>
                                </p:cTn>
                              </p:par>
                              <p:par>
                                <p:cTn id="121" presetID="10" presetClass="entr" presetSubtype="0" fill="hold" nodeType="withEffect">
                                  <p:stCondLst>
                                    <p:cond delay="8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3" dur="350"/>
                                        <p:tgtEl>
                                          <p:spTgt spid="50"/>
                                        </p:tgtEl>
                                      </p:cBhvr>
                                    </p:animEffect>
                                  </p:childTnLst>
                                </p:cTn>
                              </p:par>
                              <p:par>
                                <p:cTn id="124" presetID="10" presetClass="entr" presetSubtype="0" fill="hold" nodeType="withEffect">
                                  <p:stCondLst>
                                    <p:cond delay="8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350"/>
                                        <p:tgtEl>
                                          <p:spTgt spid="51"/>
                                        </p:tgtEl>
                                      </p:cBhvr>
                                    </p:animEffect>
                                  </p:childTnLst>
                                </p:cTn>
                              </p:par>
                              <p:par>
                                <p:cTn id="127" presetID="10" presetClass="entr" presetSubtype="0" fill="hold" grpId="0" nodeType="withEffect">
                                  <p:stCondLst>
                                    <p:cond delay="8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9" dur="350"/>
                                        <p:tgtEl>
                                          <p:spTgt spid="52"/>
                                        </p:tgtEl>
                                      </p:cBhvr>
                                    </p:animEffect>
                                  </p:childTnLst>
                                </p:cTn>
                              </p:par>
                              <p:par>
                                <p:cTn id="130" presetID="10" presetClass="entr" presetSubtype="0" fill="hold" grpId="0" nodeType="withEffect">
                                  <p:stCondLst>
                                    <p:cond delay="8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350"/>
                                        <p:tgtEl>
                                          <p:spTgt spid="53"/>
                                        </p:tgtEl>
                                      </p:cBhvr>
                                    </p:animEffect>
                                  </p:childTnLst>
                                </p:cTn>
                              </p:par>
                              <p:par>
                                <p:cTn id="133" presetID="10" presetClass="entr" presetSubtype="0" fill="hold" nodeType="withEffect">
                                  <p:stCondLst>
                                    <p:cond delay="8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5" dur="350"/>
                                        <p:tgtEl>
                                          <p:spTgt spid="54"/>
                                        </p:tgtEl>
                                      </p:cBhvr>
                                    </p:animEffect>
                                  </p:childTnLst>
                                </p:cTn>
                              </p:par>
                              <p:par>
                                <p:cTn id="136" presetID="10" presetClass="entr" presetSubtype="0" fill="hold" grpId="0" nodeType="withEffect">
                                  <p:stCondLst>
                                    <p:cond delay="8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8" dur="350"/>
                                        <p:tgtEl>
                                          <p:spTgt spid="55"/>
                                        </p:tgtEl>
                                      </p:cBhvr>
                                    </p:animEffect>
                                  </p:childTnLst>
                                </p:cTn>
                              </p:par>
                              <p:par>
                                <p:cTn id="139" presetID="10" presetClass="entr" presetSubtype="0" fill="hold" grpId="0" nodeType="withEffect">
                                  <p:stCondLst>
                                    <p:cond delay="8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41" dur="350"/>
                                        <p:tgtEl>
                                          <p:spTgt spid="56"/>
                                        </p:tgtEl>
                                      </p:cBhvr>
                                    </p:animEffect>
                                  </p:childTnLst>
                                </p:cTn>
                              </p:par>
                              <p:par>
                                <p:cTn id="142" presetID="10" presetClass="entr" presetSubtype="0" fill="hold" nodeType="withEffect">
                                  <p:stCondLst>
                                    <p:cond delay="80"/>
                                  </p:stCondLst>
                                  <p:childTnLst>
                                    <p:set>
                                      <p:cBhvr>
                                        <p:cTn id="143" dur="1" fill="hold">
                                          <p:stCondLst>
                                            <p:cond delay="0"/>
                                          </p:stCondLst>
                                        </p:cTn>
                                        <p:tgtEl>
                                          <p:spTgt spid="57"/>
                                        </p:tgtEl>
                                        <p:attrNameLst>
                                          <p:attrName>style.visibility</p:attrName>
                                        </p:attrNameLst>
                                      </p:cBhvr>
                                      <p:to>
                                        <p:strVal val="visible"/>
                                      </p:to>
                                    </p:set>
                                    <p:animEffect transition="in" filter="fade">
                                      <p:cBhvr>
                                        <p:cTn id="144" dur="350"/>
                                        <p:tgtEl>
                                          <p:spTgt spid="57"/>
                                        </p:tgtEl>
                                      </p:cBhvr>
                                    </p:animEffect>
                                  </p:childTnLst>
                                </p:cTn>
                              </p:par>
                              <p:par>
                                <p:cTn id="145" presetID="10" presetClass="entr" presetSubtype="0" fill="hold" grpId="0" nodeType="withEffect">
                                  <p:stCondLst>
                                    <p:cond delay="80"/>
                                  </p:stCondLst>
                                  <p:childTnLst>
                                    <p:set>
                                      <p:cBhvr>
                                        <p:cTn id="146" dur="1" fill="hold">
                                          <p:stCondLst>
                                            <p:cond delay="0"/>
                                          </p:stCondLst>
                                        </p:cTn>
                                        <p:tgtEl>
                                          <p:spTgt spid="58"/>
                                        </p:tgtEl>
                                        <p:attrNameLst>
                                          <p:attrName>style.visibility</p:attrName>
                                        </p:attrNameLst>
                                      </p:cBhvr>
                                      <p:to>
                                        <p:strVal val="visible"/>
                                      </p:to>
                                    </p:set>
                                    <p:animEffect transition="in" filter="fade">
                                      <p:cBhvr>
                                        <p:cTn id="147" dur="350"/>
                                        <p:tgtEl>
                                          <p:spTgt spid="58"/>
                                        </p:tgtEl>
                                      </p:cBhvr>
                                    </p:animEffect>
                                  </p:childTnLst>
                                </p:cTn>
                              </p:par>
                              <p:par>
                                <p:cTn id="148" presetID="10" presetClass="entr" presetSubtype="0" fill="hold" grpId="0" nodeType="withEffect">
                                  <p:stCondLst>
                                    <p:cond delay="80"/>
                                  </p:stCondLst>
                                  <p:childTnLst>
                                    <p:set>
                                      <p:cBhvr>
                                        <p:cTn id="149" dur="1" fill="hold">
                                          <p:stCondLst>
                                            <p:cond delay="0"/>
                                          </p:stCondLst>
                                        </p:cTn>
                                        <p:tgtEl>
                                          <p:spTgt spid="59"/>
                                        </p:tgtEl>
                                        <p:attrNameLst>
                                          <p:attrName>style.visibility</p:attrName>
                                        </p:attrNameLst>
                                      </p:cBhvr>
                                      <p:to>
                                        <p:strVal val="visible"/>
                                      </p:to>
                                    </p:set>
                                    <p:animEffect transition="in" filter="fade">
                                      <p:cBhvr>
                                        <p:cTn id="150" dur="350"/>
                                        <p:tgtEl>
                                          <p:spTgt spid="59"/>
                                        </p:tgtEl>
                                      </p:cBhvr>
                                    </p:animEffect>
                                  </p:childTnLst>
                                </p:cTn>
                              </p:par>
                              <p:par>
                                <p:cTn id="151" presetID="10" presetClass="entr" presetSubtype="0" fill="hold" nodeType="withEffect">
                                  <p:stCondLst>
                                    <p:cond delay="80"/>
                                  </p:stCondLst>
                                  <p:childTnLst>
                                    <p:set>
                                      <p:cBhvr>
                                        <p:cTn id="152" dur="1" fill="hold">
                                          <p:stCondLst>
                                            <p:cond delay="0"/>
                                          </p:stCondLst>
                                        </p:cTn>
                                        <p:tgtEl>
                                          <p:spTgt spid="60"/>
                                        </p:tgtEl>
                                        <p:attrNameLst>
                                          <p:attrName>style.visibility</p:attrName>
                                        </p:attrNameLst>
                                      </p:cBhvr>
                                      <p:to>
                                        <p:strVal val="visible"/>
                                      </p:to>
                                    </p:set>
                                    <p:animEffect transition="in" filter="fade">
                                      <p:cBhvr>
                                        <p:cTn id="153" dur="350"/>
                                        <p:tgtEl>
                                          <p:spTgt spid="60"/>
                                        </p:tgtEl>
                                      </p:cBhvr>
                                    </p:animEffect>
                                  </p:childTnLst>
                                </p:cTn>
                              </p:par>
                              <p:par>
                                <p:cTn id="154" presetID="10" presetClass="entr" presetSubtype="0" fill="hold" grpId="0" nodeType="withEffect">
                                  <p:stCondLst>
                                    <p:cond delay="80"/>
                                  </p:stCondLst>
                                  <p:childTnLst>
                                    <p:set>
                                      <p:cBhvr>
                                        <p:cTn id="155" dur="1" fill="hold">
                                          <p:stCondLst>
                                            <p:cond delay="0"/>
                                          </p:stCondLst>
                                        </p:cTn>
                                        <p:tgtEl>
                                          <p:spTgt spid="61"/>
                                        </p:tgtEl>
                                        <p:attrNameLst>
                                          <p:attrName>style.visibility</p:attrName>
                                        </p:attrNameLst>
                                      </p:cBhvr>
                                      <p:to>
                                        <p:strVal val="visible"/>
                                      </p:to>
                                    </p:set>
                                    <p:animEffect transition="in" filter="fade">
                                      <p:cBhvr>
                                        <p:cTn id="156" dur="350"/>
                                        <p:tgtEl>
                                          <p:spTgt spid="61"/>
                                        </p:tgtEl>
                                      </p:cBhvr>
                                    </p:animEffect>
                                  </p:childTnLst>
                                </p:cTn>
                              </p:par>
                              <p:par>
                                <p:cTn id="157" presetID="10" presetClass="entr" presetSubtype="0" fill="hold" grpId="0" nodeType="withEffect">
                                  <p:stCondLst>
                                    <p:cond delay="80"/>
                                  </p:stCondLst>
                                  <p:childTnLst>
                                    <p:set>
                                      <p:cBhvr>
                                        <p:cTn id="158" dur="1" fill="hold">
                                          <p:stCondLst>
                                            <p:cond delay="0"/>
                                          </p:stCondLst>
                                        </p:cTn>
                                        <p:tgtEl>
                                          <p:spTgt spid="62"/>
                                        </p:tgtEl>
                                        <p:attrNameLst>
                                          <p:attrName>style.visibility</p:attrName>
                                        </p:attrNameLst>
                                      </p:cBhvr>
                                      <p:to>
                                        <p:strVal val="visible"/>
                                      </p:to>
                                    </p:set>
                                    <p:animEffect transition="in" filter="fade">
                                      <p:cBhvr>
                                        <p:cTn id="159" dur="350"/>
                                        <p:tgtEl>
                                          <p:spTgt spid="62"/>
                                        </p:tgtEl>
                                      </p:cBhvr>
                                    </p:animEffect>
                                  </p:childTnLst>
                                </p:cTn>
                              </p:par>
                              <p:par>
                                <p:cTn id="160" presetID="10" presetClass="entr" presetSubtype="0" fill="hold" nodeType="withEffect">
                                  <p:stCondLst>
                                    <p:cond delay="80"/>
                                  </p:stCondLst>
                                  <p:childTnLst>
                                    <p:set>
                                      <p:cBhvr>
                                        <p:cTn id="161" dur="1" fill="hold">
                                          <p:stCondLst>
                                            <p:cond delay="0"/>
                                          </p:stCondLst>
                                        </p:cTn>
                                        <p:tgtEl>
                                          <p:spTgt spid="63"/>
                                        </p:tgtEl>
                                        <p:attrNameLst>
                                          <p:attrName>style.visibility</p:attrName>
                                        </p:attrNameLst>
                                      </p:cBhvr>
                                      <p:to>
                                        <p:strVal val="visible"/>
                                      </p:to>
                                    </p:set>
                                    <p:animEffect transition="in" filter="fade">
                                      <p:cBhvr>
                                        <p:cTn id="162" dur="350"/>
                                        <p:tgtEl>
                                          <p:spTgt spid="63"/>
                                        </p:tgtEl>
                                      </p:cBhvr>
                                    </p:animEffect>
                                  </p:childTnLst>
                                </p:cTn>
                              </p:par>
                              <p:par>
                                <p:cTn id="163" presetID="10" presetClass="entr" presetSubtype="0" fill="hold" grpId="0" nodeType="withEffect">
                                  <p:stCondLst>
                                    <p:cond delay="80"/>
                                  </p:stCondLst>
                                  <p:childTnLst>
                                    <p:set>
                                      <p:cBhvr>
                                        <p:cTn id="164" dur="1" fill="hold">
                                          <p:stCondLst>
                                            <p:cond delay="0"/>
                                          </p:stCondLst>
                                        </p:cTn>
                                        <p:tgtEl>
                                          <p:spTgt spid="64"/>
                                        </p:tgtEl>
                                        <p:attrNameLst>
                                          <p:attrName>style.visibility</p:attrName>
                                        </p:attrNameLst>
                                      </p:cBhvr>
                                      <p:to>
                                        <p:strVal val="visible"/>
                                      </p:to>
                                    </p:set>
                                    <p:animEffect transition="in" filter="fade">
                                      <p:cBhvr>
                                        <p:cTn id="165" dur="350"/>
                                        <p:tgtEl>
                                          <p:spTgt spid="64"/>
                                        </p:tgtEl>
                                      </p:cBhvr>
                                    </p:animEffect>
                                  </p:childTnLst>
                                </p:cTn>
                              </p:par>
                              <p:par>
                                <p:cTn id="166" presetID="10" presetClass="entr" presetSubtype="0" fill="hold" grpId="0" nodeType="withEffect">
                                  <p:stCondLst>
                                    <p:cond delay="80"/>
                                  </p:stCondLst>
                                  <p:childTnLst>
                                    <p:set>
                                      <p:cBhvr>
                                        <p:cTn id="167" dur="1" fill="hold">
                                          <p:stCondLst>
                                            <p:cond delay="0"/>
                                          </p:stCondLst>
                                        </p:cTn>
                                        <p:tgtEl>
                                          <p:spTgt spid="65"/>
                                        </p:tgtEl>
                                        <p:attrNameLst>
                                          <p:attrName>style.visibility</p:attrName>
                                        </p:attrNameLst>
                                      </p:cBhvr>
                                      <p:to>
                                        <p:strVal val="visible"/>
                                      </p:to>
                                    </p:set>
                                    <p:animEffect transition="in" filter="fade">
                                      <p:cBhvr>
                                        <p:cTn id="168" dur="350"/>
                                        <p:tgtEl>
                                          <p:spTgt spid="65"/>
                                        </p:tgtEl>
                                      </p:cBhvr>
                                    </p:animEffect>
                                  </p:childTnLst>
                                </p:cTn>
                              </p:par>
                              <p:par>
                                <p:cTn id="169" presetID="10" presetClass="entr" presetSubtype="0" fill="hold" nodeType="withEffect">
                                  <p:stCondLst>
                                    <p:cond delay="80"/>
                                  </p:stCondLst>
                                  <p:childTnLst>
                                    <p:set>
                                      <p:cBhvr>
                                        <p:cTn id="170" dur="1" fill="hold">
                                          <p:stCondLst>
                                            <p:cond delay="0"/>
                                          </p:stCondLst>
                                        </p:cTn>
                                        <p:tgtEl>
                                          <p:spTgt spid="66"/>
                                        </p:tgtEl>
                                        <p:attrNameLst>
                                          <p:attrName>style.visibility</p:attrName>
                                        </p:attrNameLst>
                                      </p:cBhvr>
                                      <p:to>
                                        <p:strVal val="visible"/>
                                      </p:to>
                                    </p:set>
                                    <p:animEffect transition="in" filter="fade">
                                      <p:cBhvr>
                                        <p:cTn id="171" dur="350"/>
                                        <p:tgtEl>
                                          <p:spTgt spid="66"/>
                                        </p:tgtEl>
                                      </p:cBhvr>
                                    </p:animEffect>
                                  </p:childTnLst>
                                </p:cTn>
                              </p:par>
                              <p:par>
                                <p:cTn id="172" presetID="10" presetClass="entr" presetSubtype="0" fill="hold" grpId="0" nodeType="withEffect">
                                  <p:stCondLst>
                                    <p:cond delay="80"/>
                                  </p:stCondLst>
                                  <p:childTnLst>
                                    <p:set>
                                      <p:cBhvr>
                                        <p:cTn id="173" dur="1" fill="hold">
                                          <p:stCondLst>
                                            <p:cond delay="0"/>
                                          </p:stCondLst>
                                        </p:cTn>
                                        <p:tgtEl>
                                          <p:spTgt spid="67"/>
                                        </p:tgtEl>
                                        <p:attrNameLst>
                                          <p:attrName>style.visibility</p:attrName>
                                        </p:attrNameLst>
                                      </p:cBhvr>
                                      <p:to>
                                        <p:strVal val="visible"/>
                                      </p:to>
                                    </p:set>
                                    <p:animEffect transition="in" filter="fade">
                                      <p:cBhvr>
                                        <p:cTn id="174" dur="350"/>
                                        <p:tgtEl>
                                          <p:spTgt spid="67"/>
                                        </p:tgtEl>
                                      </p:cBhvr>
                                    </p:animEffect>
                                  </p:childTnLst>
                                </p:cTn>
                              </p:par>
                              <p:par>
                                <p:cTn id="175" presetID="10" presetClass="entr" presetSubtype="0" fill="hold" grpId="0" nodeType="withEffect">
                                  <p:stCondLst>
                                    <p:cond delay="80"/>
                                  </p:stCondLst>
                                  <p:childTnLst>
                                    <p:set>
                                      <p:cBhvr>
                                        <p:cTn id="176" dur="1" fill="hold">
                                          <p:stCondLst>
                                            <p:cond delay="0"/>
                                          </p:stCondLst>
                                        </p:cTn>
                                        <p:tgtEl>
                                          <p:spTgt spid="68"/>
                                        </p:tgtEl>
                                        <p:attrNameLst>
                                          <p:attrName>style.visibility</p:attrName>
                                        </p:attrNameLst>
                                      </p:cBhvr>
                                      <p:to>
                                        <p:strVal val="visible"/>
                                      </p:to>
                                    </p:set>
                                    <p:animEffect transition="in" filter="fade">
                                      <p:cBhvr>
                                        <p:cTn id="177" dur="3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P spid="46" grpId="0" animBg="1"/>
      <p:bldP spid="47" grpId="0" animBg="1"/>
      <p:bldP spid="49" grpId="0" animBg="1"/>
      <p:bldP spid="52" grpId="0" animBg="1"/>
      <p:bldP spid="53" grpId="0" animBg="1"/>
      <p:bldP spid="55" grpId="0" animBg="1"/>
      <p:bldP spid="56" grpId="0" animBg="1"/>
      <p:bldP spid="58" grpId="0" animBg="1"/>
      <p:bldP spid="59" grpId="0" animBg="1"/>
      <p:bldP spid="61" grpId="0" animBg="1"/>
      <p:bldP spid="62" grpId="0" animBg="1"/>
      <p:bldP spid="64" grpId="0" animBg="1"/>
      <p:bldP spid="65" grpId="0" animBg="1"/>
      <p:bldP spid="67" grpId="0" animBg="1"/>
      <p:bldP spid="6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xt_473"/>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04: SOFTWARE</a:t>
            </a:r>
            <a:endParaRPr lang="en-US" sz="1100" dirty="0"/>
          </a:p>
        </p:txBody>
      </p:sp>
      <p:sp>
        <p:nvSpPr>
          <p:cNvPr id="3" name="kicker_474"/>
          <p:cNvSpPr txBox="1"/>
          <p:nvPr/>
        </p:nvSpPr>
        <p:spPr>
          <a:xfrm>
            <a:off x="457200" y="548640"/>
            <a:ext cx="438912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ALGORITHMS · ROUTING &amp; PACING</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Routing and pacing operate as distinct modules</a:t>
            </a:r>
            <a:endParaRPr lang="en-US" sz="4000" dirty="0"/>
          </a:p>
        </p:txBody>
      </p:sp>
      <p:sp>
        <p:nvSpPr>
          <p:cNvPr id="5" name="txt_475"/>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ROUTING: REPORTED SOFTWARE / SIMULATED · PACING: PROPOSED, SITL PENDING</a:t>
            </a:r>
            <a:endParaRPr lang="en-US" sz="1000" dirty="0"/>
          </a:p>
        </p:txBody>
      </p:sp>
      <p:sp>
        <p:nvSpPr>
          <p:cNvPr id="6" name="txt_476"/>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§9 p8–9; §11 p10; §14 p12</a:t>
            </a:r>
            <a:endParaRPr lang="en-US" sz="1000" dirty="0"/>
          </a:p>
        </p:txBody>
      </p:sp>
      <p:sp>
        <p:nvSpPr>
          <p:cNvPr id="7" name="txt_477"/>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[ 13 / 18 ]</a:t>
            </a:r>
            <a:endParaRPr lang="en-US" sz="1200" dirty="0"/>
          </a:p>
        </p:txBody>
      </p:sp>
      <p:sp>
        <p:nvSpPr>
          <p:cNvPr id="9" name="box_478"/>
          <p:cNvSpPr/>
          <p:nvPr/>
        </p:nvSpPr>
        <p:spPr>
          <a:xfrm>
            <a:off x="457200" y="2148840"/>
            <a:ext cx="5029200" cy="4069080"/>
          </a:xfrm>
          <a:prstGeom prst="roundRect">
            <a:avLst>
              <a:gd name="adj" fmla="val 1348"/>
            </a:avLst>
          </a:prstGeom>
          <a:solidFill>
            <a:srgbClr val="131C2E">
              <a:alpha val="65000"/>
            </a:srgbClr>
          </a:solidFill>
          <a:ln w="9525">
            <a:solidFill>
              <a:srgbClr val="00F0FF">
                <a:alpha val="22000"/>
              </a:srgbClr>
            </a:solidFill>
            <a:prstDash val="solid"/>
          </a:ln>
        </p:spPr>
      </p:sp>
      <p:sp>
        <p:nvSpPr>
          <p:cNvPr id="10" name="txt_479"/>
          <p:cNvSpPr txBox="1"/>
          <p:nvPr/>
        </p:nvSpPr>
        <p:spPr>
          <a:xfrm>
            <a:off x="594360" y="2240280"/>
            <a:ext cx="2743200" cy="237744"/>
          </a:xfrm>
          <a:prstGeom prst="rect">
            <a:avLst/>
          </a:prstGeom>
          <a:noFill/>
          <a:ln/>
        </p:spPr>
        <p:txBody>
          <a:bodyPr wrap="square" lIns="0" tIns="0" rIns="0" bIns="0" rtlCol="0" anchor="t"/>
          <a:lstStyle/>
          <a:p>
            <a:pPr marL="0" indent="0">
              <a:buNone/>
            </a:pPr>
            <a:r>
              <a:rPr lang="en-US" sz="1200" b="1" dirty="0">
                <a:solidFill>
                  <a:srgbClr val="94A3B8"/>
                </a:solidFill>
                <a:latin typeface="JetBrains Mono" pitchFamily="34" charset="0"/>
                <a:ea typeface="JetBrains Mono" pitchFamily="34" charset="-122"/>
                <a:cs typeface="JetBrains Mono" pitchFamily="34" charset="-120"/>
              </a:rPr>
              <a:t>ROUTING PIPELINE</a:t>
            </a:r>
            <a:endParaRPr lang="en-US" sz="1200" dirty="0"/>
          </a:p>
        </p:txBody>
      </p:sp>
      <p:sp>
        <p:nvSpPr>
          <p:cNvPr id="11" name="box_480"/>
          <p:cNvSpPr/>
          <p:nvPr/>
        </p:nvSpPr>
        <p:spPr>
          <a:xfrm>
            <a:off x="594360" y="2569464"/>
            <a:ext cx="4754880" cy="603504"/>
          </a:xfrm>
          <a:prstGeom prst="roundRect">
            <a:avLst>
              <a:gd name="adj" fmla="val 9091"/>
            </a:avLst>
          </a:prstGeom>
          <a:solidFill>
            <a:srgbClr val="1E293B">
              <a:alpha val="95000"/>
            </a:srgbClr>
          </a:solidFill>
          <a:ln w="9525">
            <a:solidFill>
              <a:srgbClr val="00F0FF">
                <a:alpha val="40000"/>
              </a:srgbClr>
            </a:solidFill>
            <a:prstDash val="solid"/>
          </a:ln>
        </p:spPr>
      </p:sp>
      <p:sp>
        <p:nvSpPr>
          <p:cNvPr id="12" name="txt_481"/>
          <p:cNvSpPr txBox="1"/>
          <p:nvPr/>
        </p:nvSpPr>
        <p:spPr>
          <a:xfrm>
            <a:off x="731520" y="2624328"/>
            <a:ext cx="3017520" cy="548640"/>
          </a:xfrm>
          <a:prstGeom prst="rect">
            <a:avLst/>
          </a:prstGeom>
          <a:noFill/>
          <a:ln/>
        </p:spPr>
        <p:txBody>
          <a:bodyPr wrap="square" lIns="0" tIns="0" rIns="0" bIns="0" rtlCol="0" anchor="t"/>
          <a:lstStyle/>
          <a:p>
            <a:pPr marL="0" indent="0">
              <a:buNone/>
            </a:pPr>
            <a:r>
              <a:rPr lang="en-US" sz="1300" b="1" dirty="0">
                <a:solidFill>
                  <a:srgbClr val="F8FAFC"/>
                </a:solidFill>
                <a:latin typeface="JetBrains Mono" pitchFamily="34" charset="0"/>
                <a:ea typeface="JetBrains Mono" pitchFamily="34" charset="-122"/>
                <a:cs typeface="JetBrains Mono" pitchFamily="34" charset="-120"/>
              </a:rPr>
              <a:t>HAVERSINE</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Runtime distances on 260 nodes</a:t>
            </a:r>
            <a:endParaRPr lang="en-US" sz="1500" dirty="0"/>
          </a:p>
        </p:txBody>
      </p:sp>
      <p:sp>
        <p:nvSpPr>
          <p:cNvPr id="13" name="chip_482"/>
          <p:cNvSpPr txBox="1"/>
          <p:nvPr/>
        </p:nvSpPr>
        <p:spPr>
          <a:xfrm>
            <a:off x="3907536" y="2761488"/>
            <a:ext cx="13045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REPORTED / SIM</a:t>
            </a:r>
            <a:endParaRPr lang="en-US" sz="1000" dirty="0"/>
          </a:p>
        </p:txBody>
      </p:sp>
      <p:sp>
        <p:nvSpPr>
          <p:cNvPr id="14" name="ln_483"/>
          <p:cNvSpPr/>
          <p:nvPr/>
        </p:nvSpPr>
        <p:spPr>
          <a:xfrm>
            <a:off x="1371600" y="3172968"/>
            <a:ext cx="914" cy="128016"/>
          </a:xfrm>
          <a:prstGeom prst="line">
            <a:avLst/>
          </a:prstGeom>
          <a:noFill/>
          <a:ln w="19050">
            <a:solidFill>
              <a:srgbClr val="00F0FF"/>
            </a:solidFill>
            <a:prstDash val="solid"/>
            <a:tailEnd type="triangle"/>
          </a:ln>
        </p:spPr>
      </p:sp>
      <p:sp>
        <p:nvSpPr>
          <p:cNvPr id="15" name="box_484"/>
          <p:cNvSpPr/>
          <p:nvPr/>
        </p:nvSpPr>
        <p:spPr>
          <a:xfrm>
            <a:off x="594360" y="3300984"/>
            <a:ext cx="4754880" cy="603504"/>
          </a:xfrm>
          <a:prstGeom prst="roundRect">
            <a:avLst>
              <a:gd name="adj" fmla="val 9091"/>
            </a:avLst>
          </a:prstGeom>
          <a:solidFill>
            <a:srgbClr val="1E293B">
              <a:alpha val="95000"/>
            </a:srgbClr>
          </a:solidFill>
          <a:ln w="9525">
            <a:solidFill>
              <a:srgbClr val="00F0FF">
                <a:alpha val="40000"/>
              </a:srgbClr>
            </a:solidFill>
            <a:prstDash val="solid"/>
          </a:ln>
        </p:spPr>
      </p:sp>
      <p:sp>
        <p:nvSpPr>
          <p:cNvPr id="16" name="txt_485"/>
          <p:cNvSpPr txBox="1"/>
          <p:nvPr/>
        </p:nvSpPr>
        <p:spPr>
          <a:xfrm>
            <a:off x="731520" y="3355848"/>
            <a:ext cx="3017520" cy="548640"/>
          </a:xfrm>
          <a:prstGeom prst="rect">
            <a:avLst/>
          </a:prstGeom>
          <a:noFill/>
          <a:ln/>
        </p:spPr>
        <p:txBody>
          <a:bodyPr wrap="square" lIns="0" tIns="0" rIns="0" bIns="0" rtlCol="0" anchor="t"/>
          <a:lstStyle/>
          <a:p>
            <a:pPr marL="0" indent="0">
              <a:buNone/>
            </a:pPr>
            <a:r>
              <a:rPr lang="en-US" sz="1300" b="1" dirty="0">
                <a:solidFill>
                  <a:srgbClr val="F8FAFC"/>
                </a:solidFill>
                <a:latin typeface="JetBrains Mono" pitchFamily="34" charset="0"/>
                <a:ea typeface="JetBrains Mono" pitchFamily="34" charset="-122"/>
                <a:cs typeface="JetBrains Mono" pitchFamily="34" charset="-120"/>
              </a:rPr>
              <a:t>DIJKSTRA</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Pad → nearest entrance</a:t>
            </a:r>
            <a:endParaRPr lang="en-US" sz="1500" dirty="0"/>
          </a:p>
        </p:txBody>
      </p:sp>
      <p:sp>
        <p:nvSpPr>
          <p:cNvPr id="17" name="chip_486"/>
          <p:cNvSpPr txBox="1"/>
          <p:nvPr/>
        </p:nvSpPr>
        <p:spPr>
          <a:xfrm>
            <a:off x="3907536" y="3493008"/>
            <a:ext cx="13045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REPORTED / SIM</a:t>
            </a:r>
            <a:endParaRPr lang="en-US" sz="1000" dirty="0"/>
          </a:p>
        </p:txBody>
      </p:sp>
      <p:sp>
        <p:nvSpPr>
          <p:cNvPr id="18" name="ln_487"/>
          <p:cNvSpPr/>
          <p:nvPr/>
        </p:nvSpPr>
        <p:spPr>
          <a:xfrm>
            <a:off x="1371600" y="3904488"/>
            <a:ext cx="914" cy="128016"/>
          </a:xfrm>
          <a:prstGeom prst="line">
            <a:avLst/>
          </a:prstGeom>
          <a:noFill/>
          <a:ln w="19050">
            <a:solidFill>
              <a:srgbClr val="00F0FF"/>
            </a:solidFill>
            <a:prstDash val="solid"/>
            <a:tailEnd type="triangle"/>
          </a:ln>
        </p:spPr>
      </p:sp>
      <p:sp>
        <p:nvSpPr>
          <p:cNvPr id="19" name="box_488"/>
          <p:cNvSpPr/>
          <p:nvPr/>
        </p:nvSpPr>
        <p:spPr>
          <a:xfrm>
            <a:off x="594360" y="4032504"/>
            <a:ext cx="4754880" cy="603504"/>
          </a:xfrm>
          <a:prstGeom prst="roundRect">
            <a:avLst>
              <a:gd name="adj" fmla="val 9091"/>
            </a:avLst>
          </a:prstGeom>
          <a:solidFill>
            <a:srgbClr val="1E293B">
              <a:alpha val="95000"/>
            </a:srgbClr>
          </a:solidFill>
          <a:ln w="9525">
            <a:solidFill>
              <a:srgbClr val="00F0FF">
                <a:alpha val="40000"/>
              </a:srgbClr>
            </a:solidFill>
            <a:prstDash val="solid"/>
          </a:ln>
        </p:spPr>
      </p:sp>
      <p:sp>
        <p:nvSpPr>
          <p:cNvPr id="20" name="txt_489"/>
          <p:cNvSpPr txBox="1"/>
          <p:nvPr/>
        </p:nvSpPr>
        <p:spPr>
          <a:xfrm>
            <a:off x="731520" y="4087368"/>
            <a:ext cx="3017520" cy="548640"/>
          </a:xfrm>
          <a:prstGeom prst="rect">
            <a:avLst/>
          </a:prstGeom>
          <a:noFill/>
          <a:ln/>
        </p:spPr>
        <p:txBody>
          <a:bodyPr wrap="square" lIns="0" tIns="0" rIns="0" bIns="0" rtlCol="0" anchor="t"/>
          <a:lstStyle/>
          <a:p>
            <a:pPr marL="0" indent="0">
              <a:buNone/>
            </a:pPr>
            <a:r>
              <a:rPr lang="en-US" sz="1300" b="1" dirty="0">
                <a:solidFill>
                  <a:srgbClr val="F8FAFC"/>
                </a:solidFill>
                <a:latin typeface="JetBrains Mono" pitchFamily="34" charset="0"/>
                <a:ea typeface="JetBrains Mono" pitchFamily="34" charset="-122"/>
                <a:cs typeface="JetBrains Mono" pitchFamily="34" charset="-120"/>
              </a:rPr>
              <a:t>LEG SPLIT ≤ 350 m</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Greedy break at last node; provisional</a:t>
            </a:r>
            <a:endParaRPr lang="en-US" sz="1500" dirty="0"/>
          </a:p>
        </p:txBody>
      </p:sp>
      <p:sp>
        <p:nvSpPr>
          <p:cNvPr id="21" name="chip_490"/>
          <p:cNvSpPr txBox="1"/>
          <p:nvPr/>
        </p:nvSpPr>
        <p:spPr>
          <a:xfrm>
            <a:off x="3907536" y="4224528"/>
            <a:ext cx="1304544" cy="237744"/>
          </a:xfrm>
          <a:prstGeom prst="roundRect">
            <a:avLst>
              <a:gd name="adj" fmla="val 19231"/>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000" b="1" dirty="0">
                <a:solidFill>
                  <a:srgbClr val="00F0FF"/>
                </a:solidFill>
                <a:latin typeface="JetBrains Mono" pitchFamily="34" charset="0"/>
                <a:ea typeface="JetBrains Mono" pitchFamily="34" charset="-122"/>
                <a:cs typeface="JetBrains Mono" pitchFamily="34" charset="-120"/>
              </a:rPr>
              <a:t>REPORTED / SIM</a:t>
            </a:r>
            <a:endParaRPr lang="en-US" sz="1000" dirty="0"/>
          </a:p>
        </p:txBody>
      </p:sp>
      <p:sp>
        <p:nvSpPr>
          <p:cNvPr id="22" name="ln_491"/>
          <p:cNvSpPr/>
          <p:nvPr/>
        </p:nvSpPr>
        <p:spPr>
          <a:xfrm>
            <a:off x="1371600" y="4636008"/>
            <a:ext cx="914" cy="128016"/>
          </a:xfrm>
          <a:prstGeom prst="line">
            <a:avLst/>
          </a:prstGeom>
          <a:noFill/>
          <a:ln w="19050">
            <a:solidFill>
              <a:srgbClr val="00F0FF"/>
            </a:solidFill>
            <a:prstDash val="solid"/>
            <a:tailEnd type="triangle"/>
          </a:ln>
        </p:spPr>
      </p:sp>
      <p:sp>
        <p:nvSpPr>
          <p:cNvPr id="23" name="box_492"/>
          <p:cNvSpPr/>
          <p:nvPr/>
        </p:nvSpPr>
        <p:spPr>
          <a:xfrm>
            <a:off x="594360" y="4764024"/>
            <a:ext cx="4754880" cy="603504"/>
          </a:xfrm>
          <a:prstGeom prst="roundRect">
            <a:avLst>
              <a:gd name="adj" fmla="val 9091"/>
            </a:avLst>
          </a:prstGeom>
          <a:solidFill>
            <a:srgbClr val="1E293B">
              <a:alpha val="95000"/>
            </a:srgbClr>
          </a:solidFill>
          <a:ln w="9525">
            <a:solidFill>
              <a:srgbClr val="00F0FF">
                <a:alpha val="40000"/>
              </a:srgbClr>
            </a:solidFill>
            <a:prstDash val="solid"/>
          </a:ln>
        </p:spPr>
      </p:sp>
      <p:sp>
        <p:nvSpPr>
          <p:cNvPr id="24" name="txt_493"/>
          <p:cNvSpPr txBox="1"/>
          <p:nvPr/>
        </p:nvSpPr>
        <p:spPr>
          <a:xfrm>
            <a:off x="731520" y="4818888"/>
            <a:ext cx="3017520" cy="548640"/>
          </a:xfrm>
          <a:prstGeom prst="rect">
            <a:avLst/>
          </a:prstGeom>
          <a:noFill/>
          <a:ln/>
        </p:spPr>
        <p:txBody>
          <a:bodyPr wrap="square" lIns="0" tIns="0" rIns="0" bIns="0" rtlCol="0" anchor="t"/>
          <a:lstStyle/>
          <a:p>
            <a:pPr marL="0" indent="0">
              <a:buNone/>
            </a:pPr>
            <a:r>
              <a:rPr lang="en-US" sz="1300" b="1" dirty="0">
                <a:solidFill>
                  <a:srgbClr val="F8FAFC"/>
                </a:solidFill>
                <a:latin typeface="JetBrains Mono" pitchFamily="34" charset="0"/>
                <a:ea typeface="JetBrains Mono" pitchFamily="34" charset="-122"/>
                <a:cs typeface="JetBrains Mono" pitchFamily="34" charset="-120"/>
              </a:rPr>
              <a:t>PAD COVERAGE</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Greedy set cover → 6 pads</a:t>
            </a:r>
            <a:endParaRPr lang="en-US" sz="1500" dirty="0"/>
          </a:p>
        </p:txBody>
      </p:sp>
      <p:sp>
        <p:nvSpPr>
          <p:cNvPr id="25" name="chip_494"/>
          <p:cNvSpPr txBox="1"/>
          <p:nvPr/>
        </p:nvSpPr>
        <p:spPr>
          <a:xfrm>
            <a:off x="4364736" y="4956048"/>
            <a:ext cx="847344" cy="237744"/>
          </a:xfrm>
          <a:prstGeom prst="roundRect">
            <a:avLst>
              <a:gd name="adj" fmla="val 19231"/>
            </a:avLst>
          </a:prstGeom>
          <a:solidFill>
            <a:srgbClr val="10B981">
              <a:alpha val="12000"/>
            </a:srgbClr>
          </a:solidFill>
          <a:ln w="9525">
            <a:solidFill>
              <a:srgbClr val="10B981">
                <a:alpha val="65000"/>
              </a:srgbClr>
            </a:solidFill>
          </a:ln>
        </p:spPr>
        <p:txBody>
          <a:bodyPr wrap="square" lIns="0" tIns="0" rIns="0" bIns="0" rtlCol="0" anchor="ctr"/>
          <a:lstStyle/>
          <a:p>
            <a:pPr marL="0" indent="0" algn="ctr">
              <a:buNone/>
            </a:pPr>
            <a:r>
              <a:rPr lang="en-US" sz="1000" b="1" dirty="0">
                <a:solidFill>
                  <a:srgbClr val="10B981"/>
                </a:solidFill>
                <a:latin typeface="JetBrains Mono" pitchFamily="34" charset="0"/>
                <a:ea typeface="JetBrains Mono" pitchFamily="34" charset="-122"/>
                <a:cs typeface="JetBrains Mono" pitchFamily="34" charset="-120"/>
              </a:rPr>
              <a:t>COMPUTED</a:t>
            </a:r>
            <a:endParaRPr lang="en-US" sz="1000" dirty="0"/>
          </a:p>
        </p:txBody>
      </p:sp>
      <p:sp>
        <p:nvSpPr>
          <p:cNvPr id="26" name="ln_495"/>
          <p:cNvSpPr/>
          <p:nvPr/>
        </p:nvSpPr>
        <p:spPr>
          <a:xfrm>
            <a:off x="1371600" y="5367528"/>
            <a:ext cx="914" cy="128016"/>
          </a:xfrm>
          <a:prstGeom prst="line">
            <a:avLst/>
          </a:prstGeom>
          <a:noFill/>
          <a:ln w="19050">
            <a:solidFill>
              <a:srgbClr val="00F0FF"/>
            </a:solidFill>
            <a:prstDash val="solid"/>
            <a:tailEnd type="triangle"/>
          </a:ln>
        </p:spPr>
      </p:sp>
      <p:sp>
        <p:nvSpPr>
          <p:cNvPr id="27" name="box_496"/>
          <p:cNvSpPr/>
          <p:nvPr/>
        </p:nvSpPr>
        <p:spPr>
          <a:xfrm>
            <a:off x="594360" y="5495544"/>
            <a:ext cx="4754880" cy="603504"/>
          </a:xfrm>
          <a:prstGeom prst="roundRect">
            <a:avLst>
              <a:gd name="adj" fmla="val 9091"/>
            </a:avLst>
          </a:prstGeom>
          <a:solidFill>
            <a:srgbClr val="1E293B">
              <a:alpha val="95000"/>
            </a:srgbClr>
          </a:solidFill>
          <a:ln w="9525">
            <a:solidFill>
              <a:srgbClr val="00F0FF">
                <a:alpha val="40000"/>
              </a:srgbClr>
            </a:solidFill>
            <a:prstDash val="solid"/>
          </a:ln>
        </p:spPr>
      </p:sp>
      <p:sp>
        <p:nvSpPr>
          <p:cNvPr id="28" name="txt_497"/>
          <p:cNvSpPr txBox="1"/>
          <p:nvPr/>
        </p:nvSpPr>
        <p:spPr>
          <a:xfrm>
            <a:off x="731520" y="5550408"/>
            <a:ext cx="3017520" cy="548640"/>
          </a:xfrm>
          <a:prstGeom prst="rect">
            <a:avLst/>
          </a:prstGeom>
          <a:noFill/>
          <a:ln/>
        </p:spPr>
        <p:txBody>
          <a:bodyPr wrap="square" lIns="0" tIns="0" rIns="0" bIns="0" rtlCol="0" anchor="t"/>
          <a:lstStyle/>
          <a:p>
            <a:pPr marL="0" indent="0">
              <a:buNone/>
            </a:pPr>
            <a:r>
              <a:rPr lang="en-US" sz="1300" b="1" dirty="0">
                <a:solidFill>
                  <a:srgbClr val="F8FAFC"/>
                </a:solidFill>
                <a:latin typeface="JetBrains Mono" pitchFamily="34" charset="0"/>
                <a:ea typeface="JetBrains Mono" pitchFamily="34" charset="-122"/>
                <a:cs typeface="JetBrains Mono" pitchFamily="34" charset="-120"/>
              </a:rPr>
              <a:t>GEOFENCE + 40 m</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App rule; fence export pending</a:t>
            </a:r>
            <a:endParaRPr lang="en-US" sz="1500" dirty="0"/>
          </a:p>
        </p:txBody>
      </p:sp>
      <p:sp>
        <p:nvSpPr>
          <p:cNvPr id="29" name="chip_498"/>
          <p:cNvSpPr txBox="1"/>
          <p:nvPr/>
        </p:nvSpPr>
        <p:spPr>
          <a:xfrm>
            <a:off x="4440936" y="5687568"/>
            <a:ext cx="771144" cy="237744"/>
          </a:xfrm>
          <a:prstGeom prst="roundRect">
            <a:avLst>
              <a:gd name="adj" fmla="val 19231"/>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1000" b="1" dirty="0">
                <a:solidFill>
                  <a:srgbClr val="F59E0B"/>
                </a:solidFill>
                <a:latin typeface="JetBrains Mono" pitchFamily="34" charset="0"/>
                <a:ea typeface="JetBrains Mono" pitchFamily="34" charset="-122"/>
                <a:cs typeface="JetBrains Mono" pitchFamily="34" charset="-120"/>
              </a:rPr>
              <a:t>PENDING</a:t>
            </a:r>
            <a:endParaRPr lang="en-US" sz="1000" dirty="0"/>
          </a:p>
        </p:txBody>
      </p:sp>
      <p:sp>
        <p:nvSpPr>
          <p:cNvPr id="30" name="box_499"/>
          <p:cNvSpPr/>
          <p:nvPr/>
        </p:nvSpPr>
        <p:spPr>
          <a:xfrm>
            <a:off x="5715000" y="2148840"/>
            <a:ext cx="6019495" cy="4069080"/>
          </a:xfrm>
          <a:prstGeom prst="roundRect">
            <a:avLst>
              <a:gd name="adj" fmla="val 1348"/>
            </a:avLst>
          </a:prstGeom>
          <a:solidFill>
            <a:srgbClr val="131C2E">
              <a:alpha val="65000"/>
            </a:srgbClr>
          </a:solidFill>
          <a:ln w="9525">
            <a:solidFill>
              <a:srgbClr val="00F0FF">
                <a:alpha val="22000"/>
              </a:srgbClr>
            </a:solidFill>
            <a:prstDash val="solid"/>
          </a:ln>
        </p:spPr>
      </p:sp>
      <p:sp>
        <p:nvSpPr>
          <p:cNvPr id="31" name="txt_500"/>
          <p:cNvSpPr txBox="1"/>
          <p:nvPr/>
        </p:nvSpPr>
        <p:spPr>
          <a:xfrm>
            <a:off x="5852160" y="2240280"/>
            <a:ext cx="5029200" cy="237744"/>
          </a:xfrm>
          <a:prstGeom prst="rect">
            <a:avLst/>
          </a:prstGeom>
          <a:noFill/>
          <a:ln/>
        </p:spPr>
        <p:txBody>
          <a:bodyPr wrap="square" lIns="0" tIns="0" rIns="0" bIns="0" rtlCol="0" anchor="t"/>
          <a:lstStyle/>
          <a:p>
            <a:pPr marL="0" indent="0">
              <a:buNone/>
            </a:pPr>
            <a:r>
              <a:rPr lang="en-US" sz="1200" b="1" dirty="0">
                <a:solidFill>
                  <a:srgbClr val="F59E0B"/>
                </a:solidFill>
                <a:latin typeface="JetBrains Mono" pitchFamily="34" charset="0"/>
                <a:ea typeface="JetBrains Mono" pitchFamily="34" charset="-122"/>
                <a:cs typeface="JetBrains Mono" pitchFamily="34" charset="-120"/>
              </a:rPr>
              <a:t>PROPOSED PACING LOGIC · SYMBOLIC THRESHOLDS</a:t>
            </a:r>
            <a:endParaRPr lang="en-US" sz="1200" dirty="0"/>
          </a:p>
        </p:txBody>
      </p:sp>
      <p:sp>
        <p:nvSpPr>
          <p:cNvPr id="32" name="box_501"/>
          <p:cNvSpPr/>
          <p:nvPr/>
        </p:nvSpPr>
        <p:spPr>
          <a:xfrm>
            <a:off x="5897880" y="2606040"/>
            <a:ext cx="1828800" cy="1188720"/>
          </a:xfrm>
          <a:prstGeom prst="roundRect">
            <a:avLst>
              <a:gd name="adj" fmla="val 4615"/>
            </a:avLst>
          </a:prstGeom>
          <a:solidFill>
            <a:srgbClr val="1E293B">
              <a:alpha val="95000"/>
            </a:srgbClr>
          </a:solidFill>
          <a:ln w="9525">
            <a:solidFill>
              <a:srgbClr val="00F0FF">
                <a:alpha val="22000"/>
              </a:srgbClr>
            </a:solidFill>
            <a:prstDash val="solid"/>
          </a:ln>
        </p:spPr>
      </p:sp>
      <p:sp>
        <p:nvSpPr>
          <p:cNvPr id="33" name="txt_502"/>
          <p:cNvSpPr txBox="1"/>
          <p:nvPr/>
        </p:nvSpPr>
        <p:spPr>
          <a:xfrm>
            <a:off x="5989320" y="2670048"/>
            <a:ext cx="1664208" cy="109728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INPUT CHECKS</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Sample age &amp; accuracy; reject impossible jumps</a:t>
            </a:r>
            <a:endParaRPr lang="en-US" sz="1500" dirty="0"/>
          </a:p>
        </p:txBody>
      </p:sp>
      <p:sp>
        <p:nvSpPr>
          <p:cNvPr id="34" name="box_503"/>
          <p:cNvSpPr/>
          <p:nvPr/>
        </p:nvSpPr>
        <p:spPr>
          <a:xfrm>
            <a:off x="7955280" y="2606040"/>
            <a:ext cx="3547872" cy="1188720"/>
          </a:xfrm>
          <a:prstGeom prst="roundRect">
            <a:avLst>
              <a:gd name="adj" fmla="val 4615"/>
            </a:avLst>
          </a:prstGeom>
          <a:solidFill>
            <a:srgbClr val="1E293B">
              <a:alpha val="95000"/>
            </a:srgbClr>
          </a:solidFill>
          <a:ln w="9525">
            <a:solidFill>
              <a:srgbClr val="00F0FF">
                <a:alpha val="22000"/>
              </a:srgbClr>
            </a:solidFill>
            <a:prstDash val="solid"/>
          </a:ln>
        </p:spPr>
      </p:sp>
      <p:sp>
        <p:nvSpPr>
          <p:cNvPr id="35" name="txt_504"/>
          <p:cNvSpPr txBox="1"/>
          <p:nvPr/>
        </p:nvSpPr>
        <p:spPr>
          <a:xfrm>
            <a:off x="8046720" y="2670048"/>
            <a:ext cx="3383280" cy="109728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ROUTE-PROGRESS PROJECTION</a:t>
            </a:r>
            <a:endParaRPr lang="en-US" sz="1500" dirty="0"/>
          </a:p>
          <a:p>
            <a:pPr marL="0" indent="0">
              <a:buNone/>
            </a:pPr>
            <a:r>
              <a:rPr lang="en-US" sz="1400" dirty="0">
                <a:solidFill>
                  <a:srgbClr val="F8FAFC"/>
                </a:solidFill>
                <a:latin typeface="JetBrains Mono" pitchFamily="34" charset="0"/>
                <a:ea typeface="JetBrains Mono" pitchFamily="34" charset="-122"/>
                <a:cs typeface="JetBrains Mono" pitchFamily="34" charset="-120"/>
              </a:rPr>
              <a:t>gap = s_aircraft − s_visitor</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Progress along the route, not straight-line distance</a:t>
            </a:r>
            <a:endParaRPr lang="en-US" sz="1500" dirty="0"/>
          </a:p>
        </p:txBody>
      </p:sp>
      <p:sp>
        <p:nvSpPr>
          <p:cNvPr id="36" name="ln_505"/>
          <p:cNvSpPr/>
          <p:nvPr/>
        </p:nvSpPr>
        <p:spPr>
          <a:xfrm>
            <a:off x="7726680" y="3200400"/>
            <a:ext cx="228600" cy="914"/>
          </a:xfrm>
          <a:prstGeom prst="line">
            <a:avLst/>
          </a:prstGeom>
          <a:noFill/>
          <a:ln w="19050">
            <a:solidFill>
              <a:srgbClr val="00F0FF"/>
            </a:solidFill>
            <a:prstDash val="solid"/>
            <a:tailEnd type="triangle"/>
          </a:ln>
        </p:spPr>
      </p:sp>
      <p:sp>
        <p:nvSpPr>
          <p:cNvPr id="37" name="box_506"/>
          <p:cNvSpPr/>
          <p:nvPr/>
        </p:nvSpPr>
        <p:spPr>
          <a:xfrm>
            <a:off x="5897880" y="3977640"/>
            <a:ext cx="1691640" cy="914400"/>
          </a:xfrm>
          <a:prstGeom prst="roundRect">
            <a:avLst>
              <a:gd name="adj" fmla="val 6000"/>
            </a:avLst>
          </a:prstGeom>
          <a:solidFill>
            <a:srgbClr val="00F0FF">
              <a:alpha val="10000"/>
            </a:srgbClr>
          </a:solidFill>
          <a:ln w="9525">
            <a:solidFill>
              <a:srgbClr val="00F0FF">
                <a:alpha val="70000"/>
              </a:srgbClr>
            </a:solidFill>
            <a:prstDash val="solid"/>
          </a:ln>
        </p:spPr>
      </p:sp>
      <p:sp>
        <p:nvSpPr>
          <p:cNvPr id="38" name="txt_507"/>
          <p:cNvSpPr txBox="1"/>
          <p:nvPr/>
        </p:nvSpPr>
        <p:spPr>
          <a:xfrm>
            <a:off x="5989320" y="4050792"/>
            <a:ext cx="1536192" cy="914400"/>
          </a:xfrm>
          <a:prstGeom prst="rect">
            <a:avLst/>
          </a:prstGeom>
          <a:noFill/>
          <a:ln/>
        </p:spPr>
        <p:txBody>
          <a:bodyPr wrap="square" lIns="0" tIns="0" rIns="0" bIns="0" rtlCol="0" anchor="t"/>
          <a:lstStyle/>
          <a:p>
            <a:pPr marL="0" indent="0">
              <a:buNone/>
            </a:pPr>
            <a:r>
              <a:rPr lang="en-US" sz="1400" b="1" dirty="0">
                <a:solidFill>
                  <a:srgbClr val="00F0FF"/>
                </a:solidFill>
                <a:latin typeface="JetBrains Mono" pitchFamily="34" charset="0"/>
                <a:ea typeface="JetBrains Mono" pitchFamily="34" charset="-122"/>
                <a:cs typeface="JetBrains Mono" pitchFamily="34" charset="-120"/>
              </a:rPr>
              <a:t>LEAD</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gap ≤ L_hold: fly at visitor pace</a:t>
            </a:r>
            <a:endParaRPr lang="en-US" sz="1500" dirty="0"/>
          </a:p>
        </p:txBody>
      </p:sp>
      <p:sp>
        <p:nvSpPr>
          <p:cNvPr id="39" name="box_508"/>
          <p:cNvSpPr/>
          <p:nvPr/>
        </p:nvSpPr>
        <p:spPr>
          <a:xfrm>
            <a:off x="7955280" y="3977640"/>
            <a:ext cx="1691640" cy="914400"/>
          </a:xfrm>
          <a:prstGeom prst="roundRect">
            <a:avLst>
              <a:gd name="adj" fmla="val 6000"/>
            </a:avLst>
          </a:prstGeom>
          <a:solidFill>
            <a:srgbClr val="F59E0B">
              <a:alpha val="12000"/>
            </a:srgbClr>
          </a:solidFill>
          <a:ln w="9525">
            <a:solidFill>
              <a:srgbClr val="F59E0B">
                <a:alpha val="70000"/>
              </a:srgbClr>
            </a:solidFill>
            <a:prstDash val="solid"/>
          </a:ln>
        </p:spPr>
      </p:sp>
      <p:sp>
        <p:nvSpPr>
          <p:cNvPr id="40" name="txt_509"/>
          <p:cNvSpPr txBox="1"/>
          <p:nvPr/>
        </p:nvSpPr>
        <p:spPr>
          <a:xfrm>
            <a:off x="8046720" y="4050792"/>
            <a:ext cx="1536192" cy="914400"/>
          </a:xfrm>
          <a:prstGeom prst="rect">
            <a:avLst/>
          </a:prstGeom>
          <a:noFill/>
          <a:ln/>
        </p:spPr>
        <p:txBody>
          <a:bodyPr wrap="square" lIns="0" tIns="0" rIns="0" bIns="0" rtlCol="0" anchor="t"/>
          <a:lstStyle/>
          <a:p>
            <a:pPr marL="0" indent="0">
              <a:buNone/>
            </a:pPr>
            <a:r>
              <a:rPr lang="en-US" sz="1400" b="1" dirty="0">
                <a:solidFill>
                  <a:srgbClr val="F59E0B"/>
                </a:solidFill>
                <a:latin typeface="JetBrains Mono" pitchFamily="34" charset="0"/>
                <a:ea typeface="JetBrains Mono" pitchFamily="34" charset="-122"/>
                <a:cs typeface="JetBrains Mono" pitchFamily="34" charset="-120"/>
              </a:rPr>
              <a:t>HOLD</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gap &gt; L_hold or visitor stopped</a:t>
            </a:r>
            <a:endParaRPr lang="en-US" sz="1500" dirty="0"/>
          </a:p>
        </p:txBody>
      </p:sp>
      <p:sp>
        <p:nvSpPr>
          <p:cNvPr id="41" name="box_510"/>
          <p:cNvSpPr/>
          <p:nvPr/>
        </p:nvSpPr>
        <p:spPr>
          <a:xfrm>
            <a:off x="10012680" y="3977640"/>
            <a:ext cx="1490472" cy="914400"/>
          </a:xfrm>
          <a:prstGeom prst="roundRect">
            <a:avLst>
              <a:gd name="adj" fmla="val 6000"/>
            </a:avLst>
          </a:prstGeom>
          <a:solidFill>
            <a:srgbClr val="EF4444">
              <a:alpha val="12000"/>
            </a:srgbClr>
          </a:solidFill>
          <a:ln w="9525">
            <a:solidFill>
              <a:srgbClr val="EF4444">
                <a:alpha val="70000"/>
              </a:srgbClr>
            </a:solidFill>
            <a:prstDash val="solid"/>
          </a:ln>
        </p:spPr>
      </p:sp>
      <p:sp>
        <p:nvSpPr>
          <p:cNvPr id="42" name="txt_511"/>
          <p:cNvSpPr txBox="1"/>
          <p:nvPr/>
        </p:nvSpPr>
        <p:spPr>
          <a:xfrm>
            <a:off x="10104120" y="4050792"/>
            <a:ext cx="1353312" cy="914400"/>
          </a:xfrm>
          <a:prstGeom prst="rect">
            <a:avLst/>
          </a:prstGeom>
          <a:noFill/>
          <a:ln/>
        </p:spPr>
        <p:txBody>
          <a:bodyPr wrap="square" lIns="0" tIns="0" rIns="0" bIns="0" rtlCol="0" anchor="t"/>
          <a:lstStyle/>
          <a:p>
            <a:pPr marL="0" indent="0">
              <a:buNone/>
            </a:pPr>
            <a:r>
              <a:rPr lang="en-US" sz="1400" b="1" dirty="0">
                <a:solidFill>
                  <a:srgbClr val="EF4444"/>
                </a:solidFill>
                <a:latin typeface="JetBrains Mono" pitchFamily="34" charset="0"/>
                <a:ea typeface="JetBrains Mono" pitchFamily="34" charset="-122"/>
                <a:cs typeface="JetBrains Mono" pitchFamily="34" charset="-120"/>
              </a:rPr>
              <a:t>RTL</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stale &gt; 30 s after HOLD</a:t>
            </a:r>
            <a:endParaRPr lang="en-US" sz="1500" dirty="0"/>
          </a:p>
        </p:txBody>
      </p:sp>
      <p:sp>
        <p:nvSpPr>
          <p:cNvPr id="43" name="ln_512"/>
          <p:cNvSpPr/>
          <p:nvPr/>
        </p:nvSpPr>
        <p:spPr>
          <a:xfrm>
            <a:off x="7589520" y="4343400"/>
            <a:ext cx="365760" cy="914"/>
          </a:xfrm>
          <a:prstGeom prst="line">
            <a:avLst/>
          </a:prstGeom>
          <a:noFill/>
          <a:ln w="19050">
            <a:solidFill>
              <a:srgbClr val="F59E0B"/>
            </a:solidFill>
            <a:prstDash val="solid"/>
            <a:tailEnd type="triangle"/>
          </a:ln>
        </p:spPr>
      </p:sp>
      <p:sp>
        <p:nvSpPr>
          <p:cNvPr id="44" name="ln_513"/>
          <p:cNvSpPr/>
          <p:nvPr/>
        </p:nvSpPr>
        <p:spPr>
          <a:xfrm flipH="1">
            <a:off x="7589520" y="4709160"/>
            <a:ext cx="365760" cy="914"/>
          </a:xfrm>
          <a:prstGeom prst="line">
            <a:avLst/>
          </a:prstGeom>
          <a:noFill/>
          <a:ln w="19050">
            <a:solidFill>
              <a:srgbClr val="00F0FF"/>
            </a:solidFill>
            <a:prstDash val="solid"/>
            <a:tailEnd type="triangle"/>
          </a:ln>
        </p:spPr>
      </p:sp>
      <p:sp>
        <p:nvSpPr>
          <p:cNvPr id="45" name="ln_514"/>
          <p:cNvSpPr/>
          <p:nvPr/>
        </p:nvSpPr>
        <p:spPr>
          <a:xfrm>
            <a:off x="9646920" y="4507992"/>
            <a:ext cx="365760" cy="914"/>
          </a:xfrm>
          <a:prstGeom prst="line">
            <a:avLst/>
          </a:prstGeom>
          <a:noFill/>
          <a:ln w="19050">
            <a:solidFill>
              <a:srgbClr val="EF4444"/>
            </a:solidFill>
            <a:prstDash val="solid"/>
            <a:tailEnd type="triangle"/>
          </a:ln>
        </p:spPr>
      </p:sp>
      <p:sp>
        <p:nvSpPr>
          <p:cNvPr id="46" name="txt_515"/>
          <p:cNvSpPr txBox="1"/>
          <p:nvPr/>
        </p:nvSpPr>
        <p:spPr>
          <a:xfrm>
            <a:off x="5897880" y="4983480"/>
            <a:ext cx="5653735" cy="50292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HYSTERESIS  </a:t>
            </a:r>
            <a:r>
              <a:rPr lang="en-US" sz="1400" dirty="0">
                <a:solidFill>
                  <a:srgbClr val="F8FAFC"/>
                </a:solidFill>
                <a:latin typeface="Inter" pitchFamily="34" charset="0"/>
                <a:ea typeface="Inter" pitchFamily="34" charset="-122"/>
                <a:cs typeface="Inter" pitchFamily="34" charset="-120"/>
              </a:rPr>
              <a:t>RESUME only when gap &lt; L_resume &lt; L_hold, so states do not oscillate.</a:t>
            </a:r>
            <a:endParaRPr lang="en-US" sz="1500" dirty="0"/>
          </a:p>
        </p:txBody>
      </p:sp>
      <p:sp>
        <p:nvSpPr>
          <p:cNvPr id="47" name="box_516"/>
          <p:cNvSpPr/>
          <p:nvPr/>
        </p:nvSpPr>
        <p:spPr>
          <a:xfrm>
            <a:off x="5897880" y="5687568"/>
            <a:ext cx="5653735" cy="402336"/>
          </a:xfrm>
          <a:prstGeom prst="roundRect">
            <a:avLst>
              <a:gd name="adj" fmla="val 13636"/>
            </a:avLst>
          </a:prstGeom>
          <a:solidFill>
            <a:srgbClr val="1E293B">
              <a:alpha val="95000"/>
            </a:srgbClr>
          </a:solidFill>
          <a:ln w="9525">
            <a:solidFill>
              <a:srgbClr val="94A3B8">
                <a:alpha val="50000"/>
              </a:srgbClr>
            </a:solidFill>
            <a:prstDash val="solid"/>
          </a:ln>
        </p:spPr>
      </p:sp>
      <p:sp>
        <p:nvSpPr>
          <p:cNvPr id="48" name="txt_517"/>
          <p:cNvSpPr txBox="1"/>
          <p:nvPr/>
        </p:nvSpPr>
        <p:spPr>
          <a:xfrm>
            <a:off x="6007608" y="5687568"/>
            <a:ext cx="5470855" cy="402336"/>
          </a:xfrm>
          <a:prstGeom prst="rect">
            <a:avLst/>
          </a:prstGeom>
          <a:noFill/>
          <a:ln/>
        </p:spPr>
        <p:txBody>
          <a:bodyPr wrap="square" lIns="0" tIns="0" rIns="0" bIns="0" rtlCol="0" anchor="ctr"/>
          <a:lstStyle/>
          <a:p>
            <a:pPr marL="0" indent="0">
              <a:buNone/>
            </a:pPr>
            <a:r>
              <a:rPr lang="en-US" sz="1200" b="1" dirty="0">
                <a:solidFill>
                  <a:srgbClr val="94A3B8"/>
                </a:solidFill>
                <a:latin typeface="JetBrains Mono" pitchFamily="34" charset="0"/>
                <a:ea typeface="JetBrains Mono" pitchFamily="34" charset="-122"/>
                <a:cs typeface="JetBrains Mono" pitchFamily="34" charset="-120"/>
              </a:rPr>
              <a:t>PRECEDENCE  </a:t>
            </a:r>
            <a:r>
              <a:rPr lang="en-US" sz="1300" dirty="0">
                <a:solidFill>
                  <a:srgbClr val="F8FAFC"/>
                </a:solidFill>
                <a:latin typeface="JetBrains Mono" pitchFamily="34" charset="0"/>
                <a:ea typeface="JetBrains Mono" pitchFamily="34" charset="-122"/>
                <a:cs typeface="JetBrains Mono" pitchFamily="34" charset="-120"/>
              </a:rPr>
              <a:t>failsafe &gt; geofence &gt; stale data &gt; pacing</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anim calcmode="lin" valueType="num">
                                      <p:cBhvr>
                                        <p:cTn id="8" dur="300" decel="100000" fill="hold"/>
                                        <p:tgtEl>
                                          <p:spTgt spid="11"/>
                                        </p:tgtEl>
                                        <p:attrNameLst>
                                          <p:attrName>ppt_x</p:attrName>
                                        </p:attrNameLst>
                                      </p:cBhvr>
                                      <p:tavLst>
                                        <p:tav tm="0">
                                          <p:val>
                                            <p:strVal val="#ppt_x"/>
                                          </p:val>
                                        </p:tav>
                                        <p:tav tm="100000">
                                          <p:val>
                                            <p:strVal val="#ppt_x"/>
                                          </p:val>
                                        </p:tav>
                                      </p:tavLst>
                                    </p:anim>
                                    <p:anim calcmode="lin" valueType="num">
                                      <p:cBhvr>
                                        <p:cTn id="9" dur="300" decel="100000" fill="hold"/>
                                        <p:tgtEl>
                                          <p:spTgt spid="11"/>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00"/>
                                        <p:tgtEl>
                                          <p:spTgt spid="12"/>
                                        </p:tgtEl>
                                      </p:cBhvr>
                                    </p:animEffect>
                                    <p:anim calcmode="lin" valueType="num">
                                      <p:cBhvr>
                                        <p:cTn id="13" dur="300" decel="100000" fill="hold"/>
                                        <p:tgtEl>
                                          <p:spTgt spid="12"/>
                                        </p:tgtEl>
                                        <p:attrNameLst>
                                          <p:attrName>ppt_x</p:attrName>
                                        </p:attrNameLst>
                                      </p:cBhvr>
                                      <p:tavLst>
                                        <p:tav tm="0">
                                          <p:val>
                                            <p:strVal val="#ppt_x"/>
                                          </p:val>
                                        </p:tav>
                                        <p:tav tm="100000">
                                          <p:val>
                                            <p:strVal val="#ppt_x"/>
                                          </p:val>
                                        </p:tav>
                                      </p:tavLst>
                                    </p:anim>
                                    <p:anim calcmode="lin" valueType="num">
                                      <p:cBhvr>
                                        <p:cTn id="14" dur="300" decel="100000" fill="hold"/>
                                        <p:tgtEl>
                                          <p:spTgt spid="12"/>
                                        </p:tgtEl>
                                        <p:attrNameLst>
                                          <p:attrName>ppt_y</p:attrName>
                                        </p:attrNameLst>
                                      </p:cBhvr>
                                      <p:tavLst>
                                        <p:tav tm="0">
                                          <p:val>
                                            <p:strVal val="#ppt_y+0.01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00"/>
                                        <p:tgtEl>
                                          <p:spTgt spid="13"/>
                                        </p:tgtEl>
                                      </p:cBhvr>
                                    </p:animEffect>
                                    <p:anim calcmode="lin" valueType="num">
                                      <p:cBhvr>
                                        <p:cTn id="18" dur="300" decel="100000" fill="hold"/>
                                        <p:tgtEl>
                                          <p:spTgt spid="13"/>
                                        </p:tgtEl>
                                        <p:attrNameLst>
                                          <p:attrName>ppt_x</p:attrName>
                                        </p:attrNameLst>
                                      </p:cBhvr>
                                      <p:tavLst>
                                        <p:tav tm="0">
                                          <p:val>
                                            <p:strVal val="#ppt_x"/>
                                          </p:val>
                                        </p:tav>
                                        <p:tav tm="100000">
                                          <p:val>
                                            <p:strVal val="#ppt_x"/>
                                          </p:val>
                                        </p:tav>
                                      </p:tavLst>
                                    </p:anim>
                                    <p:anim calcmode="lin" valueType="num">
                                      <p:cBhvr>
                                        <p:cTn id="19" dur="300" decel="100000" fill="hold"/>
                                        <p:tgtEl>
                                          <p:spTgt spid="13"/>
                                        </p:tgtEl>
                                        <p:attrNameLst>
                                          <p:attrName>ppt_y</p:attrName>
                                        </p:attrNameLst>
                                      </p:cBhvr>
                                      <p:tavLst>
                                        <p:tav tm="0">
                                          <p:val>
                                            <p:strVal val="#ppt_y+0.016"/>
                                          </p:val>
                                        </p:tav>
                                        <p:tav tm="100000">
                                          <p:val>
                                            <p:strVal val="#ppt_y"/>
                                          </p:val>
                                        </p:tav>
                                      </p:tavLst>
                                    </p:anim>
                                  </p:childTnLst>
                                </p:cTn>
                              </p:par>
                              <p:par>
                                <p:cTn id="20" presetID="22" presetClass="entr" presetSubtype="4" fill="hold" nodeType="withEffect">
                                  <p:stCondLst>
                                    <p:cond delay="10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200"/>
                                        <p:tgtEl>
                                          <p:spTgt spid="14"/>
                                        </p:tgtEl>
                                      </p:cBhvr>
                                    </p:animEffect>
                                  </p:childTnLst>
                                </p:cTn>
                              </p:par>
                            </p:childTnLst>
                          </p:cTn>
                        </p:par>
                        <p:par>
                          <p:cTn id="23" fill="hold">
                            <p:stCondLst>
                              <p:cond delay="300"/>
                            </p:stCondLst>
                            <p:childTnLst>
                              <p:par>
                                <p:cTn id="24" presetID="42"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300"/>
                                        <p:tgtEl>
                                          <p:spTgt spid="15"/>
                                        </p:tgtEl>
                                      </p:cBhvr>
                                    </p:animEffect>
                                    <p:anim calcmode="lin" valueType="num">
                                      <p:cBhvr>
                                        <p:cTn id="27" dur="300" decel="100000" fill="hold"/>
                                        <p:tgtEl>
                                          <p:spTgt spid="15"/>
                                        </p:tgtEl>
                                        <p:attrNameLst>
                                          <p:attrName>ppt_x</p:attrName>
                                        </p:attrNameLst>
                                      </p:cBhvr>
                                      <p:tavLst>
                                        <p:tav tm="0">
                                          <p:val>
                                            <p:strVal val="#ppt_x"/>
                                          </p:val>
                                        </p:tav>
                                        <p:tav tm="100000">
                                          <p:val>
                                            <p:strVal val="#ppt_x"/>
                                          </p:val>
                                        </p:tav>
                                      </p:tavLst>
                                    </p:anim>
                                    <p:anim calcmode="lin" valueType="num">
                                      <p:cBhvr>
                                        <p:cTn id="28" dur="300" decel="100000" fill="hold"/>
                                        <p:tgtEl>
                                          <p:spTgt spid="15"/>
                                        </p:tgtEl>
                                        <p:attrNameLst>
                                          <p:attrName>ppt_y</p:attrName>
                                        </p:attrNameLst>
                                      </p:cBhvr>
                                      <p:tavLst>
                                        <p:tav tm="0">
                                          <p:val>
                                            <p:strVal val="#ppt_y+0.01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anim calcmode="lin" valueType="num">
                                      <p:cBhvr>
                                        <p:cTn id="32" dur="300" decel="100000" fill="hold"/>
                                        <p:tgtEl>
                                          <p:spTgt spid="16"/>
                                        </p:tgtEl>
                                        <p:attrNameLst>
                                          <p:attrName>ppt_x</p:attrName>
                                        </p:attrNameLst>
                                      </p:cBhvr>
                                      <p:tavLst>
                                        <p:tav tm="0">
                                          <p:val>
                                            <p:strVal val="#ppt_x"/>
                                          </p:val>
                                        </p:tav>
                                        <p:tav tm="100000">
                                          <p:val>
                                            <p:strVal val="#ppt_x"/>
                                          </p:val>
                                        </p:tav>
                                      </p:tavLst>
                                    </p:anim>
                                    <p:anim calcmode="lin" valueType="num">
                                      <p:cBhvr>
                                        <p:cTn id="33" dur="300" decel="100000" fill="hold"/>
                                        <p:tgtEl>
                                          <p:spTgt spid="16"/>
                                        </p:tgtEl>
                                        <p:attrNameLst>
                                          <p:attrName>ppt_y</p:attrName>
                                        </p:attrNameLst>
                                      </p:cBhvr>
                                      <p:tavLst>
                                        <p:tav tm="0">
                                          <p:val>
                                            <p:strVal val="#ppt_y+0.01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anim calcmode="lin" valueType="num">
                                      <p:cBhvr>
                                        <p:cTn id="37" dur="300" decel="100000" fill="hold"/>
                                        <p:tgtEl>
                                          <p:spTgt spid="17"/>
                                        </p:tgtEl>
                                        <p:attrNameLst>
                                          <p:attrName>ppt_x</p:attrName>
                                        </p:attrNameLst>
                                      </p:cBhvr>
                                      <p:tavLst>
                                        <p:tav tm="0">
                                          <p:val>
                                            <p:strVal val="#ppt_x"/>
                                          </p:val>
                                        </p:tav>
                                        <p:tav tm="100000">
                                          <p:val>
                                            <p:strVal val="#ppt_x"/>
                                          </p:val>
                                        </p:tav>
                                      </p:tavLst>
                                    </p:anim>
                                    <p:anim calcmode="lin" valueType="num">
                                      <p:cBhvr>
                                        <p:cTn id="38" dur="300" decel="100000" fill="hold"/>
                                        <p:tgtEl>
                                          <p:spTgt spid="17"/>
                                        </p:tgtEl>
                                        <p:attrNameLst>
                                          <p:attrName>ppt_y</p:attrName>
                                        </p:attrNameLst>
                                      </p:cBhvr>
                                      <p:tavLst>
                                        <p:tav tm="0">
                                          <p:val>
                                            <p:strVal val="#ppt_y+0.016"/>
                                          </p:val>
                                        </p:tav>
                                        <p:tav tm="100000">
                                          <p:val>
                                            <p:strVal val="#ppt_y"/>
                                          </p:val>
                                        </p:tav>
                                      </p:tavLst>
                                    </p:anim>
                                  </p:childTnLst>
                                </p:cTn>
                              </p:par>
                              <p:par>
                                <p:cTn id="39" presetID="22" presetClass="entr" presetSubtype="4" fill="hold" nodeType="withEffect">
                                  <p:stCondLst>
                                    <p:cond delay="10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200"/>
                                        <p:tgtEl>
                                          <p:spTgt spid="18"/>
                                        </p:tgtEl>
                                      </p:cBhvr>
                                    </p:animEffect>
                                  </p:childTnLst>
                                </p:cTn>
                              </p:par>
                            </p:childTnLst>
                          </p:cTn>
                        </p:par>
                        <p:par>
                          <p:cTn id="42" fill="hold">
                            <p:stCondLst>
                              <p:cond delay="600"/>
                            </p:stCondLst>
                            <p:childTnLst>
                              <p:par>
                                <p:cTn id="43" presetID="42" presetClass="entr" presetSubtype="0" fill="hold"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300"/>
                                        <p:tgtEl>
                                          <p:spTgt spid="19"/>
                                        </p:tgtEl>
                                      </p:cBhvr>
                                    </p:animEffect>
                                    <p:anim calcmode="lin" valueType="num">
                                      <p:cBhvr>
                                        <p:cTn id="46" dur="300" decel="100000" fill="hold"/>
                                        <p:tgtEl>
                                          <p:spTgt spid="19"/>
                                        </p:tgtEl>
                                        <p:attrNameLst>
                                          <p:attrName>ppt_x</p:attrName>
                                        </p:attrNameLst>
                                      </p:cBhvr>
                                      <p:tavLst>
                                        <p:tav tm="0">
                                          <p:val>
                                            <p:strVal val="#ppt_x"/>
                                          </p:val>
                                        </p:tav>
                                        <p:tav tm="100000">
                                          <p:val>
                                            <p:strVal val="#ppt_x"/>
                                          </p:val>
                                        </p:tav>
                                      </p:tavLst>
                                    </p:anim>
                                    <p:anim calcmode="lin" valueType="num">
                                      <p:cBhvr>
                                        <p:cTn id="47" dur="300" decel="100000" fill="hold"/>
                                        <p:tgtEl>
                                          <p:spTgt spid="19"/>
                                        </p:tgtEl>
                                        <p:attrNameLst>
                                          <p:attrName>ppt_y</p:attrName>
                                        </p:attrNameLst>
                                      </p:cBhvr>
                                      <p:tavLst>
                                        <p:tav tm="0">
                                          <p:val>
                                            <p:strVal val="#ppt_y+0.01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anim calcmode="lin" valueType="num">
                                      <p:cBhvr>
                                        <p:cTn id="51" dur="300" decel="100000" fill="hold"/>
                                        <p:tgtEl>
                                          <p:spTgt spid="20"/>
                                        </p:tgtEl>
                                        <p:attrNameLst>
                                          <p:attrName>ppt_x</p:attrName>
                                        </p:attrNameLst>
                                      </p:cBhvr>
                                      <p:tavLst>
                                        <p:tav tm="0">
                                          <p:val>
                                            <p:strVal val="#ppt_x"/>
                                          </p:val>
                                        </p:tav>
                                        <p:tav tm="100000">
                                          <p:val>
                                            <p:strVal val="#ppt_x"/>
                                          </p:val>
                                        </p:tav>
                                      </p:tavLst>
                                    </p:anim>
                                    <p:anim calcmode="lin" valueType="num">
                                      <p:cBhvr>
                                        <p:cTn id="52" dur="300" decel="100000" fill="hold"/>
                                        <p:tgtEl>
                                          <p:spTgt spid="20"/>
                                        </p:tgtEl>
                                        <p:attrNameLst>
                                          <p:attrName>ppt_y</p:attrName>
                                        </p:attrNameLst>
                                      </p:cBhvr>
                                      <p:tavLst>
                                        <p:tav tm="0">
                                          <p:val>
                                            <p:strVal val="#ppt_y+0.01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anim calcmode="lin" valueType="num">
                                      <p:cBhvr>
                                        <p:cTn id="56" dur="300" decel="100000" fill="hold"/>
                                        <p:tgtEl>
                                          <p:spTgt spid="21"/>
                                        </p:tgtEl>
                                        <p:attrNameLst>
                                          <p:attrName>ppt_x</p:attrName>
                                        </p:attrNameLst>
                                      </p:cBhvr>
                                      <p:tavLst>
                                        <p:tav tm="0">
                                          <p:val>
                                            <p:strVal val="#ppt_x"/>
                                          </p:val>
                                        </p:tav>
                                        <p:tav tm="100000">
                                          <p:val>
                                            <p:strVal val="#ppt_x"/>
                                          </p:val>
                                        </p:tav>
                                      </p:tavLst>
                                    </p:anim>
                                    <p:anim calcmode="lin" valueType="num">
                                      <p:cBhvr>
                                        <p:cTn id="57" dur="300" decel="100000" fill="hold"/>
                                        <p:tgtEl>
                                          <p:spTgt spid="21"/>
                                        </p:tgtEl>
                                        <p:attrNameLst>
                                          <p:attrName>ppt_y</p:attrName>
                                        </p:attrNameLst>
                                      </p:cBhvr>
                                      <p:tavLst>
                                        <p:tav tm="0">
                                          <p:val>
                                            <p:strVal val="#ppt_y+0.016"/>
                                          </p:val>
                                        </p:tav>
                                        <p:tav tm="100000">
                                          <p:val>
                                            <p:strVal val="#ppt_y"/>
                                          </p:val>
                                        </p:tav>
                                      </p:tavLst>
                                    </p:anim>
                                  </p:childTnLst>
                                </p:cTn>
                              </p:par>
                              <p:par>
                                <p:cTn id="58" presetID="22" presetClass="entr" presetSubtype="4" fill="hold" nodeType="withEffect">
                                  <p:stCondLst>
                                    <p:cond delay="100"/>
                                  </p:stCondLst>
                                  <p:childTnLst>
                                    <p:set>
                                      <p:cBhvr>
                                        <p:cTn id="59" dur="1" fill="hold">
                                          <p:stCondLst>
                                            <p:cond delay="0"/>
                                          </p:stCondLst>
                                        </p:cTn>
                                        <p:tgtEl>
                                          <p:spTgt spid="22"/>
                                        </p:tgtEl>
                                        <p:attrNameLst>
                                          <p:attrName>style.visibility</p:attrName>
                                        </p:attrNameLst>
                                      </p:cBhvr>
                                      <p:to>
                                        <p:strVal val="visible"/>
                                      </p:to>
                                    </p:set>
                                    <p:animEffect transition="in" filter="wipe(down)">
                                      <p:cBhvr>
                                        <p:cTn id="60" dur="200"/>
                                        <p:tgtEl>
                                          <p:spTgt spid="22"/>
                                        </p:tgtEl>
                                      </p:cBhvr>
                                    </p:animEffect>
                                  </p:childTnLst>
                                </p:cTn>
                              </p:par>
                            </p:childTnLst>
                          </p:cTn>
                        </p:par>
                        <p:par>
                          <p:cTn id="61" fill="hold">
                            <p:stCondLst>
                              <p:cond delay="900"/>
                            </p:stCondLst>
                            <p:childTnLst>
                              <p:par>
                                <p:cTn id="62" presetID="42" presetClass="entr" presetSubtype="0" fill="hold"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00"/>
                                        <p:tgtEl>
                                          <p:spTgt spid="23"/>
                                        </p:tgtEl>
                                      </p:cBhvr>
                                    </p:animEffect>
                                    <p:anim calcmode="lin" valueType="num">
                                      <p:cBhvr>
                                        <p:cTn id="65" dur="300" decel="100000" fill="hold"/>
                                        <p:tgtEl>
                                          <p:spTgt spid="23"/>
                                        </p:tgtEl>
                                        <p:attrNameLst>
                                          <p:attrName>ppt_x</p:attrName>
                                        </p:attrNameLst>
                                      </p:cBhvr>
                                      <p:tavLst>
                                        <p:tav tm="0">
                                          <p:val>
                                            <p:strVal val="#ppt_x"/>
                                          </p:val>
                                        </p:tav>
                                        <p:tav tm="100000">
                                          <p:val>
                                            <p:strVal val="#ppt_x"/>
                                          </p:val>
                                        </p:tav>
                                      </p:tavLst>
                                    </p:anim>
                                    <p:anim calcmode="lin" valueType="num">
                                      <p:cBhvr>
                                        <p:cTn id="66" dur="300" decel="100000" fill="hold"/>
                                        <p:tgtEl>
                                          <p:spTgt spid="23"/>
                                        </p:tgtEl>
                                        <p:attrNameLst>
                                          <p:attrName>ppt_y</p:attrName>
                                        </p:attrNameLst>
                                      </p:cBhvr>
                                      <p:tavLst>
                                        <p:tav tm="0">
                                          <p:val>
                                            <p:strVal val="#ppt_y+0.01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300"/>
                                        <p:tgtEl>
                                          <p:spTgt spid="24"/>
                                        </p:tgtEl>
                                      </p:cBhvr>
                                    </p:animEffect>
                                    <p:anim calcmode="lin" valueType="num">
                                      <p:cBhvr>
                                        <p:cTn id="70" dur="300" decel="100000" fill="hold"/>
                                        <p:tgtEl>
                                          <p:spTgt spid="24"/>
                                        </p:tgtEl>
                                        <p:attrNameLst>
                                          <p:attrName>ppt_x</p:attrName>
                                        </p:attrNameLst>
                                      </p:cBhvr>
                                      <p:tavLst>
                                        <p:tav tm="0">
                                          <p:val>
                                            <p:strVal val="#ppt_x"/>
                                          </p:val>
                                        </p:tav>
                                        <p:tav tm="100000">
                                          <p:val>
                                            <p:strVal val="#ppt_x"/>
                                          </p:val>
                                        </p:tav>
                                      </p:tavLst>
                                    </p:anim>
                                    <p:anim calcmode="lin" valueType="num">
                                      <p:cBhvr>
                                        <p:cTn id="71" dur="300" decel="100000" fill="hold"/>
                                        <p:tgtEl>
                                          <p:spTgt spid="24"/>
                                        </p:tgtEl>
                                        <p:attrNameLst>
                                          <p:attrName>ppt_y</p:attrName>
                                        </p:attrNameLst>
                                      </p:cBhvr>
                                      <p:tavLst>
                                        <p:tav tm="0">
                                          <p:val>
                                            <p:strVal val="#ppt_y+0.01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00"/>
                                        <p:tgtEl>
                                          <p:spTgt spid="25"/>
                                        </p:tgtEl>
                                      </p:cBhvr>
                                    </p:animEffect>
                                    <p:anim calcmode="lin" valueType="num">
                                      <p:cBhvr>
                                        <p:cTn id="75" dur="300" decel="100000" fill="hold"/>
                                        <p:tgtEl>
                                          <p:spTgt spid="25"/>
                                        </p:tgtEl>
                                        <p:attrNameLst>
                                          <p:attrName>ppt_x</p:attrName>
                                        </p:attrNameLst>
                                      </p:cBhvr>
                                      <p:tavLst>
                                        <p:tav tm="0">
                                          <p:val>
                                            <p:strVal val="#ppt_x"/>
                                          </p:val>
                                        </p:tav>
                                        <p:tav tm="100000">
                                          <p:val>
                                            <p:strVal val="#ppt_x"/>
                                          </p:val>
                                        </p:tav>
                                      </p:tavLst>
                                    </p:anim>
                                    <p:anim calcmode="lin" valueType="num">
                                      <p:cBhvr>
                                        <p:cTn id="76" dur="300" decel="100000" fill="hold"/>
                                        <p:tgtEl>
                                          <p:spTgt spid="25"/>
                                        </p:tgtEl>
                                        <p:attrNameLst>
                                          <p:attrName>ppt_y</p:attrName>
                                        </p:attrNameLst>
                                      </p:cBhvr>
                                      <p:tavLst>
                                        <p:tav tm="0">
                                          <p:val>
                                            <p:strVal val="#ppt_y+0.016"/>
                                          </p:val>
                                        </p:tav>
                                        <p:tav tm="100000">
                                          <p:val>
                                            <p:strVal val="#ppt_y"/>
                                          </p:val>
                                        </p:tav>
                                      </p:tavLst>
                                    </p:anim>
                                  </p:childTnLst>
                                </p:cTn>
                              </p:par>
                              <p:par>
                                <p:cTn id="77" presetID="22" presetClass="entr" presetSubtype="4" fill="hold" nodeType="withEffect">
                                  <p:stCondLst>
                                    <p:cond delay="100"/>
                                  </p:stCondLst>
                                  <p:childTnLst>
                                    <p:set>
                                      <p:cBhvr>
                                        <p:cTn id="78" dur="1" fill="hold">
                                          <p:stCondLst>
                                            <p:cond delay="0"/>
                                          </p:stCondLst>
                                        </p:cTn>
                                        <p:tgtEl>
                                          <p:spTgt spid="26"/>
                                        </p:tgtEl>
                                        <p:attrNameLst>
                                          <p:attrName>style.visibility</p:attrName>
                                        </p:attrNameLst>
                                      </p:cBhvr>
                                      <p:to>
                                        <p:strVal val="visible"/>
                                      </p:to>
                                    </p:set>
                                    <p:animEffect transition="in" filter="wipe(down)">
                                      <p:cBhvr>
                                        <p:cTn id="79" dur="200"/>
                                        <p:tgtEl>
                                          <p:spTgt spid="26"/>
                                        </p:tgtEl>
                                      </p:cBhvr>
                                    </p:animEffect>
                                  </p:childTnLst>
                                </p:cTn>
                              </p:par>
                            </p:childTnLst>
                          </p:cTn>
                        </p:par>
                        <p:par>
                          <p:cTn id="80" fill="hold">
                            <p:stCondLst>
                              <p:cond delay="1200"/>
                            </p:stCondLst>
                            <p:childTnLst>
                              <p:par>
                                <p:cTn id="81" presetID="42" presetClass="entr" presetSubtype="0" fill="hold"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300"/>
                                        <p:tgtEl>
                                          <p:spTgt spid="27"/>
                                        </p:tgtEl>
                                      </p:cBhvr>
                                    </p:animEffect>
                                    <p:anim calcmode="lin" valueType="num">
                                      <p:cBhvr>
                                        <p:cTn id="84" dur="300" decel="100000" fill="hold"/>
                                        <p:tgtEl>
                                          <p:spTgt spid="27"/>
                                        </p:tgtEl>
                                        <p:attrNameLst>
                                          <p:attrName>ppt_x</p:attrName>
                                        </p:attrNameLst>
                                      </p:cBhvr>
                                      <p:tavLst>
                                        <p:tav tm="0">
                                          <p:val>
                                            <p:strVal val="#ppt_x"/>
                                          </p:val>
                                        </p:tav>
                                        <p:tav tm="100000">
                                          <p:val>
                                            <p:strVal val="#ppt_x"/>
                                          </p:val>
                                        </p:tav>
                                      </p:tavLst>
                                    </p:anim>
                                    <p:anim calcmode="lin" valueType="num">
                                      <p:cBhvr>
                                        <p:cTn id="85" dur="300" decel="100000" fill="hold"/>
                                        <p:tgtEl>
                                          <p:spTgt spid="27"/>
                                        </p:tgtEl>
                                        <p:attrNameLst>
                                          <p:attrName>ppt_y</p:attrName>
                                        </p:attrNameLst>
                                      </p:cBhvr>
                                      <p:tavLst>
                                        <p:tav tm="0">
                                          <p:val>
                                            <p:strVal val="#ppt_y+0.01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300"/>
                                        <p:tgtEl>
                                          <p:spTgt spid="28"/>
                                        </p:tgtEl>
                                      </p:cBhvr>
                                    </p:animEffect>
                                    <p:anim calcmode="lin" valueType="num">
                                      <p:cBhvr>
                                        <p:cTn id="89" dur="300" decel="100000" fill="hold"/>
                                        <p:tgtEl>
                                          <p:spTgt spid="28"/>
                                        </p:tgtEl>
                                        <p:attrNameLst>
                                          <p:attrName>ppt_x</p:attrName>
                                        </p:attrNameLst>
                                      </p:cBhvr>
                                      <p:tavLst>
                                        <p:tav tm="0">
                                          <p:val>
                                            <p:strVal val="#ppt_x"/>
                                          </p:val>
                                        </p:tav>
                                        <p:tav tm="100000">
                                          <p:val>
                                            <p:strVal val="#ppt_x"/>
                                          </p:val>
                                        </p:tav>
                                      </p:tavLst>
                                    </p:anim>
                                    <p:anim calcmode="lin" valueType="num">
                                      <p:cBhvr>
                                        <p:cTn id="90" dur="300" decel="100000" fill="hold"/>
                                        <p:tgtEl>
                                          <p:spTgt spid="28"/>
                                        </p:tgtEl>
                                        <p:attrNameLst>
                                          <p:attrName>ppt_y</p:attrName>
                                        </p:attrNameLst>
                                      </p:cBhvr>
                                      <p:tavLst>
                                        <p:tav tm="0">
                                          <p:val>
                                            <p:strVal val="#ppt_y+0.01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300"/>
                                        <p:tgtEl>
                                          <p:spTgt spid="29"/>
                                        </p:tgtEl>
                                      </p:cBhvr>
                                    </p:animEffect>
                                    <p:anim calcmode="lin" valueType="num">
                                      <p:cBhvr>
                                        <p:cTn id="94" dur="300" decel="100000" fill="hold"/>
                                        <p:tgtEl>
                                          <p:spTgt spid="29"/>
                                        </p:tgtEl>
                                        <p:attrNameLst>
                                          <p:attrName>ppt_x</p:attrName>
                                        </p:attrNameLst>
                                      </p:cBhvr>
                                      <p:tavLst>
                                        <p:tav tm="0">
                                          <p:val>
                                            <p:strVal val="#ppt_x"/>
                                          </p:val>
                                        </p:tav>
                                        <p:tav tm="100000">
                                          <p:val>
                                            <p:strVal val="#ppt_x"/>
                                          </p:val>
                                        </p:tav>
                                      </p:tavLst>
                                    </p:anim>
                                    <p:anim calcmode="lin" valueType="num">
                                      <p:cBhvr>
                                        <p:cTn id="95" dur="300" decel="100000" fill="hold"/>
                                        <p:tgtEl>
                                          <p:spTgt spid="29"/>
                                        </p:tgtEl>
                                        <p:attrNameLst>
                                          <p:attrName>ppt_y</p:attrName>
                                        </p:attrNameLst>
                                      </p:cBhvr>
                                      <p:tavLst>
                                        <p:tav tm="0">
                                          <p:val>
                                            <p:strVal val="#ppt_y+0.016"/>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300"/>
                                        <p:tgtEl>
                                          <p:spTgt spid="32"/>
                                        </p:tgtEl>
                                      </p:cBhvr>
                                    </p:animEffect>
                                    <p:anim calcmode="lin" valueType="num">
                                      <p:cBhvr>
                                        <p:cTn id="101" dur="300" decel="100000" fill="hold"/>
                                        <p:tgtEl>
                                          <p:spTgt spid="32"/>
                                        </p:tgtEl>
                                        <p:attrNameLst>
                                          <p:attrName>ppt_x</p:attrName>
                                        </p:attrNameLst>
                                      </p:cBhvr>
                                      <p:tavLst>
                                        <p:tav tm="0">
                                          <p:val>
                                            <p:strVal val="#ppt_x"/>
                                          </p:val>
                                        </p:tav>
                                        <p:tav tm="100000">
                                          <p:val>
                                            <p:strVal val="#ppt_x"/>
                                          </p:val>
                                        </p:tav>
                                      </p:tavLst>
                                    </p:anim>
                                    <p:anim calcmode="lin" valueType="num">
                                      <p:cBhvr>
                                        <p:cTn id="102" dur="300" decel="100000" fill="hold"/>
                                        <p:tgtEl>
                                          <p:spTgt spid="32"/>
                                        </p:tgtEl>
                                        <p:attrNameLst>
                                          <p:attrName>ppt_y</p:attrName>
                                        </p:attrNameLst>
                                      </p:cBhvr>
                                      <p:tavLst>
                                        <p:tav tm="0">
                                          <p:val>
                                            <p:strVal val="#ppt_y+0.01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fade">
                                      <p:cBhvr>
                                        <p:cTn id="105" dur="300"/>
                                        <p:tgtEl>
                                          <p:spTgt spid="33"/>
                                        </p:tgtEl>
                                      </p:cBhvr>
                                    </p:animEffect>
                                    <p:anim calcmode="lin" valueType="num">
                                      <p:cBhvr>
                                        <p:cTn id="106" dur="300" decel="100000" fill="hold"/>
                                        <p:tgtEl>
                                          <p:spTgt spid="33"/>
                                        </p:tgtEl>
                                        <p:attrNameLst>
                                          <p:attrName>ppt_x</p:attrName>
                                        </p:attrNameLst>
                                      </p:cBhvr>
                                      <p:tavLst>
                                        <p:tav tm="0">
                                          <p:val>
                                            <p:strVal val="#ppt_x"/>
                                          </p:val>
                                        </p:tav>
                                        <p:tav tm="100000">
                                          <p:val>
                                            <p:strVal val="#ppt_x"/>
                                          </p:val>
                                        </p:tav>
                                      </p:tavLst>
                                    </p:anim>
                                    <p:anim calcmode="lin" valueType="num">
                                      <p:cBhvr>
                                        <p:cTn id="107" dur="300" decel="100000" fill="hold"/>
                                        <p:tgtEl>
                                          <p:spTgt spid="33"/>
                                        </p:tgtEl>
                                        <p:attrNameLst>
                                          <p:attrName>ppt_y</p:attrName>
                                        </p:attrNameLst>
                                      </p:cBhvr>
                                      <p:tavLst>
                                        <p:tav tm="0">
                                          <p:val>
                                            <p:strVal val="#ppt_y+0.016"/>
                                          </p:val>
                                        </p:tav>
                                        <p:tav tm="100000">
                                          <p:val>
                                            <p:strVal val="#ppt_y"/>
                                          </p:val>
                                        </p:tav>
                                      </p:tavLst>
                                    </p:anim>
                                  </p:childTnLst>
                                </p:cTn>
                              </p:par>
                            </p:childTnLst>
                          </p:cTn>
                        </p:par>
                        <p:par>
                          <p:cTn id="108" fill="hold">
                            <p:stCondLst>
                              <p:cond delay="300"/>
                            </p:stCondLst>
                            <p:childTnLst>
                              <p:par>
                                <p:cTn id="109" presetID="22" presetClass="entr" presetSubtype="8" fill="hold" nodeType="after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wipe(left)">
                                      <p:cBhvr>
                                        <p:cTn id="111" dur="200"/>
                                        <p:tgtEl>
                                          <p:spTgt spid="36"/>
                                        </p:tgtEl>
                                      </p:cBhvr>
                                    </p:animEffect>
                                  </p:childTnLst>
                                </p:cTn>
                              </p:par>
                            </p:childTnLst>
                          </p:cTn>
                        </p:par>
                        <p:par>
                          <p:cTn id="112" fill="hold">
                            <p:stCondLst>
                              <p:cond delay="500"/>
                            </p:stCondLst>
                            <p:childTnLst>
                              <p:par>
                                <p:cTn id="113" presetID="42" presetClass="entr" presetSubtype="0" fill="hold" nodeType="after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fade">
                                      <p:cBhvr>
                                        <p:cTn id="115" dur="300"/>
                                        <p:tgtEl>
                                          <p:spTgt spid="34"/>
                                        </p:tgtEl>
                                      </p:cBhvr>
                                    </p:animEffect>
                                    <p:anim calcmode="lin" valueType="num">
                                      <p:cBhvr>
                                        <p:cTn id="116" dur="300" decel="100000" fill="hold"/>
                                        <p:tgtEl>
                                          <p:spTgt spid="34"/>
                                        </p:tgtEl>
                                        <p:attrNameLst>
                                          <p:attrName>ppt_x</p:attrName>
                                        </p:attrNameLst>
                                      </p:cBhvr>
                                      <p:tavLst>
                                        <p:tav tm="0">
                                          <p:val>
                                            <p:strVal val="#ppt_x"/>
                                          </p:val>
                                        </p:tav>
                                        <p:tav tm="100000">
                                          <p:val>
                                            <p:strVal val="#ppt_x"/>
                                          </p:val>
                                        </p:tav>
                                      </p:tavLst>
                                    </p:anim>
                                    <p:anim calcmode="lin" valueType="num">
                                      <p:cBhvr>
                                        <p:cTn id="117" dur="300" decel="100000" fill="hold"/>
                                        <p:tgtEl>
                                          <p:spTgt spid="34"/>
                                        </p:tgtEl>
                                        <p:attrNameLst>
                                          <p:attrName>ppt_y</p:attrName>
                                        </p:attrNameLst>
                                      </p:cBhvr>
                                      <p:tavLst>
                                        <p:tav tm="0">
                                          <p:val>
                                            <p:strVal val="#ppt_y+0.016"/>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35"/>
                                        </p:tgtEl>
                                        <p:attrNameLst>
                                          <p:attrName>style.visibility</p:attrName>
                                        </p:attrNameLst>
                                      </p:cBhvr>
                                      <p:to>
                                        <p:strVal val="visible"/>
                                      </p:to>
                                    </p:set>
                                    <p:animEffect transition="in" filter="fade">
                                      <p:cBhvr>
                                        <p:cTn id="120" dur="300"/>
                                        <p:tgtEl>
                                          <p:spTgt spid="35"/>
                                        </p:tgtEl>
                                      </p:cBhvr>
                                    </p:animEffect>
                                    <p:anim calcmode="lin" valueType="num">
                                      <p:cBhvr>
                                        <p:cTn id="121" dur="300" decel="100000" fill="hold"/>
                                        <p:tgtEl>
                                          <p:spTgt spid="35"/>
                                        </p:tgtEl>
                                        <p:attrNameLst>
                                          <p:attrName>ppt_x</p:attrName>
                                        </p:attrNameLst>
                                      </p:cBhvr>
                                      <p:tavLst>
                                        <p:tav tm="0">
                                          <p:val>
                                            <p:strVal val="#ppt_x"/>
                                          </p:val>
                                        </p:tav>
                                        <p:tav tm="100000">
                                          <p:val>
                                            <p:strVal val="#ppt_x"/>
                                          </p:val>
                                        </p:tav>
                                      </p:tavLst>
                                    </p:anim>
                                    <p:anim calcmode="lin" valueType="num">
                                      <p:cBhvr>
                                        <p:cTn id="122" dur="300" decel="100000" fill="hold"/>
                                        <p:tgtEl>
                                          <p:spTgt spid="35"/>
                                        </p:tgtEl>
                                        <p:attrNameLst>
                                          <p:attrName>ppt_y</p:attrName>
                                        </p:attrNameLst>
                                      </p:cBhvr>
                                      <p:tavLst>
                                        <p:tav tm="0">
                                          <p:val>
                                            <p:strVal val="#ppt_y+0.016"/>
                                          </p:val>
                                        </p:tav>
                                        <p:tav tm="100000">
                                          <p:val>
                                            <p:strVal val="#ppt_y"/>
                                          </p:val>
                                        </p:tav>
                                      </p:tavLst>
                                    </p:anim>
                                  </p:childTnLst>
                                </p:cTn>
                              </p:par>
                            </p:childTnLst>
                          </p:cTn>
                        </p:par>
                        <p:par>
                          <p:cTn id="123" fill="hold">
                            <p:stCondLst>
                              <p:cond delay="800"/>
                            </p:stCondLst>
                            <p:childTnLst>
                              <p:par>
                                <p:cTn id="124" presetID="42" presetClass="entr" presetSubtype="0" fill="hold" nodeType="afterEffect">
                                  <p:stCondLst>
                                    <p:cond delay="0"/>
                                  </p:stCondLst>
                                  <p:childTnLst>
                                    <p:set>
                                      <p:cBhvr>
                                        <p:cTn id="125" dur="1" fill="hold">
                                          <p:stCondLst>
                                            <p:cond delay="0"/>
                                          </p:stCondLst>
                                        </p:cTn>
                                        <p:tgtEl>
                                          <p:spTgt spid="37"/>
                                        </p:tgtEl>
                                        <p:attrNameLst>
                                          <p:attrName>style.visibility</p:attrName>
                                        </p:attrNameLst>
                                      </p:cBhvr>
                                      <p:to>
                                        <p:strVal val="visible"/>
                                      </p:to>
                                    </p:set>
                                    <p:animEffect transition="in" filter="fade">
                                      <p:cBhvr>
                                        <p:cTn id="126" dur="300"/>
                                        <p:tgtEl>
                                          <p:spTgt spid="37"/>
                                        </p:tgtEl>
                                      </p:cBhvr>
                                    </p:animEffect>
                                    <p:anim calcmode="lin" valueType="num">
                                      <p:cBhvr>
                                        <p:cTn id="127" dur="300" decel="100000" fill="hold"/>
                                        <p:tgtEl>
                                          <p:spTgt spid="37"/>
                                        </p:tgtEl>
                                        <p:attrNameLst>
                                          <p:attrName>ppt_x</p:attrName>
                                        </p:attrNameLst>
                                      </p:cBhvr>
                                      <p:tavLst>
                                        <p:tav tm="0">
                                          <p:val>
                                            <p:strVal val="#ppt_x"/>
                                          </p:val>
                                        </p:tav>
                                        <p:tav tm="100000">
                                          <p:val>
                                            <p:strVal val="#ppt_x"/>
                                          </p:val>
                                        </p:tav>
                                      </p:tavLst>
                                    </p:anim>
                                    <p:anim calcmode="lin" valueType="num">
                                      <p:cBhvr>
                                        <p:cTn id="128" dur="300" decel="100000" fill="hold"/>
                                        <p:tgtEl>
                                          <p:spTgt spid="37"/>
                                        </p:tgtEl>
                                        <p:attrNameLst>
                                          <p:attrName>ppt_y</p:attrName>
                                        </p:attrNameLst>
                                      </p:cBhvr>
                                      <p:tavLst>
                                        <p:tav tm="0">
                                          <p:val>
                                            <p:strVal val="#ppt_y+0.016"/>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Effect transition="in" filter="fade">
                                      <p:cBhvr>
                                        <p:cTn id="131" dur="300"/>
                                        <p:tgtEl>
                                          <p:spTgt spid="38"/>
                                        </p:tgtEl>
                                      </p:cBhvr>
                                    </p:animEffect>
                                    <p:anim calcmode="lin" valueType="num">
                                      <p:cBhvr>
                                        <p:cTn id="132" dur="300" decel="100000" fill="hold"/>
                                        <p:tgtEl>
                                          <p:spTgt spid="38"/>
                                        </p:tgtEl>
                                        <p:attrNameLst>
                                          <p:attrName>ppt_x</p:attrName>
                                        </p:attrNameLst>
                                      </p:cBhvr>
                                      <p:tavLst>
                                        <p:tav tm="0">
                                          <p:val>
                                            <p:strVal val="#ppt_x"/>
                                          </p:val>
                                        </p:tav>
                                        <p:tav tm="100000">
                                          <p:val>
                                            <p:strVal val="#ppt_x"/>
                                          </p:val>
                                        </p:tav>
                                      </p:tavLst>
                                    </p:anim>
                                    <p:anim calcmode="lin" valueType="num">
                                      <p:cBhvr>
                                        <p:cTn id="133" dur="300" decel="100000" fill="hold"/>
                                        <p:tgtEl>
                                          <p:spTgt spid="38"/>
                                        </p:tgtEl>
                                        <p:attrNameLst>
                                          <p:attrName>ppt_y</p:attrName>
                                        </p:attrNameLst>
                                      </p:cBhvr>
                                      <p:tavLst>
                                        <p:tav tm="0">
                                          <p:val>
                                            <p:strVal val="#ppt_y+0.016"/>
                                          </p:val>
                                        </p:tav>
                                        <p:tav tm="100000">
                                          <p:val>
                                            <p:strVal val="#ppt_y"/>
                                          </p:val>
                                        </p:tav>
                                      </p:tavLst>
                                    </p:anim>
                                  </p:childTnLst>
                                </p:cTn>
                              </p:par>
                            </p:childTnLst>
                          </p:cTn>
                        </p:par>
                        <p:par>
                          <p:cTn id="134" fill="hold">
                            <p:stCondLst>
                              <p:cond delay="1100"/>
                            </p:stCondLst>
                            <p:childTnLst>
                              <p:par>
                                <p:cTn id="135" presetID="22" presetClass="entr" presetSubtype="8" fill="hold" nodeType="after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wipe(left)">
                                      <p:cBhvr>
                                        <p:cTn id="137" dur="200"/>
                                        <p:tgtEl>
                                          <p:spTgt spid="43"/>
                                        </p:tgtEl>
                                      </p:cBhvr>
                                    </p:animEffect>
                                  </p:childTnLst>
                                </p:cTn>
                              </p:par>
                            </p:childTnLst>
                          </p:cTn>
                        </p:par>
                        <p:par>
                          <p:cTn id="138" fill="hold">
                            <p:stCondLst>
                              <p:cond delay="1300"/>
                            </p:stCondLst>
                            <p:childTnLst>
                              <p:par>
                                <p:cTn id="139" presetID="42" presetClass="entr" presetSubtype="0" fill="hold" nodeType="afterEffect">
                                  <p:stCondLst>
                                    <p:cond delay="0"/>
                                  </p:stCondLst>
                                  <p:childTnLst>
                                    <p:set>
                                      <p:cBhvr>
                                        <p:cTn id="140" dur="1" fill="hold">
                                          <p:stCondLst>
                                            <p:cond delay="0"/>
                                          </p:stCondLst>
                                        </p:cTn>
                                        <p:tgtEl>
                                          <p:spTgt spid="39"/>
                                        </p:tgtEl>
                                        <p:attrNameLst>
                                          <p:attrName>style.visibility</p:attrName>
                                        </p:attrNameLst>
                                      </p:cBhvr>
                                      <p:to>
                                        <p:strVal val="visible"/>
                                      </p:to>
                                    </p:set>
                                    <p:animEffect transition="in" filter="fade">
                                      <p:cBhvr>
                                        <p:cTn id="141" dur="300"/>
                                        <p:tgtEl>
                                          <p:spTgt spid="39"/>
                                        </p:tgtEl>
                                      </p:cBhvr>
                                    </p:animEffect>
                                    <p:anim calcmode="lin" valueType="num">
                                      <p:cBhvr>
                                        <p:cTn id="142" dur="300" decel="100000" fill="hold"/>
                                        <p:tgtEl>
                                          <p:spTgt spid="39"/>
                                        </p:tgtEl>
                                        <p:attrNameLst>
                                          <p:attrName>ppt_x</p:attrName>
                                        </p:attrNameLst>
                                      </p:cBhvr>
                                      <p:tavLst>
                                        <p:tav tm="0">
                                          <p:val>
                                            <p:strVal val="#ppt_x"/>
                                          </p:val>
                                        </p:tav>
                                        <p:tav tm="100000">
                                          <p:val>
                                            <p:strVal val="#ppt_x"/>
                                          </p:val>
                                        </p:tav>
                                      </p:tavLst>
                                    </p:anim>
                                    <p:anim calcmode="lin" valueType="num">
                                      <p:cBhvr>
                                        <p:cTn id="143" dur="300" decel="100000" fill="hold"/>
                                        <p:tgtEl>
                                          <p:spTgt spid="39"/>
                                        </p:tgtEl>
                                        <p:attrNameLst>
                                          <p:attrName>ppt_y</p:attrName>
                                        </p:attrNameLst>
                                      </p:cBhvr>
                                      <p:tavLst>
                                        <p:tav tm="0">
                                          <p:val>
                                            <p:strVal val="#ppt_y+0.016"/>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40"/>
                                        </p:tgtEl>
                                        <p:attrNameLst>
                                          <p:attrName>style.visibility</p:attrName>
                                        </p:attrNameLst>
                                      </p:cBhvr>
                                      <p:to>
                                        <p:strVal val="visible"/>
                                      </p:to>
                                    </p:set>
                                    <p:animEffect transition="in" filter="fade">
                                      <p:cBhvr>
                                        <p:cTn id="146" dur="300"/>
                                        <p:tgtEl>
                                          <p:spTgt spid="40"/>
                                        </p:tgtEl>
                                      </p:cBhvr>
                                    </p:animEffect>
                                    <p:anim calcmode="lin" valueType="num">
                                      <p:cBhvr>
                                        <p:cTn id="147" dur="300" decel="100000" fill="hold"/>
                                        <p:tgtEl>
                                          <p:spTgt spid="40"/>
                                        </p:tgtEl>
                                        <p:attrNameLst>
                                          <p:attrName>ppt_x</p:attrName>
                                        </p:attrNameLst>
                                      </p:cBhvr>
                                      <p:tavLst>
                                        <p:tav tm="0">
                                          <p:val>
                                            <p:strVal val="#ppt_x"/>
                                          </p:val>
                                        </p:tav>
                                        <p:tav tm="100000">
                                          <p:val>
                                            <p:strVal val="#ppt_x"/>
                                          </p:val>
                                        </p:tav>
                                      </p:tavLst>
                                    </p:anim>
                                    <p:anim calcmode="lin" valueType="num">
                                      <p:cBhvr>
                                        <p:cTn id="148" dur="300" decel="100000" fill="hold"/>
                                        <p:tgtEl>
                                          <p:spTgt spid="40"/>
                                        </p:tgtEl>
                                        <p:attrNameLst>
                                          <p:attrName>ppt_y</p:attrName>
                                        </p:attrNameLst>
                                      </p:cBhvr>
                                      <p:tavLst>
                                        <p:tav tm="0">
                                          <p:val>
                                            <p:strVal val="#ppt_y+0.016"/>
                                          </p:val>
                                        </p:tav>
                                        <p:tav tm="100000">
                                          <p:val>
                                            <p:strVal val="#ppt_y"/>
                                          </p:val>
                                        </p:tav>
                                      </p:tavLst>
                                    </p:anim>
                                  </p:childTnLst>
                                </p:cTn>
                              </p:par>
                              <p:par>
                                <p:cTn id="149" presetID="22" presetClass="entr" presetSubtype="2" fill="hold" nodeType="withEffect">
                                  <p:stCondLst>
                                    <p:cond delay="200"/>
                                  </p:stCondLst>
                                  <p:childTnLst>
                                    <p:set>
                                      <p:cBhvr>
                                        <p:cTn id="150" dur="1" fill="hold">
                                          <p:stCondLst>
                                            <p:cond delay="0"/>
                                          </p:stCondLst>
                                        </p:cTn>
                                        <p:tgtEl>
                                          <p:spTgt spid="44"/>
                                        </p:tgtEl>
                                        <p:attrNameLst>
                                          <p:attrName>style.visibility</p:attrName>
                                        </p:attrNameLst>
                                      </p:cBhvr>
                                      <p:to>
                                        <p:strVal val="visible"/>
                                      </p:to>
                                    </p:set>
                                    <p:animEffect transition="in" filter="wipe(right)">
                                      <p:cBhvr>
                                        <p:cTn id="151" dur="200"/>
                                        <p:tgtEl>
                                          <p:spTgt spid="44"/>
                                        </p:tgtEl>
                                      </p:cBhvr>
                                    </p:animEffect>
                                  </p:childTnLst>
                                </p:cTn>
                              </p:par>
                            </p:childTnLst>
                          </p:cTn>
                        </p:par>
                        <p:par>
                          <p:cTn id="152" fill="hold">
                            <p:stCondLst>
                              <p:cond delay="1700"/>
                            </p:stCondLst>
                            <p:childTnLst>
                              <p:par>
                                <p:cTn id="153" presetID="22" presetClass="entr" presetSubtype="8" fill="hold" nodeType="afterEffect">
                                  <p:stCondLst>
                                    <p:cond delay="0"/>
                                  </p:stCondLst>
                                  <p:childTnLst>
                                    <p:set>
                                      <p:cBhvr>
                                        <p:cTn id="154" dur="1" fill="hold">
                                          <p:stCondLst>
                                            <p:cond delay="0"/>
                                          </p:stCondLst>
                                        </p:cTn>
                                        <p:tgtEl>
                                          <p:spTgt spid="45"/>
                                        </p:tgtEl>
                                        <p:attrNameLst>
                                          <p:attrName>style.visibility</p:attrName>
                                        </p:attrNameLst>
                                      </p:cBhvr>
                                      <p:to>
                                        <p:strVal val="visible"/>
                                      </p:to>
                                    </p:set>
                                    <p:animEffect transition="in" filter="wipe(left)">
                                      <p:cBhvr>
                                        <p:cTn id="155" dur="200"/>
                                        <p:tgtEl>
                                          <p:spTgt spid="45"/>
                                        </p:tgtEl>
                                      </p:cBhvr>
                                    </p:animEffect>
                                  </p:childTnLst>
                                </p:cTn>
                              </p:par>
                            </p:childTnLst>
                          </p:cTn>
                        </p:par>
                        <p:par>
                          <p:cTn id="156" fill="hold">
                            <p:stCondLst>
                              <p:cond delay="1900"/>
                            </p:stCondLst>
                            <p:childTnLst>
                              <p:par>
                                <p:cTn id="157" presetID="42" presetClass="entr" presetSubtype="0" fill="hold" nodeType="afterEffect">
                                  <p:stCondLst>
                                    <p:cond delay="0"/>
                                  </p:stCondLst>
                                  <p:childTnLst>
                                    <p:set>
                                      <p:cBhvr>
                                        <p:cTn id="158" dur="1" fill="hold">
                                          <p:stCondLst>
                                            <p:cond delay="0"/>
                                          </p:stCondLst>
                                        </p:cTn>
                                        <p:tgtEl>
                                          <p:spTgt spid="41"/>
                                        </p:tgtEl>
                                        <p:attrNameLst>
                                          <p:attrName>style.visibility</p:attrName>
                                        </p:attrNameLst>
                                      </p:cBhvr>
                                      <p:to>
                                        <p:strVal val="visible"/>
                                      </p:to>
                                    </p:set>
                                    <p:animEffect transition="in" filter="fade">
                                      <p:cBhvr>
                                        <p:cTn id="159" dur="300"/>
                                        <p:tgtEl>
                                          <p:spTgt spid="41"/>
                                        </p:tgtEl>
                                      </p:cBhvr>
                                    </p:animEffect>
                                    <p:anim calcmode="lin" valueType="num">
                                      <p:cBhvr>
                                        <p:cTn id="160" dur="300" decel="100000" fill="hold"/>
                                        <p:tgtEl>
                                          <p:spTgt spid="41"/>
                                        </p:tgtEl>
                                        <p:attrNameLst>
                                          <p:attrName>ppt_x</p:attrName>
                                        </p:attrNameLst>
                                      </p:cBhvr>
                                      <p:tavLst>
                                        <p:tav tm="0">
                                          <p:val>
                                            <p:strVal val="#ppt_x"/>
                                          </p:val>
                                        </p:tav>
                                        <p:tav tm="100000">
                                          <p:val>
                                            <p:strVal val="#ppt_x"/>
                                          </p:val>
                                        </p:tav>
                                      </p:tavLst>
                                    </p:anim>
                                    <p:anim calcmode="lin" valueType="num">
                                      <p:cBhvr>
                                        <p:cTn id="161" dur="300" decel="100000" fill="hold"/>
                                        <p:tgtEl>
                                          <p:spTgt spid="41"/>
                                        </p:tgtEl>
                                        <p:attrNameLst>
                                          <p:attrName>ppt_y</p:attrName>
                                        </p:attrNameLst>
                                      </p:cBhvr>
                                      <p:tavLst>
                                        <p:tav tm="0">
                                          <p:val>
                                            <p:strVal val="#ppt_y+0.016"/>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300"/>
                                        <p:tgtEl>
                                          <p:spTgt spid="42"/>
                                        </p:tgtEl>
                                      </p:cBhvr>
                                    </p:animEffect>
                                    <p:anim calcmode="lin" valueType="num">
                                      <p:cBhvr>
                                        <p:cTn id="165" dur="300" decel="100000" fill="hold"/>
                                        <p:tgtEl>
                                          <p:spTgt spid="42"/>
                                        </p:tgtEl>
                                        <p:attrNameLst>
                                          <p:attrName>ppt_x</p:attrName>
                                        </p:attrNameLst>
                                      </p:cBhvr>
                                      <p:tavLst>
                                        <p:tav tm="0">
                                          <p:val>
                                            <p:strVal val="#ppt_x"/>
                                          </p:val>
                                        </p:tav>
                                        <p:tav tm="100000">
                                          <p:val>
                                            <p:strVal val="#ppt_x"/>
                                          </p:val>
                                        </p:tav>
                                      </p:tavLst>
                                    </p:anim>
                                    <p:anim calcmode="lin" valueType="num">
                                      <p:cBhvr>
                                        <p:cTn id="166" dur="300" decel="100000" fill="hold"/>
                                        <p:tgtEl>
                                          <p:spTgt spid="42"/>
                                        </p:tgtEl>
                                        <p:attrNameLst>
                                          <p:attrName>ppt_y</p:attrName>
                                        </p:attrNameLst>
                                      </p:cBhvr>
                                      <p:tavLst>
                                        <p:tav tm="0">
                                          <p:val>
                                            <p:strVal val="#ppt_y+0.016"/>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6"/>
                                        </p:tgtEl>
                                        <p:attrNameLst>
                                          <p:attrName>style.visibility</p:attrName>
                                        </p:attrNameLst>
                                      </p:cBhvr>
                                      <p:to>
                                        <p:strVal val="visible"/>
                                      </p:to>
                                    </p:set>
                                    <p:animEffect transition="in" filter="fade">
                                      <p:cBhvr>
                                        <p:cTn id="169" dur="300"/>
                                        <p:tgtEl>
                                          <p:spTgt spid="46"/>
                                        </p:tgtEl>
                                      </p:cBhvr>
                                    </p:animEffect>
                                    <p:anim calcmode="lin" valueType="num">
                                      <p:cBhvr>
                                        <p:cTn id="170" dur="300" decel="100000" fill="hold"/>
                                        <p:tgtEl>
                                          <p:spTgt spid="46"/>
                                        </p:tgtEl>
                                        <p:attrNameLst>
                                          <p:attrName>ppt_x</p:attrName>
                                        </p:attrNameLst>
                                      </p:cBhvr>
                                      <p:tavLst>
                                        <p:tav tm="0">
                                          <p:val>
                                            <p:strVal val="#ppt_x"/>
                                          </p:val>
                                        </p:tav>
                                        <p:tav tm="100000">
                                          <p:val>
                                            <p:strVal val="#ppt_x"/>
                                          </p:val>
                                        </p:tav>
                                      </p:tavLst>
                                    </p:anim>
                                    <p:anim calcmode="lin" valueType="num">
                                      <p:cBhvr>
                                        <p:cTn id="171" dur="300" decel="100000" fill="hold"/>
                                        <p:tgtEl>
                                          <p:spTgt spid="46"/>
                                        </p:tgtEl>
                                        <p:attrNameLst>
                                          <p:attrName>ppt_y</p:attrName>
                                        </p:attrNameLst>
                                      </p:cBhvr>
                                      <p:tavLst>
                                        <p:tav tm="0">
                                          <p:val>
                                            <p:strVal val="#ppt_y+0.016"/>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42" presetClass="entr" presetSubtype="0" fill="hold" nodeType="clickEffect">
                                  <p:stCondLst>
                                    <p:cond delay="0"/>
                                  </p:stCondLst>
                                  <p:childTnLst>
                                    <p:set>
                                      <p:cBhvr>
                                        <p:cTn id="175" dur="1" fill="hold">
                                          <p:stCondLst>
                                            <p:cond delay="0"/>
                                          </p:stCondLst>
                                        </p:cTn>
                                        <p:tgtEl>
                                          <p:spTgt spid="47"/>
                                        </p:tgtEl>
                                        <p:attrNameLst>
                                          <p:attrName>style.visibility</p:attrName>
                                        </p:attrNameLst>
                                      </p:cBhvr>
                                      <p:to>
                                        <p:strVal val="visible"/>
                                      </p:to>
                                    </p:set>
                                    <p:animEffect transition="in" filter="fade">
                                      <p:cBhvr>
                                        <p:cTn id="176" dur="300"/>
                                        <p:tgtEl>
                                          <p:spTgt spid="47"/>
                                        </p:tgtEl>
                                      </p:cBhvr>
                                    </p:animEffect>
                                    <p:anim calcmode="lin" valueType="num">
                                      <p:cBhvr>
                                        <p:cTn id="177" dur="300" decel="100000" fill="hold"/>
                                        <p:tgtEl>
                                          <p:spTgt spid="47"/>
                                        </p:tgtEl>
                                        <p:attrNameLst>
                                          <p:attrName>ppt_x</p:attrName>
                                        </p:attrNameLst>
                                      </p:cBhvr>
                                      <p:tavLst>
                                        <p:tav tm="0">
                                          <p:val>
                                            <p:strVal val="#ppt_x"/>
                                          </p:val>
                                        </p:tav>
                                        <p:tav tm="100000">
                                          <p:val>
                                            <p:strVal val="#ppt_x"/>
                                          </p:val>
                                        </p:tav>
                                      </p:tavLst>
                                    </p:anim>
                                    <p:anim calcmode="lin" valueType="num">
                                      <p:cBhvr>
                                        <p:cTn id="178" dur="300" decel="100000" fill="hold"/>
                                        <p:tgtEl>
                                          <p:spTgt spid="47"/>
                                        </p:tgtEl>
                                        <p:attrNameLst>
                                          <p:attrName>ppt_y</p:attrName>
                                        </p:attrNameLst>
                                      </p:cBhvr>
                                      <p:tavLst>
                                        <p:tav tm="0">
                                          <p:val>
                                            <p:strVal val="#ppt_y+0.016"/>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48"/>
                                        </p:tgtEl>
                                        <p:attrNameLst>
                                          <p:attrName>style.visibility</p:attrName>
                                        </p:attrNameLst>
                                      </p:cBhvr>
                                      <p:to>
                                        <p:strVal val="visible"/>
                                      </p:to>
                                    </p:set>
                                    <p:animEffect transition="in" filter="fade">
                                      <p:cBhvr>
                                        <p:cTn id="181" dur="300"/>
                                        <p:tgtEl>
                                          <p:spTgt spid="48"/>
                                        </p:tgtEl>
                                      </p:cBhvr>
                                    </p:animEffect>
                                    <p:anim calcmode="lin" valueType="num">
                                      <p:cBhvr>
                                        <p:cTn id="182" dur="300" decel="100000" fill="hold"/>
                                        <p:tgtEl>
                                          <p:spTgt spid="48"/>
                                        </p:tgtEl>
                                        <p:attrNameLst>
                                          <p:attrName>ppt_x</p:attrName>
                                        </p:attrNameLst>
                                      </p:cBhvr>
                                      <p:tavLst>
                                        <p:tav tm="0">
                                          <p:val>
                                            <p:strVal val="#ppt_x"/>
                                          </p:val>
                                        </p:tav>
                                        <p:tav tm="100000">
                                          <p:val>
                                            <p:strVal val="#ppt_x"/>
                                          </p:val>
                                        </p:tav>
                                      </p:tavLst>
                                    </p:anim>
                                    <p:anim calcmode="lin" valueType="num">
                                      <p:cBhvr>
                                        <p:cTn id="183" dur="300" decel="100000" fill="hold"/>
                                        <p:tgtEl>
                                          <p:spTgt spid="48"/>
                                        </p:tgtEl>
                                        <p:attrNameLst>
                                          <p:attrName>ppt_y</p:attrName>
                                        </p:attrNameLst>
                                      </p:cBhvr>
                                      <p:tavLst>
                                        <p:tav tm="0">
                                          <p:val>
                                            <p:strVal val="#ppt_y+0.01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6" grpId="0" animBg="1"/>
      <p:bldP spid="17" grpId="0" animBg="1"/>
      <p:bldP spid="20" grpId="0" animBg="1"/>
      <p:bldP spid="21" grpId="0" animBg="1"/>
      <p:bldP spid="24" grpId="0" animBg="1"/>
      <p:bldP spid="25" grpId="0" animBg="1"/>
      <p:bldP spid="28" grpId="0" animBg="1"/>
      <p:bldP spid="29" grpId="0" animBg="1"/>
      <p:bldP spid="33" grpId="0" animBg="1"/>
      <p:bldP spid="35" grpId="0" animBg="1"/>
      <p:bldP spid="38" grpId="0" animBg="1"/>
      <p:bldP spid="40" grpId="0" animBg="1"/>
      <p:bldP spid="42" grpId="0" animBg="1"/>
      <p:bldP spid="46"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xt_518"/>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04: SOFTWARE</a:t>
            </a:r>
            <a:endParaRPr lang="en-US" sz="1100" dirty="0"/>
          </a:p>
        </p:txBody>
      </p:sp>
      <p:sp>
        <p:nvSpPr>
          <p:cNvPr id="3" name="kicker_519"/>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SOFTWARE EVIDENCE · SIMULATION</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The interfaces exist while aircraft integration remains pending</a:t>
            </a:r>
            <a:endParaRPr lang="en-US" sz="4000" dirty="0"/>
          </a:p>
        </p:txBody>
      </p:sp>
      <p:sp>
        <p:nvSpPr>
          <p:cNvPr id="5" name="txt_520"/>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REPORTED SOFTWARE / SIMULATED · LIVE TELEMETRY PENDING</a:t>
            </a:r>
            <a:endParaRPr lang="en-US" sz="1000" dirty="0"/>
          </a:p>
        </p:txBody>
      </p:sp>
      <p:sp>
        <p:nvSpPr>
          <p:cNvPr id="6" name="txt_521"/>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§11 p10; §12 p11; webpage1/2.png</a:t>
            </a:r>
            <a:endParaRPr lang="en-US" sz="1000" dirty="0"/>
          </a:p>
        </p:txBody>
      </p:sp>
      <p:sp>
        <p:nvSpPr>
          <p:cNvPr id="7" name="txt_522"/>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[ 14 / 18 ]</a:t>
            </a:r>
            <a:endParaRPr lang="en-US" sz="1200" dirty="0"/>
          </a:p>
        </p:txBody>
      </p:sp>
      <p:pic>
        <p:nvPicPr>
          <p:cNvPr id="9" name="img_523" descr="NAVI Destinations view screenshot"/>
          <p:cNvPicPr>
            <a:picLocks noChangeAspect="1"/>
          </p:cNvPicPr>
          <p:nvPr/>
        </p:nvPicPr>
        <p:blipFill>
          <a:blip r:embed="rId3"/>
          <a:stretch>
            <a:fillRect/>
          </a:stretch>
        </p:blipFill>
        <p:spPr>
          <a:xfrm>
            <a:off x="457200" y="2148840"/>
            <a:ext cx="5120640" cy="2870759"/>
          </a:xfrm>
          <a:prstGeom prst="rect">
            <a:avLst/>
          </a:prstGeom>
        </p:spPr>
      </p:pic>
      <p:sp>
        <p:nvSpPr>
          <p:cNvPr id="10" name="ln_524"/>
          <p:cNvSpPr/>
          <p:nvPr/>
        </p:nvSpPr>
        <p:spPr>
          <a:xfrm>
            <a:off x="457200" y="2148840"/>
            <a:ext cx="164592" cy="914"/>
          </a:xfrm>
          <a:prstGeom prst="line">
            <a:avLst/>
          </a:prstGeom>
          <a:noFill/>
          <a:ln w="15875">
            <a:solidFill>
              <a:srgbClr val="00F0FF">
                <a:alpha val="70000"/>
              </a:srgbClr>
            </a:solidFill>
            <a:prstDash val="solid"/>
          </a:ln>
        </p:spPr>
      </p:sp>
      <p:sp>
        <p:nvSpPr>
          <p:cNvPr id="11" name="ln_525"/>
          <p:cNvSpPr/>
          <p:nvPr/>
        </p:nvSpPr>
        <p:spPr>
          <a:xfrm>
            <a:off x="457200" y="2148840"/>
            <a:ext cx="914" cy="164592"/>
          </a:xfrm>
          <a:prstGeom prst="line">
            <a:avLst/>
          </a:prstGeom>
          <a:noFill/>
          <a:ln w="15875">
            <a:solidFill>
              <a:srgbClr val="00F0FF">
                <a:alpha val="70000"/>
              </a:srgbClr>
            </a:solidFill>
            <a:prstDash val="solid"/>
          </a:ln>
        </p:spPr>
      </p:sp>
      <p:sp>
        <p:nvSpPr>
          <p:cNvPr id="12" name="ln_526"/>
          <p:cNvSpPr/>
          <p:nvPr/>
        </p:nvSpPr>
        <p:spPr>
          <a:xfrm>
            <a:off x="5413248" y="2148840"/>
            <a:ext cx="164592" cy="914"/>
          </a:xfrm>
          <a:prstGeom prst="line">
            <a:avLst/>
          </a:prstGeom>
          <a:noFill/>
          <a:ln w="15875">
            <a:solidFill>
              <a:srgbClr val="00F0FF">
                <a:alpha val="70000"/>
              </a:srgbClr>
            </a:solidFill>
            <a:prstDash val="solid"/>
          </a:ln>
        </p:spPr>
      </p:sp>
      <p:sp>
        <p:nvSpPr>
          <p:cNvPr id="13" name="ln_527"/>
          <p:cNvSpPr/>
          <p:nvPr/>
        </p:nvSpPr>
        <p:spPr>
          <a:xfrm>
            <a:off x="5577840" y="2148840"/>
            <a:ext cx="914" cy="164592"/>
          </a:xfrm>
          <a:prstGeom prst="line">
            <a:avLst/>
          </a:prstGeom>
          <a:noFill/>
          <a:ln w="15875">
            <a:solidFill>
              <a:srgbClr val="00F0FF">
                <a:alpha val="70000"/>
              </a:srgbClr>
            </a:solidFill>
            <a:prstDash val="solid"/>
          </a:ln>
        </p:spPr>
      </p:sp>
      <p:sp>
        <p:nvSpPr>
          <p:cNvPr id="14" name="ln_528"/>
          <p:cNvSpPr/>
          <p:nvPr/>
        </p:nvSpPr>
        <p:spPr>
          <a:xfrm>
            <a:off x="457200" y="4855007"/>
            <a:ext cx="914" cy="164592"/>
          </a:xfrm>
          <a:prstGeom prst="line">
            <a:avLst/>
          </a:prstGeom>
          <a:noFill/>
          <a:ln w="15875">
            <a:solidFill>
              <a:srgbClr val="00F0FF">
                <a:alpha val="70000"/>
              </a:srgbClr>
            </a:solidFill>
            <a:prstDash val="solid"/>
          </a:ln>
        </p:spPr>
      </p:sp>
      <p:sp>
        <p:nvSpPr>
          <p:cNvPr id="15" name="ln_529"/>
          <p:cNvSpPr/>
          <p:nvPr/>
        </p:nvSpPr>
        <p:spPr>
          <a:xfrm>
            <a:off x="457200" y="5019599"/>
            <a:ext cx="164592" cy="914"/>
          </a:xfrm>
          <a:prstGeom prst="line">
            <a:avLst/>
          </a:prstGeom>
          <a:noFill/>
          <a:ln w="15875">
            <a:solidFill>
              <a:srgbClr val="00F0FF">
                <a:alpha val="70000"/>
              </a:srgbClr>
            </a:solidFill>
            <a:prstDash val="solid"/>
          </a:ln>
        </p:spPr>
      </p:sp>
      <p:sp>
        <p:nvSpPr>
          <p:cNvPr id="16" name="ln_530"/>
          <p:cNvSpPr/>
          <p:nvPr/>
        </p:nvSpPr>
        <p:spPr>
          <a:xfrm>
            <a:off x="5577840" y="4855007"/>
            <a:ext cx="914" cy="164592"/>
          </a:xfrm>
          <a:prstGeom prst="line">
            <a:avLst/>
          </a:prstGeom>
          <a:noFill/>
          <a:ln w="15875">
            <a:solidFill>
              <a:srgbClr val="00F0FF">
                <a:alpha val="70000"/>
              </a:srgbClr>
            </a:solidFill>
            <a:prstDash val="solid"/>
          </a:ln>
        </p:spPr>
      </p:sp>
      <p:sp>
        <p:nvSpPr>
          <p:cNvPr id="17" name="ln_531"/>
          <p:cNvSpPr/>
          <p:nvPr/>
        </p:nvSpPr>
        <p:spPr>
          <a:xfrm>
            <a:off x="5413248" y="5019599"/>
            <a:ext cx="164592" cy="914"/>
          </a:xfrm>
          <a:prstGeom prst="line">
            <a:avLst/>
          </a:prstGeom>
          <a:noFill/>
          <a:ln w="15875">
            <a:solidFill>
              <a:srgbClr val="00F0FF">
                <a:alpha val="70000"/>
              </a:srgbClr>
            </a:solidFill>
            <a:prstDash val="solid"/>
          </a:ln>
        </p:spPr>
      </p:sp>
      <p:sp>
        <p:nvSpPr>
          <p:cNvPr id="18" name="box_532"/>
          <p:cNvSpPr/>
          <p:nvPr/>
        </p:nvSpPr>
        <p:spPr>
          <a:xfrm>
            <a:off x="4096512" y="3269330"/>
            <a:ext cx="1426464" cy="1695405"/>
          </a:xfrm>
          <a:prstGeom prst="roundRect">
            <a:avLst>
              <a:gd name="adj" fmla="val 1923"/>
            </a:avLst>
          </a:prstGeom>
          <a:solidFill>
            <a:srgbClr val="090D16"/>
          </a:solidFill>
          <a:ln w="9525">
            <a:solidFill>
              <a:srgbClr val="00F0FF">
                <a:alpha val="70000"/>
              </a:srgbClr>
            </a:solidFill>
            <a:prstDash val="solid"/>
          </a:ln>
        </p:spPr>
      </p:sp>
      <p:pic>
        <p:nvPicPr>
          <p:cNvPr id="19" name="img_533" descr="Route panel: Gazebo from South Pad, 157 m, 3m 16s"/>
          <p:cNvPicPr>
            <a:picLocks noChangeAspect="1"/>
          </p:cNvPicPr>
          <p:nvPr/>
        </p:nvPicPr>
        <p:blipFill>
          <a:blip r:embed="rId4"/>
          <a:stretch>
            <a:fillRect/>
          </a:stretch>
        </p:blipFill>
        <p:spPr>
          <a:xfrm>
            <a:off x="4123944" y="3296762"/>
            <a:ext cx="1371600" cy="1640541"/>
          </a:xfrm>
          <a:prstGeom prst="rect">
            <a:avLst/>
          </a:prstGeom>
        </p:spPr>
      </p:pic>
      <p:sp>
        <p:nvSpPr>
          <p:cNvPr id="20" name="txt_534"/>
          <p:cNvSpPr txBox="1"/>
          <p:nvPr/>
        </p:nvSpPr>
        <p:spPr>
          <a:xfrm>
            <a:off x="457200" y="5047031"/>
            <a:ext cx="5120640" cy="201168"/>
          </a:xfrm>
          <a:prstGeom prst="rect">
            <a:avLst/>
          </a:prstGeom>
          <a:noFill/>
          <a:ln/>
        </p:spPr>
        <p:txBody>
          <a:bodyPr wrap="square" lIns="0" tIns="0" rIns="0" bIns="0" rtlCol="0" anchor="t"/>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webpage2.png · inset: webpage1.png route panel</a:t>
            </a:r>
            <a:endParaRPr lang="en-US" sz="1000" dirty="0"/>
          </a:p>
        </p:txBody>
      </p:sp>
      <p:pic>
        <p:nvPicPr>
          <p:cNvPr id="21" name="img_535" descr="Status chips: SYSTEM ONLINE, NO FIX, SIMULATION"/>
          <p:cNvPicPr>
            <a:picLocks noChangeAspect="1"/>
          </p:cNvPicPr>
          <p:nvPr/>
        </p:nvPicPr>
        <p:blipFill>
          <a:blip r:embed="rId5"/>
          <a:stretch>
            <a:fillRect/>
          </a:stretch>
        </p:blipFill>
        <p:spPr>
          <a:xfrm>
            <a:off x="457200" y="5312207"/>
            <a:ext cx="2331720" cy="191573"/>
          </a:xfrm>
          <a:prstGeom prst="rect">
            <a:avLst/>
          </a:prstGeom>
        </p:spPr>
      </p:pic>
      <p:sp>
        <p:nvSpPr>
          <p:cNvPr id="22" name="box_536"/>
          <p:cNvSpPr/>
          <p:nvPr/>
        </p:nvSpPr>
        <p:spPr>
          <a:xfrm>
            <a:off x="1182377" y="5284775"/>
            <a:ext cx="1075676" cy="246437"/>
          </a:xfrm>
          <a:prstGeom prst="roundRect">
            <a:avLst>
              <a:gd name="adj" fmla="val 14842"/>
            </a:avLst>
          </a:prstGeom>
          <a:ln w="19050">
            <a:solidFill>
              <a:srgbClr val="F59E0B"/>
            </a:solidFill>
            <a:prstDash val="solid"/>
          </a:ln>
        </p:spPr>
      </p:sp>
      <p:sp>
        <p:nvSpPr>
          <p:cNvPr id="23" name="txt_537"/>
          <p:cNvSpPr txBox="1"/>
          <p:nvPr/>
        </p:nvSpPr>
        <p:spPr>
          <a:xfrm>
            <a:off x="2898648" y="5293919"/>
            <a:ext cx="2743200" cy="237744"/>
          </a:xfrm>
          <a:prstGeom prst="rect">
            <a:avLst/>
          </a:prstGeom>
          <a:noFill/>
          <a:ln/>
        </p:spPr>
        <p:txBody>
          <a:bodyPr wrap="square" lIns="0" tIns="0" rIns="0" bIns="0" rtlCol="0" anchor="ctr"/>
          <a:lstStyle/>
          <a:p>
            <a:pPr marL="0" indent="0">
              <a:buNone/>
            </a:pPr>
            <a:r>
              <a:rPr lang="en-US" sz="1000" dirty="0">
                <a:solidFill>
                  <a:srgbClr val="F59E0B"/>
                </a:solidFill>
                <a:latin typeface="JetBrains Mono" pitchFamily="34" charset="0"/>
                <a:ea typeface="JetBrains Mono" pitchFamily="34" charset="-122"/>
                <a:cs typeface="JetBrains Mono" pitchFamily="34" charset="-120"/>
              </a:rPr>
              <a:t>← APP STATUS: NO FIX · SIMULATION</a:t>
            </a:r>
            <a:endParaRPr lang="en-US" sz="1000" dirty="0"/>
          </a:p>
        </p:txBody>
      </p:sp>
      <p:sp>
        <p:nvSpPr>
          <p:cNvPr id="24" name="txt_538"/>
          <p:cNvSpPr txBox="1"/>
          <p:nvPr/>
        </p:nvSpPr>
        <p:spPr>
          <a:xfrm>
            <a:off x="457200" y="5604815"/>
            <a:ext cx="5120640" cy="613105"/>
          </a:xfrm>
          <a:prstGeom prst="rect">
            <a:avLst/>
          </a:prstGeom>
          <a:noFill/>
          <a:ln/>
        </p:spPr>
        <p:txBody>
          <a:bodyPr wrap="square" lIns="0" tIns="0" rIns="0" bIns="0" rtlCol="0" anchor="t"/>
          <a:lstStyle/>
          <a:p>
            <a:pPr marL="0" indent="0">
              <a:buNone/>
            </a:pPr>
            <a:r>
              <a:rPr lang="en-US" sz="1100" b="1" dirty="0">
                <a:solidFill>
                  <a:srgbClr val="10B981"/>
                </a:solidFill>
                <a:latin typeface="JetBrains Mono" pitchFamily="34" charset="0"/>
                <a:ea typeface="JetBrains Mono" pitchFamily="34" charset="-122"/>
                <a:cs typeface="JetBrains Mono" pitchFamily="34" charset="-120"/>
              </a:rPr>
              <a:t>DELIVERED (REPORTED)  </a:t>
            </a:r>
            <a:r>
              <a:rPr lang="en-US" sz="1300" dirty="0">
                <a:solidFill>
                  <a:srgbClr val="F8FAFC"/>
                </a:solidFill>
                <a:latin typeface="Inter" pitchFamily="34" charset="0"/>
                <a:ea typeface="Inter" pitchFamily="34" charset="-122"/>
                <a:cs typeface="Inter" pitchFamily="34" charset="-120"/>
              </a:rPr>
              <a:t>4 web apps; source not in supplied folder</a:t>
            </a:r>
            <a:endParaRPr lang="en-US" sz="1500" dirty="0"/>
          </a:p>
          <a:p>
            <a:pPr marL="0" indent="0">
              <a:buNone/>
            </a:pPr>
            <a:r>
              <a:rPr lang="en-US" sz="1100" b="1" dirty="0">
                <a:solidFill>
                  <a:srgbClr val="F59E0B"/>
                </a:solidFill>
                <a:latin typeface="JetBrains Mono" pitchFamily="34" charset="0"/>
                <a:ea typeface="JetBrains Mono" pitchFamily="34" charset="-122"/>
                <a:cs typeface="JetBrains Mono" pitchFamily="34" charset="-120"/>
              </a:rPr>
              <a:t>PENDING  </a:t>
            </a:r>
            <a:r>
              <a:rPr lang="en-US" sz="1300" dirty="0">
                <a:solidFill>
                  <a:srgbClr val="F8FAFC"/>
                </a:solidFill>
                <a:latin typeface="Inter" pitchFamily="34" charset="0"/>
                <a:ea typeface="Inter" pitchFamily="34" charset="-122"/>
                <a:cs typeface="Inter" pitchFamily="34" charset="-120"/>
              </a:rPr>
              <a:t>MAVLink · live pacing · fence export · HTTPS intake</a:t>
            </a:r>
            <a:endParaRPr lang="en-US" sz="1500" dirty="0"/>
          </a:p>
        </p:txBody>
      </p:sp>
      <p:sp>
        <p:nvSpPr>
          <p:cNvPr id="25" name="box_539"/>
          <p:cNvSpPr/>
          <p:nvPr/>
        </p:nvSpPr>
        <p:spPr>
          <a:xfrm>
            <a:off x="5806440" y="2148840"/>
            <a:ext cx="5928055" cy="2761488"/>
          </a:xfrm>
          <a:prstGeom prst="roundRect">
            <a:avLst>
              <a:gd name="adj" fmla="val 1987"/>
            </a:avLst>
          </a:prstGeom>
          <a:solidFill>
            <a:srgbClr val="0B1220"/>
          </a:solidFill>
          <a:ln w="9525">
            <a:solidFill>
              <a:srgbClr val="00F0FF">
                <a:alpha val="30000"/>
              </a:srgbClr>
            </a:solidFill>
            <a:prstDash val="solid"/>
          </a:ln>
        </p:spPr>
      </p:sp>
      <p:sp>
        <p:nvSpPr>
          <p:cNvPr id="26" name="txt_540"/>
          <p:cNvSpPr txBox="1"/>
          <p:nvPr/>
        </p:nvSpPr>
        <p:spPr>
          <a:xfrm>
            <a:off x="5943600" y="2221992"/>
            <a:ext cx="5653735" cy="219456"/>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PROPOSED PACING LOGIC: PSEUDOCODE · NOT THE LIVE CONTROLLER</a:t>
            </a:r>
            <a:endParaRPr lang="en-US" sz="1000" dirty="0"/>
          </a:p>
        </p:txBody>
      </p:sp>
      <p:sp>
        <p:nvSpPr>
          <p:cNvPr id="27" name="box_541"/>
          <p:cNvSpPr/>
          <p:nvPr/>
        </p:nvSpPr>
        <p:spPr>
          <a:xfrm>
            <a:off x="5879592" y="2734056"/>
            <a:ext cx="5781751" cy="237744"/>
          </a:xfrm>
          <a:prstGeom prst="roundRect">
            <a:avLst>
              <a:gd name="adj" fmla="val 7692"/>
            </a:avLst>
          </a:prstGeom>
          <a:solidFill>
            <a:srgbClr val="F59E0B">
              <a:alpha val="22000"/>
            </a:srgbClr>
          </a:solidFill>
          <a:ln/>
        </p:spPr>
      </p:sp>
      <p:sp>
        <p:nvSpPr>
          <p:cNvPr id="28" name="txt_542"/>
          <p:cNvSpPr txBox="1"/>
          <p:nvPr/>
        </p:nvSpPr>
        <p:spPr>
          <a:xfrm>
            <a:off x="5943600" y="2496312"/>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1  </a:t>
            </a:r>
            <a:r>
              <a:rPr lang="en-US" sz="1300" dirty="0">
                <a:solidFill>
                  <a:srgbClr val="CBD5E1"/>
                </a:solidFill>
                <a:latin typeface="JetBrains Mono" pitchFamily="34" charset="0"/>
                <a:ea typeface="JetBrains Mono" pitchFamily="34" charset="-122"/>
                <a:cs typeface="JetBrains Mono" pitchFamily="34" charset="-120"/>
              </a:rPr>
              <a:t>on visitor_sample(p):</a:t>
            </a:r>
            <a:endParaRPr lang="en-US" sz="1300" dirty="0"/>
          </a:p>
        </p:txBody>
      </p:sp>
      <p:sp>
        <p:nvSpPr>
          <p:cNvPr id="29" name="txt_543"/>
          <p:cNvSpPr txBox="1"/>
          <p:nvPr/>
        </p:nvSpPr>
        <p:spPr>
          <a:xfrm>
            <a:off x="5943600" y="2734056"/>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2  </a:t>
            </a:r>
            <a:r>
              <a:rPr lang="en-US" sz="1300" dirty="0">
                <a:solidFill>
                  <a:srgbClr val="F8FAFC"/>
                </a:solidFill>
                <a:latin typeface="JetBrains Mono" pitchFamily="34" charset="0"/>
                <a:ea typeface="JetBrains Mono" pitchFamily="34" charset="-122"/>
                <a:cs typeface="JetBrains Mono" pitchFamily="34" charset="-120"/>
              </a:rPr>
              <a:t>  if age(p) &gt; T_STALE: return state(HOLD)</a:t>
            </a:r>
            <a:endParaRPr lang="en-US" sz="1300" dirty="0"/>
          </a:p>
        </p:txBody>
      </p:sp>
      <p:sp>
        <p:nvSpPr>
          <p:cNvPr id="30" name="txt_544"/>
          <p:cNvSpPr txBox="1"/>
          <p:nvPr/>
        </p:nvSpPr>
        <p:spPr>
          <a:xfrm>
            <a:off x="5943600" y="2971800"/>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3  </a:t>
            </a:r>
            <a:r>
              <a:rPr lang="en-US" sz="1300" dirty="0">
                <a:solidFill>
                  <a:srgbClr val="CBD5E1"/>
                </a:solidFill>
                <a:latin typeface="JetBrains Mono" pitchFamily="34" charset="0"/>
                <a:ea typeface="JetBrains Mono" pitchFamily="34" charset="-122"/>
                <a:cs typeface="JetBrains Mono" pitchFamily="34" charset="-120"/>
              </a:rPr>
              <a:t>  if implausible_jump(p): return  # drop</a:t>
            </a:r>
            <a:endParaRPr lang="en-US" sz="1300" dirty="0"/>
          </a:p>
        </p:txBody>
      </p:sp>
      <p:sp>
        <p:nvSpPr>
          <p:cNvPr id="31" name="txt_545"/>
          <p:cNvSpPr txBox="1"/>
          <p:nvPr/>
        </p:nvSpPr>
        <p:spPr>
          <a:xfrm>
            <a:off x="5943600" y="3209544"/>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4  </a:t>
            </a:r>
            <a:r>
              <a:rPr lang="en-US" sz="1300" dirty="0">
                <a:solidFill>
                  <a:srgbClr val="CBD5E1"/>
                </a:solidFill>
                <a:latin typeface="JetBrains Mono" pitchFamily="34" charset="0"/>
                <a:ea typeface="JetBrains Mono" pitchFamily="34" charset="-122"/>
                <a:cs typeface="JetBrains Mono" pitchFamily="34" charset="-120"/>
              </a:rPr>
              <a:t>  s_v = project_onto_route(p)</a:t>
            </a:r>
            <a:endParaRPr lang="en-US" sz="1300" dirty="0"/>
          </a:p>
        </p:txBody>
      </p:sp>
      <p:sp>
        <p:nvSpPr>
          <p:cNvPr id="32" name="txt_546"/>
          <p:cNvSpPr txBox="1"/>
          <p:nvPr/>
        </p:nvSpPr>
        <p:spPr>
          <a:xfrm>
            <a:off x="5943600" y="3447288"/>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5  </a:t>
            </a:r>
            <a:r>
              <a:rPr lang="en-US" sz="1300" dirty="0">
                <a:solidFill>
                  <a:srgbClr val="CBD5E1"/>
                </a:solidFill>
                <a:latin typeface="JetBrains Mono" pitchFamily="34" charset="0"/>
                <a:ea typeface="JetBrains Mono" pitchFamily="34" charset="-122"/>
                <a:cs typeface="JetBrains Mono" pitchFamily="34" charset="-120"/>
              </a:rPr>
              <a:t>  gap = s_aircraft - s_v</a:t>
            </a:r>
            <a:endParaRPr lang="en-US" sz="1300" dirty="0"/>
          </a:p>
        </p:txBody>
      </p:sp>
      <p:sp>
        <p:nvSpPr>
          <p:cNvPr id="33" name="txt_547"/>
          <p:cNvSpPr txBox="1"/>
          <p:nvPr/>
        </p:nvSpPr>
        <p:spPr>
          <a:xfrm>
            <a:off x="5943600" y="3685032"/>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6  </a:t>
            </a:r>
            <a:r>
              <a:rPr lang="en-US" sz="1300" dirty="0">
                <a:solidFill>
                  <a:srgbClr val="CBD5E1"/>
                </a:solidFill>
                <a:latin typeface="JetBrains Mono" pitchFamily="34" charset="0"/>
                <a:ea typeface="JetBrains Mono" pitchFamily="34" charset="-122"/>
                <a:cs typeface="JetBrains Mono" pitchFamily="34" charset="-120"/>
              </a:rPr>
              <a:t>  if gap &gt; L_HOLD: state(HOLD)</a:t>
            </a:r>
            <a:endParaRPr lang="en-US" sz="1300" dirty="0"/>
          </a:p>
        </p:txBody>
      </p:sp>
      <p:sp>
        <p:nvSpPr>
          <p:cNvPr id="34" name="txt_548"/>
          <p:cNvSpPr txBox="1"/>
          <p:nvPr/>
        </p:nvSpPr>
        <p:spPr>
          <a:xfrm>
            <a:off x="5943600" y="3922776"/>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7  </a:t>
            </a:r>
            <a:r>
              <a:rPr lang="en-US" sz="1300" dirty="0">
                <a:solidFill>
                  <a:srgbClr val="CBD5E1"/>
                </a:solidFill>
                <a:latin typeface="JetBrains Mono" pitchFamily="34" charset="0"/>
                <a:ea typeface="JetBrains Mono" pitchFamily="34" charset="-122"/>
                <a:cs typeface="JetBrains Mono" pitchFamily="34" charset="-120"/>
              </a:rPr>
              <a:t>  elif gap &lt; L_RESUME: state(LEAD)</a:t>
            </a:r>
            <a:endParaRPr lang="en-US" sz="1300" dirty="0"/>
          </a:p>
        </p:txBody>
      </p:sp>
      <p:sp>
        <p:nvSpPr>
          <p:cNvPr id="35" name="txt_549"/>
          <p:cNvSpPr txBox="1"/>
          <p:nvPr/>
        </p:nvSpPr>
        <p:spPr>
          <a:xfrm>
            <a:off x="5943600" y="4160520"/>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8  </a:t>
            </a:r>
            <a:r>
              <a:rPr lang="en-US" sz="1300" dirty="0">
                <a:solidFill>
                  <a:srgbClr val="CBD5E1"/>
                </a:solidFill>
                <a:latin typeface="JetBrains Mono" pitchFamily="34" charset="0"/>
                <a:ea typeface="JetBrains Mono" pitchFamily="34" charset="-122"/>
                <a:cs typeface="JetBrains Mono" pitchFamily="34" charset="-120"/>
              </a:rPr>
              <a:t>on tick():</a:t>
            </a:r>
            <a:endParaRPr lang="en-US" sz="1300" dirty="0"/>
          </a:p>
        </p:txBody>
      </p:sp>
      <p:sp>
        <p:nvSpPr>
          <p:cNvPr id="36" name="txt_550"/>
          <p:cNvSpPr txBox="1"/>
          <p:nvPr/>
        </p:nvSpPr>
        <p:spPr>
          <a:xfrm>
            <a:off x="5943600" y="4398264"/>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 9  </a:t>
            </a:r>
            <a:r>
              <a:rPr lang="en-US" sz="1300" dirty="0">
                <a:solidFill>
                  <a:srgbClr val="CBD5E1"/>
                </a:solidFill>
                <a:latin typeface="JetBrains Mono" pitchFamily="34" charset="0"/>
                <a:ea typeface="JetBrains Mono" pitchFamily="34" charset="-122"/>
                <a:cs typeface="JetBrains Mono" pitchFamily="34" charset="-120"/>
              </a:rPr>
              <a:t>  if held_stale &gt; T_STALE: state(RTL)</a:t>
            </a:r>
            <a:endParaRPr lang="en-US" sz="1300" dirty="0"/>
          </a:p>
        </p:txBody>
      </p:sp>
      <p:sp>
        <p:nvSpPr>
          <p:cNvPr id="37" name="txt_551"/>
          <p:cNvSpPr txBox="1"/>
          <p:nvPr/>
        </p:nvSpPr>
        <p:spPr>
          <a:xfrm>
            <a:off x="5943600" y="4636008"/>
            <a:ext cx="5653735" cy="237744"/>
          </a:xfrm>
          <a:prstGeom prst="rect">
            <a:avLst/>
          </a:prstGeom>
          <a:noFill/>
          <a:ln/>
        </p:spPr>
        <p:txBody>
          <a:bodyPr wrap="square" lIns="0" tIns="0" rIns="0" bIns="0" rtlCol="0" anchor="ctr"/>
          <a:lstStyle/>
          <a:p>
            <a:pPr marL="0" indent="0">
              <a:buNone/>
            </a:pPr>
            <a:r>
              <a:rPr lang="en-US" sz="1300" dirty="0">
                <a:solidFill>
                  <a:srgbClr val="64748B"/>
                </a:solidFill>
                <a:latin typeface="JetBrains Mono" pitchFamily="34" charset="0"/>
                <a:ea typeface="JetBrains Mono" pitchFamily="34" charset="-122"/>
                <a:cs typeface="JetBrains Mono" pitchFamily="34" charset="-120"/>
              </a:rPr>
              <a:t>10  </a:t>
            </a:r>
            <a:r>
              <a:rPr lang="en-US" sz="1300" dirty="0">
                <a:solidFill>
                  <a:srgbClr val="CBD5E1"/>
                </a:solidFill>
                <a:latin typeface="JetBrains Mono" pitchFamily="34" charset="0"/>
                <a:ea typeface="JetBrains Mono" pitchFamily="34" charset="-122"/>
                <a:cs typeface="JetBrains Mono" pitchFamily="34" charset="-120"/>
              </a:rPr>
              <a:t>  # precedence: failsafe &gt; fence &gt; stale &gt; pace</a:t>
            </a:r>
            <a:endParaRPr lang="en-US" sz="1300" dirty="0"/>
          </a:p>
        </p:txBody>
      </p:sp>
      <p:sp>
        <p:nvSpPr>
          <p:cNvPr id="38" name="chip_552"/>
          <p:cNvSpPr txBox="1"/>
          <p:nvPr/>
        </p:nvSpPr>
        <p:spPr>
          <a:xfrm>
            <a:off x="5806440" y="5001768"/>
            <a:ext cx="4009644" cy="274320"/>
          </a:xfrm>
          <a:prstGeom prst="roundRect">
            <a:avLst>
              <a:gd name="adj" fmla="val 16667"/>
            </a:avLst>
          </a:prstGeom>
          <a:solidFill>
            <a:srgbClr val="EF4444">
              <a:alpha val="12000"/>
            </a:srgbClr>
          </a:solidFill>
          <a:ln w="9525">
            <a:solidFill>
              <a:srgbClr val="EF4444">
                <a:alpha val="65000"/>
              </a:srgbClr>
            </a:solidFill>
          </a:ln>
        </p:spPr>
        <p:txBody>
          <a:bodyPr wrap="square" lIns="0" tIns="0" rIns="0" bIns="0" rtlCol="0" anchor="ctr"/>
          <a:lstStyle/>
          <a:p>
            <a:pPr marL="0" indent="0" algn="ctr">
              <a:buNone/>
            </a:pPr>
            <a:r>
              <a:rPr lang="en-US" sz="1100" b="1" dirty="0">
                <a:solidFill>
                  <a:srgbClr val="EF4444"/>
                </a:solidFill>
                <a:latin typeface="JetBrains Mono" pitchFamily="34" charset="0"/>
                <a:ea typeface="JetBrains Mono" pitchFamily="34" charset="-122"/>
                <a:cs typeface="JetBrains Mono" pitchFamily="34" charset="-120"/>
              </a:rPr>
              <a:t>INJECTED (SIM): VISITOR POSITION STALE &gt; 30 s</a:t>
            </a:r>
            <a:endParaRPr lang="en-US" sz="1100" dirty="0"/>
          </a:p>
        </p:txBody>
      </p:sp>
      <p:sp>
        <p:nvSpPr>
          <p:cNvPr id="39" name="box_553"/>
          <p:cNvSpPr/>
          <p:nvPr/>
        </p:nvSpPr>
        <p:spPr>
          <a:xfrm>
            <a:off x="5806440" y="5367528"/>
            <a:ext cx="914400" cy="402336"/>
          </a:xfrm>
          <a:prstGeom prst="roundRect">
            <a:avLst>
              <a:gd name="adj" fmla="val 13636"/>
            </a:avLst>
          </a:prstGeom>
          <a:solidFill>
            <a:srgbClr val="10B981">
              <a:alpha val="8000"/>
            </a:srgbClr>
          </a:solidFill>
          <a:ln w="9525">
            <a:solidFill>
              <a:srgbClr val="10B981">
                <a:alpha val="80000"/>
              </a:srgbClr>
            </a:solidFill>
            <a:prstDash val="solid"/>
          </a:ln>
        </p:spPr>
      </p:sp>
      <p:sp>
        <p:nvSpPr>
          <p:cNvPr id="40" name="txt_554"/>
          <p:cNvSpPr txBox="1"/>
          <p:nvPr/>
        </p:nvSpPr>
        <p:spPr>
          <a:xfrm>
            <a:off x="5806440" y="5367528"/>
            <a:ext cx="914400" cy="402336"/>
          </a:xfrm>
          <a:prstGeom prst="rect">
            <a:avLst/>
          </a:prstGeom>
          <a:noFill/>
          <a:ln/>
        </p:spPr>
        <p:txBody>
          <a:bodyPr wrap="square" lIns="0" tIns="0" rIns="0" bIns="0" rtlCol="0" anchor="ctr"/>
          <a:lstStyle/>
          <a:p>
            <a:pPr marL="0" indent="0" algn="ctr">
              <a:buNone/>
            </a:pPr>
            <a:r>
              <a:rPr lang="en-US" sz="1200" b="1" dirty="0">
                <a:solidFill>
                  <a:srgbClr val="10B981"/>
                </a:solidFill>
                <a:latin typeface="JetBrains Mono" pitchFamily="34" charset="0"/>
                <a:ea typeface="JetBrains Mono" pitchFamily="34" charset="-122"/>
                <a:cs typeface="JetBrains Mono" pitchFamily="34" charset="-120"/>
              </a:rPr>
              <a:t>SAFE</a:t>
            </a:r>
            <a:endParaRPr lang="en-US" sz="1200" dirty="0"/>
          </a:p>
        </p:txBody>
      </p:sp>
      <p:sp>
        <p:nvSpPr>
          <p:cNvPr id="41" name="ln_555"/>
          <p:cNvSpPr/>
          <p:nvPr/>
        </p:nvSpPr>
        <p:spPr>
          <a:xfrm>
            <a:off x="6739128" y="5568696"/>
            <a:ext cx="128016" cy="914"/>
          </a:xfrm>
          <a:prstGeom prst="line">
            <a:avLst/>
          </a:prstGeom>
          <a:noFill/>
          <a:ln w="15875">
            <a:solidFill>
              <a:srgbClr val="94A3B8"/>
            </a:solidFill>
            <a:prstDash val="solid"/>
            <a:tailEnd type="triangle"/>
          </a:ln>
        </p:spPr>
      </p:sp>
      <p:sp>
        <p:nvSpPr>
          <p:cNvPr id="42" name="box_556"/>
          <p:cNvSpPr/>
          <p:nvPr/>
        </p:nvSpPr>
        <p:spPr>
          <a:xfrm>
            <a:off x="6885432" y="5367528"/>
            <a:ext cx="1280160" cy="402336"/>
          </a:xfrm>
          <a:prstGeom prst="roundRect">
            <a:avLst>
              <a:gd name="adj" fmla="val 13636"/>
            </a:avLst>
          </a:prstGeom>
          <a:solidFill>
            <a:srgbClr val="F59E0B">
              <a:alpha val="15000"/>
            </a:srgbClr>
          </a:solidFill>
          <a:ln w="9525">
            <a:solidFill>
              <a:srgbClr val="F59E0B">
                <a:alpha val="80000"/>
              </a:srgbClr>
            </a:solidFill>
            <a:prstDash val="solid"/>
          </a:ln>
        </p:spPr>
      </p:sp>
      <p:sp>
        <p:nvSpPr>
          <p:cNvPr id="43" name="txt_557"/>
          <p:cNvSpPr txBox="1"/>
          <p:nvPr/>
        </p:nvSpPr>
        <p:spPr>
          <a:xfrm>
            <a:off x="6885432" y="5367528"/>
            <a:ext cx="1280160" cy="402336"/>
          </a:xfrm>
          <a:prstGeom prst="rect">
            <a:avLst/>
          </a:prstGeom>
          <a:no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WARNING</a:t>
            </a:r>
            <a:endParaRPr lang="en-US" sz="1200" dirty="0"/>
          </a:p>
        </p:txBody>
      </p:sp>
      <p:sp>
        <p:nvSpPr>
          <p:cNvPr id="44" name="ln_558"/>
          <p:cNvSpPr/>
          <p:nvPr/>
        </p:nvSpPr>
        <p:spPr>
          <a:xfrm>
            <a:off x="8183880" y="5568696"/>
            <a:ext cx="128016" cy="914"/>
          </a:xfrm>
          <a:prstGeom prst="line">
            <a:avLst/>
          </a:prstGeom>
          <a:noFill/>
          <a:ln w="15875">
            <a:solidFill>
              <a:srgbClr val="94A3B8"/>
            </a:solidFill>
            <a:prstDash val="solid"/>
            <a:tailEnd type="triangle"/>
          </a:ln>
        </p:spPr>
      </p:sp>
      <p:sp>
        <p:nvSpPr>
          <p:cNvPr id="45" name="box_559"/>
          <p:cNvSpPr/>
          <p:nvPr/>
        </p:nvSpPr>
        <p:spPr>
          <a:xfrm>
            <a:off x="8330184" y="5367528"/>
            <a:ext cx="914400" cy="402336"/>
          </a:xfrm>
          <a:prstGeom prst="roundRect">
            <a:avLst>
              <a:gd name="adj" fmla="val 13636"/>
            </a:avLst>
          </a:prstGeom>
          <a:solidFill>
            <a:srgbClr val="F59E0B">
              <a:alpha val="15000"/>
            </a:srgbClr>
          </a:solidFill>
          <a:ln w="9525">
            <a:solidFill>
              <a:srgbClr val="F59E0B">
                <a:alpha val="80000"/>
              </a:srgbClr>
            </a:solidFill>
            <a:prstDash val="solid"/>
          </a:ln>
        </p:spPr>
      </p:sp>
      <p:sp>
        <p:nvSpPr>
          <p:cNvPr id="46" name="txt_560"/>
          <p:cNvSpPr txBox="1"/>
          <p:nvPr/>
        </p:nvSpPr>
        <p:spPr>
          <a:xfrm>
            <a:off x="8330184" y="5367528"/>
            <a:ext cx="914400" cy="402336"/>
          </a:xfrm>
          <a:prstGeom prst="rect">
            <a:avLst/>
          </a:prstGeom>
          <a:no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HOLD</a:t>
            </a:r>
            <a:endParaRPr lang="en-US" sz="1200" dirty="0"/>
          </a:p>
        </p:txBody>
      </p:sp>
      <p:sp>
        <p:nvSpPr>
          <p:cNvPr id="47" name="ln_561"/>
          <p:cNvSpPr/>
          <p:nvPr/>
        </p:nvSpPr>
        <p:spPr>
          <a:xfrm>
            <a:off x="9262872" y="5568696"/>
            <a:ext cx="128016" cy="914"/>
          </a:xfrm>
          <a:prstGeom prst="line">
            <a:avLst/>
          </a:prstGeom>
          <a:noFill/>
          <a:ln w="15875">
            <a:solidFill>
              <a:srgbClr val="94A3B8"/>
            </a:solidFill>
            <a:prstDash val="solid"/>
            <a:tailEnd type="triangle"/>
          </a:ln>
        </p:spPr>
      </p:sp>
      <p:sp>
        <p:nvSpPr>
          <p:cNvPr id="48" name="box_562"/>
          <p:cNvSpPr/>
          <p:nvPr/>
        </p:nvSpPr>
        <p:spPr>
          <a:xfrm>
            <a:off x="9409176" y="5367528"/>
            <a:ext cx="2194560" cy="402336"/>
          </a:xfrm>
          <a:prstGeom prst="roundRect">
            <a:avLst>
              <a:gd name="adj" fmla="val 13636"/>
            </a:avLst>
          </a:prstGeom>
          <a:solidFill>
            <a:srgbClr val="EF4444">
              <a:alpha val="15000"/>
            </a:srgbClr>
          </a:solidFill>
          <a:ln w="9525">
            <a:solidFill>
              <a:srgbClr val="EF4444">
                <a:alpha val="80000"/>
              </a:srgbClr>
            </a:solidFill>
            <a:prstDash val="solid"/>
          </a:ln>
        </p:spPr>
      </p:sp>
      <p:sp>
        <p:nvSpPr>
          <p:cNvPr id="49" name="txt_563"/>
          <p:cNvSpPr txBox="1"/>
          <p:nvPr/>
        </p:nvSpPr>
        <p:spPr>
          <a:xfrm>
            <a:off x="9409176" y="5367528"/>
            <a:ext cx="2194560" cy="402336"/>
          </a:xfrm>
          <a:prstGeom prst="rect">
            <a:avLst/>
          </a:prstGeom>
          <a:noFill/>
          <a:ln/>
        </p:spPr>
        <p:txBody>
          <a:bodyPr wrap="square" lIns="0" tIns="0" rIns="0" bIns="0" rtlCol="0" anchor="ctr"/>
          <a:lstStyle/>
          <a:p>
            <a:pPr marL="0" indent="0" algn="ctr">
              <a:buNone/>
            </a:pPr>
            <a:r>
              <a:rPr lang="en-US" sz="1200" b="1" dirty="0">
                <a:solidFill>
                  <a:srgbClr val="EF4444"/>
                </a:solidFill>
                <a:latin typeface="JetBrains Mono" pitchFamily="34" charset="0"/>
                <a:ea typeface="JetBrains Mono" pitchFamily="34" charset="-122"/>
                <a:cs typeface="JetBrains Mono" pitchFamily="34" charset="-120"/>
              </a:rPr>
              <a:t>RETURN_TO_LAUNCH</a:t>
            </a:r>
            <a:endParaRPr lang="en-US" sz="1200" dirty="0"/>
          </a:p>
        </p:txBody>
      </p:sp>
      <p:sp>
        <p:nvSpPr>
          <p:cNvPr id="50" name="txt_564"/>
          <p:cNvSpPr txBox="1"/>
          <p:nvPr/>
        </p:nvSpPr>
        <p:spPr>
          <a:xfrm>
            <a:off x="5806440" y="5824728"/>
            <a:ext cx="5928055" cy="411480"/>
          </a:xfrm>
          <a:prstGeom prst="rect">
            <a:avLst/>
          </a:prstGeom>
          <a:noFill/>
          <a:ln/>
        </p:spPr>
        <p:txBody>
          <a:bodyPr wrap="square" lIns="0" tIns="0" rIns="0" bIns="0" rtlCol="0" anchor="t"/>
          <a:lstStyle/>
          <a:p>
            <a:pPr marL="0" indent="0">
              <a:buNone/>
            </a:pPr>
            <a:r>
              <a:rPr lang="en-US" sz="1300" dirty="0">
                <a:solidFill>
                  <a:srgbClr val="94A3B8"/>
                </a:solidFill>
                <a:latin typeface="Inter" pitchFamily="34" charset="0"/>
                <a:ea typeface="Inter" pitchFamily="34" charset="-122"/>
                <a:cs typeface="Inter" pitchFamily="34" charset="-120"/>
              </a:rPr>
              <a:t>Designed response (Summary §12): hold, then RTL. Firmware configuration and field verification pending.</a:t>
            </a:r>
            <a:endParaRPr lang="en-US" sz="13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3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3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300"/>
                                        <p:tgtEl>
                                          <p:spTgt spid="3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300"/>
                                        <p:tgtEl>
                                          <p:spTgt spid="40"/>
                                        </p:tgtEl>
                                      </p:cBhvr>
                                    </p:animEffect>
                                  </p:childTnLst>
                                </p:cTn>
                              </p:par>
                            </p:childTnLst>
                          </p:cTn>
                        </p:par>
                        <p:par>
                          <p:cTn id="17" fill="hold">
                            <p:stCondLst>
                              <p:cond delay="300"/>
                            </p:stCondLst>
                            <p:childTnLst>
                              <p:par>
                                <p:cTn id="18" presetID="22" presetClass="entr" presetSubtype="8" fill="hold" nodeType="after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wipe(left)">
                                      <p:cBhvr>
                                        <p:cTn id="20" dur="150"/>
                                        <p:tgtEl>
                                          <p:spTgt spid="41"/>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300"/>
                                        <p:tgtEl>
                                          <p:spTgt spid="42"/>
                                        </p:tgtEl>
                                      </p:cBhvr>
                                    </p:animEffect>
                                    <p:anim calcmode="lin" valueType="num">
                                      <p:cBhvr>
                                        <p:cTn id="26" dur="300" decel="100000" fill="hold"/>
                                        <p:tgtEl>
                                          <p:spTgt spid="42"/>
                                        </p:tgtEl>
                                        <p:attrNameLst>
                                          <p:attrName>ppt_x</p:attrName>
                                        </p:attrNameLst>
                                      </p:cBhvr>
                                      <p:tavLst>
                                        <p:tav tm="0">
                                          <p:val>
                                            <p:strVal val="#ppt_x"/>
                                          </p:val>
                                        </p:tav>
                                        <p:tav tm="100000">
                                          <p:val>
                                            <p:strVal val="#ppt_x"/>
                                          </p:val>
                                        </p:tav>
                                      </p:tavLst>
                                    </p:anim>
                                    <p:anim calcmode="lin" valueType="num">
                                      <p:cBhvr>
                                        <p:cTn id="27" dur="300" decel="100000" fill="hold"/>
                                        <p:tgtEl>
                                          <p:spTgt spid="42"/>
                                        </p:tgtEl>
                                        <p:attrNameLst>
                                          <p:attrName>ppt_y</p:attrName>
                                        </p:attrNameLst>
                                      </p:cBhvr>
                                      <p:tavLst>
                                        <p:tav tm="0">
                                          <p:val>
                                            <p:strVal val="#ppt_y+0.01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300"/>
                                        <p:tgtEl>
                                          <p:spTgt spid="43"/>
                                        </p:tgtEl>
                                      </p:cBhvr>
                                    </p:animEffect>
                                    <p:anim calcmode="lin" valueType="num">
                                      <p:cBhvr>
                                        <p:cTn id="31" dur="300" decel="100000" fill="hold"/>
                                        <p:tgtEl>
                                          <p:spTgt spid="43"/>
                                        </p:tgtEl>
                                        <p:attrNameLst>
                                          <p:attrName>ppt_x</p:attrName>
                                        </p:attrNameLst>
                                      </p:cBhvr>
                                      <p:tavLst>
                                        <p:tav tm="0">
                                          <p:val>
                                            <p:strVal val="#ppt_x"/>
                                          </p:val>
                                        </p:tav>
                                        <p:tav tm="100000">
                                          <p:val>
                                            <p:strVal val="#ppt_x"/>
                                          </p:val>
                                        </p:tav>
                                      </p:tavLst>
                                    </p:anim>
                                    <p:anim calcmode="lin" valueType="num">
                                      <p:cBhvr>
                                        <p:cTn id="32" dur="300" decel="100000" fill="hold"/>
                                        <p:tgtEl>
                                          <p:spTgt spid="43"/>
                                        </p:tgtEl>
                                        <p:attrNameLst>
                                          <p:attrName>ppt_y</p:attrName>
                                        </p:attrNameLst>
                                      </p:cBhvr>
                                      <p:tavLst>
                                        <p:tav tm="0">
                                          <p:val>
                                            <p:strVal val="#ppt_y+0.016"/>
                                          </p:val>
                                        </p:tav>
                                        <p:tav tm="100000">
                                          <p:val>
                                            <p:strVal val="#ppt_y"/>
                                          </p:val>
                                        </p:tav>
                                      </p:tavLst>
                                    </p:anim>
                                  </p:childTnLst>
                                </p:cTn>
                              </p:par>
                            </p:childTnLst>
                          </p:cTn>
                        </p:par>
                        <p:par>
                          <p:cTn id="33" fill="hold">
                            <p:stCondLst>
                              <p:cond delay="300"/>
                            </p:stCondLst>
                            <p:childTnLst>
                              <p:par>
                                <p:cTn id="34" presetID="22" presetClass="entr" presetSubtype="8" fill="hold"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left)">
                                      <p:cBhvr>
                                        <p:cTn id="36" dur="150"/>
                                        <p:tgtEl>
                                          <p:spTgt spid="44"/>
                                        </p:tgtEl>
                                      </p:cBhvr>
                                    </p:animEffect>
                                  </p:childTnLst>
                                </p:cTn>
                              </p:par>
                            </p:childTnLst>
                          </p:cTn>
                        </p:par>
                        <p:par>
                          <p:cTn id="37" fill="hold">
                            <p:stCondLst>
                              <p:cond delay="450"/>
                            </p:stCondLst>
                            <p:childTnLst>
                              <p:par>
                                <p:cTn id="38" presetID="42" presetClass="entr" presetSubtype="0" fill="hold"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300"/>
                                        <p:tgtEl>
                                          <p:spTgt spid="45"/>
                                        </p:tgtEl>
                                      </p:cBhvr>
                                    </p:animEffect>
                                    <p:anim calcmode="lin" valueType="num">
                                      <p:cBhvr>
                                        <p:cTn id="41" dur="300" decel="100000" fill="hold"/>
                                        <p:tgtEl>
                                          <p:spTgt spid="45"/>
                                        </p:tgtEl>
                                        <p:attrNameLst>
                                          <p:attrName>ppt_x</p:attrName>
                                        </p:attrNameLst>
                                      </p:cBhvr>
                                      <p:tavLst>
                                        <p:tav tm="0">
                                          <p:val>
                                            <p:strVal val="#ppt_x"/>
                                          </p:val>
                                        </p:tav>
                                        <p:tav tm="100000">
                                          <p:val>
                                            <p:strVal val="#ppt_x"/>
                                          </p:val>
                                        </p:tav>
                                      </p:tavLst>
                                    </p:anim>
                                    <p:anim calcmode="lin" valueType="num">
                                      <p:cBhvr>
                                        <p:cTn id="42" dur="300" decel="100000" fill="hold"/>
                                        <p:tgtEl>
                                          <p:spTgt spid="45"/>
                                        </p:tgtEl>
                                        <p:attrNameLst>
                                          <p:attrName>ppt_y</p:attrName>
                                        </p:attrNameLst>
                                      </p:cBhvr>
                                      <p:tavLst>
                                        <p:tav tm="0">
                                          <p:val>
                                            <p:strVal val="#ppt_y+0.01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300"/>
                                        <p:tgtEl>
                                          <p:spTgt spid="46"/>
                                        </p:tgtEl>
                                      </p:cBhvr>
                                    </p:animEffect>
                                    <p:anim calcmode="lin" valueType="num">
                                      <p:cBhvr>
                                        <p:cTn id="46" dur="300" decel="100000" fill="hold"/>
                                        <p:tgtEl>
                                          <p:spTgt spid="46"/>
                                        </p:tgtEl>
                                        <p:attrNameLst>
                                          <p:attrName>ppt_x</p:attrName>
                                        </p:attrNameLst>
                                      </p:cBhvr>
                                      <p:tavLst>
                                        <p:tav tm="0">
                                          <p:val>
                                            <p:strVal val="#ppt_x"/>
                                          </p:val>
                                        </p:tav>
                                        <p:tav tm="100000">
                                          <p:val>
                                            <p:strVal val="#ppt_x"/>
                                          </p:val>
                                        </p:tav>
                                      </p:tavLst>
                                    </p:anim>
                                    <p:anim calcmode="lin" valueType="num">
                                      <p:cBhvr>
                                        <p:cTn id="47" dur="300" decel="100000" fill="hold"/>
                                        <p:tgtEl>
                                          <p:spTgt spid="46"/>
                                        </p:tgtEl>
                                        <p:attrNameLst>
                                          <p:attrName>ppt_y</p:attrName>
                                        </p:attrNameLst>
                                      </p:cBhvr>
                                      <p:tavLst>
                                        <p:tav tm="0">
                                          <p:val>
                                            <p:strVal val="#ppt_y+0.016"/>
                                          </p:val>
                                        </p:tav>
                                        <p:tav tm="100000">
                                          <p:val>
                                            <p:strVal val="#ppt_y"/>
                                          </p:val>
                                        </p:tav>
                                      </p:tavLst>
                                    </p:anim>
                                  </p:childTnLst>
                                </p:cTn>
                              </p:par>
                            </p:childTnLst>
                          </p:cTn>
                        </p:par>
                        <p:par>
                          <p:cTn id="48" fill="hold">
                            <p:stCondLst>
                              <p:cond delay="750"/>
                            </p:stCondLst>
                            <p:childTnLst>
                              <p:par>
                                <p:cTn id="49" presetID="22" presetClass="entr" presetSubtype="8" fill="hold" nodeType="after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wipe(left)">
                                      <p:cBhvr>
                                        <p:cTn id="51" dur="150"/>
                                        <p:tgtEl>
                                          <p:spTgt spid="47"/>
                                        </p:tgtEl>
                                      </p:cBhvr>
                                    </p:animEffect>
                                  </p:childTnLst>
                                </p:cTn>
                              </p:par>
                            </p:childTnLst>
                          </p:cTn>
                        </p:par>
                        <p:par>
                          <p:cTn id="52" fill="hold">
                            <p:stCondLst>
                              <p:cond delay="900"/>
                            </p:stCondLst>
                            <p:childTnLst>
                              <p:par>
                                <p:cTn id="53" presetID="42" presetClass="entr" presetSubtype="0" fill="hold" nodeType="after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300"/>
                                        <p:tgtEl>
                                          <p:spTgt spid="48"/>
                                        </p:tgtEl>
                                      </p:cBhvr>
                                    </p:animEffect>
                                    <p:anim calcmode="lin" valueType="num">
                                      <p:cBhvr>
                                        <p:cTn id="56" dur="300" decel="100000" fill="hold"/>
                                        <p:tgtEl>
                                          <p:spTgt spid="48"/>
                                        </p:tgtEl>
                                        <p:attrNameLst>
                                          <p:attrName>ppt_x</p:attrName>
                                        </p:attrNameLst>
                                      </p:cBhvr>
                                      <p:tavLst>
                                        <p:tav tm="0">
                                          <p:val>
                                            <p:strVal val="#ppt_x"/>
                                          </p:val>
                                        </p:tav>
                                        <p:tav tm="100000">
                                          <p:val>
                                            <p:strVal val="#ppt_x"/>
                                          </p:val>
                                        </p:tav>
                                      </p:tavLst>
                                    </p:anim>
                                    <p:anim calcmode="lin" valueType="num">
                                      <p:cBhvr>
                                        <p:cTn id="57" dur="300" decel="100000" fill="hold"/>
                                        <p:tgtEl>
                                          <p:spTgt spid="48"/>
                                        </p:tgtEl>
                                        <p:attrNameLst>
                                          <p:attrName>ppt_y</p:attrName>
                                        </p:attrNameLst>
                                      </p:cBhvr>
                                      <p:tavLst>
                                        <p:tav tm="0">
                                          <p:val>
                                            <p:strVal val="#ppt_y+0.01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300"/>
                                        <p:tgtEl>
                                          <p:spTgt spid="49"/>
                                        </p:tgtEl>
                                      </p:cBhvr>
                                    </p:animEffect>
                                    <p:anim calcmode="lin" valueType="num">
                                      <p:cBhvr>
                                        <p:cTn id="61" dur="300" decel="100000" fill="hold"/>
                                        <p:tgtEl>
                                          <p:spTgt spid="49"/>
                                        </p:tgtEl>
                                        <p:attrNameLst>
                                          <p:attrName>ppt_x</p:attrName>
                                        </p:attrNameLst>
                                      </p:cBhvr>
                                      <p:tavLst>
                                        <p:tav tm="0">
                                          <p:val>
                                            <p:strVal val="#ppt_x"/>
                                          </p:val>
                                        </p:tav>
                                        <p:tav tm="100000">
                                          <p:val>
                                            <p:strVal val="#ppt_x"/>
                                          </p:val>
                                        </p:tav>
                                      </p:tavLst>
                                    </p:anim>
                                    <p:anim calcmode="lin" valueType="num">
                                      <p:cBhvr>
                                        <p:cTn id="62" dur="300" decel="100000" fill="hold"/>
                                        <p:tgtEl>
                                          <p:spTgt spid="49"/>
                                        </p:tgtEl>
                                        <p:attrNameLst>
                                          <p:attrName>ppt_y</p:attrName>
                                        </p:attrNameLst>
                                      </p:cBhvr>
                                      <p:tavLst>
                                        <p:tav tm="0">
                                          <p:val>
                                            <p:strVal val="#ppt_y+0.016"/>
                                          </p:val>
                                        </p:tav>
                                        <p:tav tm="100000">
                                          <p:val>
                                            <p:strVal val="#ppt_y"/>
                                          </p:val>
                                        </p:tav>
                                      </p:tavLst>
                                    </p:anim>
                                  </p:childTnLst>
                                </p:cTn>
                              </p:par>
                            </p:childTnLst>
                          </p:cTn>
                        </p:par>
                        <p:par>
                          <p:cTn id="63" fill="hold">
                            <p:stCondLst>
                              <p:cond delay="1200"/>
                            </p:stCondLst>
                            <p:childTnLst>
                              <p:par>
                                <p:cTn id="64" presetID="10" presetClass="entr" presetSubtype="0" fill="hold" grpId="0" nodeType="after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3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3" grpId="0" animBg="1"/>
      <p:bldP spid="46" grpId="0" animBg="1"/>
      <p:bldP spid="49" grpId="0" animBg="1"/>
      <p:bldP spid="5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xt_565"/>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04: RESULTS</a:t>
            </a:r>
            <a:endParaRPr lang="en-US" sz="1100" dirty="0"/>
          </a:p>
        </p:txBody>
      </p:sp>
      <p:sp>
        <p:nvSpPr>
          <p:cNvPr id="3" name="kicker_566"/>
          <p:cNvSpPr txBox="1"/>
          <p:nvPr/>
        </p:nvSpPr>
        <p:spPr>
          <a:xfrm>
            <a:off x="457200" y="548640"/>
            <a:ext cx="539496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RESULTS · CAMPUS GRAPH &amp; PAD COVERAGE</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Six proposed pads cover 36 destinations under the current limit</a:t>
            </a:r>
            <a:endParaRPr lang="en-US" sz="4000" dirty="0"/>
          </a:p>
        </p:txBody>
      </p:sp>
      <p:sp>
        <p:nvSpPr>
          <p:cNvPr id="5" name="txt_567"/>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COMPUTED / SOURCE-REPORTED · GREEDY SOLUTION · 350 m PROVISIONAL</a:t>
            </a:r>
            <a:endParaRPr lang="en-US" sz="1000" dirty="0"/>
          </a:p>
        </p:txBody>
      </p:sp>
      <p:sp>
        <p:nvSpPr>
          <p:cNvPr id="6" name="txt_568"/>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§9–10 pp8–9; App. A–B</a:t>
            </a:r>
            <a:endParaRPr lang="en-US" sz="1000" dirty="0"/>
          </a:p>
        </p:txBody>
      </p:sp>
      <p:sp>
        <p:nvSpPr>
          <p:cNvPr id="7" name="txt_569"/>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[ 15 / 18 ]</a:t>
            </a:r>
            <a:endParaRPr lang="en-US" sz="1200" dirty="0"/>
          </a:p>
        </p:txBody>
      </p:sp>
      <p:pic>
        <p:nvPicPr>
          <p:cNvPr id="9" name="img_570" descr="NAVI live-map screenshot: campus boundary, pads, computed route (simulation)"/>
          <p:cNvPicPr>
            <a:picLocks noChangeAspect="1"/>
          </p:cNvPicPr>
          <p:nvPr/>
        </p:nvPicPr>
        <p:blipFill>
          <a:blip r:embed="rId3"/>
          <a:stretch>
            <a:fillRect/>
          </a:stretch>
        </p:blipFill>
        <p:spPr>
          <a:xfrm>
            <a:off x="457200" y="2148840"/>
            <a:ext cx="5486400" cy="4101220"/>
          </a:xfrm>
          <a:prstGeom prst="rect">
            <a:avLst/>
          </a:prstGeom>
        </p:spPr>
      </p:pic>
      <p:sp>
        <p:nvSpPr>
          <p:cNvPr id="10" name="ln_571"/>
          <p:cNvSpPr/>
          <p:nvPr/>
        </p:nvSpPr>
        <p:spPr>
          <a:xfrm>
            <a:off x="457200" y="2148840"/>
            <a:ext cx="164592" cy="914"/>
          </a:xfrm>
          <a:prstGeom prst="line">
            <a:avLst/>
          </a:prstGeom>
          <a:noFill/>
          <a:ln w="15875">
            <a:solidFill>
              <a:srgbClr val="00F0FF">
                <a:alpha val="70000"/>
              </a:srgbClr>
            </a:solidFill>
            <a:prstDash val="solid"/>
          </a:ln>
        </p:spPr>
      </p:sp>
      <p:sp>
        <p:nvSpPr>
          <p:cNvPr id="11" name="ln_572"/>
          <p:cNvSpPr/>
          <p:nvPr/>
        </p:nvSpPr>
        <p:spPr>
          <a:xfrm>
            <a:off x="457200" y="2148840"/>
            <a:ext cx="914" cy="164592"/>
          </a:xfrm>
          <a:prstGeom prst="line">
            <a:avLst/>
          </a:prstGeom>
          <a:noFill/>
          <a:ln w="15875">
            <a:solidFill>
              <a:srgbClr val="00F0FF">
                <a:alpha val="70000"/>
              </a:srgbClr>
            </a:solidFill>
            <a:prstDash val="solid"/>
          </a:ln>
        </p:spPr>
      </p:sp>
      <p:sp>
        <p:nvSpPr>
          <p:cNvPr id="12" name="ln_573"/>
          <p:cNvSpPr/>
          <p:nvPr/>
        </p:nvSpPr>
        <p:spPr>
          <a:xfrm>
            <a:off x="5779008" y="2148840"/>
            <a:ext cx="164592" cy="914"/>
          </a:xfrm>
          <a:prstGeom prst="line">
            <a:avLst/>
          </a:prstGeom>
          <a:noFill/>
          <a:ln w="15875">
            <a:solidFill>
              <a:srgbClr val="00F0FF">
                <a:alpha val="70000"/>
              </a:srgbClr>
            </a:solidFill>
            <a:prstDash val="solid"/>
          </a:ln>
        </p:spPr>
      </p:sp>
      <p:sp>
        <p:nvSpPr>
          <p:cNvPr id="13" name="ln_574"/>
          <p:cNvSpPr/>
          <p:nvPr/>
        </p:nvSpPr>
        <p:spPr>
          <a:xfrm>
            <a:off x="5943600" y="2148840"/>
            <a:ext cx="914" cy="164592"/>
          </a:xfrm>
          <a:prstGeom prst="line">
            <a:avLst/>
          </a:prstGeom>
          <a:noFill/>
          <a:ln w="15875">
            <a:solidFill>
              <a:srgbClr val="00F0FF">
                <a:alpha val="70000"/>
              </a:srgbClr>
            </a:solidFill>
            <a:prstDash val="solid"/>
          </a:ln>
        </p:spPr>
      </p:sp>
      <p:sp>
        <p:nvSpPr>
          <p:cNvPr id="14" name="ln_575"/>
          <p:cNvSpPr/>
          <p:nvPr/>
        </p:nvSpPr>
        <p:spPr>
          <a:xfrm>
            <a:off x="457200" y="6085468"/>
            <a:ext cx="914" cy="164592"/>
          </a:xfrm>
          <a:prstGeom prst="line">
            <a:avLst/>
          </a:prstGeom>
          <a:noFill/>
          <a:ln w="15875">
            <a:solidFill>
              <a:srgbClr val="00F0FF">
                <a:alpha val="70000"/>
              </a:srgbClr>
            </a:solidFill>
            <a:prstDash val="solid"/>
          </a:ln>
        </p:spPr>
      </p:sp>
      <p:sp>
        <p:nvSpPr>
          <p:cNvPr id="15" name="ln_576"/>
          <p:cNvSpPr/>
          <p:nvPr/>
        </p:nvSpPr>
        <p:spPr>
          <a:xfrm>
            <a:off x="457200" y="6250060"/>
            <a:ext cx="164592" cy="914"/>
          </a:xfrm>
          <a:prstGeom prst="line">
            <a:avLst/>
          </a:prstGeom>
          <a:noFill/>
          <a:ln w="15875">
            <a:solidFill>
              <a:srgbClr val="00F0FF">
                <a:alpha val="70000"/>
              </a:srgbClr>
            </a:solidFill>
            <a:prstDash val="solid"/>
          </a:ln>
        </p:spPr>
      </p:sp>
      <p:sp>
        <p:nvSpPr>
          <p:cNvPr id="16" name="ln_577"/>
          <p:cNvSpPr/>
          <p:nvPr/>
        </p:nvSpPr>
        <p:spPr>
          <a:xfrm>
            <a:off x="5943600" y="6085468"/>
            <a:ext cx="914" cy="164592"/>
          </a:xfrm>
          <a:prstGeom prst="line">
            <a:avLst/>
          </a:prstGeom>
          <a:noFill/>
          <a:ln w="15875">
            <a:solidFill>
              <a:srgbClr val="00F0FF">
                <a:alpha val="70000"/>
              </a:srgbClr>
            </a:solidFill>
            <a:prstDash val="solid"/>
          </a:ln>
        </p:spPr>
      </p:sp>
      <p:sp>
        <p:nvSpPr>
          <p:cNvPr id="17" name="ln_578"/>
          <p:cNvSpPr/>
          <p:nvPr/>
        </p:nvSpPr>
        <p:spPr>
          <a:xfrm>
            <a:off x="5779008" y="6250060"/>
            <a:ext cx="164592" cy="914"/>
          </a:xfrm>
          <a:prstGeom prst="line">
            <a:avLst/>
          </a:prstGeom>
          <a:noFill/>
          <a:ln w="15875">
            <a:solidFill>
              <a:srgbClr val="00F0FF">
                <a:alpha val="70000"/>
              </a:srgbClr>
            </a:solidFill>
            <a:prstDash val="solid"/>
          </a:ln>
        </p:spPr>
      </p:sp>
      <p:sp>
        <p:nvSpPr>
          <p:cNvPr id="18" name="chip_579"/>
          <p:cNvSpPr txBox="1"/>
          <p:nvPr/>
        </p:nvSpPr>
        <p:spPr>
          <a:xfrm>
            <a:off x="548640" y="5920876"/>
            <a:ext cx="3049524" cy="237744"/>
          </a:xfrm>
          <a:prstGeom prst="roundRect">
            <a:avLst>
              <a:gd name="adj" fmla="val 19231"/>
            </a:avLst>
          </a:prstGeom>
          <a:solidFill>
            <a:srgbClr val="090D16">
              <a:alpha val="92000"/>
            </a:srgbClr>
          </a:solidFill>
          <a:ln w="9525">
            <a:solidFill>
              <a:srgbClr val="EF4444">
                <a:alpha val="65000"/>
              </a:srgbClr>
            </a:solidFill>
          </a:ln>
        </p:spPr>
        <p:txBody>
          <a:bodyPr wrap="square" lIns="0" tIns="0" rIns="0" bIns="0" rtlCol="0" anchor="ctr"/>
          <a:lstStyle/>
          <a:p>
            <a:pPr marL="0" indent="0" algn="ctr">
              <a:buNone/>
            </a:pPr>
            <a:r>
              <a:rPr lang="en-US" sz="900" b="1" dirty="0">
                <a:solidFill>
                  <a:srgbClr val="EF4444"/>
                </a:solidFill>
                <a:latin typeface="JetBrains Mono" pitchFamily="34" charset="0"/>
                <a:ea typeface="JetBrains Mono" pitchFamily="34" charset="-122"/>
                <a:cs typeface="JetBrains Mono" pitchFamily="34" charset="-120"/>
              </a:rPr>
              <a:t>OSM BOUNDARY (RED DASHED) · way 336095563</a:t>
            </a:r>
            <a:endParaRPr lang="en-US" sz="900" dirty="0"/>
          </a:p>
        </p:txBody>
      </p:sp>
      <p:sp>
        <p:nvSpPr>
          <p:cNvPr id="19" name="badge_580"/>
          <p:cNvSpPr txBox="1"/>
          <p:nvPr/>
        </p:nvSpPr>
        <p:spPr>
          <a:xfrm>
            <a:off x="1349872" y="4487221"/>
            <a:ext cx="365760" cy="365760"/>
          </a:xfrm>
          <a:prstGeom prst="ellipse">
            <a:avLst/>
          </a:prstGeom>
          <a:ln w="28575">
            <a:solidFill>
              <a:srgbClr val="00F0FF"/>
            </a:solidFill>
          </a:ln>
        </p:spPr>
        <p:txBody>
          <a:bodyPr wrap="square" lIns="0" tIns="0" rIns="0" bIns="0" rtlCol="0" anchor="ctr"/>
          <a:lstStyle/>
          <a:p>
            <a:pPr marL="0" indent="0" algn="ctr">
              <a:buNone/>
            </a:pPr>
            <a:endParaRPr lang="en-US" sz="1100" dirty="0"/>
          </a:p>
        </p:txBody>
      </p:sp>
      <p:sp>
        <p:nvSpPr>
          <p:cNvPr id="20" name="badge_581"/>
          <p:cNvSpPr txBox="1"/>
          <p:nvPr/>
        </p:nvSpPr>
        <p:spPr>
          <a:xfrm>
            <a:off x="1889976" y="3404685"/>
            <a:ext cx="365760" cy="365760"/>
          </a:xfrm>
          <a:prstGeom prst="ellipse">
            <a:avLst/>
          </a:prstGeom>
          <a:ln w="28575">
            <a:solidFill>
              <a:srgbClr val="00F0FF"/>
            </a:solidFill>
          </a:ln>
        </p:spPr>
        <p:txBody>
          <a:bodyPr wrap="square" lIns="0" tIns="0" rIns="0" bIns="0" rtlCol="0" anchor="ctr"/>
          <a:lstStyle/>
          <a:p>
            <a:pPr marL="0" indent="0" algn="ctr">
              <a:buNone/>
            </a:pPr>
            <a:endParaRPr lang="en-US" sz="1100" dirty="0"/>
          </a:p>
        </p:txBody>
      </p:sp>
      <p:sp>
        <p:nvSpPr>
          <p:cNvPr id="21" name="badge_582"/>
          <p:cNvSpPr txBox="1"/>
          <p:nvPr/>
        </p:nvSpPr>
        <p:spPr>
          <a:xfrm>
            <a:off x="2579074" y="3982037"/>
            <a:ext cx="365760" cy="365760"/>
          </a:xfrm>
          <a:prstGeom prst="ellipse">
            <a:avLst/>
          </a:prstGeom>
          <a:ln w="28575">
            <a:solidFill>
              <a:srgbClr val="00F0FF"/>
            </a:solidFill>
          </a:ln>
        </p:spPr>
        <p:txBody>
          <a:bodyPr wrap="square" lIns="0" tIns="0" rIns="0" bIns="0" rtlCol="0" anchor="ctr"/>
          <a:lstStyle/>
          <a:p>
            <a:pPr marL="0" indent="0" algn="ctr">
              <a:buNone/>
            </a:pPr>
            <a:endParaRPr lang="en-US" sz="1100" dirty="0"/>
          </a:p>
        </p:txBody>
      </p:sp>
      <p:sp>
        <p:nvSpPr>
          <p:cNvPr id="22" name="badge_583"/>
          <p:cNvSpPr txBox="1"/>
          <p:nvPr/>
        </p:nvSpPr>
        <p:spPr>
          <a:xfrm>
            <a:off x="1200878" y="3153257"/>
            <a:ext cx="365760" cy="365760"/>
          </a:xfrm>
          <a:prstGeom prst="ellipse">
            <a:avLst/>
          </a:prstGeom>
          <a:ln w="28575">
            <a:solidFill>
              <a:srgbClr val="00F0FF"/>
            </a:solidFill>
          </a:ln>
        </p:spPr>
        <p:txBody>
          <a:bodyPr wrap="square" lIns="0" tIns="0" rIns="0" bIns="0" rtlCol="0" anchor="ctr"/>
          <a:lstStyle/>
          <a:p>
            <a:pPr marL="0" indent="0" algn="ctr">
              <a:buNone/>
            </a:pPr>
            <a:endParaRPr lang="en-US" sz="1100" dirty="0"/>
          </a:p>
        </p:txBody>
      </p:sp>
      <p:sp>
        <p:nvSpPr>
          <p:cNvPr id="23" name="badge_584"/>
          <p:cNvSpPr txBox="1"/>
          <p:nvPr/>
        </p:nvSpPr>
        <p:spPr>
          <a:xfrm>
            <a:off x="2001721" y="4568702"/>
            <a:ext cx="365760" cy="365760"/>
          </a:xfrm>
          <a:prstGeom prst="ellipse">
            <a:avLst/>
          </a:prstGeom>
          <a:ln w="28575">
            <a:solidFill>
              <a:srgbClr val="00F0FF"/>
            </a:solidFill>
          </a:ln>
        </p:spPr>
        <p:txBody>
          <a:bodyPr wrap="square" lIns="0" tIns="0" rIns="0" bIns="0" rtlCol="0" anchor="ctr"/>
          <a:lstStyle/>
          <a:p>
            <a:pPr marL="0" indent="0" algn="ctr">
              <a:buNone/>
            </a:pPr>
            <a:endParaRPr lang="en-US" sz="1100" dirty="0"/>
          </a:p>
        </p:txBody>
      </p:sp>
      <p:sp>
        <p:nvSpPr>
          <p:cNvPr id="24" name="chip_585"/>
          <p:cNvSpPr txBox="1"/>
          <p:nvPr/>
        </p:nvSpPr>
        <p:spPr>
          <a:xfrm>
            <a:off x="2168402" y="2737690"/>
            <a:ext cx="2500884" cy="237744"/>
          </a:xfrm>
          <a:prstGeom prst="roundRect">
            <a:avLst>
              <a:gd name="adj" fmla="val 19231"/>
            </a:avLst>
          </a:prstGeom>
          <a:solidFill>
            <a:srgbClr val="090D16">
              <a:alpha val="9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PAD 6 · E BLOCK · BENEATH PANEL →</a:t>
            </a:r>
            <a:endParaRPr lang="en-US" sz="900" dirty="0"/>
          </a:p>
        </p:txBody>
      </p:sp>
      <p:sp>
        <p:nvSpPr>
          <p:cNvPr id="25" name="path_586"/>
          <p:cNvSpPr/>
          <p:nvPr/>
        </p:nvSpPr>
        <p:spPr>
          <a:xfrm>
            <a:off x="2056559" y="4337192"/>
            <a:ext cx="142010" cy="388782"/>
          </a:xfrm>
          <a:custGeom>
            <a:avLst/>
            <a:gdLst/>
            <a:ahLst/>
            <a:cxnLst/>
            <a:rect l="l" t="t" r="r" b="b"/>
            <a:pathLst>
              <a:path w="142010" h="388782">
                <a:moveTo>
                  <a:pt x="123386" y="388782"/>
                </a:moveTo>
                <a:lnTo>
                  <a:pt x="88465" y="244444"/>
                </a:lnTo>
                <a:lnTo>
                  <a:pt x="46561" y="128042"/>
                </a:lnTo>
                <a:lnTo>
                  <a:pt x="0" y="4656"/>
                </a:lnTo>
                <a:lnTo>
                  <a:pt x="118730" y="65185"/>
                </a:lnTo>
                <a:lnTo>
                  <a:pt x="142010" y="0"/>
                </a:lnTo>
              </a:path>
            </a:pathLst>
          </a:custGeom>
          <a:ln w="44450">
            <a:solidFill>
              <a:srgbClr val="00F0FF"/>
            </a:solidFill>
            <a:prstDash val="solid"/>
          </a:ln>
        </p:spPr>
      </p:sp>
      <p:sp>
        <p:nvSpPr>
          <p:cNvPr id="26" name="chip_587"/>
          <p:cNvSpPr txBox="1"/>
          <p:nvPr/>
        </p:nvSpPr>
        <p:spPr>
          <a:xfrm>
            <a:off x="2322938" y="4439483"/>
            <a:ext cx="2020824" cy="237744"/>
          </a:xfrm>
          <a:prstGeom prst="roundRect">
            <a:avLst>
              <a:gd name="adj" fmla="val 19231"/>
            </a:avLst>
          </a:prstGeom>
          <a:solidFill>
            <a:srgbClr val="090D16">
              <a:alpha val="92000"/>
            </a:srgbClr>
          </a:solidFill>
          <a:ln w="9525">
            <a:solidFill>
              <a:srgbClr val="00F0FF">
                <a:alpha val="65000"/>
              </a:srgbClr>
            </a:solidFill>
          </a:ln>
        </p:spPr>
        <p:txBody>
          <a:bodyPr wrap="square" lIns="0" tIns="0" rIns="0" bIns="0" rtlCol="0" anchor="ctr"/>
          <a:lstStyle/>
          <a:p>
            <a:pPr marL="0" indent="0" algn="ctr">
              <a:buNone/>
            </a:pPr>
            <a:r>
              <a:rPr lang="en-US" sz="900" b="1" dirty="0">
                <a:solidFill>
                  <a:srgbClr val="00F0FF"/>
                </a:solidFill>
                <a:latin typeface="JetBrains Mono" pitchFamily="34" charset="0"/>
                <a:ea typeface="JetBrains Mono" pitchFamily="34" charset="-122"/>
                <a:cs typeface="JetBrains Mono" pitchFamily="34" charset="-120"/>
              </a:rPr>
              <a:t>GAZEBO ← SOUTH PAD · 157 m</a:t>
            </a:r>
            <a:endParaRPr lang="en-US" sz="900" dirty="0"/>
          </a:p>
        </p:txBody>
      </p:sp>
      <p:sp>
        <p:nvSpPr>
          <p:cNvPr id="27" name="box_588"/>
          <p:cNvSpPr/>
          <p:nvPr/>
        </p:nvSpPr>
        <p:spPr>
          <a:xfrm>
            <a:off x="6172200" y="2148840"/>
            <a:ext cx="1780946" cy="868680"/>
          </a:xfrm>
          <a:prstGeom prst="roundRect">
            <a:avLst>
              <a:gd name="adj" fmla="val 6316"/>
            </a:avLst>
          </a:prstGeom>
          <a:solidFill>
            <a:srgbClr val="131C2E">
              <a:alpha val="82000"/>
            </a:srgbClr>
          </a:solidFill>
          <a:ln w="9525">
            <a:solidFill>
              <a:srgbClr val="00F0FF">
                <a:alpha val="30000"/>
              </a:srgbClr>
            </a:solidFill>
            <a:prstDash val="solid"/>
          </a:ln>
        </p:spPr>
      </p:sp>
      <p:sp>
        <p:nvSpPr>
          <p:cNvPr id="28" name="txt_589"/>
          <p:cNvSpPr txBox="1"/>
          <p:nvPr/>
        </p:nvSpPr>
        <p:spPr>
          <a:xfrm>
            <a:off x="6281928" y="2221992"/>
            <a:ext cx="1598066" cy="758952"/>
          </a:xfrm>
          <a:prstGeom prst="rect">
            <a:avLst/>
          </a:prstGeom>
          <a:noFill/>
          <a:ln/>
        </p:spPr>
        <p:txBody>
          <a:bodyPr wrap="square" lIns="0" tIns="0" rIns="0" bIns="0" rtlCol="0" anchor="t"/>
          <a:lstStyle/>
          <a:p>
            <a:pPr marL="0" indent="0">
              <a:buNone/>
            </a:pPr>
            <a:r>
              <a:rPr lang="en-US" sz="3000" b="1" dirty="0">
                <a:solidFill>
                  <a:srgbClr val="00F0FF"/>
                </a:solidFill>
                <a:latin typeface="Space Grotesk" pitchFamily="34" charset="0"/>
                <a:ea typeface="Space Grotesk" pitchFamily="34" charset="-122"/>
                <a:cs typeface="Space Grotesk" pitchFamily="34" charset="-120"/>
              </a:rPr>
              <a:t>260</a:t>
            </a:r>
            <a:endParaRPr lang="en-US" sz="1500" dirty="0"/>
          </a:p>
          <a:p>
            <a:pPr marL="0" indent="0">
              <a:buNone/>
            </a:pPr>
            <a:r>
              <a:rPr lang="en-US" sz="1000" dirty="0">
                <a:solidFill>
                  <a:srgbClr val="94A3B8"/>
                </a:solidFill>
                <a:latin typeface="JetBrains Mono" pitchFamily="34" charset="0"/>
                <a:ea typeface="JetBrains Mono" pitchFamily="34" charset="-122"/>
                <a:cs typeface="JetBrains Mono" pitchFamily="34" charset="-120"/>
              </a:rPr>
              <a:t>FLIGHT-GRAPH NODES (OF 278)</a:t>
            </a:r>
            <a:endParaRPr lang="en-US" sz="1500" dirty="0"/>
          </a:p>
        </p:txBody>
      </p:sp>
      <p:sp>
        <p:nvSpPr>
          <p:cNvPr id="29" name="box_590"/>
          <p:cNvSpPr/>
          <p:nvPr/>
        </p:nvSpPr>
        <p:spPr>
          <a:xfrm>
            <a:off x="8062874" y="2148840"/>
            <a:ext cx="1780946" cy="868680"/>
          </a:xfrm>
          <a:prstGeom prst="roundRect">
            <a:avLst>
              <a:gd name="adj" fmla="val 6316"/>
            </a:avLst>
          </a:prstGeom>
          <a:solidFill>
            <a:srgbClr val="131C2E">
              <a:alpha val="82000"/>
            </a:srgbClr>
          </a:solidFill>
          <a:ln w="9525">
            <a:solidFill>
              <a:srgbClr val="00F0FF">
                <a:alpha val="30000"/>
              </a:srgbClr>
            </a:solidFill>
            <a:prstDash val="solid"/>
          </a:ln>
        </p:spPr>
      </p:sp>
      <p:sp>
        <p:nvSpPr>
          <p:cNvPr id="30" name="txt_591"/>
          <p:cNvSpPr txBox="1"/>
          <p:nvPr/>
        </p:nvSpPr>
        <p:spPr>
          <a:xfrm>
            <a:off x="8172602" y="2221992"/>
            <a:ext cx="1598066" cy="758952"/>
          </a:xfrm>
          <a:prstGeom prst="rect">
            <a:avLst/>
          </a:prstGeom>
          <a:noFill/>
          <a:ln/>
        </p:spPr>
        <p:txBody>
          <a:bodyPr wrap="square" lIns="0" tIns="0" rIns="0" bIns="0" rtlCol="0" anchor="t"/>
          <a:lstStyle/>
          <a:p>
            <a:pPr marL="0" indent="0">
              <a:buNone/>
            </a:pPr>
            <a:r>
              <a:rPr lang="en-US" sz="3000" b="1" dirty="0">
                <a:solidFill>
                  <a:srgbClr val="00F0FF"/>
                </a:solidFill>
                <a:latin typeface="Space Grotesk" pitchFamily="34" charset="0"/>
                <a:ea typeface="Space Grotesk" pitchFamily="34" charset="-122"/>
                <a:cs typeface="Space Grotesk" pitchFamily="34" charset="-120"/>
              </a:rPr>
              <a:t>8.24 km</a:t>
            </a:r>
            <a:endParaRPr lang="en-US" sz="1500" dirty="0"/>
          </a:p>
          <a:p>
            <a:pPr marL="0" indent="0">
              <a:buNone/>
            </a:pPr>
            <a:r>
              <a:rPr lang="en-US" sz="1000" dirty="0">
                <a:solidFill>
                  <a:srgbClr val="94A3B8"/>
                </a:solidFill>
                <a:latin typeface="JetBrains Mono" pitchFamily="34" charset="0"/>
                <a:ea typeface="JetBrains Mono" pitchFamily="34" charset="-122"/>
                <a:cs typeface="JetBrains Mono" pitchFamily="34" charset="-120"/>
              </a:rPr>
              <a:t>303 PATH SEGMENTS</a:t>
            </a:r>
            <a:endParaRPr lang="en-US" sz="1500" dirty="0"/>
          </a:p>
        </p:txBody>
      </p:sp>
      <p:sp>
        <p:nvSpPr>
          <p:cNvPr id="31" name="box_592"/>
          <p:cNvSpPr/>
          <p:nvPr/>
        </p:nvSpPr>
        <p:spPr>
          <a:xfrm>
            <a:off x="9953549" y="2148840"/>
            <a:ext cx="1780946" cy="868680"/>
          </a:xfrm>
          <a:prstGeom prst="roundRect">
            <a:avLst>
              <a:gd name="adj" fmla="val 6316"/>
            </a:avLst>
          </a:prstGeom>
          <a:solidFill>
            <a:srgbClr val="131C2E">
              <a:alpha val="82000"/>
            </a:srgbClr>
          </a:solidFill>
          <a:ln w="9525">
            <a:solidFill>
              <a:srgbClr val="00F0FF">
                <a:alpha val="30000"/>
              </a:srgbClr>
            </a:solidFill>
            <a:prstDash val="solid"/>
          </a:ln>
        </p:spPr>
      </p:sp>
      <p:sp>
        <p:nvSpPr>
          <p:cNvPr id="32" name="txt_593"/>
          <p:cNvSpPr txBox="1"/>
          <p:nvPr/>
        </p:nvSpPr>
        <p:spPr>
          <a:xfrm>
            <a:off x="10063277" y="2221992"/>
            <a:ext cx="1598066" cy="758952"/>
          </a:xfrm>
          <a:prstGeom prst="rect">
            <a:avLst/>
          </a:prstGeom>
          <a:noFill/>
          <a:ln/>
        </p:spPr>
        <p:txBody>
          <a:bodyPr wrap="square" lIns="0" tIns="0" rIns="0" bIns="0" rtlCol="0" anchor="t"/>
          <a:lstStyle/>
          <a:p>
            <a:pPr marL="0" indent="0">
              <a:buNone/>
            </a:pPr>
            <a:r>
              <a:rPr lang="en-US" sz="3000" b="1" dirty="0">
                <a:solidFill>
                  <a:srgbClr val="00F0FF"/>
                </a:solidFill>
                <a:latin typeface="Space Grotesk" pitchFamily="34" charset="0"/>
                <a:ea typeface="Space Grotesk" pitchFamily="34" charset="-122"/>
                <a:cs typeface="Space Grotesk" pitchFamily="34" charset="-120"/>
              </a:rPr>
              <a:t>36</a:t>
            </a:r>
            <a:endParaRPr lang="en-US" sz="1500" dirty="0"/>
          </a:p>
          <a:p>
            <a:pPr marL="0" indent="0">
              <a:buNone/>
            </a:pPr>
            <a:r>
              <a:rPr lang="en-US" sz="1000" dirty="0">
                <a:solidFill>
                  <a:srgbClr val="94A3B8"/>
                </a:solidFill>
                <a:latin typeface="JetBrains Mono" pitchFamily="34" charset="0"/>
                <a:ea typeface="JetBrains Mono" pitchFamily="34" charset="-122"/>
                <a:cs typeface="JetBrains Mono" pitchFamily="34" charset="-120"/>
              </a:rPr>
              <a:t>DESTINATIONS, 1 COMPONENT</a:t>
            </a:r>
            <a:endParaRPr lang="en-US" sz="1500" dirty="0"/>
          </a:p>
        </p:txBody>
      </p:sp>
      <p:sp>
        <p:nvSpPr>
          <p:cNvPr id="33" name="box_594"/>
          <p:cNvSpPr/>
          <p:nvPr/>
        </p:nvSpPr>
        <p:spPr>
          <a:xfrm>
            <a:off x="6172200" y="3127248"/>
            <a:ext cx="1780946" cy="868680"/>
          </a:xfrm>
          <a:prstGeom prst="roundRect">
            <a:avLst>
              <a:gd name="adj" fmla="val 6316"/>
            </a:avLst>
          </a:prstGeom>
          <a:solidFill>
            <a:srgbClr val="131C2E">
              <a:alpha val="82000"/>
            </a:srgbClr>
          </a:solidFill>
          <a:ln w="9525">
            <a:solidFill>
              <a:srgbClr val="00F0FF">
                <a:alpha val="30000"/>
              </a:srgbClr>
            </a:solidFill>
            <a:prstDash val="solid"/>
          </a:ln>
        </p:spPr>
      </p:sp>
      <p:sp>
        <p:nvSpPr>
          <p:cNvPr id="34" name="txt_595"/>
          <p:cNvSpPr txBox="1"/>
          <p:nvPr/>
        </p:nvSpPr>
        <p:spPr>
          <a:xfrm>
            <a:off x="6281928" y="3200400"/>
            <a:ext cx="1598066" cy="758952"/>
          </a:xfrm>
          <a:prstGeom prst="rect">
            <a:avLst/>
          </a:prstGeom>
          <a:noFill/>
          <a:ln/>
        </p:spPr>
        <p:txBody>
          <a:bodyPr wrap="square" lIns="0" tIns="0" rIns="0" bIns="0" rtlCol="0" anchor="t"/>
          <a:lstStyle/>
          <a:p>
            <a:pPr marL="0" indent="0">
              <a:buNone/>
            </a:pPr>
            <a:r>
              <a:rPr lang="en-US" sz="3000" b="1" dirty="0">
                <a:solidFill>
                  <a:srgbClr val="00F0FF"/>
                </a:solidFill>
                <a:latin typeface="Space Grotesk" pitchFamily="34" charset="0"/>
                <a:ea typeface="Space Grotesk" pitchFamily="34" charset="-122"/>
                <a:cs typeface="Space Grotesk" pitchFamily="34" charset="-120"/>
              </a:rPr>
              <a:t>42.2 ha</a:t>
            </a:r>
            <a:endParaRPr lang="en-US" sz="1500" dirty="0"/>
          </a:p>
          <a:p>
            <a:pPr marL="0" indent="0">
              <a:buNone/>
            </a:pPr>
            <a:r>
              <a:rPr lang="en-US" sz="1000" dirty="0">
                <a:solidFill>
                  <a:srgbClr val="94A3B8"/>
                </a:solidFill>
                <a:latin typeface="JetBrains Mono" pitchFamily="34" charset="0"/>
                <a:ea typeface="JetBrains Mono" pitchFamily="34" charset="-122"/>
                <a:cs typeface="JetBrains Mono" pitchFamily="34" charset="-120"/>
              </a:rPr>
              <a:t>OSM POLYGON (36 VERTICES)</a:t>
            </a:r>
            <a:endParaRPr lang="en-US" sz="1500" dirty="0"/>
          </a:p>
        </p:txBody>
      </p:sp>
      <p:sp>
        <p:nvSpPr>
          <p:cNvPr id="35" name="box_596"/>
          <p:cNvSpPr/>
          <p:nvPr/>
        </p:nvSpPr>
        <p:spPr>
          <a:xfrm>
            <a:off x="8062874" y="3127248"/>
            <a:ext cx="1780946" cy="868680"/>
          </a:xfrm>
          <a:prstGeom prst="roundRect">
            <a:avLst>
              <a:gd name="adj" fmla="val 6316"/>
            </a:avLst>
          </a:prstGeom>
          <a:solidFill>
            <a:srgbClr val="131C2E">
              <a:alpha val="82000"/>
            </a:srgbClr>
          </a:solidFill>
          <a:ln w="9525">
            <a:solidFill>
              <a:srgbClr val="00F0FF">
                <a:alpha val="30000"/>
              </a:srgbClr>
            </a:solidFill>
            <a:prstDash val="solid"/>
          </a:ln>
        </p:spPr>
      </p:sp>
      <p:sp>
        <p:nvSpPr>
          <p:cNvPr id="36" name="txt_597"/>
          <p:cNvSpPr txBox="1"/>
          <p:nvPr/>
        </p:nvSpPr>
        <p:spPr>
          <a:xfrm>
            <a:off x="8172602" y="3200400"/>
            <a:ext cx="1598066" cy="758952"/>
          </a:xfrm>
          <a:prstGeom prst="rect">
            <a:avLst/>
          </a:prstGeom>
          <a:noFill/>
          <a:ln/>
        </p:spPr>
        <p:txBody>
          <a:bodyPr wrap="square" lIns="0" tIns="0" rIns="0" bIns="0" rtlCol="0" anchor="t"/>
          <a:lstStyle/>
          <a:p>
            <a:pPr marL="0" indent="0">
              <a:buNone/>
            </a:pPr>
            <a:r>
              <a:rPr lang="en-US" sz="3000" b="1" dirty="0">
                <a:solidFill>
                  <a:srgbClr val="00F0FF"/>
                </a:solidFill>
                <a:latin typeface="Space Grotesk" pitchFamily="34" charset="0"/>
                <a:ea typeface="Space Grotesk" pitchFamily="34" charset="-122"/>
                <a:cs typeface="Space Grotesk" pitchFamily="34" charset="-120"/>
              </a:rPr>
              <a:t>6</a:t>
            </a:r>
            <a:endParaRPr lang="en-US" sz="1500" dirty="0"/>
          </a:p>
          <a:p>
            <a:pPr marL="0" indent="0">
              <a:buNone/>
            </a:pPr>
            <a:r>
              <a:rPr lang="en-US" sz="1000" dirty="0">
                <a:solidFill>
                  <a:srgbClr val="94A3B8"/>
                </a:solidFill>
                <a:latin typeface="JetBrains Mono" pitchFamily="34" charset="0"/>
                <a:ea typeface="JetBrains Mono" pitchFamily="34" charset="-122"/>
                <a:cs typeface="JetBrains Mono" pitchFamily="34" charset="-120"/>
              </a:rPr>
              <a:t>PADS · GREEDY SET COVER</a:t>
            </a:r>
            <a:endParaRPr lang="en-US" sz="1500" dirty="0"/>
          </a:p>
        </p:txBody>
      </p:sp>
      <p:sp>
        <p:nvSpPr>
          <p:cNvPr id="37" name="box_598"/>
          <p:cNvSpPr/>
          <p:nvPr/>
        </p:nvSpPr>
        <p:spPr>
          <a:xfrm>
            <a:off x="9953549" y="3127248"/>
            <a:ext cx="1780946" cy="868680"/>
          </a:xfrm>
          <a:prstGeom prst="roundRect">
            <a:avLst>
              <a:gd name="adj" fmla="val 6316"/>
            </a:avLst>
          </a:prstGeom>
          <a:solidFill>
            <a:srgbClr val="131C2E">
              <a:alpha val="82000"/>
            </a:srgbClr>
          </a:solidFill>
          <a:ln w="9525">
            <a:solidFill>
              <a:srgbClr val="F59E0B">
                <a:alpha val="30000"/>
              </a:srgbClr>
            </a:solidFill>
            <a:prstDash val="solid"/>
          </a:ln>
        </p:spPr>
      </p:sp>
      <p:sp>
        <p:nvSpPr>
          <p:cNvPr id="38" name="txt_599"/>
          <p:cNvSpPr txBox="1"/>
          <p:nvPr/>
        </p:nvSpPr>
        <p:spPr>
          <a:xfrm>
            <a:off x="10063277" y="3200400"/>
            <a:ext cx="1598066" cy="758952"/>
          </a:xfrm>
          <a:prstGeom prst="rect">
            <a:avLst/>
          </a:prstGeom>
          <a:noFill/>
          <a:ln/>
        </p:spPr>
        <p:txBody>
          <a:bodyPr wrap="square" lIns="0" tIns="0" rIns="0" bIns="0" rtlCol="0" anchor="t"/>
          <a:lstStyle/>
          <a:p>
            <a:pPr marL="0" indent="0">
              <a:buNone/>
            </a:pPr>
            <a:r>
              <a:rPr lang="en-US" sz="3000" b="1" dirty="0">
                <a:solidFill>
                  <a:srgbClr val="F59E0B"/>
                </a:solidFill>
                <a:latin typeface="Space Grotesk" pitchFamily="34" charset="0"/>
                <a:ea typeface="Space Grotesk" pitchFamily="34" charset="-122"/>
                <a:cs typeface="Space Grotesk" pitchFamily="34" charset="-120"/>
              </a:rPr>
              <a:t>316 m</a:t>
            </a:r>
            <a:endParaRPr lang="en-US" sz="1500" dirty="0"/>
          </a:p>
          <a:p>
            <a:pPr marL="0" indent="0">
              <a:buNone/>
            </a:pPr>
            <a:r>
              <a:rPr lang="en-US" sz="1000" dirty="0">
                <a:solidFill>
                  <a:srgbClr val="94A3B8"/>
                </a:solidFill>
                <a:latin typeface="JetBrains Mono" pitchFamily="34" charset="0"/>
                <a:ea typeface="JetBrains Mono" pitchFamily="34" charset="-122"/>
                <a:cs typeface="JetBrains Mono" pitchFamily="34" charset="-120"/>
              </a:rPr>
              <a:t>LONGEST NEAREST-PAD LEG</a:t>
            </a:r>
            <a:endParaRPr lang="en-US" sz="1500" dirty="0"/>
          </a:p>
        </p:txBody>
      </p:sp>
      <p:graphicFrame>
        <p:nvGraphicFramePr>
          <p:cNvPr id="8" name="padtable_600"/>
          <p:cNvGraphicFramePr>
            <a:graphicFrameLocks noGrp="1"/>
          </p:cNvGraphicFramePr>
          <p:nvPr>
            <p:extLst>
              <p:ext uri="{D42A27DB-BD31-4B8C-83A1-F6EECF244321}">
                <p14:modId xmlns:p14="http://schemas.microsoft.com/office/powerpoint/2010/main" val="1579011935"/>
              </p:ext>
            </p:extLst>
          </p:nvPr>
        </p:nvGraphicFramePr>
        <p:xfrm>
          <a:off x="6172200" y="4142232"/>
          <a:ext cx="5562295" cy="1600200"/>
        </p:xfrm>
        <a:graphic>
          <a:graphicData uri="http://schemas.openxmlformats.org/drawingml/2006/table">
            <a:tbl>
              <a:tblPr/>
              <a:tblGrid>
                <a:gridCol w="1891180">
                  <a:extLst>
                    <a:ext uri="{9D8B030D-6E8A-4147-A177-3AD203B41FA5}">
                      <a16:colId xmlns:a16="http://schemas.microsoft.com/office/drawing/2014/main" val="20000"/>
                    </a:ext>
                  </a:extLst>
                </a:gridCol>
                <a:gridCol w="778721">
                  <a:extLst>
                    <a:ext uri="{9D8B030D-6E8A-4147-A177-3AD203B41FA5}">
                      <a16:colId xmlns:a16="http://schemas.microsoft.com/office/drawing/2014/main" val="20001"/>
                    </a:ext>
                  </a:extLst>
                </a:gridCol>
                <a:gridCol w="1446197">
                  <a:extLst>
                    <a:ext uri="{9D8B030D-6E8A-4147-A177-3AD203B41FA5}">
                      <a16:colId xmlns:a16="http://schemas.microsoft.com/office/drawing/2014/main" val="20002"/>
                    </a:ext>
                  </a:extLst>
                </a:gridCol>
                <a:gridCol w="1446197">
                  <a:extLst>
                    <a:ext uri="{9D8B030D-6E8A-4147-A177-3AD203B41FA5}">
                      <a16:colId xmlns:a16="http://schemas.microsoft.com/office/drawing/2014/main" val="20003"/>
                    </a:ext>
                  </a:extLst>
                </a:gridCol>
              </a:tblGrid>
              <a:tr h="228600">
                <a:tc>
                  <a:txBody>
                    <a:bodyPr/>
                    <a:lstStyle/>
                    <a:p>
                      <a:pPr marL="0" indent="0" algn="l">
                        <a:buNone/>
                      </a:pPr>
                      <a:r>
                        <a:rPr lang="en-US" sz="1000" b="1" dirty="0">
                          <a:solidFill>
                            <a:srgbClr val="94A3B8"/>
                          </a:solidFill>
                          <a:latin typeface="JetBrains Mono" pitchFamily="34" charset="0"/>
                          <a:ea typeface="JetBrains Mono" pitchFamily="34" charset="-122"/>
                          <a:cs typeface="JetBrains Mono" pitchFamily="34" charset="-120"/>
                        </a:rPr>
                        <a:t>PAD</a:t>
                      </a:r>
                      <a:endParaRPr lang="en-US" sz="10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000" b="1" dirty="0">
                          <a:solidFill>
                            <a:srgbClr val="94A3B8"/>
                          </a:solidFill>
                          <a:latin typeface="JetBrains Mono" pitchFamily="34" charset="0"/>
                          <a:ea typeface="JetBrains Mono" pitchFamily="34" charset="-122"/>
                          <a:cs typeface="JetBrains Mono" pitchFamily="34" charset="-120"/>
                        </a:rPr>
                        <a:t>NODE</a:t>
                      </a:r>
                      <a:endParaRPr lang="en-US" sz="10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000" b="1" dirty="0">
                          <a:solidFill>
                            <a:srgbClr val="94A3B8"/>
                          </a:solidFill>
                          <a:latin typeface="JetBrains Mono" pitchFamily="34" charset="0"/>
                          <a:ea typeface="JetBrains Mono" pitchFamily="34" charset="-122"/>
                          <a:cs typeface="JetBrains Mono" pitchFamily="34" charset="-120"/>
                        </a:rPr>
                        <a:t>LATITUDE</a:t>
                      </a:r>
                      <a:endParaRPr lang="en-US" sz="10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000" b="1" dirty="0">
                          <a:solidFill>
                            <a:srgbClr val="94A3B8"/>
                          </a:solidFill>
                          <a:latin typeface="JetBrains Mono" pitchFamily="34" charset="0"/>
                          <a:ea typeface="JetBrains Mono" pitchFamily="34" charset="-122"/>
                          <a:cs typeface="JetBrains Mono" pitchFamily="34" charset="-120"/>
                        </a:rPr>
                        <a:t>LONGITUDE</a:t>
                      </a:r>
                      <a:endParaRPr lang="en-US" sz="10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extLst>
                  <a:ext uri="{0D108BD9-81ED-4DB2-BD59-A6C34878D82A}">
                    <a16:rowId xmlns:a16="http://schemas.microsoft.com/office/drawing/2014/main" val="10000"/>
                  </a:ext>
                </a:extLst>
              </a:tr>
              <a:tr h="228600">
                <a:tc>
                  <a:txBody>
                    <a:bodyPr/>
                    <a:lstStyle/>
                    <a:p>
                      <a:pPr marL="0" indent="0" algn="l">
                        <a:buNone/>
                      </a:pPr>
                      <a:r>
                        <a:rPr lang="en-US" sz="1200" dirty="0">
                          <a:solidFill>
                            <a:srgbClr val="F8FAFC"/>
                          </a:solidFill>
                          <a:latin typeface="JetBrains Mono" pitchFamily="34" charset="0"/>
                          <a:ea typeface="JetBrains Mono" pitchFamily="34" charset="-122"/>
                          <a:cs typeface="JetBrains Mono" pitchFamily="34" charset="-120"/>
                        </a:rPr>
                        <a:t>1 Gate</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111</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12.840649</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80.153159</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extLst>
                  <a:ext uri="{0D108BD9-81ED-4DB2-BD59-A6C34878D82A}">
                    <a16:rowId xmlns:a16="http://schemas.microsoft.com/office/drawing/2014/main" val="10001"/>
                  </a:ext>
                </a:extLst>
              </a:tr>
              <a:tr h="228600">
                <a:tc>
                  <a:txBody>
                    <a:bodyPr/>
                    <a:lstStyle/>
                    <a:p>
                      <a:pPr marL="0" indent="0" algn="l">
                        <a:buNone/>
                      </a:pPr>
                      <a:r>
                        <a:rPr lang="en-US" sz="1200" dirty="0">
                          <a:solidFill>
                            <a:srgbClr val="F8FAFC"/>
                          </a:solidFill>
                          <a:latin typeface="JetBrains Mono" pitchFamily="34" charset="0"/>
                          <a:ea typeface="JetBrains Mono" pitchFamily="34" charset="-122"/>
                          <a:cs typeface="JetBrains Mono" pitchFamily="34" charset="-120"/>
                        </a:rPr>
                        <a:t>2 Central</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50</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12.843086</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80.154410</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extLst>
                  <a:ext uri="{0D108BD9-81ED-4DB2-BD59-A6C34878D82A}">
                    <a16:rowId xmlns:a16="http://schemas.microsoft.com/office/drawing/2014/main" val="10002"/>
                  </a:ext>
                </a:extLst>
              </a:tr>
              <a:tr h="228600">
                <a:tc>
                  <a:txBody>
                    <a:bodyPr/>
                    <a:lstStyle/>
                    <a:p>
                      <a:pPr marL="0" indent="0" algn="l">
                        <a:buNone/>
                      </a:pPr>
                      <a:r>
                        <a:rPr lang="en-US" sz="1200" dirty="0">
                          <a:solidFill>
                            <a:srgbClr val="F8FAFC"/>
                          </a:solidFill>
                          <a:latin typeface="JetBrains Mono" pitchFamily="34" charset="0"/>
                          <a:ea typeface="JetBrains Mono" pitchFamily="34" charset="-122"/>
                          <a:cs typeface="JetBrains Mono" pitchFamily="34" charset="-120"/>
                        </a:rPr>
                        <a:t>3 East</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40</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12.841788</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80.155996</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extLst>
                  <a:ext uri="{0D108BD9-81ED-4DB2-BD59-A6C34878D82A}">
                    <a16:rowId xmlns:a16="http://schemas.microsoft.com/office/drawing/2014/main" val="10003"/>
                  </a:ext>
                </a:extLst>
              </a:tr>
              <a:tr h="228600">
                <a:tc>
                  <a:txBody>
                    <a:bodyPr/>
                    <a:lstStyle/>
                    <a:p>
                      <a:pPr marL="0" indent="0" algn="l">
                        <a:buNone/>
                      </a:pPr>
                      <a:r>
                        <a:rPr lang="en-US" sz="1200" dirty="0">
                          <a:solidFill>
                            <a:srgbClr val="F8FAFC"/>
                          </a:solidFill>
                          <a:latin typeface="JetBrains Mono" pitchFamily="34" charset="0"/>
                          <a:ea typeface="JetBrains Mono" pitchFamily="34" charset="-122"/>
                          <a:cs typeface="JetBrains Mono" pitchFamily="34" charset="-120"/>
                        </a:rPr>
                        <a:t>4 North-West</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7</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12.843654</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80.152814</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extLst>
                  <a:ext uri="{0D108BD9-81ED-4DB2-BD59-A6C34878D82A}">
                    <a16:rowId xmlns:a16="http://schemas.microsoft.com/office/drawing/2014/main" val="10004"/>
                  </a:ext>
                </a:extLst>
              </a:tr>
              <a:tr h="228600">
                <a:tc>
                  <a:txBody>
                    <a:bodyPr/>
                    <a:lstStyle/>
                    <a:p>
                      <a:pPr marL="0" indent="0" algn="l">
                        <a:buNone/>
                      </a:pPr>
                      <a:r>
                        <a:rPr lang="en-US" sz="1200" dirty="0">
                          <a:solidFill>
                            <a:srgbClr val="F8FAFC"/>
                          </a:solidFill>
                          <a:latin typeface="JetBrains Mono" pitchFamily="34" charset="0"/>
                          <a:ea typeface="JetBrains Mono" pitchFamily="34" charset="-122"/>
                          <a:cs typeface="JetBrains Mono" pitchFamily="34" charset="-120"/>
                        </a:rPr>
                        <a:t>5 South</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27</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12.840475</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80.154658</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31C2E">
                        <a:alpha val="80000"/>
                      </a:srgbClr>
                    </a:solidFill>
                  </a:tcPr>
                </a:tc>
                <a:extLst>
                  <a:ext uri="{0D108BD9-81ED-4DB2-BD59-A6C34878D82A}">
                    <a16:rowId xmlns:a16="http://schemas.microsoft.com/office/drawing/2014/main" val="10005"/>
                  </a:ext>
                </a:extLst>
              </a:tr>
              <a:tr h="228600">
                <a:tc>
                  <a:txBody>
                    <a:bodyPr/>
                    <a:lstStyle/>
                    <a:p>
                      <a:pPr marL="0" indent="0" algn="l">
                        <a:buNone/>
                      </a:pPr>
                      <a:r>
                        <a:rPr lang="en-US" sz="1200" dirty="0">
                          <a:solidFill>
                            <a:srgbClr val="F8FAFC"/>
                          </a:solidFill>
                          <a:latin typeface="JetBrains Mono" pitchFamily="34" charset="0"/>
                          <a:ea typeface="JetBrains Mono" pitchFamily="34" charset="-122"/>
                          <a:cs typeface="JetBrains Mono" pitchFamily="34" charset="-120"/>
                        </a:rPr>
                        <a:t>6 E Block</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68</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12.844735</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tc>
                  <a:txBody>
                    <a:bodyPr/>
                    <a:lstStyle/>
                    <a:p>
                      <a:pPr marL="0" indent="0" algn="r">
                        <a:buNone/>
                      </a:pPr>
                      <a:r>
                        <a:rPr lang="en-US" sz="1200" dirty="0">
                          <a:solidFill>
                            <a:srgbClr val="00F0FF"/>
                          </a:solidFill>
                          <a:latin typeface="JetBrains Mono" pitchFamily="34" charset="0"/>
                          <a:ea typeface="JetBrains Mono" pitchFamily="34" charset="-122"/>
                          <a:cs typeface="JetBrains Mono" pitchFamily="34" charset="-120"/>
                        </a:rPr>
                        <a:t>80.160818</a:t>
                      </a:r>
                      <a:endParaRPr lang="en-US" sz="1200" dirty="0">
                        <a:latin typeface="JetBrains Mono" charset="0"/>
                        <a:ea typeface="JetBrains Mono" charset="0"/>
                        <a:cs typeface="JetBrains Mono" charset="0"/>
                      </a:endParaRPr>
                    </a:p>
                  </a:txBody>
                  <a:tcPr marL="73152" marR="73152" marT="18288" marB="18288" anchor="ct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90D16">
                        <a:alpha val="80000"/>
                      </a:srgbClr>
                    </a:solidFill>
                  </a:tcPr>
                </a:tc>
                <a:extLst>
                  <a:ext uri="{0D108BD9-81ED-4DB2-BD59-A6C34878D82A}">
                    <a16:rowId xmlns:a16="http://schemas.microsoft.com/office/drawing/2014/main" val="10006"/>
                  </a:ext>
                </a:extLst>
              </a:tr>
            </a:tbl>
          </a:graphicData>
        </a:graphic>
      </p:graphicFrame>
      <p:sp>
        <p:nvSpPr>
          <p:cNvPr id="40" name="txt_601"/>
          <p:cNvSpPr txBox="1"/>
          <p:nvPr/>
        </p:nvSpPr>
        <p:spPr>
          <a:xfrm>
            <a:off x="6172200" y="5888736"/>
            <a:ext cx="5562295" cy="329184"/>
          </a:xfrm>
          <a:prstGeom prst="rect">
            <a:avLst/>
          </a:prstGeom>
          <a:noFill/>
          <a:ln/>
        </p:spPr>
        <p:txBody>
          <a:bodyPr wrap="square" lIns="0" tIns="0" rIns="0" bIns="0" rtlCol="0" anchor="t"/>
          <a:lstStyle/>
          <a:p>
            <a:pPr marL="0" indent="0">
              <a:buNone/>
            </a:pPr>
            <a:r>
              <a:rPr lang="en-US" sz="900" dirty="0">
                <a:solidFill>
                  <a:srgbClr val="94A3B8"/>
                </a:solidFill>
                <a:latin typeface="JetBrains Mono" pitchFamily="34" charset="0"/>
                <a:ea typeface="JetBrains Mono" pitchFamily="34" charset="-122"/>
                <a:cs typeface="JetBrains Mono" pitchFamily="34" charset="-120"/>
              </a:rPr>
              <a:t>Boundary © OpenStreetMap contributors, ODbL 1.0 · Paths &amp; entrances: VIT Chennai Way Finder dataset · Imagery © Esri</a:t>
            </a:r>
            <a:endParaRPr lang="en-US" sz="9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xt_602"/>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04: RESULTS</a:t>
            </a:r>
            <a:endParaRPr lang="en-US" sz="1100" dirty="0"/>
          </a:p>
        </p:txBody>
      </p:sp>
      <p:sp>
        <p:nvSpPr>
          <p:cNvPr id="3" name="kicker_603"/>
          <p:cNvSpPr txBox="1"/>
          <p:nvPr/>
        </p:nvSpPr>
        <p:spPr>
          <a:xfrm>
            <a:off x="457200" y="548640"/>
            <a:ext cx="501777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RESULTS &amp; ANALYSIS · 20% MILESTONE</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The 20% milestone establishes a design and software foundation</a:t>
            </a:r>
            <a:endParaRPr lang="en-US" sz="4000" dirty="0"/>
          </a:p>
        </p:txBody>
      </p:sp>
      <p:sp>
        <p:nvSpPr>
          <p:cNvPr id="5" name="txt_604"/>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20% REVIEW MILESTONE · NO FLIGHT DATA EXISTS YET</a:t>
            </a:r>
            <a:endParaRPr lang="en-US" sz="1000" dirty="0"/>
          </a:p>
        </p:txBody>
      </p:sp>
      <p:sp>
        <p:nvSpPr>
          <p:cNvPr id="6" name="txt_605"/>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App. A pp15–16; §9 p8; §17 pp13–14</a:t>
            </a:r>
            <a:endParaRPr lang="en-US" sz="1000" dirty="0"/>
          </a:p>
        </p:txBody>
      </p:sp>
      <p:sp>
        <p:nvSpPr>
          <p:cNvPr id="7" name="txt_606"/>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[ 16 / 18 ]</a:t>
            </a:r>
            <a:endParaRPr lang="en-US" sz="1200" dirty="0"/>
          </a:p>
        </p:txBody>
      </p:sp>
      <p:graphicFrame>
        <p:nvGraphicFramePr>
          <p:cNvPr id="9" name="chart_607"/>
          <p:cNvGraphicFramePr/>
          <p:nvPr/>
        </p:nvGraphicFramePr>
        <p:xfrm>
          <a:off x="457200" y="2148840"/>
          <a:ext cx="64922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10" name="ln_608"/>
          <p:cNvSpPr/>
          <p:nvPr/>
        </p:nvSpPr>
        <p:spPr>
          <a:xfrm>
            <a:off x="1106424" y="4368775"/>
            <a:ext cx="5713171" cy="914"/>
          </a:xfrm>
          <a:prstGeom prst="line">
            <a:avLst/>
          </a:prstGeom>
          <a:noFill/>
          <a:ln w="25400">
            <a:solidFill>
              <a:srgbClr val="F59E0B"/>
            </a:solidFill>
            <a:prstDash val="dash"/>
          </a:ln>
        </p:spPr>
      </p:sp>
      <p:sp>
        <p:nvSpPr>
          <p:cNvPr id="11" name="ln_609"/>
          <p:cNvSpPr/>
          <p:nvPr/>
        </p:nvSpPr>
        <p:spPr>
          <a:xfrm>
            <a:off x="4514850" y="2878531"/>
            <a:ext cx="292608" cy="914"/>
          </a:xfrm>
          <a:prstGeom prst="line">
            <a:avLst/>
          </a:prstGeom>
          <a:noFill/>
          <a:ln w="25400">
            <a:solidFill>
              <a:srgbClr val="F59E0B"/>
            </a:solidFill>
            <a:prstDash val="dash"/>
          </a:ln>
        </p:spPr>
      </p:sp>
      <p:sp>
        <p:nvSpPr>
          <p:cNvPr id="12" name="txt_610"/>
          <p:cNvSpPr txBox="1"/>
          <p:nvPr/>
        </p:nvSpPr>
        <p:spPr>
          <a:xfrm>
            <a:off x="4880610" y="2768803"/>
            <a:ext cx="2103120" cy="219456"/>
          </a:xfrm>
          <a:prstGeom prst="rect">
            <a:avLst/>
          </a:prstGeom>
          <a:noFill/>
          <a:ln/>
        </p:spPr>
        <p:txBody>
          <a:bodyPr wrap="square" lIns="0" tIns="0" rIns="0" bIns="0" rtlCol="0" anchor="ctr"/>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PROVISIONAL 350 m LEG LIMIT</a:t>
            </a:r>
            <a:endParaRPr lang="en-US" sz="1000" dirty="0"/>
          </a:p>
        </p:txBody>
      </p:sp>
      <p:sp>
        <p:nvSpPr>
          <p:cNvPr id="13" name="txt_611"/>
          <p:cNvSpPr txBox="1"/>
          <p:nvPr/>
        </p:nvSpPr>
        <p:spPr>
          <a:xfrm>
            <a:off x="457200" y="5961888"/>
            <a:ext cx="6492240" cy="237744"/>
          </a:xfrm>
          <a:prstGeom prst="rect">
            <a:avLst/>
          </a:prstGeom>
          <a:noFill/>
          <a:ln/>
        </p:spPr>
        <p:txBody>
          <a:bodyPr wrap="square" lIns="0" tIns="0" rIns="0" bIns="0" rtlCol="0" anchor="t"/>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COMPUTED GRAPH DISTANCES REPORTED IN THE SUMMARY · 0 m = graph co-location, not landing precision</a:t>
            </a:r>
            <a:endParaRPr lang="en-US" sz="1000" dirty="0"/>
          </a:p>
        </p:txBody>
      </p:sp>
      <p:sp>
        <p:nvSpPr>
          <p:cNvPr id="14" name="box_612"/>
          <p:cNvSpPr/>
          <p:nvPr/>
        </p:nvSpPr>
        <p:spPr>
          <a:xfrm>
            <a:off x="7178040" y="2148840"/>
            <a:ext cx="4556455" cy="1645920"/>
          </a:xfrm>
          <a:prstGeom prst="roundRect">
            <a:avLst>
              <a:gd name="adj" fmla="val 3333"/>
            </a:avLst>
          </a:prstGeom>
          <a:solidFill>
            <a:srgbClr val="131C2E">
              <a:alpha val="82000"/>
            </a:srgbClr>
          </a:solidFill>
          <a:ln w="9525">
            <a:solidFill>
              <a:srgbClr val="10B981">
                <a:alpha val="50000"/>
              </a:srgbClr>
            </a:solidFill>
            <a:prstDash val="solid"/>
          </a:ln>
        </p:spPr>
      </p:sp>
      <p:sp>
        <p:nvSpPr>
          <p:cNvPr id="15" name="txt_613"/>
          <p:cNvSpPr txBox="1"/>
          <p:nvPr/>
        </p:nvSpPr>
        <p:spPr>
          <a:xfrm>
            <a:off x="7315200" y="2258568"/>
            <a:ext cx="4282135" cy="1481328"/>
          </a:xfrm>
          <a:prstGeom prst="rect">
            <a:avLst/>
          </a:prstGeom>
          <a:noFill/>
          <a:ln/>
        </p:spPr>
        <p:txBody>
          <a:bodyPr wrap="square" lIns="0" tIns="0" rIns="0" bIns="0" rtlCol="0" anchor="t"/>
          <a:lstStyle/>
          <a:p>
            <a:pPr marL="0" indent="0">
              <a:buNone/>
            </a:pPr>
            <a:r>
              <a:rPr lang="en-US" sz="1100" b="1" dirty="0">
                <a:solidFill>
                  <a:srgbClr val="10B981"/>
                </a:solidFill>
                <a:latin typeface="JetBrains Mono" pitchFamily="34" charset="0"/>
                <a:ea typeface="JetBrains Mono" pitchFamily="34" charset="-122"/>
                <a:cs typeface="JetBrains Mono" pitchFamily="34" charset="-120"/>
              </a:rPr>
              <a:t>COMPLETED GROUNDWORK · SOURCE-REPORTED</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Campus graph, routing and pad coverage computed · four web apps running in simulation · fault-driven safety state machine (sim) · F450 platform decision, BOM and CAD design model</a:t>
            </a:r>
            <a:endParaRPr lang="en-US" sz="1500" dirty="0"/>
          </a:p>
        </p:txBody>
      </p:sp>
      <p:sp>
        <p:nvSpPr>
          <p:cNvPr id="16" name="box_614"/>
          <p:cNvSpPr/>
          <p:nvPr/>
        </p:nvSpPr>
        <p:spPr>
          <a:xfrm>
            <a:off x="7178040" y="3931920"/>
            <a:ext cx="4556455" cy="1645920"/>
          </a:xfrm>
          <a:prstGeom prst="roundRect">
            <a:avLst>
              <a:gd name="adj" fmla="val 3333"/>
            </a:avLst>
          </a:prstGeom>
          <a:solidFill>
            <a:srgbClr val="131C2E">
              <a:alpha val="82000"/>
            </a:srgbClr>
          </a:solidFill>
          <a:ln w="9525">
            <a:solidFill>
              <a:srgbClr val="F59E0B">
                <a:alpha val="55000"/>
              </a:srgbClr>
            </a:solidFill>
            <a:prstDash val="solid"/>
          </a:ln>
        </p:spPr>
      </p:sp>
      <p:sp>
        <p:nvSpPr>
          <p:cNvPr id="17" name="txt_615"/>
          <p:cNvSpPr txBox="1"/>
          <p:nvPr/>
        </p:nvSpPr>
        <p:spPr>
          <a:xfrm>
            <a:off x="7315200" y="4041648"/>
            <a:ext cx="4282135" cy="1481328"/>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PENDING MEASUREMENTS · SUMMARY §17</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Timed hover to failsafe · battery capacity · phone GPS error on a known route · overhead obstructions per segment · GPS spot-check at known nodes · hover error vs wind</a:t>
            </a:r>
            <a:endParaRPr lang="en-US" sz="1500" dirty="0"/>
          </a:p>
        </p:txBody>
      </p:sp>
      <p:sp>
        <p:nvSpPr>
          <p:cNvPr id="18" name="chip_616"/>
          <p:cNvSpPr txBox="1"/>
          <p:nvPr/>
        </p:nvSpPr>
        <p:spPr>
          <a:xfrm>
            <a:off x="7178040" y="5760720"/>
            <a:ext cx="4556455" cy="365760"/>
          </a:xfrm>
          <a:prstGeom prst="roundRect">
            <a:avLst>
              <a:gd name="adj" fmla="val 12500"/>
            </a:avLst>
          </a:prstGeom>
          <a:solidFill>
            <a:srgbClr val="00F0FF">
              <a:alpha val="12000"/>
            </a:srgbClr>
          </a:solidFill>
          <a:ln w="9525">
            <a:solidFill>
              <a:srgbClr val="00F0FF">
                <a:alpha val="65000"/>
              </a:srgbClr>
            </a:solidFill>
          </a:ln>
        </p:spPr>
        <p:txBody>
          <a:bodyPr wrap="square" lIns="0" tIns="0" rIns="0" bIns="0" rtlCol="0" anchor="ctr"/>
          <a:lstStyle/>
          <a:p>
            <a:pPr marL="0" indent="0" algn="ctr">
              <a:buNone/>
            </a:pPr>
            <a:r>
              <a:rPr lang="en-US" sz="1100" b="1" dirty="0">
                <a:solidFill>
                  <a:srgbClr val="00F0FF"/>
                </a:solidFill>
                <a:latin typeface="JetBrains Mono" pitchFamily="34" charset="0"/>
                <a:ea typeface="JetBrains Mono" pitchFamily="34" charset="-122"/>
                <a:cs typeface="JetBrains Mono" pitchFamily="34" charset="-120"/>
              </a:rPr>
              <a:t>20% REVIEW MILESTONE · NOT AN AUDITED PERCENTAGE</a:t>
            </a:r>
            <a:endParaRPr lang="en-US" sz="11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400"/>
                                        <p:tgtEl>
                                          <p:spTgt spid="10"/>
                                        </p:tgtEl>
                                      </p:cBhvr>
                                    </p:animEffect>
                                  </p:childTnLst>
                                </p:cTn>
                              </p:par>
                              <p:par>
                                <p:cTn id="12" presetID="10"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50"/>
                                        <p:tgtEl>
                                          <p:spTgt spid="14"/>
                                        </p:tgtEl>
                                      </p:cBhvr>
                                    </p:animEffect>
                                    <p:anim calcmode="lin" valueType="num">
                                      <p:cBhvr>
                                        <p:cTn id="23" dur="350" decel="100000" fill="hold"/>
                                        <p:tgtEl>
                                          <p:spTgt spid="14"/>
                                        </p:tgtEl>
                                        <p:attrNameLst>
                                          <p:attrName>ppt_x</p:attrName>
                                        </p:attrNameLst>
                                      </p:cBhvr>
                                      <p:tavLst>
                                        <p:tav tm="0">
                                          <p:val>
                                            <p:strVal val="#ppt_x"/>
                                          </p:val>
                                        </p:tav>
                                        <p:tav tm="100000">
                                          <p:val>
                                            <p:strVal val="#ppt_x"/>
                                          </p:val>
                                        </p:tav>
                                      </p:tavLst>
                                    </p:anim>
                                    <p:anim calcmode="lin" valueType="num">
                                      <p:cBhvr>
                                        <p:cTn id="24" dur="350" decel="100000" fill="hold"/>
                                        <p:tgtEl>
                                          <p:spTgt spid="14"/>
                                        </p:tgtEl>
                                        <p:attrNameLst>
                                          <p:attrName>ppt_y</p:attrName>
                                        </p:attrNameLst>
                                      </p:cBhvr>
                                      <p:tavLst>
                                        <p:tav tm="0">
                                          <p:val>
                                            <p:strVal val="#ppt_y+0.01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anim calcmode="lin" valueType="num">
                                      <p:cBhvr>
                                        <p:cTn id="28" dur="350" decel="100000" fill="hold"/>
                                        <p:tgtEl>
                                          <p:spTgt spid="15"/>
                                        </p:tgtEl>
                                        <p:attrNameLst>
                                          <p:attrName>ppt_x</p:attrName>
                                        </p:attrNameLst>
                                      </p:cBhvr>
                                      <p:tavLst>
                                        <p:tav tm="0">
                                          <p:val>
                                            <p:strVal val="#ppt_x"/>
                                          </p:val>
                                        </p:tav>
                                        <p:tav tm="100000">
                                          <p:val>
                                            <p:strVal val="#ppt_x"/>
                                          </p:val>
                                        </p:tav>
                                      </p:tavLst>
                                    </p:anim>
                                    <p:anim calcmode="lin" valueType="num">
                                      <p:cBhvr>
                                        <p:cTn id="29" dur="350" decel="100000" fill="hold"/>
                                        <p:tgtEl>
                                          <p:spTgt spid="15"/>
                                        </p:tgtEl>
                                        <p:attrNameLst>
                                          <p:attrName>ppt_y</p:attrName>
                                        </p:attrNameLst>
                                      </p:cBhvr>
                                      <p:tavLst>
                                        <p:tav tm="0">
                                          <p:val>
                                            <p:strVal val="#ppt_y+0.016"/>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anim calcmode="lin" valueType="num">
                                      <p:cBhvr>
                                        <p:cTn id="33" dur="350" decel="100000" fill="hold"/>
                                        <p:tgtEl>
                                          <p:spTgt spid="16"/>
                                        </p:tgtEl>
                                        <p:attrNameLst>
                                          <p:attrName>ppt_x</p:attrName>
                                        </p:attrNameLst>
                                      </p:cBhvr>
                                      <p:tavLst>
                                        <p:tav tm="0">
                                          <p:val>
                                            <p:strVal val="#ppt_x"/>
                                          </p:val>
                                        </p:tav>
                                        <p:tav tm="100000">
                                          <p:val>
                                            <p:strVal val="#ppt_x"/>
                                          </p:val>
                                        </p:tav>
                                      </p:tavLst>
                                    </p:anim>
                                    <p:anim calcmode="lin" valueType="num">
                                      <p:cBhvr>
                                        <p:cTn id="34" dur="350" decel="100000" fill="hold"/>
                                        <p:tgtEl>
                                          <p:spTgt spid="16"/>
                                        </p:tgtEl>
                                        <p:attrNameLst>
                                          <p:attrName>ppt_y</p:attrName>
                                        </p:attrNameLst>
                                      </p:cBhvr>
                                      <p:tavLst>
                                        <p:tav tm="0">
                                          <p:val>
                                            <p:strVal val="#ppt_y+0.01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350"/>
                                        <p:tgtEl>
                                          <p:spTgt spid="17"/>
                                        </p:tgtEl>
                                      </p:cBhvr>
                                    </p:animEffect>
                                    <p:anim calcmode="lin" valueType="num">
                                      <p:cBhvr>
                                        <p:cTn id="38" dur="350" decel="100000" fill="hold"/>
                                        <p:tgtEl>
                                          <p:spTgt spid="17"/>
                                        </p:tgtEl>
                                        <p:attrNameLst>
                                          <p:attrName>ppt_x</p:attrName>
                                        </p:attrNameLst>
                                      </p:cBhvr>
                                      <p:tavLst>
                                        <p:tav tm="0">
                                          <p:val>
                                            <p:strVal val="#ppt_x"/>
                                          </p:val>
                                        </p:tav>
                                        <p:tav tm="100000">
                                          <p:val>
                                            <p:strVal val="#ppt_x"/>
                                          </p:val>
                                        </p:tav>
                                      </p:tavLst>
                                    </p:anim>
                                    <p:anim calcmode="lin" valueType="num">
                                      <p:cBhvr>
                                        <p:cTn id="39" dur="350" decel="100000" fill="hold"/>
                                        <p:tgtEl>
                                          <p:spTgt spid="17"/>
                                        </p:tgtEl>
                                        <p:attrNameLst>
                                          <p:attrName>ppt_y</p:attrName>
                                        </p:attrNameLst>
                                      </p:cBhvr>
                                      <p:tavLst>
                                        <p:tav tm="0">
                                          <p:val>
                                            <p:strVal val="#ppt_y+0.016"/>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12" grpId="0" animBg="1"/>
      <p:bldP spid="15"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xt_617"/>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05: PLAN</a:t>
            </a:r>
            <a:endParaRPr lang="en-US" sz="1100" dirty="0"/>
          </a:p>
        </p:txBody>
      </p:sp>
      <p:sp>
        <p:nvSpPr>
          <p:cNvPr id="3" name="kicker_618"/>
          <p:cNvSpPr txBox="1"/>
          <p:nvPr/>
        </p:nvSpPr>
        <p:spPr>
          <a:xfrm>
            <a:off x="457200" y="548640"/>
            <a:ext cx="501777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HARDWARE DECISION · BUDGET · GATES</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Hardware access changed the plan and validation gates</a:t>
            </a:r>
            <a:endParaRPr lang="en-US" sz="4000" dirty="0"/>
          </a:p>
        </p:txBody>
      </p:sp>
      <p:sp>
        <p:nvSpPr>
          <p:cNvPr id="5" name="txt_619"/>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PLANNING ESTIMATE · PRICES NOT RECONFIRMED · ALL GATES PENDING</a:t>
            </a:r>
            <a:endParaRPr lang="en-US" sz="1000" dirty="0"/>
          </a:p>
        </p:txBody>
      </p:sp>
      <p:sp>
        <p:nvSpPr>
          <p:cNvPr id="6" name="txt_620"/>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§3–4 pp4–5; §6 pp5–7; §16 p13</a:t>
            </a:r>
            <a:endParaRPr lang="en-US" sz="1000" dirty="0"/>
          </a:p>
        </p:txBody>
      </p:sp>
      <p:sp>
        <p:nvSpPr>
          <p:cNvPr id="7" name="txt_621"/>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[ 17 / 18 ]</a:t>
            </a:r>
            <a:endParaRPr lang="en-US" sz="1200" dirty="0"/>
          </a:p>
        </p:txBody>
      </p:sp>
      <p:sp>
        <p:nvSpPr>
          <p:cNvPr id="9" name="box_622"/>
          <p:cNvSpPr/>
          <p:nvPr/>
        </p:nvSpPr>
        <p:spPr>
          <a:xfrm>
            <a:off x="457200" y="2148840"/>
            <a:ext cx="3291840" cy="1463040"/>
          </a:xfrm>
          <a:prstGeom prst="roundRect">
            <a:avLst>
              <a:gd name="adj" fmla="val 3750"/>
            </a:avLst>
          </a:prstGeom>
          <a:solidFill>
            <a:srgbClr val="131C2E">
              <a:alpha val="82000"/>
            </a:srgbClr>
          </a:solidFill>
          <a:ln w="9525">
            <a:solidFill>
              <a:srgbClr val="EF4444">
                <a:alpha val="50000"/>
              </a:srgbClr>
            </a:solidFill>
            <a:prstDash val="solid"/>
          </a:ln>
        </p:spPr>
      </p:sp>
      <p:sp>
        <p:nvSpPr>
          <p:cNvPr id="10" name="txt_623"/>
          <p:cNvSpPr txBox="1"/>
          <p:nvPr/>
        </p:nvSpPr>
        <p:spPr>
          <a:xfrm>
            <a:off x="594360" y="2258568"/>
            <a:ext cx="3017520" cy="1280160"/>
          </a:xfrm>
          <a:prstGeom prst="rect">
            <a:avLst/>
          </a:prstGeom>
          <a:noFill/>
          <a:ln/>
        </p:spPr>
        <p:txBody>
          <a:bodyPr wrap="square" lIns="0" tIns="0" rIns="0" bIns="0" rtlCol="0" anchor="t"/>
          <a:lstStyle/>
          <a:p>
            <a:pPr marL="0" indent="0">
              <a:buNone/>
            </a:pPr>
            <a:r>
              <a:rPr lang="en-US" sz="1100" b="1" dirty="0">
                <a:solidFill>
                  <a:srgbClr val="EF4444"/>
                </a:solidFill>
                <a:latin typeface="JetBrains Mono" pitchFamily="34" charset="0"/>
                <a:ea typeface="JetBrains Mono" pitchFamily="34" charset="-122"/>
                <a:cs typeface="JetBrains Mono" pitchFamily="34" charset="-120"/>
              </a:rPr>
              <a:t>ORIGINAL · LAB-DEPENDENT</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S500 + Pixhawk 2.4.8 · RTK F9P pair · companion computer · 915 MHz SiK</a:t>
            </a:r>
            <a:endParaRPr lang="en-US" sz="1500" dirty="0"/>
          </a:p>
          <a:p>
            <a:pPr marL="0" indent="0">
              <a:buNone/>
            </a:pPr>
            <a:r>
              <a:rPr lang="en-US" sz="1100" b="1" dirty="0">
                <a:solidFill>
                  <a:srgbClr val="EF4444"/>
                </a:solidFill>
                <a:latin typeface="JetBrains Mono" pitchFamily="34" charset="0"/>
                <a:ea typeface="JetBrains Mono" pitchFamily="34" charset="-122"/>
                <a:cs typeface="JetBrains Mono" pitchFamily="34" charset="-120"/>
              </a:rPr>
              <a:t>UNAVAILABLE TO TEAM</a:t>
            </a:r>
            <a:endParaRPr lang="en-US" sz="1500" dirty="0"/>
          </a:p>
        </p:txBody>
      </p:sp>
      <p:sp>
        <p:nvSpPr>
          <p:cNvPr id="11" name="ln_624"/>
          <p:cNvSpPr/>
          <p:nvPr/>
        </p:nvSpPr>
        <p:spPr>
          <a:xfrm>
            <a:off x="3794760" y="2880360"/>
            <a:ext cx="457200" cy="914"/>
          </a:xfrm>
          <a:prstGeom prst="line">
            <a:avLst/>
          </a:prstGeom>
          <a:noFill/>
          <a:ln w="25400">
            <a:solidFill>
              <a:srgbClr val="00F0FF"/>
            </a:solidFill>
            <a:prstDash val="solid"/>
            <a:tailEnd type="triangle"/>
          </a:ln>
        </p:spPr>
      </p:sp>
      <p:sp>
        <p:nvSpPr>
          <p:cNvPr id="12" name="box_625"/>
          <p:cNvSpPr/>
          <p:nvPr/>
        </p:nvSpPr>
        <p:spPr>
          <a:xfrm>
            <a:off x="4297680" y="2148840"/>
            <a:ext cx="3383280" cy="1463040"/>
          </a:xfrm>
          <a:prstGeom prst="roundRect">
            <a:avLst>
              <a:gd name="adj" fmla="val 3750"/>
            </a:avLst>
          </a:prstGeom>
          <a:solidFill>
            <a:srgbClr val="00F0FF">
              <a:alpha val="8000"/>
            </a:srgbClr>
          </a:solidFill>
          <a:ln w="9525">
            <a:solidFill>
              <a:srgbClr val="00F0FF">
                <a:alpha val="60000"/>
              </a:srgbClr>
            </a:solidFill>
            <a:prstDash val="solid"/>
          </a:ln>
        </p:spPr>
      </p:sp>
      <p:sp>
        <p:nvSpPr>
          <p:cNvPr id="13" name="txt_626"/>
          <p:cNvSpPr txBox="1"/>
          <p:nvPr/>
        </p:nvSpPr>
        <p:spPr>
          <a:xfrm>
            <a:off x="4434840" y="2258568"/>
            <a:ext cx="3154680" cy="128016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NOW · SELF-FUNDED (PLANNED)</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F450 + F405 V3 FC · M8N GPS + compass · SiK 433 MHz · ground-station compute</a:t>
            </a:r>
            <a:endParaRPr lang="en-US" sz="1500" dirty="0"/>
          </a:p>
          <a:p>
            <a:pPr marL="0" indent="0">
              <a:buNone/>
            </a:pPr>
            <a:r>
              <a:rPr lang="en-US" sz="1100" b="1" dirty="0">
                <a:solidFill>
                  <a:srgbClr val="F59E0B"/>
                </a:solidFill>
                <a:latin typeface="JetBrains Mono" pitchFamily="34" charset="0"/>
                <a:ea typeface="JetBrains Mono" pitchFamily="34" charset="-122"/>
                <a:cs typeface="JetBrains Mono" pitchFamily="34" charset="-120"/>
              </a:rPr>
              <a:t>NOT YET PURCHASED</a:t>
            </a:r>
            <a:endParaRPr lang="en-US" sz="1500" dirty="0"/>
          </a:p>
        </p:txBody>
      </p:sp>
      <p:sp>
        <p:nvSpPr>
          <p:cNvPr id="14" name="box_627"/>
          <p:cNvSpPr/>
          <p:nvPr/>
        </p:nvSpPr>
        <p:spPr>
          <a:xfrm>
            <a:off x="7635240" y="2148840"/>
            <a:ext cx="4099255" cy="1463040"/>
          </a:xfrm>
          <a:prstGeom prst="roundRect">
            <a:avLst>
              <a:gd name="adj" fmla="val 3750"/>
            </a:avLst>
          </a:prstGeom>
          <a:solidFill>
            <a:srgbClr val="131C2E">
              <a:alpha val="82000"/>
            </a:srgbClr>
          </a:solidFill>
          <a:ln w="9525">
            <a:solidFill>
              <a:srgbClr val="F59E0B">
                <a:alpha val="50000"/>
              </a:srgbClr>
            </a:solidFill>
            <a:prstDash val="solid"/>
          </a:ln>
        </p:spPr>
      </p:sp>
      <p:sp>
        <p:nvSpPr>
          <p:cNvPr id="15" name="txt_628"/>
          <p:cNvSpPr txBox="1"/>
          <p:nvPr/>
        </p:nvSpPr>
        <p:spPr>
          <a:xfrm>
            <a:off x="7772400" y="2221992"/>
            <a:ext cx="3824935" cy="1353312"/>
          </a:xfrm>
          <a:prstGeom prst="rect">
            <a:avLst/>
          </a:prstGeom>
          <a:noFill/>
          <a:ln/>
        </p:spPr>
        <p:txBody>
          <a:bodyPr wrap="square" lIns="0" tIns="0" rIns="0" bIns="0" rtlCol="0" anchor="t"/>
          <a:lstStyle/>
          <a:p>
            <a:pPr marL="0" indent="0">
              <a:buNone/>
            </a:pPr>
            <a:r>
              <a:rPr lang="en-US" sz="2800" b="1" dirty="0">
                <a:solidFill>
                  <a:srgbClr val="F8FAFC"/>
                </a:solidFill>
                <a:latin typeface="Space Grotesk" pitchFamily="34" charset="0"/>
                <a:ea typeface="Space Grotesk" pitchFamily="34" charset="-122"/>
                <a:cs typeface="Space Grotesk" pitchFamily="34" charset="-120"/>
              </a:rPr>
              <a:t>₹25,000</a:t>
            </a:r>
            <a:r>
              <a:rPr lang="en-US" sz="1000" dirty="0">
                <a:solidFill>
                  <a:srgbClr val="94A3B8"/>
                </a:solidFill>
                <a:latin typeface="JetBrains Mono" pitchFamily="34" charset="0"/>
                <a:ea typeface="JetBrains Mono" pitchFamily="34" charset="-122"/>
                <a:cs typeface="JetBrains Mono" pitchFamily="34" charset="-120"/>
              </a:rPr>
              <a:t>  POOL (5 × ₹5,000)</a:t>
            </a:r>
            <a:endParaRPr lang="en-US" sz="1500" dirty="0"/>
          </a:p>
          <a:p>
            <a:pPr marL="0" indent="0">
              <a:buNone/>
            </a:pPr>
            <a:r>
              <a:rPr lang="en-US" sz="2800" b="1" dirty="0">
                <a:solidFill>
                  <a:srgbClr val="F59E0B"/>
                </a:solidFill>
                <a:latin typeface="Space Grotesk" pitchFamily="34" charset="0"/>
                <a:ea typeface="Space Grotesk" pitchFamily="34" charset="-122"/>
                <a:cs typeface="Space Grotesk" pitchFamily="34" charset="-120"/>
              </a:rPr>
              <a:t>≈ ₹23,500</a:t>
            </a:r>
            <a:r>
              <a:rPr lang="en-US" sz="1000" dirty="0">
                <a:solidFill>
                  <a:srgbClr val="94A3B8"/>
                </a:solidFill>
                <a:latin typeface="JetBrains Mono" pitchFamily="34" charset="0"/>
                <a:ea typeface="JetBrains Mono" pitchFamily="34" charset="-122"/>
                <a:cs typeface="JetBrains Mono" pitchFamily="34" charset="-120"/>
              </a:rPr>
              <a:t>  MIDPOINT WITH SiK</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Range ₹21,100–29,900 · reserve ₹1,500–2,000</a:t>
            </a:r>
            <a:endParaRPr lang="en-US" sz="1500" dirty="0"/>
          </a:p>
        </p:txBody>
      </p:sp>
      <p:sp>
        <p:nvSpPr>
          <p:cNvPr id="16" name="box_629"/>
          <p:cNvSpPr/>
          <p:nvPr/>
        </p:nvSpPr>
        <p:spPr>
          <a:xfrm>
            <a:off x="457200" y="3840480"/>
            <a:ext cx="1788109" cy="1828800"/>
          </a:xfrm>
          <a:prstGeom prst="roundRect">
            <a:avLst>
              <a:gd name="adj" fmla="val 3068"/>
            </a:avLst>
          </a:prstGeom>
          <a:solidFill>
            <a:srgbClr val="131C2E">
              <a:alpha val="82000"/>
            </a:srgbClr>
          </a:solidFill>
          <a:ln w="9525">
            <a:solidFill>
              <a:srgbClr val="F59E0B">
                <a:alpha val="40000"/>
              </a:srgbClr>
            </a:solidFill>
            <a:prstDash val="solid"/>
          </a:ln>
        </p:spPr>
      </p:sp>
      <p:sp>
        <p:nvSpPr>
          <p:cNvPr id="17" name="badge_630"/>
          <p:cNvSpPr txBox="1"/>
          <p:nvPr/>
        </p:nvSpPr>
        <p:spPr>
          <a:xfrm>
            <a:off x="539496" y="3941064"/>
            <a:ext cx="347472" cy="347472"/>
          </a:xfrm>
          <a:prstGeom prst="ellipse">
            <a:avLst/>
          </a:prstGeom>
          <a:solidFill>
            <a:srgbClr val="090D16"/>
          </a:solidFill>
          <a:ln w="15875">
            <a:solidFill>
              <a:srgbClr val="F59E0B"/>
            </a:solid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0</a:t>
            </a:r>
            <a:endParaRPr lang="en-US" sz="1200" dirty="0"/>
          </a:p>
        </p:txBody>
      </p:sp>
      <p:sp>
        <p:nvSpPr>
          <p:cNvPr id="18" name="txt_631"/>
          <p:cNvSpPr txBox="1"/>
          <p:nvPr/>
        </p:nvSpPr>
        <p:spPr>
          <a:xfrm>
            <a:off x="960120" y="3931920"/>
            <a:ext cx="1221181" cy="457200"/>
          </a:xfrm>
          <a:prstGeom prst="rect">
            <a:avLst/>
          </a:prstGeom>
          <a:noFill/>
          <a:ln/>
        </p:spPr>
        <p:txBody>
          <a:bodyPr wrap="square" lIns="0" tIns="0" rIns="0" bIns="0" rtlCol="0" anchor="ctr"/>
          <a:lstStyle/>
          <a:p>
            <a:pPr marL="0" indent="0">
              <a:buNone/>
            </a:pPr>
            <a:r>
              <a:rPr lang="en-US" sz="1400" b="1" dirty="0">
                <a:solidFill>
                  <a:srgbClr val="F8FAFC"/>
                </a:solidFill>
                <a:latin typeface="Space Grotesk" pitchFamily="34" charset="0"/>
                <a:ea typeface="Space Grotesk" pitchFamily="34" charset="-122"/>
                <a:cs typeface="Space Grotesk" pitchFamily="34" charset="-120"/>
              </a:rPr>
              <a:t>Permission &amp; purchase</a:t>
            </a:r>
            <a:endParaRPr lang="en-US" sz="1400" dirty="0"/>
          </a:p>
        </p:txBody>
      </p:sp>
      <p:sp>
        <p:nvSpPr>
          <p:cNvPr id="19" name="txt_632"/>
          <p:cNvSpPr txBox="1"/>
          <p:nvPr/>
        </p:nvSpPr>
        <p:spPr>
          <a:xfrm>
            <a:off x="566928" y="4480560"/>
            <a:ext cx="1586941" cy="914400"/>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GATE</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Letter held; Stage 1 parts in hand</a:t>
            </a:r>
            <a:endParaRPr lang="en-US" sz="1500" dirty="0"/>
          </a:p>
        </p:txBody>
      </p:sp>
      <p:sp>
        <p:nvSpPr>
          <p:cNvPr id="20" name="chip_633"/>
          <p:cNvSpPr txBox="1"/>
          <p:nvPr/>
        </p:nvSpPr>
        <p:spPr>
          <a:xfrm>
            <a:off x="566928" y="5340096"/>
            <a:ext cx="717804" cy="201168"/>
          </a:xfrm>
          <a:prstGeom prst="roundRect">
            <a:avLst>
              <a:gd name="adj" fmla="val 22727"/>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PENDING</a:t>
            </a:r>
            <a:endParaRPr lang="en-US" sz="900" dirty="0"/>
          </a:p>
        </p:txBody>
      </p:sp>
      <p:sp>
        <p:nvSpPr>
          <p:cNvPr id="21" name="box_634"/>
          <p:cNvSpPr/>
          <p:nvPr/>
        </p:nvSpPr>
        <p:spPr>
          <a:xfrm>
            <a:off x="2355037" y="3840480"/>
            <a:ext cx="1788109" cy="1828800"/>
          </a:xfrm>
          <a:prstGeom prst="roundRect">
            <a:avLst>
              <a:gd name="adj" fmla="val 3068"/>
            </a:avLst>
          </a:prstGeom>
          <a:solidFill>
            <a:srgbClr val="131C2E">
              <a:alpha val="82000"/>
            </a:srgbClr>
          </a:solidFill>
          <a:ln w="9525">
            <a:solidFill>
              <a:srgbClr val="F59E0B">
                <a:alpha val="40000"/>
              </a:srgbClr>
            </a:solidFill>
            <a:prstDash val="solid"/>
          </a:ln>
        </p:spPr>
      </p:sp>
      <p:sp>
        <p:nvSpPr>
          <p:cNvPr id="22" name="badge_635"/>
          <p:cNvSpPr txBox="1"/>
          <p:nvPr/>
        </p:nvSpPr>
        <p:spPr>
          <a:xfrm>
            <a:off x="2437333" y="3941064"/>
            <a:ext cx="347472" cy="347472"/>
          </a:xfrm>
          <a:prstGeom prst="ellipse">
            <a:avLst/>
          </a:prstGeom>
          <a:solidFill>
            <a:srgbClr val="090D16"/>
          </a:solidFill>
          <a:ln w="15875">
            <a:solidFill>
              <a:srgbClr val="F59E0B"/>
            </a:solid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1</a:t>
            </a:r>
            <a:endParaRPr lang="en-US" sz="1200" dirty="0"/>
          </a:p>
        </p:txBody>
      </p:sp>
      <p:sp>
        <p:nvSpPr>
          <p:cNvPr id="23" name="txt_636"/>
          <p:cNvSpPr txBox="1"/>
          <p:nvPr/>
        </p:nvSpPr>
        <p:spPr>
          <a:xfrm>
            <a:off x="2857957" y="3931920"/>
            <a:ext cx="1221181" cy="457200"/>
          </a:xfrm>
          <a:prstGeom prst="rect">
            <a:avLst/>
          </a:prstGeom>
          <a:noFill/>
          <a:ln/>
        </p:spPr>
        <p:txBody>
          <a:bodyPr wrap="square" lIns="0" tIns="0" rIns="0" bIns="0" rtlCol="0" anchor="ctr"/>
          <a:lstStyle/>
          <a:p>
            <a:pPr marL="0" indent="0">
              <a:buNone/>
            </a:pPr>
            <a:r>
              <a:rPr lang="en-US" sz="1400" b="1" dirty="0">
                <a:solidFill>
                  <a:srgbClr val="F8FAFC"/>
                </a:solidFill>
                <a:latin typeface="Space Grotesk" pitchFamily="34" charset="0"/>
                <a:ea typeface="Space Grotesk" pitchFamily="34" charset="-122"/>
                <a:cs typeface="Space Grotesk" pitchFamily="34" charset="-120"/>
              </a:rPr>
              <a:t>Assembly &amp; bench</a:t>
            </a:r>
            <a:endParaRPr lang="en-US" sz="1400" dirty="0"/>
          </a:p>
        </p:txBody>
      </p:sp>
      <p:sp>
        <p:nvSpPr>
          <p:cNvPr id="24" name="txt_637"/>
          <p:cNvSpPr txBox="1"/>
          <p:nvPr/>
        </p:nvSpPr>
        <p:spPr>
          <a:xfrm>
            <a:off x="2464765" y="4480560"/>
            <a:ext cx="1586941" cy="914400"/>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GATE</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Calibrations pass; failsafes props-off</a:t>
            </a:r>
            <a:endParaRPr lang="en-US" sz="1500" dirty="0"/>
          </a:p>
        </p:txBody>
      </p:sp>
      <p:sp>
        <p:nvSpPr>
          <p:cNvPr id="25" name="chip_638"/>
          <p:cNvSpPr txBox="1"/>
          <p:nvPr/>
        </p:nvSpPr>
        <p:spPr>
          <a:xfrm>
            <a:off x="2464765" y="5340096"/>
            <a:ext cx="717804" cy="201168"/>
          </a:xfrm>
          <a:prstGeom prst="roundRect">
            <a:avLst>
              <a:gd name="adj" fmla="val 22727"/>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PENDING</a:t>
            </a:r>
            <a:endParaRPr lang="en-US" sz="900" dirty="0"/>
          </a:p>
        </p:txBody>
      </p:sp>
      <p:sp>
        <p:nvSpPr>
          <p:cNvPr id="26" name="box_639"/>
          <p:cNvSpPr/>
          <p:nvPr/>
        </p:nvSpPr>
        <p:spPr>
          <a:xfrm>
            <a:off x="4252874" y="3840480"/>
            <a:ext cx="1788109" cy="1828800"/>
          </a:xfrm>
          <a:prstGeom prst="roundRect">
            <a:avLst>
              <a:gd name="adj" fmla="val 3068"/>
            </a:avLst>
          </a:prstGeom>
          <a:solidFill>
            <a:srgbClr val="131C2E">
              <a:alpha val="82000"/>
            </a:srgbClr>
          </a:solidFill>
          <a:ln w="9525">
            <a:solidFill>
              <a:srgbClr val="F59E0B">
                <a:alpha val="40000"/>
              </a:srgbClr>
            </a:solidFill>
            <a:prstDash val="solid"/>
          </a:ln>
        </p:spPr>
      </p:sp>
      <p:sp>
        <p:nvSpPr>
          <p:cNvPr id="27" name="badge_640"/>
          <p:cNvSpPr txBox="1"/>
          <p:nvPr/>
        </p:nvSpPr>
        <p:spPr>
          <a:xfrm>
            <a:off x="4335170" y="3941064"/>
            <a:ext cx="347472" cy="347472"/>
          </a:xfrm>
          <a:prstGeom prst="ellipse">
            <a:avLst/>
          </a:prstGeom>
          <a:solidFill>
            <a:srgbClr val="090D16"/>
          </a:solidFill>
          <a:ln w="15875">
            <a:solidFill>
              <a:srgbClr val="F59E0B"/>
            </a:solid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2</a:t>
            </a:r>
            <a:endParaRPr lang="en-US" sz="1200" dirty="0"/>
          </a:p>
        </p:txBody>
      </p:sp>
      <p:sp>
        <p:nvSpPr>
          <p:cNvPr id="28" name="txt_641"/>
          <p:cNvSpPr txBox="1"/>
          <p:nvPr/>
        </p:nvSpPr>
        <p:spPr>
          <a:xfrm>
            <a:off x="4755794" y="3931920"/>
            <a:ext cx="1221181" cy="457200"/>
          </a:xfrm>
          <a:prstGeom prst="rect">
            <a:avLst/>
          </a:prstGeom>
          <a:noFill/>
          <a:ln/>
        </p:spPr>
        <p:txBody>
          <a:bodyPr wrap="square" lIns="0" tIns="0" rIns="0" bIns="0" rtlCol="0" anchor="ctr"/>
          <a:lstStyle/>
          <a:p>
            <a:pPr marL="0" indent="0">
              <a:buNone/>
            </a:pPr>
            <a:r>
              <a:rPr lang="en-US" sz="1400" b="1" dirty="0">
                <a:solidFill>
                  <a:srgbClr val="F8FAFC"/>
                </a:solidFill>
                <a:latin typeface="Space Grotesk" pitchFamily="34" charset="0"/>
                <a:ea typeface="Space Grotesk" pitchFamily="34" charset="-122"/>
                <a:cs typeface="Space Grotesk" pitchFamily="34" charset="-120"/>
              </a:rPr>
              <a:t>Manual flight</a:t>
            </a:r>
            <a:endParaRPr lang="en-US" sz="1400" dirty="0"/>
          </a:p>
        </p:txBody>
      </p:sp>
      <p:sp>
        <p:nvSpPr>
          <p:cNvPr id="29" name="txt_642"/>
          <p:cNvSpPr txBox="1"/>
          <p:nvPr/>
        </p:nvSpPr>
        <p:spPr>
          <a:xfrm>
            <a:off x="4362602" y="4480560"/>
            <a:ext cx="1586941" cy="914400"/>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GATE</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Steady hover; timed endurance</a:t>
            </a:r>
            <a:endParaRPr lang="en-US" sz="1500" dirty="0"/>
          </a:p>
        </p:txBody>
      </p:sp>
      <p:sp>
        <p:nvSpPr>
          <p:cNvPr id="30" name="chip_643"/>
          <p:cNvSpPr txBox="1"/>
          <p:nvPr/>
        </p:nvSpPr>
        <p:spPr>
          <a:xfrm>
            <a:off x="4362602" y="5340096"/>
            <a:ext cx="717804" cy="201168"/>
          </a:xfrm>
          <a:prstGeom prst="roundRect">
            <a:avLst>
              <a:gd name="adj" fmla="val 22727"/>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PENDING</a:t>
            </a:r>
            <a:endParaRPr lang="en-US" sz="900" dirty="0"/>
          </a:p>
        </p:txBody>
      </p:sp>
      <p:sp>
        <p:nvSpPr>
          <p:cNvPr id="31" name="box_644"/>
          <p:cNvSpPr/>
          <p:nvPr/>
        </p:nvSpPr>
        <p:spPr>
          <a:xfrm>
            <a:off x="6150712" y="3840480"/>
            <a:ext cx="1788109" cy="1828800"/>
          </a:xfrm>
          <a:prstGeom prst="roundRect">
            <a:avLst>
              <a:gd name="adj" fmla="val 3068"/>
            </a:avLst>
          </a:prstGeom>
          <a:solidFill>
            <a:srgbClr val="131C2E">
              <a:alpha val="82000"/>
            </a:srgbClr>
          </a:solidFill>
          <a:ln w="9525">
            <a:solidFill>
              <a:srgbClr val="F59E0B">
                <a:alpha val="40000"/>
              </a:srgbClr>
            </a:solidFill>
            <a:prstDash val="solid"/>
          </a:ln>
        </p:spPr>
      </p:sp>
      <p:sp>
        <p:nvSpPr>
          <p:cNvPr id="32" name="badge_645"/>
          <p:cNvSpPr txBox="1"/>
          <p:nvPr/>
        </p:nvSpPr>
        <p:spPr>
          <a:xfrm>
            <a:off x="6233008" y="3941064"/>
            <a:ext cx="347472" cy="347472"/>
          </a:xfrm>
          <a:prstGeom prst="ellipse">
            <a:avLst/>
          </a:prstGeom>
          <a:solidFill>
            <a:srgbClr val="090D16"/>
          </a:solidFill>
          <a:ln w="15875">
            <a:solidFill>
              <a:srgbClr val="F59E0B"/>
            </a:solid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3</a:t>
            </a:r>
            <a:endParaRPr lang="en-US" sz="1200" dirty="0"/>
          </a:p>
        </p:txBody>
      </p:sp>
      <p:sp>
        <p:nvSpPr>
          <p:cNvPr id="33" name="txt_646"/>
          <p:cNvSpPr txBox="1"/>
          <p:nvPr/>
        </p:nvSpPr>
        <p:spPr>
          <a:xfrm>
            <a:off x="6653632" y="3931920"/>
            <a:ext cx="1221181" cy="457200"/>
          </a:xfrm>
          <a:prstGeom prst="rect">
            <a:avLst/>
          </a:prstGeom>
          <a:noFill/>
          <a:ln/>
        </p:spPr>
        <p:txBody>
          <a:bodyPr wrap="square" lIns="0" tIns="0" rIns="0" bIns="0" rtlCol="0" anchor="ctr"/>
          <a:lstStyle/>
          <a:p>
            <a:pPr marL="0" indent="0">
              <a:buNone/>
            </a:pPr>
            <a:r>
              <a:rPr lang="en-US" sz="1400" b="1" dirty="0">
                <a:solidFill>
                  <a:srgbClr val="F8FAFC"/>
                </a:solidFill>
                <a:latin typeface="Space Grotesk" pitchFamily="34" charset="0"/>
                <a:ea typeface="Space Grotesk" pitchFamily="34" charset="-122"/>
                <a:cs typeface="Space Grotesk" pitchFamily="34" charset="-120"/>
              </a:rPr>
              <a:t>GPS autonomy</a:t>
            </a:r>
            <a:endParaRPr lang="en-US" sz="1400" dirty="0"/>
          </a:p>
        </p:txBody>
      </p:sp>
      <p:sp>
        <p:nvSpPr>
          <p:cNvPr id="34" name="txt_647"/>
          <p:cNvSpPr txBox="1"/>
          <p:nvPr/>
        </p:nvSpPr>
        <p:spPr>
          <a:xfrm>
            <a:off x="6260440" y="4480560"/>
            <a:ext cx="1586941" cy="914400"/>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GATE</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Repeatable route, no intervention</a:t>
            </a:r>
            <a:endParaRPr lang="en-US" sz="1500" dirty="0"/>
          </a:p>
        </p:txBody>
      </p:sp>
      <p:sp>
        <p:nvSpPr>
          <p:cNvPr id="35" name="chip_648"/>
          <p:cNvSpPr txBox="1"/>
          <p:nvPr/>
        </p:nvSpPr>
        <p:spPr>
          <a:xfrm>
            <a:off x="6260440" y="5340096"/>
            <a:ext cx="717804" cy="201168"/>
          </a:xfrm>
          <a:prstGeom prst="roundRect">
            <a:avLst>
              <a:gd name="adj" fmla="val 22727"/>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PENDING</a:t>
            </a:r>
            <a:endParaRPr lang="en-US" sz="900" dirty="0"/>
          </a:p>
        </p:txBody>
      </p:sp>
      <p:sp>
        <p:nvSpPr>
          <p:cNvPr id="36" name="box_649"/>
          <p:cNvSpPr/>
          <p:nvPr/>
        </p:nvSpPr>
        <p:spPr>
          <a:xfrm>
            <a:off x="8048549" y="3840480"/>
            <a:ext cx="1788109" cy="1828800"/>
          </a:xfrm>
          <a:prstGeom prst="roundRect">
            <a:avLst>
              <a:gd name="adj" fmla="val 3068"/>
            </a:avLst>
          </a:prstGeom>
          <a:solidFill>
            <a:srgbClr val="131C2E">
              <a:alpha val="82000"/>
            </a:srgbClr>
          </a:solidFill>
          <a:ln w="9525">
            <a:solidFill>
              <a:srgbClr val="F59E0B">
                <a:alpha val="40000"/>
              </a:srgbClr>
            </a:solidFill>
            <a:prstDash val="solid"/>
          </a:ln>
        </p:spPr>
      </p:sp>
      <p:sp>
        <p:nvSpPr>
          <p:cNvPr id="37" name="badge_650"/>
          <p:cNvSpPr txBox="1"/>
          <p:nvPr/>
        </p:nvSpPr>
        <p:spPr>
          <a:xfrm>
            <a:off x="8130845" y="3941064"/>
            <a:ext cx="347472" cy="347472"/>
          </a:xfrm>
          <a:prstGeom prst="ellipse">
            <a:avLst/>
          </a:prstGeom>
          <a:solidFill>
            <a:srgbClr val="090D16"/>
          </a:solidFill>
          <a:ln w="15875">
            <a:solidFill>
              <a:srgbClr val="F59E0B"/>
            </a:solid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4</a:t>
            </a:r>
            <a:endParaRPr lang="en-US" sz="1200" dirty="0"/>
          </a:p>
        </p:txBody>
      </p:sp>
      <p:sp>
        <p:nvSpPr>
          <p:cNvPr id="38" name="txt_651"/>
          <p:cNvSpPr txBox="1"/>
          <p:nvPr/>
        </p:nvSpPr>
        <p:spPr>
          <a:xfrm>
            <a:off x="8551469" y="3931920"/>
            <a:ext cx="1221181" cy="457200"/>
          </a:xfrm>
          <a:prstGeom prst="rect">
            <a:avLst/>
          </a:prstGeom>
          <a:noFill/>
          <a:ln/>
        </p:spPr>
        <p:txBody>
          <a:bodyPr wrap="square" lIns="0" tIns="0" rIns="0" bIns="0" rtlCol="0" anchor="ctr"/>
          <a:lstStyle/>
          <a:p>
            <a:pPr marL="0" indent="0">
              <a:buNone/>
            </a:pPr>
            <a:r>
              <a:rPr lang="en-US" sz="1400" b="1" dirty="0">
                <a:solidFill>
                  <a:srgbClr val="F8FAFC"/>
                </a:solidFill>
                <a:latin typeface="Space Grotesk" pitchFamily="34" charset="0"/>
                <a:ea typeface="Space Grotesk" pitchFamily="34" charset="-122"/>
                <a:cs typeface="Space Grotesk" pitchFamily="34" charset="-120"/>
              </a:rPr>
              <a:t>Pacing in SITL</a:t>
            </a:r>
            <a:endParaRPr lang="en-US" sz="1400" dirty="0"/>
          </a:p>
        </p:txBody>
      </p:sp>
      <p:sp>
        <p:nvSpPr>
          <p:cNvPr id="39" name="txt_652"/>
          <p:cNvSpPr txBox="1"/>
          <p:nvPr/>
        </p:nvSpPr>
        <p:spPr>
          <a:xfrm>
            <a:off x="8158277" y="4480560"/>
            <a:ext cx="1586941" cy="914400"/>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GATE</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Validated before any live trial</a:t>
            </a:r>
            <a:endParaRPr lang="en-US" sz="1500" dirty="0"/>
          </a:p>
        </p:txBody>
      </p:sp>
      <p:sp>
        <p:nvSpPr>
          <p:cNvPr id="40" name="chip_653"/>
          <p:cNvSpPr txBox="1"/>
          <p:nvPr/>
        </p:nvSpPr>
        <p:spPr>
          <a:xfrm>
            <a:off x="8158277" y="5340096"/>
            <a:ext cx="717804" cy="201168"/>
          </a:xfrm>
          <a:prstGeom prst="roundRect">
            <a:avLst>
              <a:gd name="adj" fmla="val 22727"/>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PENDING</a:t>
            </a:r>
            <a:endParaRPr lang="en-US" sz="900" dirty="0"/>
          </a:p>
        </p:txBody>
      </p:sp>
      <p:sp>
        <p:nvSpPr>
          <p:cNvPr id="41" name="box_654"/>
          <p:cNvSpPr/>
          <p:nvPr/>
        </p:nvSpPr>
        <p:spPr>
          <a:xfrm>
            <a:off x="9946386" y="3840480"/>
            <a:ext cx="1788109" cy="1828800"/>
          </a:xfrm>
          <a:prstGeom prst="roundRect">
            <a:avLst>
              <a:gd name="adj" fmla="val 3068"/>
            </a:avLst>
          </a:prstGeom>
          <a:solidFill>
            <a:srgbClr val="131C2E">
              <a:alpha val="82000"/>
            </a:srgbClr>
          </a:solidFill>
          <a:ln w="9525">
            <a:solidFill>
              <a:srgbClr val="F59E0B">
                <a:alpha val="40000"/>
              </a:srgbClr>
            </a:solidFill>
            <a:prstDash val="solid"/>
          </a:ln>
        </p:spPr>
      </p:sp>
      <p:sp>
        <p:nvSpPr>
          <p:cNvPr id="42" name="badge_655"/>
          <p:cNvSpPr txBox="1"/>
          <p:nvPr/>
        </p:nvSpPr>
        <p:spPr>
          <a:xfrm>
            <a:off x="10028682" y="3941064"/>
            <a:ext cx="347472" cy="347472"/>
          </a:xfrm>
          <a:prstGeom prst="ellipse">
            <a:avLst/>
          </a:prstGeom>
          <a:solidFill>
            <a:srgbClr val="090D16"/>
          </a:solidFill>
          <a:ln w="15875">
            <a:solidFill>
              <a:srgbClr val="F59E0B"/>
            </a:solidFill>
          </a:ln>
        </p:spPr>
        <p:txBody>
          <a:bodyPr wrap="square" lIns="0" tIns="0" rIns="0" bIns="0" rtlCol="0" anchor="ctr"/>
          <a:lstStyle/>
          <a:p>
            <a:pPr marL="0" indent="0" algn="ctr">
              <a:buNone/>
            </a:pPr>
            <a:r>
              <a:rPr lang="en-US" sz="1200" b="1" dirty="0">
                <a:solidFill>
                  <a:srgbClr val="F59E0B"/>
                </a:solidFill>
                <a:latin typeface="JetBrains Mono" pitchFamily="34" charset="0"/>
                <a:ea typeface="JetBrains Mono" pitchFamily="34" charset="-122"/>
                <a:cs typeface="JetBrains Mono" pitchFamily="34" charset="-120"/>
              </a:rPr>
              <a:t>5</a:t>
            </a:r>
            <a:endParaRPr lang="en-US" sz="1200" dirty="0"/>
          </a:p>
        </p:txBody>
      </p:sp>
      <p:sp>
        <p:nvSpPr>
          <p:cNvPr id="43" name="txt_656"/>
          <p:cNvSpPr txBox="1"/>
          <p:nvPr/>
        </p:nvSpPr>
        <p:spPr>
          <a:xfrm>
            <a:off x="10449306" y="3931920"/>
            <a:ext cx="1221181" cy="457200"/>
          </a:xfrm>
          <a:prstGeom prst="rect">
            <a:avLst/>
          </a:prstGeom>
          <a:noFill/>
          <a:ln/>
        </p:spPr>
        <p:txBody>
          <a:bodyPr wrap="square" lIns="0" tIns="0" rIns="0" bIns="0" rtlCol="0" anchor="ctr"/>
          <a:lstStyle/>
          <a:p>
            <a:pPr marL="0" indent="0">
              <a:buNone/>
            </a:pPr>
            <a:r>
              <a:rPr lang="en-US" sz="1400" b="1" dirty="0">
                <a:solidFill>
                  <a:srgbClr val="F8FAFC"/>
                </a:solidFill>
                <a:latin typeface="Space Grotesk" pitchFamily="34" charset="0"/>
                <a:ea typeface="Space Grotesk" pitchFamily="34" charset="-122"/>
                <a:cs typeface="Space Grotesk" pitchFamily="34" charset="-120"/>
              </a:rPr>
              <a:t>Integrated trials</a:t>
            </a:r>
            <a:endParaRPr lang="en-US" sz="1400" dirty="0"/>
          </a:p>
        </p:txBody>
      </p:sp>
      <p:sp>
        <p:nvSpPr>
          <p:cNvPr id="44" name="txt_657"/>
          <p:cNvSpPr txBox="1"/>
          <p:nvPr/>
        </p:nvSpPr>
        <p:spPr>
          <a:xfrm>
            <a:off x="10056114" y="4480560"/>
            <a:ext cx="1586941" cy="914400"/>
          </a:xfrm>
          <a:prstGeom prst="rect">
            <a:avLst/>
          </a:prstGeom>
          <a:noFill/>
          <a:ln/>
        </p:spPr>
        <p:txBody>
          <a:bodyPr wrap="square" lIns="0" tIns="0" rIns="0" bIns="0" rtlCol="0" anchor="t"/>
          <a:lstStyle/>
          <a:p>
            <a:pPr marL="0" indent="0">
              <a:buNone/>
            </a:pPr>
            <a:r>
              <a:rPr lang="en-US" sz="1000" b="1" dirty="0">
                <a:solidFill>
                  <a:srgbClr val="F59E0B"/>
                </a:solidFill>
                <a:latin typeface="JetBrains Mono" pitchFamily="34" charset="0"/>
                <a:ea typeface="JetBrains Mono" pitchFamily="34" charset="-122"/>
                <a:cs typeface="JetBrains Mono" pitchFamily="34" charset="-120"/>
              </a:rPr>
              <a:t>GATE</a:t>
            </a:r>
            <a:endParaRPr lang="en-US" sz="1500" dirty="0"/>
          </a:p>
          <a:p>
            <a:pPr marL="0" indent="0">
              <a:buNone/>
            </a:pPr>
            <a:r>
              <a:rPr lang="en-US" sz="1300" dirty="0">
                <a:solidFill>
                  <a:srgbClr val="F8FAFC"/>
                </a:solidFill>
                <a:latin typeface="Inter" pitchFamily="34" charset="0"/>
                <a:ea typeface="Inter" pitchFamily="34" charset="-122"/>
                <a:cs typeface="Inter" pitchFamily="34" charset="-120"/>
              </a:rPr>
              <a:t>Every failsafe observed; guided trips</a:t>
            </a:r>
            <a:endParaRPr lang="en-US" sz="1500" dirty="0"/>
          </a:p>
        </p:txBody>
      </p:sp>
      <p:sp>
        <p:nvSpPr>
          <p:cNvPr id="45" name="chip_658"/>
          <p:cNvSpPr txBox="1"/>
          <p:nvPr/>
        </p:nvSpPr>
        <p:spPr>
          <a:xfrm>
            <a:off x="10056114" y="5340096"/>
            <a:ext cx="717804" cy="201168"/>
          </a:xfrm>
          <a:prstGeom prst="roundRect">
            <a:avLst>
              <a:gd name="adj" fmla="val 22727"/>
            </a:avLst>
          </a:prstGeom>
          <a:solidFill>
            <a:srgbClr val="F59E0B">
              <a:alpha val="12000"/>
            </a:srgbClr>
          </a:solidFill>
          <a:ln w="9525">
            <a:solidFill>
              <a:srgbClr val="F59E0B">
                <a:alpha val="65000"/>
              </a:srgbClr>
            </a:solidFill>
          </a:ln>
        </p:spPr>
        <p:txBody>
          <a:bodyPr wrap="square" lIns="0" tIns="0" rIns="0" bIns="0" rtlCol="0" anchor="ctr"/>
          <a:lstStyle/>
          <a:p>
            <a:pPr marL="0" indent="0" algn="ctr">
              <a:buNone/>
            </a:pPr>
            <a:r>
              <a:rPr lang="en-US" sz="900" b="1" dirty="0">
                <a:solidFill>
                  <a:srgbClr val="F59E0B"/>
                </a:solidFill>
                <a:latin typeface="JetBrains Mono" pitchFamily="34" charset="0"/>
                <a:ea typeface="JetBrains Mono" pitchFamily="34" charset="-122"/>
                <a:cs typeface="JetBrains Mono" pitchFamily="34" charset="-120"/>
              </a:rPr>
              <a:t>PENDING</a:t>
            </a:r>
            <a:endParaRPr lang="en-US" sz="900" dirty="0"/>
          </a:p>
        </p:txBody>
      </p:sp>
      <p:sp>
        <p:nvSpPr>
          <p:cNvPr id="46" name="box_659"/>
          <p:cNvSpPr/>
          <p:nvPr/>
        </p:nvSpPr>
        <p:spPr>
          <a:xfrm>
            <a:off x="457200" y="5806440"/>
            <a:ext cx="11277295" cy="411480"/>
          </a:xfrm>
          <a:prstGeom prst="roundRect">
            <a:avLst>
              <a:gd name="adj" fmla="val 13333"/>
            </a:avLst>
          </a:prstGeom>
          <a:solidFill>
            <a:srgbClr val="131C2E">
              <a:alpha val="70000"/>
            </a:srgbClr>
          </a:solidFill>
          <a:ln w="9525">
            <a:solidFill>
              <a:srgbClr val="00F0FF">
                <a:alpha val="30000"/>
              </a:srgbClr>
            </a:solidFill>
            <a:prstDash val="solid"/>
          </a:ln>
        </p:spPr>
      </p:sp>
      <p:sp>
        <p:nvSpPr>
          <p:cNvPr id="47" name="txt_660"/>
          <p:cNvSpPr txBox="1"/>
          <p:nvPr/>
        </p:nvSpPr>
        <p:spPr>
          <a:xfrm>
            <a:off x="594360" y="5833872"/>
            <a:ext cx="11002975" cy="365760"/>
          </a:xfrm>
          <a:prstGeom prst="rect">
            <a:avLst/>
          </a:prstGeom>
          <a:noFill/>
          <a:ln/>
        </p:spPr>
        <p:txBody>
          <a:bodyPr wrap="square" lIns="0" tIns="0" rIns="0" bIns="0" rtlCol="0" anchor="ctr"/>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NEXT MEASUREMENTS  </a:t>
            </a:r>
            <a:r>
              <a:rPr lang="en-US" sz="1400" dirty="0">
                <a:solidFill>
                  <a:srgbClr val="F8FAFC"/>
                </a:solidFill>
                <a:latin typeface="Inter" pitchFamily="34" charset="0"/>
                <a:ea typeface="Inter" pitchFamily="34" charset="-122"/>
                <a:cs typeface="Inter" pitchFamily="34" charset="-120"/>
              </a:rPr>
              <a:t>Timed hover to failsafe with real payload → recompute leg limit &amp; pads   ·   Phone GPS error on a known route → set lead / hold thresholds</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anim calcmode="lin" valueType="num">
                                      <p:cBhvr>
                                        <p:cTn id="8" dur="350" decel="100000" fill="hold"/>
                                        <p:tgtEl>
                                          <p:spTgt spid="16"/>
                                        </p:tgtEl>
                                        <p:attrNameLst>
                                          <p:attrName>ppt_x</p:attrName>
                                        </p:attrNameLst>
                                      </p:cBhvr>
                                      <p:tavLst>
                                        <p:tav tm="0">
                                          <p:val>
                                            <p:strVal val="#ppt_x"/>
                                          </p:val>
                                        </p:tav>
                                        <p:tav tm="100000">
                                          <p:val>
                                            <p:strVal val="#ppt_x"/>
                                          </p:val>
                                        </p:tav>
                                      </p:tavLst>
                                    </p:anim>
                                    <p:anim calcmode="lin" valueType="num">
                                      <p:cBhvr>
                                        <p:cTn id="9" dur="350" decel="100000" fill="hold"/>
                                        <p:tgtEl>
                                          <p:spTgt spid="16"/>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anim calcmode="lin" valueType="num">
                                      <p:cBhvr>
                                        <p:cTn id="13" dur="350" decel="100000" fill="hold"/>
                                        <p:tgtEl>
                                          <p:spTgt spid="17"/>
                                        </p:tgtEl>
                                        <p:attrNameLst>
                                          <p:attrName>ppt_x</p:attrName>
                                        </p:attrNameLst>
                                      </p:cBhvr>
                                      <p:tavLst>
                                        <p:tav tm="0">
                                          <p:val>
                                            <p:strVal val="#ppt_x"/>
                                          </p:val>
                                        </p:tav>
                                        <p:tav tm="100000">
                                          <p:val>
                                            <p:strVal val="#ppt_x"/>
                                          </p:val>
                                        </p:tav>
                                      </p:tavLst>
                                    </p:anim>
                                    <p:anim calcmode="lin" valueType="num">
                                      <p:cBhvr>
                                        <p:cTn id="14" dur="350" decel="100000" fill="hold"/>
                                        <p:tgtEl>
                                          <p:spTgt spid="17"/>
                                        </p:tgtEl>
                                        <p:attrNameLst>
                                          <p:attrName>ppt_y</p:attrName>
                                        </p:attrNameLst>
                                      </p:cBhvr>
                                      <p:tavLst>
                                        <p:tav tm="0">
                                          <p:val>
                                            <p:strVal val="#ppt_y+0.01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350"/>
                                        <p:tgtEl>
                                          <p:spTgt spid="18"/>
                                        </p:tgtEl>
                                      </p:cBhvr>
                                    </p:animEffect>
                                    <p:anim calcmode="lin" valueType="num">
                                      <p:cBhvr>
                                        <p:cTn id="18" dur="350" decel="100000" fill="hold"/>
                                        <p:tgtEl>
                                          <p:spTgt spid="18"/>
                                        </p:tgtEl>
                                        <p:attrNameLst>
                                          <p:attrName>ppt_x</p:attrName>
                                        </p:attrNameLst>
                                      </p:cBhvr>
                                      <p:tavLst>
                                        <p:tav tm="0">
                                          <p:val>
                                            <p:strVal val="#ppt_x"/>
                                          </p:val>
                                        </p:tav>
                                        <p:tav tm="100000">
                                          <p:val>
                                            <p:strVal val="#ppt_x"/>
                                          </p:val>
                                        </p:tav>
                                      </p:tavLst>
                                    </p:anim>
                                    <p:anim calcmode="lin" valueType="num">
                                      <p:cBhvr>
                                        <p:cTn id="19" dur="350" decel="100000" fill="hold"/>
                                        <p:tgtEl>
                                          <p:spTgt spid="18"/>
                                        </p:tgtEl>
                                        <p:attrNameLst>
                                          <p:attrName>ppt_y</p:attrName>
                                        </p:attrNameLst>
                                      </p:cBhvr>
                                      <p:tavLst>
                                        <p:tav tm="0">
                                          <p:val>
                                            <p:strVal val="#ppt_y+0.01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350"/>
                                        <p:tgtEl>
                                          <p:spTgt spid="19"/>
                                        </p:tgtEl>
                                      </p:cBhvr>
                                    </p:animEffect>
                                    <p:anim calcmode="lin" valueType="num">
                                      <p:cBhvr>
                                        <p:cTn id="23" dur="350" decel="100000" fill="hold"/>
                                        <p:tgtEl>
                                          <p:spTgt spid="19"/>
                                        </p:tgtEl>
                                        <p:attrNameLst>
                                          <p:attrName>ppt_x</p:attrName>
                                        </p:attrNameLst>
                                      </p:cBhvr>
                                      <p:tavLst>
                                        <p:tav tm="0">
                                          <p:val>
                                            <p:strVal val="#ppt_x"/>
                                          </p:val>
                                        </p:tav>
                                        <p:tav tm="100000">
                                          <p:val>
                                            <p:strVal val="#ppt_x"/>
                                          </p:val>
                                        </p:tav>
                                      </p:tavLst>
                                    </p:anim>
                                    <p:anim calcmode="lin" valueType="num">
                                      <p:cBhvr>
                                        <p:cTn id="24" dur="350" decel="100000" fill="hold"/>
                                        <p:tgtEl>
                                          <p:spTgt spid="19"/>
                                        </p:tgtEl>
                                        <p:attrNameLst>
                                          <p:attrName>ppt_y</p:attrName>
                                        </p:attrNameLst>
                                      </p:cBhvr>
                                      <p:tavLst>
                                        <p:tav tm="0">
                                          <p:val>
                                            <p:strVal val="#ppt_y+0.01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350"/>
                                        <p:tgtEl>
                                          <p:spTgt spid="20"/>
                                        </p:tgtEl>
                                      </p:cBhvr>
                                    </p:animEffect>
                                    <p:anim calcmode="lin" valueType="num">
                                      <p:cBhvr>
                                        <p:cTn id="28" dur="350" decel="100000" fill="hold"/>
                                        <p:tgtEl>
                                          <p:spTgt spid="20"/>
                                        </p:tgtEl>
                                        <p:attrNameLst>
                                          <p:attrName>ppt_x</p:attrName>
                                        </p:attrNameLst>
                                      </p:cBhvr>
                                      <p:tavLst>
                                        <p:tav tm="0">
                                          <p:val>
                                            <p:strVal val="#ppt_x"/>
                                          </p:val>
                                        </p:tav>
                                        <p:tav tm="100000">
                                          <p:val>
                                            <p:strVal val="#ppt_x"/>
                                          </p:val>
                                        </p:tav>
                                      </p:tavLst>
                                    </p:anim>
                                    <p:anim calcmode="lin" valueType="num">
                                      <p:cBhvr>
                                        <p:cTn id="29" dur="350" decel="100000" fill="hold"/>
                                        <p:tgtEl>
                                          <p:spTgt spid="20"/>
                                        </p:tgtEl>
                                        <p:attrNameLst>
                                          <p:attrName>ppt_y</p:attrName>
                                        </p:attrNameLst>
                                      </p:cBhvr>
                                      <p:tavLst>
                                        <p:tav tm="0">
                                          <p:val>
                                            <p:strVal val="#ppt_y+0.016"/>
                                          </p:val>
                                        </p:tav>
                                        <p:tav tm="100000">
                                          <p:val>
                                            <p:strVal val="#ppt_y"/>
                                          </p:val>
                                        </p:tav>
                                      </p:tavLst>
                                    </p:anim>
                                  </p:childTnLst>
                                </p:cTn>
                              </p:par>
                              <p:par>
                                <p:cTn id="30" presetID="42" presetClass="entr" presetSubtype="0" fill="hold" nodeType="withEffect">
                                  <p:stCondLst>
                                    <p:cond delay="8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50"/>
                                        <p:tgtEl>
                                          <p:spTgt spid="21"/>
                                        </p:tgtEl>
                                      </p:cBhvr>
                                    </p:animEffect>
                                    <p:anim calcmode="lin" valueType="num">
                                      <p:cBhvr>
                                        <p:cTn id="33" dur="350" decel="100000" fill="hold"/>
                                        <p:tgtEl>
                                          <p:spTgt spid="21"/>
                                        </p:tgtEl>
                                        <p:attrNameLst>
                                          <p:attrName>ppt_x</p:attrName>
                                        </p:attrNameLst>
                                      </p:cBhvr>
                                      <p:tavLst>
                                        <p:tav tm="0">
                                          <p:val>
                                            <p:strVal val="#ppt_x"/>
                                          </p:val>
                                        </p:tav>
                                        <p:tav tm="100000">
                                          <p:val>
                                            <p:strVal val="#ppt_x"/>
                                          </p:val>
                                        </p:tav>
                                      </p:tavLst>
                                    </p:anim>
                                    <p:anim calcmode="lin" valueType="num">
                                      <p:cBhvr>
                                        <p:cTn id="34" dur="350" decel="100000" fill="hold"/>
                                        <p:tgtEl>
                                          <p:spTgt spid="21"/>
                                        </p:tgtEl>
                                        <p:attrNameLst>
                                          <p:attrName>ppt_y</p:attrName>
                                        </p:attrNameLst>
                                      </p:cBhvr>
                                      <p:tavLst>
                                        <p:tav tm="0">
                                          <p:val>
                                            <p:strVal val="#ppt_y+0.016"/>
                                          </p:val>
                                        </p:tav>
                                        <p:tav tm="100000">
                                          <p:val>
                                            <p:strVal val="#ppt_y"/>
                                          </p:val>
                                        </p:tav>
                                      </p:tavLst>
                                    </p:anim>
                                  </p:childTnLst>
                                </p:cTn>
                              </p:par>
                              <p:par>
                                <p:cTn id="35" presetID="42" presetClass="entr" presetSubtype="0" fill="hold" grpId="0" nodeType="withEffect">
                                  <p:stCondLst>
                                    <p:cond delay="8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350"/>
                                        <p:tgtEl>
                                          <p:spTgt spid="22"/>
                                        </p:tgtEl>
                                      </p:cBhvr>
                                    </p:animEffect>
                                    <p:anim calcmode="lin" valueType="num">
                                      <p:cBhvr>
                                        <p:cTn id="38" dur="350" decel="100000" fill="hold"/>
                                        <p:tgtEl>
                                          <p:spTgt spid="22"/>
                                        </p:tgtEl>
                                        <p:attrNameLst>
                                          <p:attrName>ppt_x</p:attrName>
                                        </p:attrNameLst>
                                      </p:cBhvr>
                                      <p:tavLst>
                                        <p:tav tm="0">
                                          <p:val>
                                            <p:strVal val="#ppt_x"/>
                                          </p:val>
                                        </p:tav>
                                        <p:tav tm="100000">
                                          <p:val>
                                            <p:strVal val="#ppt_x"/>
                                          </p:val>
                                        </p:tav>
                                      </p:tavLst>
                                    </p:anim>
                                    <p:anim calcmode="lin" valueType="num">
                                      <p:cBhvr>
                                        <p:cTn id="39" dur="350" decel="100000" fill="hold"/>
                                        <p:tgtEl>
                                          <p:spTgt spid="22"/>
                                        </p:tgtEl>
                                        <p:attrNameLst>
                                          <p:attrName>ppt_y</p:attrName>
                                        </p:attrNameLst>
                                      </p:cBhvr>
                                      <p:tavLst>
                                        <p:tav tm="0">
                                          <p:val>
                                            <p:strVal val="#ppt_y+0.016"/>
                                          </p:val>
                                        </p:tav>
                                        <p:tav tm="100000">
                                          <p:val>
                                            <p:strVal val="#ppt_y"/>
                                          </p:val>
                                        </p:tav>
                                      </p:tavLst>
                                    </p:anim>
                                  </p:childTnLst>
                                </p:cTn>
                              </p:par>
                              <p:par>
                                <p:cTn id="40" presetID="42" presetClass="entr" presetSubtype="0" fill="hold" grpId="0" nodeType="withEffect">
                                  <p:stCondLst>
                                    <p:cond delay="8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350"/>
                                        <p:tgtEl>
                                          <p:spTgt spid="23"/>
                                        </p:tgtEl>
                                      </p:cBhvr>
                                    </p:animEffect>
                                    <p:anim calcmode="lin" valueType="num">
                                      <p:cBhvr>
                                        <p:cTn id="43" dur="350" decel="100000" fill="hold"/>
                                        <p:tgtEl>
                                          <p:spTgt spid="23"/>
                                        </p:tgtEl>
                                        <p:attrNameLst>
                                          <p:attrName>ppt_x</p:attrName>
                                        </p:attrNameLst>
                                      </p:cBhvr>
                                      <p:tavLst>
                                        <p:tav tm="0">
                                          <p:val>
                                            <p:strVal val="#ppt_x"/>
                                          </p:val>
                                        </p:tav>
                                        <p:tav tm="100000">
                                          <p:val>
                                            <p:strVal val="#ppt_x"/>
                                          </p:val>
                                        </p:tav>
                                      </p:tavLst>
                                    </p:anim>
                                    <p:anim calcmode="lin" valueType="num">
                                      <p:cBhvr>
                                        <p:cTn id="44" dur="350" decel="100000" fill="hold"/>
                                        <p:tgtEl>
                                          <p:spTgt spid="23"/>
                                        </p:tgtEl>
                                        <p:attrNameLst>
                                          <p:attrName>ppt_y</p:attrName>
                                        </p:attrNameLst>
                                      </p:cBhvr>
                                      <p:tavLst>
                                        <p:tav tm="0">
                                          <p:val>
                                            <p:strVal val="#ppt_y+0.016"/>
                                          </p:val>
                                        </p:tav>
                                        <p:tav tm="100000">
                                          <p:val>
                                            <p:strVal val="#ppt_y"/>
                                          </p:val>
                                        </p:tav>
                                      </p:tavLst>
                                    </p:anim>
                                  </p:childTnLst>
                                </p:cTn>
                              </p:par>
                              <p:par>
                                <p:cTn id="45" presetID="42" presetClass="entr" presetSubtype="0" fill="hold" grpId="0" nodeType="withEffect">
                                  <p:stCondLst>
                                    <p:cond delay="8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350"/>
                                        <p:tgtEl>
                                          <p:spTgt spid="24"/>
                                        </p:tgtEl>
                                      </p:cBhvr>
                                    </p:animEffect>
                                    <p:anim calcmode="lin" valueType="num">
                                      <p:cBhvr>
                                        <p:cTn id="48" dur="350" decel="100000" fill="hold"/>
                                        <p:tgtEl>
                                          <p:spTgt spid="24"/>
                                        </p:tgtEl>
                                        <p:attrNameLst>
                                          <p:attrName>ppt_x</p:attrName>
                                        </p:attrNameLst>
                                      </p:cBhvr>
                                      <p:tavLst>
                                        <p:tav tm="0">
                                          <p:val>
                                            <p:strVal val="#ppt_x"/>
                                          </p:val>
                                        </p:tav>
                                        <p:tav tm="100000">
                                          <p:val>
                                            <p:strVal val="#ppt_x"/>
                                          </p:val>
                                        </p:tav>
                                      </p:tavLst>
                                    </p:anim>
                                    <p:anim calcmode="lin" valueType="num">
                                      <p:cBhvr>
                                        <p:cTn id="49" dur="350" decel="100000" fill="hold"/>
                                        <p:tgtEl>
                                          <p:spTgt spid="24"/>
                                        </p:tgtEl>
                                        <p:attrNameLst>
                                          <p:attrName>ppt_y</p:attrName>
                                        </p:attrNameLst>
                                      </p:cBhvr>
                                      <p:tavLst>
                                        <p:tav tm="0">
                                          <p:val>
                                            <p:strVal val="#ppt_y+0.016"/>
                                          </p:val>
                                        </p:tav>
                                        <p:tav tm="100000">
                                          <p:val>
                                            <p:strVal val="#ppt_y"/>
                                          </p:val>
                                        </p:tav>
                                      </p:tavLst>
                                    </p:anim>
                                  </p:childTnLst>
                                </p:cTn>
                              </p:par>
                              <p:par>
                                <p:cTn id="50" presetID="42" presetClass="entr" presetSubtype="0" fill="hold" grpId="0" nodeType="withEffect">
                                  <p:stCondLst>
                                    <p:cond delay="8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350"/>
                                        <p:tgtEl>
                                          <p:spTgt spid="25"/>
                                        </p:tgtEl>
                                      </p:cBhvr>
                                    </p:animEffect>
                                    <p:anim calcmode="lin" valueType="num">
                                      <p:cBhvr>
                                        <p:cTn id="53" dur="350" decel="100000" fill="hold"/>
                                        <p:tgtEl>
                                          <p:spTgt spid="25"/>
                                        </p:tgtEl>
                                        <p:attrNameLst>
                                          <p:attrName>ppt_x</p:attrName>
                                        </p:attrNameLst>
                                      </p:cBhvr>
                                      <p:tavLst>
                                        <p:tav tm="0">
                                          <p:val>
                                            <p:strVal val="#ppt_x"/>
                                          </p:val>
                                        </p:tav>
                                        <p:tav tm="100000">
                                          <p:val>
                                            <p:strVal val="#ppt_x"/>
                                          </p:val>
                                        </p:tav>
                                      </p:tavLst>
                                    </p:anim>
                                    <p:anim calcmode="lin" valueType="num">
                                      <p:cBhvr>
                                        <p:cTn id="54" dur="350" decel="100000" fill="hold"/>
                                        <p:tgtEl>
                                          <p:spTgt spid="25"/>
                                        </p:tgtEl>
                                        <p:attrNameLst>
                                          <p:attrName>ppt_y</p:attrName>
                                        </p:attrNameLst>
                                      </p:cBhvr>
                                      <p:tavLst>
                                        <p:tav tm="0">
                                          <p:val>
                                            <p:strVal val="#ppt_y+0.016"/>
                                          </p:val>
                                        </p:tav>
                                        <p:tav tm="100000">
                                          <p:val>
                                            <p:strVal val="#ppt_y"/>
                                          </p:val>
                                        </p:tav>
                                      </p:tavLst>
                                    </p:anim>
                                  </p:childTnLst>
                                </p:cTn>
                              </p:par>
                              <p:par>
                                <p:cTn id="55" presetID="42" presetClass="entr" presetSubtype="0" fill="hold" nodeType="withEffect">
                                  <p:stCondLst>
                                    <p:cond delay="16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350"/>
                                        <p:tgtEl>
                                          <p:spTgt spid="26"/>
                                        </p:tgtEl>
                                      </p:cBhvr>
                                    </p:animEffect>
                                    <p:anim calcmode="lin" valueType="num">
                                      <p:cBhvr>
                                        <p:cTn id="58" dur="350" decel="100000" fill="hold"/>
                                        <p:tgtEl>
                                          <p:spTgt spid="26"/>
                                        </p:tgtEl>
                                        <p:attrNameLst>
                                          <p:attrName>ppt_x</p:attrName>
                                        </p:attrNameLst>
                                      </p:cBhvr>
                                      <p:tavLst>
                                        <p:tav tm="0">
                                          <p:val>
                                            <p:strVal val="#ppt_x"/>
                                          </p:val>
                                        </p:tav>
                                        <p:tav tm="100000">
                                          <p:val>
                                            <p:strVal val="#ppt_x"/>
                                          </p:val>
                                        </p:tav>
                                      </p:tavLst>
                                    </p:anim>
                                    <p:anim calcmode="lin" valueType="num">
                                      <p:cBhvr>
                                        <p:cTn id="59" dur="350" decel="100000" fill="hold"/>
                                        <p:tgtEl>
                                          <p:spTgt spid="26"/>
                                        </p:tgtEl>
                                        <p:attrNameLst>
                                          <p:attrName>ppt_y</p:attrName>
                                        </p:attrNameLst>
                                      </p:cBhvr>
                                      <p:tavLst>
                                        <p:tav tm="0">
                                          <p:val>
                                            <p:strVal val="#ppt_y+0.016"/>
                                          </p:val>
                                        </p:tav>
                                        <p:tav tm="100000">
                                          <p:val>
                                            <p:strVal val="#ppt_y"/>
                                          </p:val>
                                        </p:tav>
                                      </p:tavLst>
                                    </p:anim>
                                  </p:childTnLst>
                                </p:cTn>
                              </p:par>
                              <p:par>
                                <p:cTn id="60" presetID="42" presetClass="entr" presetSubtype="0" fill="hold" grpId="0" nodeType="withEffect">
                                  <p:stCondLst>
                                    <p:cond delay="16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350"/>
                                        <p:tgtEl>
                                          <p:spTgt spid="27"/>
                                        </p:tgtEl>
                                      </p:cBhvr>
                                    </p:animEffect>
                                    <p:anim calcmode="lin" valueType="num">
                                      <p:cBhvr>
                                        <p:cTn id="63" dur="350" decel="100000" fill="hold"/>
                                        <p:tgtEl>
                                          <p:spTgt spid="27"/>
                                        </p:tgtEl>
                                        <p:attrNameLst>
                                          <p:attrName>ppt_x</p:attrName>
                                        </p:attrNameLst>
                                      </p:cBhvr>
                                      <p:tavLst>
                                        <p:tav tm="0">
                                          <p:val>
                                            <p:strVal val="#ppt_x"/>
                                          </p:val>
                                        </p:tav>
                                        <p:tav tm="100000">
                                          <p:val>
                                            <p:strVal val="#ppt_x"/>
                                          </p:val>
                                        </p:tav>
                                      </p:tavLst>
                                    </p:anim>
                                    <p:anim calcmode="lin" valueType="num">
                                      <p:cBhvr>
                                        <p:cTn id="64" dur="350" decel="100000" fill="hold"/>
                                        <p:tgtEl>
                                          <p:spTgt spid="27"/>
                                        </p:tgtEl>
                                        <p:attrNameLst>
                                          <p:attrName>ppt_y</p:attrName>
                                        </p:attrNameLst>
                                      </p:cBhvr>
                                      <p:tavLst>
                                        <p:tav tm="0">
                                          <p:val>
                                            <p:strVal val="#ppt_y+0.016"/>
                                          </p:val>
                                        </p:tav>
                                        <p:tav tm="100000">
                                          <p:val>
                                            <p:strVal val="#ppt_y"/>
                                          </p:val>
                                        </p:tav>
                                      </p:tavLst>
                                    </p:anim>
                                  </p:childTnLst>
                                </p:cTn>
                              </p:par>
                              <p:par>
                                <p:cTn id="65" presetID="42" presetClass="entr" presetSubtype="0" fill="hold" grpId="0" nodeType="withEffect">
                                  <p:stCondLst>
                                    <p:cond delay="16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350"/>
                                        <p:tgtEl>
                                          <p:spTgt spid="28"/>
                                        </p:tgtEl>
                                      </p:cBhvr>
                                    </p:animEffect>
                                    <p:anim calcmode="lin" valueType="num">
                                      <p:cBhvr>
                                        <p:cTn id="68" dur="350" decel="100000" fill="hold"/>
                                        <p:tgtEl>
                                          <p:spTgt spid="28"/>
                                        </p:tgtEl>
                                        <p:attrNameLst>
                                          <p:attrName>ppt_x</p:attrName>
                                        </p:attrNameLst>
                                      </p:cBhvr>
                                      <p:tavLst>
                                        <p:tav tm="0">
                                          <p:val>
                                            <p:strVal val="#ppt_x"/>
                                          </p:val>
                                        </p:tav>
                                        <p:tav tm="100000">
                                          <p:val>
                                            <p:strVal val="#ppt_x"/>
                                          </p:val>
                                        </p:tav>
                                      </p:tavLst>
                                    </p:anim>
                                    <p:anim calcmode="lin" valueType="num">
                                      <p:cBhvr>
                                        <p:cTn id="69" dur="350" decel="100000" fill="hold"/>
                                        <p:tgtEl>
                                          <p:spTgt spid="28"/>
                                        </p:tgtEl>
                                        <p:attrNameLst>
                                          <p:attrName>ppt_y</p:attrName>
                                        </p:attrNameLst>
                                      </p:cBhvr>
                                      <p:tavLst>
                                        <p:tav tm="0">
                                          <p:val>
                                            <p:strVal val="#ppt_y+0.016"/>
                                          </p:val>
                                        </p:tav>
                                        <p:tav tm="100000">
                                          <p:val>
                                            <p:strVal val="#ppt_y"/>
                                          </p:val>
                                        </p:tav>
                                      </p:tavLst>
                                    </p:anim>
                                  </p:childTnLst>
                                </p:cTn>
                              </p:par>
                              <p:par>
                                <p:cTn id="70" presetID="42" presetClass="entr" presetSubtype="0" fill="hold" grpId="0" nodeType="withEffect">
                                  <p:stCondLst>
                                    <p:cond delay="16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350"/>
                                        <p:tgtEl>
                                          <p:spTgt spid="29"/>
                                        </p:tgtEl>
                                      </p:cBhvr>
                                    </p:animEffect>
                                    <p:anim calcmode="lin" valueType="num">
                                      <p:cBhvr>
                                        <p:cTn id="73" dur="350" decel="100000" fill="hold"/>
                                        <p:tgtEl>
                                          <p:spTgt spid="29"/>
                                        </p:tgtEl>
                                        <p:attrNameLst>
                                          <p:attrName>ppt_x</p:attrName>
                                        </p:attrNameLst>
                                      </p:cBhvr>
                                      <p:tavLst>
                                        <p:tav tm="0">
                                          <p:val>
                                            <p:strVal val="#ppt_x"/>
                                          </p:val>
                                        </p:tav>
                                        <p:tav tm="100000">
                                          <p:val>
                                            <p:strVal val="#ppt_x"/>
                                          </p:val>
                                        </p:tav>
                                      </p:tavLst>
                                    </p:anim>
                                    <p:anim calcmode="lin" valueType="num">
                                      <p:cBhvr>
                                        <p:cTn id="74" dur="350" decel="100000" fill="hold"/>
                                        <p:tgtEl>
                                          <p:spTgt spid="29"/>
                                        </p:tgtEl>
                                        <p:attrNameLst>
                                          <p:attrName>ppt_y</p:attrName>
                                        </p:attrNameLst>
                                      </p:cBhvr>
                                      <p:tavLst>
                                        <p:tav tm="0">
                                          <p:val>
                                            <p:strVal val="#ppt_y+0.016"/>
                                          </p:val>
                                        </p:tav>
                                        <p:tav tm="100000">
                                          <p:val>
                                            <p:strVal val="#ppt_y"/>
                                          </p:val>
                                        </p:tav>
                                      </p:tavLst>
                                    </p:anim>
                                  </p:childTnLst>
                                </p:cTn>
                              </p:par>
                              <p:par>
                                <p:cTn id="75" presetID="42" presetClass="entr" presetSubtype="0" fill="hold" grpId="0" nodeType="withEffect">
                                  <p:stCondLst>
                                    <p:cond delay="16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350"/>
                                        <p:tgtEl>
                                          <p:spTgt spid="30"/>
                                        </p:tgtEl>
                                      </p:cBhvr>
                                    </p:animEffect>
                                    <p:anim calcmode="lin" valueType="num">
                                      <p:cBhvr>
                                        <p:cTn id="78" dur="350" decel="100000" fill="hold"/>
                                        <p:tgtEl>
                                          <p:spTgt spid="30"/>
                                        </p:tgtEl>
                                        <p:attrNameLst>
                                          <p:attrName>ppt_x</p:attrName>
                                        </p:attrNameLst>
                                      </p:cBhvr>
                                      <p:tavLst>
                                        <p:tav tm="0">
                                          <p:val>
                                            <p:strVal val="#ppt_x"/>
                                          </p:val>
                                        </p:tav>
                                        <p:tav tm="100000">
                                          <p:val>
                                            <p:strVal val="#ppt_x"/>
                                          </p:val>
                                        </p:tav>
                                      </p:tavLst>
                                    </p:anim>
                                    <p:anim calcmode="lin" valueType="num">
                                      <p:cBhvr>
                                        <p:cTn id="79" dur="350" decel="100000" fill="hold"/>
                                        <p:tgtEl>
                                          <p:spTgt spid="30"/>
                                        </p:tgtEl>
                                        <p:attrNameLst>
                                          <p:attrName>ppt_y</p:attrName>
                                        </p:attrNameLst>
                                      </p:cBhvr>
                                      <p:tavLst>
                                        <p:tav tm="0">
                                          <p:val>
                                            <p:strVal val="#ppt_y+0.016"/>
                                          </p:val>
                                        </p:tav>
                                        <p:tav tm="100000">
                                          <p:val>
                                            <p:strVal val="#ppt_y"/>
                                          </p:val>
                                        </p:tav>
                                      </p:tavLst>
                                    </p:anim>
                                  </p:childTnLst>
                                </p:cTn>
                              </p:par>
                              <p:par>
                                <p:cTn id="80" presetID="42" presetClass="entr" presetSubtype="0" fill="hold" nodeType="withEffect">
                                  <p:stCondLst>
                                    <p:cond delay="24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350"/>
                                        <p:tgtEl>
                                          <p:spTgt spid="31"/>
                                        </p:tgtEl>
                                      </p:cBhvr>
                                    </p:animEffect>
                                    <p:anim calcmode="lin" valueType="num">
                                      <p:cBhvr>
                                        <p:cTn id="83" dur="350" decel="100000" fill="hold"/>
                                        <p:tgtEl>
                                          <p:spTgt spid="31"/>
                                        </p:tgtEl>
                                        <p:attrNameLst>
                                          <p:attrName>ppt_x</p:attrName>
                                        </p:attrNameLst>
                                      </p:cBhvr>
                                      <p:tavLst>
                                        <p:tav tm="0">
                                          <p:val>
                                            <p:strVal val="#ppt_x"/>
                                          </p:val>
                                        </p:tav>
                                        <p:tav tm="100000">
                                          <p:val>
                                            <p:strVal val="#ppt_x"/>
                                          </p:val>
                                        </p:tav>
                                      </p:tavLst>
                                    </p:anim>
                                    <p:anim calcmode="lin" valueType="num">
                                      <p:cBhvr>
                                        <p:cTn id="84" dur="350" decel="100000" fill="hold"/>
                                        <p:tgtEl>
                                          <p:spTgt spid="31"/>
                                        </p:tgtEl>
                                        <p:attrNameLst>
                                          <p:attrName>ppt_y</p:attrName>
                                        </p:attrNameLst>
                                      </p:cBhvr>
                                      <p:tavLst>
                                        <p:tav tm="0">
                                          <p:val>
                                            <p:strVal val="#ppt_y+0.016"/>
                                          </p:val>
                                        </p:tav>
                                        <p:tav tm="100000">
                                          <p:val>
                                            <p:strVal val="#ppt_y"/>
                                          </p:val>
                                        </p:tav>
                                      </p:tavLst>
                                    </p:anim>
                                  </p:childTnLst>
                                </p:cTn>
                              </p:par>
                              <p:par>
                                <p:cTn id="85" presetID="42" presetClass="entr" presetSubtype="0" fill="hold" grpId="0" nodeType="withEffect">
                                  <p:stCondLst>
                                    <p:cond delay="24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350"/>
                                        <p:tgtEl>
                                          <p:spTgt spid="32"/>
                                        </p:tgtEl>
                                      </p:cBhvr>
                                    </p:animEffect>
                                    <p:anim calcmode="lin" valueType="num">
                                      <p:cBhvr>
                                        <p:cTn id="88" dur="350" decel="100000" fill="hold"/>
                                        <p:tgtEl>
                                          <p:spTgt spid="32"/>
                                        </p:tgtEl>
                                        <p:attrNameLst>
                                          <p:attrName>ppt_x</p:attrName>
                                        </p:attrNameLst>
                                      </p:cBhvr>
                                      <p:tavLst>
                                        <p:tav tm="0">
                                          <p:val>
                                            <p:strVal val="#ppt_x"/>
                                          </p:val>
                                        </p:tav>
                                        <p:tav tm="100000">
                                          <p:val>
                                            <p:strVal val="#ppt_x"/>
                                          </p:val>
                                        </p:tav>
                                      </p:tavLst>
                                    </p:anim>
                                    <p:anim calcmode="lin" valueType="num">
                                      <p:cBhvr>
                                        <p:cTn id="89" dur="350" decel="100000" fill="hold"/>
                                        <p:tgtEl>
                                          <p:spTgt spid="32"/>
                                        </p:tgtEl>
                                        <p:attrNameLst>
                                          <p:attrName>ppt_y</p:attrName>
                                        </p:attrNameLst>
                                      </p:cBhvr>
                                      <p:tavLst>
                                        <p:tav tm="0">
                                          <p:val>
                                            <p:strVal val="#ppt_y+0.016"/>
                                          </p:val>
                                        </p:tav>
                                        <p:tav tm="100000">
                                          <p:val>
                                            <p:strVal val="#ppt_y"/>
                                          </p:val>
                                        </p:tav>
                                      </p:tavLst>
                                    </p:anim>
                                  </p:childTnLst>
                                </p:cTn>
                              </p:par>
                              <p:par>
                                <p:cTn id="90" presetID="42" presetClass="entr" presetSubtype="0" fill="hold" grpId="0" nodeType="withEffect">
                                  <p:stCondLst>
                                    <p:cond delay="24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350"/>
                                        <p:tgtEl>
                                          <p:spTgt spid="33"/>
                                        </p:tgtEl>
                                      </p:cBhvr>
                                    </p:animEffect>
                                    <p:anim calcmode="lin" valueType="num">
                                      <p:cBhvr>
                                        <p:cTn id="93" dur="350" decel="100000" fill="hold"/>
                                        <p:tgtEl>
                                          <p:spTgt spid="33"/>
                                        </p:tgtEl>
                                        <p:attrNameLst>
                                          <p:attrName>ppt_x</p:attrName>
                                        </p:attrNameLst>
                                      </p:cBhvr>
                                      <p:tavLst>
                                        <p:tav tm="0">
                                          <p:val>
                                            <p:strVal val="#ppt_x"/>
                                          </p:val>
                                        </p:tav>
                                        <p:tav tm="100000">
                                          <p:val>
                                            <p:strVal val="#ppt_x"/>
                                          </p:val>
                                        </p:tav>
                                      </p:tavLst>
                                    </p:anim>
                                    <p:anim calcmode="lin" valueType="num">
                                      <p:cBhvr>
                                        <p:cTn id="94" dur="350" decel="100000" fill="hold"/>
                                        <p:tgtEl>
                                          <p:spTgt spid="33"/>
                                        </p:tgtEl>
                                        <p:attrNameLst>
                                          <p:attrName>ppt_y</p:attrName>
                                        </p:attrNameLst>
                                      </p:cBhvr>
                                      <p:tavLst>
                                        <p:tav tm="0">
                                          <p:val>
                                            <p:strVal val="#ppt_y+0.016"/>
                                          </p:val>
                                        </p:tav>
                                        <p:tav tm="100000">
                                          <p:val>
                                            <p:strVal val="#ppt_y"/>
                                          </p:val>
                                        </p:tav>
                                      </p:tavLst>
                                    </p:anim>
                                  </p:childTnLst>
                                </p:cTn>
                              </p:par>
                              <p:par>
                                <p:cTn id="95" presetID="42" presetClass="entr" presetSubtype="0" fill="hold" grpId="0" nodeType="withEffect">
                                  <p:stCondLst>
                                    <p:cond delay="24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350"/>
                                        <p:tgtEl>
                                          <p:spTgt spid="34"/>
                                        </p:tgtEl>
                                      </p:cBhvr>
                                    </p:animEffect>
                                    <p:anim calcmode="lin" valueType="num">
                                      <p:cBhvr>
                                        <p:cTn id="98" dur="350" decel="100000" fill="hold"/>
                                        <p:tgtEl>
                                          <p:spTgt spid="34"/>
                                        </p:tgtEl>
                                        <p:attrNameLst>
                                          <p:attrName>ppt_x</p:attrName>
                                        </p:attrNameLst>
                                      </p:cBhvr>
                                      <p:tavLst>
                                        <p:tav tm="0">
                                          <p:val>
                                            <p:strVal val="#ppt_x"/>
                                          </p:val>
                                        </p:tav>
                                        <p:tav tm="100000">
                                          <p:val>
                                            <p:strVal val="#ppt_x"/>
                                          </p:val>
                                        </p:tav>
                                      </p:tavLst>
                                    </p:anim>
                                    <p:anim calcmode="lin" valueType="num">
                                      <p:cBhvr>
                                        <p:cTn id="99" dur="350" decel="100000" fill="hold"/>
                                        <p:tgtEl>
                                          <p:spTgt spid="34"/>
                                        </p:tgtEl>
                                        <p:attrNameLst>
                                          <p:attrName>ppt_y</p:attrName>
                                        </p:attrNameLst>
                                      </p:cBhvr>
                                      <p:tavLst>
                                        <p:tav tm="0">
                                          <p:val>
                                            <p:strVal val="#ppt_y+0.016"/>
                                          </p:val>
                                        </p:tav>
                                        <p:tav tm="100000">
                                          <p:val>
                                            <p:strVal val="#ppt_y"/>
                                          </p:val>
                                        </p:tav>
                                      </p:tavLst>
                                    </p:anim>
                                  </p:childTnLst>
                                </p:cTn>
                              </p:par>
                              <p:par>
                                <p:cTn id="100" presetID="42" presetClass="entr" presetSubtype="0" fill="hold" grpId="0" nodeType="withEffect">
                                  <p:stCondLst>
                                    <p:cond delay="24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350"/>
                                        <p:tgtEl>
                                          <p:spTgt spid="35"/>
                                        </p:tgtEl>
                                      </p:cBhvr>
                                    </p:animEffect>
                                    <p:anim calcmode="lin" valueType="num">
                                      <p:cBhvr>
                                        <p:cTn id="103" dur="350" decel="100000" fill="hold"/>
                                        <p:tgtEl>
                                          <p:spTgt spid="35"/>
                                        </p:tgtEl>
                                        <p:attrNameLst>
                                          <p:attrName>ppt_x</p:attrName>
                                        </p:attrNameLst>
                                      </p:cBhvr>
                                      <p:tavLst>
                                        <p:tav tm="0">
                                          <p:val>
                                            <p:strVal val="#ppt_x"/>
                                          </p:val>
                                        </p:tav>
                                        <p:tav tm="100000">
                                          <p:val>
                                            <p:strVal val="#ppt_x"/>
                                          </p:val>
                                        </p:tav>
                                      </p:tavLst>
                                    </p:anim>
                                    <p:anim calcmode="lin" valueType="num">
                                      <p:cBhvr>
                                        <p:cTn id="104" dur="350" decel="100000" fill="hold"/>
                                        <p:tgtEl>
                                          <p:spTgt spid="35"/>
                                        </p:tgtEl>
                                        <p:attrNameLst>
                                          <p:attrName>ppt_y</p:attrName>
                                        </p:attrNameLst>
                                      </p:cBhvr>
                                      <p:tavLst>
                                        <p:tav tm="0">
                                          <p:val>
                                            <p:strVal val="#ppt_y+0.016"/>
                                          </p:val>
                                        </p:tav>
                                        <p:tav tm="100000">
                                          <p:val>
                                            <p:strVal val="#ppt_y"/>
                                          </p:val>
                                        </p:tav>
                                      </p:tavLst>
                                    </p:anim>
                                  </p:childTnLst>
                                </p:cTn>
                              </p:par>
                              <p:par>
                                <p:cTn id="105" presetID="42" presetClass="entr" presetSubtype="0" fill="hold" nodeType="withEffect">
                                  <p:stCondLst>
                                    <p:cond delay="32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350"/>
                                        <p:tgtEl>
                                          <p:spTgt spid="36"/>
                                        </p:tgtEl>
                                      </p:cBhvr>
                                    </p:animEffect>
                                    <p:anim calcmode="lin" valueType="num">
                                      <p:cBhvr>
                                        <p:cTn id="108" dur="350" decel="100000" fill="hold"/>
                                        <p:tgtEl>
                                          <p:spTgt spid="36"/>
                                        </p:tgtEl>
                                        <p:attrNameLst>
                                          <p:attrName>ppt_x</p:attrName>
                                        </p:attrNameLst>
                                      </p:cBhvr>
                                      <p:tavLst>
                                        <p:tav tm="0">
                                          <p:val>
                                            <p:strVal val="#ppt_x"/>
                                          </p:val>
                                        </p:tav>
                                        <p:tav tm="100000">
                                          <p:val>
                                            <p:strVal val="#ppt_x"/>
                                          </p:val>
                                        </p:tav>
                                      </p:tavLst>
                                    </p:anim>
                                    <p:anim calcmode="lin" valueType="num">
                                      <p:cBhvr>
                                        <p:cTn id="109" dur="350" decel="100000" fill="hold"/>
                                        <p:tgtEl>
                                          <p:spTgt spid="36"/>
                                        </p:tgtEl>
                                        <p:attrNameLst>
                                          <p:attrName>ppt_y</p:attrName>
                                        </p:attrNameLst>
                                      </p:cBhvr>
                                      <p:tavLst>
                                        <p:tav tm="0">
                                          <p:val>
                                            <p:strVal val="#ppt_y+0.016"/>
                                          </p:val>
                                        </p:tav>
                                        <p:tav tm="100000">
                                          <p:val>
                                            <p:strVal val="#ppt_y"/>
                                          </p:val>
                                        </p:tav>
                                      </p:tavLst>
                                    </p:anim>
                                  </p:childTnLst>
                                </p:cTn>
                              </p:par>
                              <p:par>
                                <p:cTn id="110" presetID="42" presetClass="entr" presetSubtype="0" fill="hold" grpId="0" nodeType="withEffect">
                                  <p:stCondLst>
                                    <p:cond delay="32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350"/>
                                        <p:tgtEl>
                                          <p:spTgt spid="37"/>
                                        </p:tgtEl>
                                      </p:cBhvr>
                                    </p:animEffect>
                                    <p:anim calcmode="lin" valueType="num">
                                      <p:cBhvr>
                                        <p:cTn id="113" dur="350" decel="100000" fill="hold"/>
                                        <p:tgtEl>
                                          <p:spTgt spid="37"/>
                                        </p:tgtEl>
                                        <p:attrNameLst>
                                          <p:attrName>ppt_x</p:attrName>
                                        </p:attrNameLst>
                                      </p:cBhvr>
                                      <p:tavLst>
                                        <p:tav tm="0">
                                          <p:val>
                                            <p:strVal val="#ppt_x"/>
                                          </p:val>
                                        </p:tav>
                                        <p:tav tm="100000">
                                          <p:val>
                                            <p:strVal val="#ppt_x"/>
                                          </p:val>
                                        </p:tav>
                                      </p:tavLst>
                                    </p:anim>
                                    <p:anim calcmode="lin" valueType="num">
                                      <p:cBhvr>
                                        <p:cTn id="114" dur="350" decel="100000" fill="hold"/>
                                        <p:tgtEl>
                                          <p:spTgt spid="37"/>
                                        </p:tgtEl>
                                        <p:attrNameLst>
                                          <p:attrName>ppt_y</p:attrName>
                                        </p:attrNameLst>
                                      </p:cBhvr>
                                      <p:tavLst>
                                        <p:tav tm="0">
                                          <p:val>
                                            <p:strVal val="#ppt_y+0.016"/>
                                          </p:val>
                                        </p:tav>
                                        <p:tav tm="100000">
                                          <p:val>
                                            <p:strVal val="#ppt_y"/>
                                          </p:val>
                                        </p:tav>
                                      </p:tavLst>
                                    </p:anim>
                                  </p:childTnLst>
                                </p:cTn>
                              </p:par>
                              <p:par>
                                <p:cTn id="115" presetID="42" presetClass="entr" presetSubtype="0" fill="hold" grpId="0" nodeType="withEffect">
                                  <p:stCondLst>
                                    <p:cond delay="32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350"/>
                                        <p:tgtEl>
                                          <p:spTgt spid="38"/>
                                        </p:tgtEl>
                                      </p:cBhvr>
                                    </p:animEffect>
                                    <p:anim calcmode="lin" valueType="num">
                                      <p:cBhvr>
                                        <p:cTn id="118" dur="350" decel="100000" fill="hold"/>
                                        <p:tgtEl>
                                          <p:spTgt spid="38"/>
                                        </p:tgtEl>
                                        <p:attrNameLst>
                                          <p:attrName>ppt_x</p:attrName>
                                        </p:attrNameLst>
                                      </p:cBhvr>
                                      <p:tavLst>
                                        <p:tav tm="0">
                                          <p:val>
                                            <p:strVal val="#ppt_x"/>
                                          </p:val>
                                        </p:tav>
                                        <p:tav tm="100000">
                                          <p:val>
                                            <p:strVal val="#ppt_x"/>
                                          </p:val>
                                        </p:tav>
                                      </p:tavLst>
                                    </p:anim>
                                    <p:anim calcmode="lin" valueType="num">
                                      <p:cBhvr>
                                        <p:cTn id="119" dur="350" decel="100000" fill="hold"/>
                                        <p:tgtEl>
                                          <p:spTgt spid="38"/>
                                        </p:tgtEl>
                                        <p:attrNameLst>
                                          <p:attrName>ppt_y</p:attrName>
                                        </p:attrNameLst>
                                      </p:cBhvr>
                                      <p:tavLst>
                                        <p:tav tm="0">
                                          <p:val>
                                            <p:strVal val="#ppt_y+0.016"/>
                                          </p:val>
                                        </p:tav>
                                        <p:tav tm="100000">
                                          <p:val>
                                            <p:strVal val="#ppt_y"/>
                                          </p:val>
                                        </p:tav>
                                      </p:tavLst>
                                    </p:anim>
                                  </p:childTnLst>
                                </p:cTn>
                              </p:par>
                              <p:par>
                                <p:cTn id="120" presetID="42" presetClass="entr" presetSubtype="0" fill="hold" grpId="0" nodeType="withEffect">
                                  <p:stCondLst>
                                    <p:cond delay="32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350"/>
                                        <p:tgtEl>
                                          <p:spTgt spid="39"/>
                                        </p:tgtEl>
                                      </p:cBhvr>
                                    </p:animEffect>
                                    <p:anim calcmode="lin" valueType="num">
                                      <p:cBhvr>
                                        <p:cTn id="123" dur="350" decel="100000" fill="hold"/>
                                        <p:tgtEl>
                                          <p:spTgt spid="39"/>
                                        </p:tgtEl>
                                        <p:attrNameLst>
                                          <p:attrName>ppt_x</p:attrName>
                                        </p:attrNameLst>
                                      </p:cBhvr>
                                      <p:tavLst>
                                        <p:tav tm="0">
                                          <p:val>
                                            <p:strVal val="#ppt_x"/>
                                          </p:val>
                                        </p:tav>
                                        <p:tav tm="100000">
                                          <p:val>
                                            <p:strVal val="#ppt_x"/>
                                          </p:val>
                                        </p:tav>
                                      </p:tavLst>
                                    </p:anim>
                                    <p:anim calcmode="lin" valueType="num">
                                      <p:cBhvr>
                                        <p:cTn id="124" dur="350" decel="100000" fill="hold"/>
                                        <p:tgtEl>
                                          <p:spTgt spid="39"/>
                                        </p:tgtEl>
                                        <p:attrNameLst>
                                          <p:attrName>ppt_y</p:attrName>
                                        </p:attrNameLst>
                                      </p:cBhvr>
                                      <p:tavLst>
                                        <p:tav tm="0">
                                          <p:val>
                                            <p:strVal val="#ppt_y+0.016"/>
                                          </p:val>
                                        </p:tav>
                                        <p:tav tm="100000">
                                          <p:val>
                                            <p:strVal val="#ppt_y"/>
                                          </p:val>
                                        </p:tav>
                                      </p:tavLst>
                                    </p:anim>
                                  </p:childTnLst>
                                </p:cTn>
                              </p:par>
                              <p:par>
                                <p:cTn id="125" presetID="42" presetClass="entr" presetSubtype="0" fill="hold" grpId="0" nodeType="withEffect">
                                  <p:stCondLst>
                                    <p:cond delay="32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350"/>
                                        <p:tgtEl>
                                          <p:spTgt spid="40"/>
                                        </p:tgtEl>
                                      </p:cBhvr>
                                    </p:animEffect>
                                    <p:anim calcmode="lin" valueType="num">
                                      <p:cBhvr>
                                        <p:cTn id="128" dur="350" decel="100000" fill="hold"/>
                                        <p:tgtEl>
                                          <p:spTgt spid="40"/>
                                        </p:tgtEl>
                                        <p:attrNameLst>
                                          <p:attrName>ppt_x</p:attrName>
                                        </p:attrNameLst>
                                      </p:cBhvr>
                                      <p:tavLst>
                                        <p:tav tm="0">
                                          <p:val>
                                            <p:strVal val="#ppt_x"/>
                                          </p:val>
                                        </p:tav>
                                        <p:tav tm="100000">
                                          <p:val>
                                            <p:strVal val="#ppt_x"/>
                                          </p:val>
                                        </p:tav>
                                      </p:tavLst>
                                    </p:anim>
                                    <p:anim calcmode="lin" valueType="num">
                                      <p:cBhvr>
                                        <p:cTn id="129" dur="350" decel="100000" fill="hold"/>
                                        <p:tgtEl>
                                          <p:spTgt spid="40"/>
                                        </p:tgtEl>
                                        <p:attrNameLst>
                                          <p:attrName>ppt_y</p:attrName>
                                        </p:attrNameLst>
                                      </p:cBhvr>
                                      <p:tavLst>
                                        <p:tav tm="0">
                                          <p:val>
                                            <p:strVal val="#ppt_y+0.016"/>
                                          </p:val>
                                        </p:tav>
                                        <p:tav tm="100000">
                                          <p:val>
                                            <p:strVal val="#ppt_y"/>
                                          </p:val>
                                        </p:tav>
                                      </p:tavLst>
                                    </p:anim>
                                  </p:childTnLst>
                                </p:cTn>
                              </p:par>
                              <p:par>
                                <p:cTn id="130" presetID="42" presetClass="entr" presetSubtype="0" fill="hold" nodeType="withEffect">
                                  <p:stCondLst>
                                    <p:cond delay="400"/>
                                  </p:stCondLst>
                                  <p:childTnLst>
                                    <p:set>
                                      <p:cBhvr>
                                        <p:cTn id="131" dur="1" fill="hold">
                                          <p:stCondLst>
                                            <p:cond delay="0"/>
                                          </p:stCondLst>
                                        </p:cTn>
                                        <p:tgtEl>
                                          <p:spTgt spid="41"/>
                                        </p:tgtEl>
                                        <p:attrNameLst>
                                          <p:attrName>style.visibility</p:attrName>
                                        </p:attrNameLst>
                                      </p:cBhvr>
                                      <p:to>
                                        <p:strVal val="visible"/>
                                      </p:to>
                                    </p:set>
                                    <p:animEffect transition="in" filter="fade">
                                      <p:cBhvr>
                                        <p:cTn id="132" dur="350"/>
                                        <p:tgtEl>
                                          <p:spTgt spid="41"/>
                                        </p:tgtEl>
                                      </p:cBhvr>
                                    </p:animEffect>
                                    <p:anim calcmode="lin" valueType="num">
                                      <p:cBhvr>
                                        <p:cTn id="133" dur="350" decel="100000" fill="hold"/>
                                        <p:tgtEl>
                                          <p:spTgt spid="41"/>
                                        </p:tgtEl>
                                        <p:attrNameLst>
                                          <p:attrName>ppt_x</p:attrName>
                                        </p:attrNameLst>
                                      </p:cBhvr>
                                      <p:tavLst>
                                        <p:tav tm="0">
                                          <p:val>
                                            <p:strVal val="#ppt_x"/>
                                          </p:val>
                                        </p:tav>
                                        <p:tav tm="100000">
                                          <p:val>
                                            <p:strVal val="#ppt_x"/>
                                          </p:val>
                                        </p:tav>
                                      </p:tavLst>
                                    </p:anim>
                                    <p:anim calcmode="lin" valueType="num">
                                      <p:cBhvr>
                                        <p:cTn id="134" dur="350" decel="100000" fill="hold"/>
                                        <p:tgtEl>
                                          <p:spTgt spid="41"/>
                                        </p:tgtEl>
                                        <p:attrNameLst>
                                          <p:attrName>ppt_y</p:attrName>
                                        </p:attrNameLst>
                                      </p:cBhvr>
                                      <p:tavLst>
                                        <p:tav tm="0">
                                          <p:val>
                                            <p:strVal val="#ppt_y+0.016"/>
                                          </p:val>
                                        </p:tav>
                                        <p:tav tm="100000">
                                          <p:val>
                                            <p:strVal val="#ppt_y"/>
                                          </p:val>
                                        </p:tav>
                                      </p:tavLst>
                                    </p:anim>
                                  </p:childTnLst>
                                </p:cTn>
                              </p:par>
                              <p:par>
                                <p:cTn id="135" presetID="42" presetClass="entr" presetSubtype="0" fill="hold" grpId="0" nodeType="withEffect">
                                  <p:stCondLst>
                                    <p:cond delay="400"/>
                                  </p:stCondLst>
                                  <p:childTnLst>
                                    <p:set>
                                      <p:cBhvr>
                                        <p:cTn id="136" dur="1" fill="hold">
                                          <p:stCondLst>
                                            <p:cond delay="0"/>
                                          </p:stCondLst>
                                        </p:cTn>
                                        <p:tgtEl>
                                          <p:spTgt spid="42"/>
                                        </p:tgtEl>
                                        <p:attrNameLst>
                                          <p:attrName>style.visibility</p:attrName>
                                        </p:attrNameLst>
                                      </p:cBhvr>
                                      <p:to>
                                        <p:strVal val="visible"/>
                                      </p:to>
                                    </p:set>
                                    <p:animEffect transition="in" filter="fade">
                                      <p:cBhvr>
                                        <p:cTn id="137" dur="350"/>
                                        <p:tgtEl>
                                          <p:spTgt spid="42"/>
                                        </p:tgtEl>
                                      </p:cBhvr>
                                    </p:animEffect>
                                    <p:anim calcmode="lin" valueType="num">
                                      <p:cBhvr>
                                        <p:cTn id="138" dur="350" decel="100000" fill="hold"/>
                                        <p:tgtEl>
                                          <p:spTgt spid="42"/>
                                        </p:tgtEl>
                                        <p:attrNameLst>
                                          <p:attrName>ppt_x</p:attrName>
                                        </p:attrNameLst>
                                      </p:cBhvr>
                                      <p:tavLst>
                                        <p:tav tm="0">
                                          <p:val>
                                            <p:strVal val="#ppt_x"/>
                                          </p:val>
                                        </p:tav>
                                        <p:tav tm="100000">
                                          <p:val>
                                            <p:strVal val="#ppt_x"/>
                                          </p:val>
                                        </p:tav>
                                      </p:tavLst>
                                    </p:anim>
                                    <p:anim calcmode="lin" valueType="num">
                                      <p:cBhvr>
                                        <p:cTn id="139" dur="350" decel="100000" fill="hold"/>
                                        <p:tgtEl>
                                          <p:spTgt spid="42"/>
                                        </p:tgtEl>
                                        <p:attrNameLst>
                                          <p:attrName>ppt_y</p:attrName>
                                        </p:attrNameLst>
                                      </p:cBhvr>
                                      <p:tavLst>
                                        <p:tav tm="0">
                                          <p:val>
                                            <p:strVal val="#ppt_y+0.016"/>
                                          </p:val>
                                        </p:tav>
                                        <p:tav tm="100000">
                                          <p:val>
                                            <p:strVal val="#ppt_y"/>
                                          </p:val>
                                        </p:tav>
                                      </p:tavLst>
                                    </p:anim>
                                  </p:childTnLst>
                                </p:cTn>
                              </p:par>
                              <p:par>
                                <p:cTn id="140" presetID="42" presetClass="entr" presetSubtype="0" fill="hold" grpId="0" nodeType="withEffect">
                                  <p:stCondLst>
                                    <p:cond delay="400"/>
                                  </p:stCondLst>
                                  <p:childTnLst>
                                    <p:set>
                                      <p:cBhvr>
                                        <p:cTn id="141" dur="1" fill="hold">
                                          <p:stCondLst>
                                            <p:cond delay="0"/>
                                          </p:stCondLst>
                                        </p:cTn>
                                        <p:tgtEl>
                                          <p:spTgt spid="43"/>
                                        </p:tgtEl>
                                        <p:attrNameLst>
                                          <p:attrName>style.visibility</p:attrName>
                                        </p:attrNameLst>
                                      </p:cBhvr>
                                      <p:to>
                                        <p:strVal val="visible"/>
                                      </p:to>
                                    </p:set>
                                    <p:animEffect transition="in" filter="fade">
                                      <p:cBhvr>
                                        <p:cTn id="142" dur="350"/>
                                        <p:tgtEl>
                                          <p:spTgt spid="43"/>
                                        </p:tgtEl>
                                      </p:cBhvr>
                                    </p:animEffect>
                                    <p:anim calcmode="lin" valueType="num">
                                      <p:cBhvr>
                                        <p:cTn id="143" dur="350" decel="100000" fill="hold"/>
                                        <p:tgtEl>
                                          <p:spTgt spid="43"/>
                                        </p:tgtEl>
                                        <p:attrNameLst>
                                          <p:attrName>ppt_x</p:attrName>
                                        </p:attrNameLst>
                                      </p:cBhvr>
                                      <p:tavLst>
                                        <p:tav tm="0">
                                          <p:val>
                                            <p:strVal val="#ppt_x"/>
                                          </p:val>
                                        </p:tav>
                                        <p:tav tm="100000">
                                          <p:val>
                                            <p:strVal val="#ppt_x"/>
                                          </p:val>
                                        </p:tav>
                                      </p:tavLst>
                                    </p:anim>
                                    <p:anim calcmode="lin" valueType="num">
                                      <p:cBhvr>
                                        <p:cTn id="144" dur="350" decel="100000" fill="hold"/>
                                        <p:tgtEl>
                                          <p:spTgt spid="43"/>
                                        </p:tgtEl>
                                        <p:attrNameLst>
                                          <p:attrName>ppt_y</p:attrName>
                                        </p:attrNameLst>
                                      </p:cBhvr>
                                      <p:tavLst>
                                        <p:tav tm="0">
                                          <p:val>
                                            <p:strVal val="#ppt_y+0.016"/>
                                          </p:val>
                                        </p:tav>
                                        <p:tav tm="100000">
                                          <p:val>
                                            <p:strVal val="#ppt_y"/>
                                          </p:val>
                                        </p:tav>
                                      </p:tavLst>
                                    </p:anim>
                                  </p:childTnLst>
                                </p:cTn>
                              </p:par>
                              <p:par>
                                <p:cTn id="145" presetID="42" presetClass="entr" presetSubtype="0" fill="hold" grpId="0" nodeType="withEffect">
                                  <p:stCondLst>
                                    <p:cond delay="40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350"/>
                                        <p:tgtEl>
                                          <p:spTgt spid="44"/>
                                        </p:tgtEl>
                                      </p:cBhvr>
                                    </p:animEffect>
                                    <p:anim calcmode="lin" valueType="num">
                                      <p:cBhvr>
                                        <p:cTn id="148" dur="350" decel="100000" fill="hold"/>
                                        <p:tgtEl>
                                          <p:spTgt spid="44"/>
                                        </p:tgtEl>
                                        <p:attrNameLst>
                                          <p:attrName>ppt_x</p:attrName>
                                        </p:attrNameLst>
                                      </p:cBhvr>
                                      <p:tavLst>
                                        <p:tav tm="0">
                                          <p:val>
                                            <p:strVal val="#ppt_x"/>
                                          </p:val>
                                        </p:tav>
                                        <p:tav tm="100000">
                                          <p:val>
                                            <p:strVal val="#ppt_x"/>
                                          </p:val>
                                        </p:tav>
                                      </p:tavLst>
                                    </p:anim>
                                    <p:anim calcmode="lin" valueType="num">
                                      <p:cBhvr>
                                        <p:cTn id="149" dur="350" decel="100000" fill="hold"/>
                                        <p:tgtEl>
                                          <p:spTgt spid="44"/>
                                        </p:tgtEl>
                                        <p:attrNameLst>
                                          <p:attrName>ppt_y</p:attrName>
                                        </p:attrNameLst>
                                      </p:cBhvr>
                                      <p:tavLst>
                                        <p:tav tm="0">
                                          <p:val>
                                            <p:strVal val="#ppt_y+0.016"/>
                                          </p:val>
                                        </p:tav>
                                        <p:tav tm="100000">
                                          <p:val>
                                            <p:strVal val="#ppt_y"/>
                                          </p:val>
                                        </p:tav>
                                      </p:tavLst>
                                    </p:anim>
                                  </p:childTnLst>
                                </p:cTn>
                              </p:par>
                              <p:par>
                                <p:cTn id="150" presetID="42" presetClass="entr" presetSubtype="0" fill="hold" grpId="0" nodeType="withEffect">
                                  <p:stCondLst>
                                    <p:cond delay="400"/>
                                  </p:stCondLst>
                                  <p:childTnLst>
                                    <p:set>
                                      <p:cBhvr>
                                        <p:cTn id="151" dur="1" fill="hold">
                                          <p:stCondLst>
                                            <p:cond delay="0"/>
                                          </p:stCondLst>
                                        </p:cTn>
                                        <p:tgtEl>
                                          <p:spTgt spid="45"/>
                                        </p:tgtEl>
                                        <p:attrNameLst>
                                          <p:attrName>style.visibility</p:attrName>
                                        </p:attrNameLst>
                                      </p:cBhvr>
                                      <p:to>
                                        <p:strVal val="visible"/>
                                      </p:to>
                                    </p:set>
                                    <p:animEffect transition="in" filter="fade">
                                      <p:cBhvr>
                                        <p:cTn id="152" dur="350"/>
                                        <p:tgtEl>
                                          <p:spTgt spid="45"/>
                                        </p:tgtEl>
                                      </p:cBhvr>
                                    </p:animEffect>
                                    <p:anim calcmode="lin" valueType="num">
                                      <p:cBhvr>
                                        <p:cTn id="153" dur="350" decel="100000" fill="hold"/>
                                        <p:tgtEl>
                                          <p:spTgt spid="45"/>
                                        </p:tgtEl>
                                        <p:attrNameLst>
                                          <p:attrName>ppt_x</p:attrName>
                                        </p:attrNameLst>
                                      </p:cBhvr>
                                      <p:tavLst>
                                        <p:tav tm="0">
                                          <p:val>
                                            <p:strVal val="#ppt_x"/>
                                          </p:val>
                                        </p:tav>
                                        <p:tav tm="100000">
                                          <p:val>
                                            <p:strVal val="#ppt_x"/>
                                          </p:val>
                                        </p:tav>
                                      </p:tavLst>
                                    </p:anim>
                                    <p:anim calcmode="lin" valueType="num">
                                      <p:cBhvr>
                                        <p:cTn id="154" dur="350" decel="100000" fill="hold"/>
                                        <p:tgtEl>
                                          <p:spTgt spid="45"/>
                                        </p:tgtEl>
                                        <p:attrNameLst>
                                          <p:attrName>ppt_y</p:attrName>
                                        </p:attrNameLst>
                                      </p:cBhvr>
                                      <p:tavLst>
                                        <p:tav tm="0">
                                          <p:val>
                                            <p:strVal val="#ppt_y+0.016"/>
                                          </p:val>
                                        </p:tav>
                                        <p:tav tm="100000">
                                          <p:val>
                                            <p:strVal val="#ppt_y"/>
                                          </p:val>
                                        </p:tav>
                                      </p:tavLst>
                                    </p:anim>
                                  </p:childTnLst>
                                </p:cTn>
                              </p:par>
                            </p:childTnLst>
                          </p:cTn>
                        </p:par>
                        <p:par>
                          <p:cTn id="155" fill="hold">
                            <p:stCondLst>
                              <p:cond delay="750"/>
                            </p:stCondLst>
                            <p:childTnLst>
                              <p:par>
                                <p:cTn id="156" presetID="10" presetClass="entr" presetSubtype="0" fill="hold" nodeType="afterEffect">
                                  <p:stCondLst>
                                    <p:cond delay="0"/>
                                  </p:stCondLst>
                                  <p:childTnLst>
                                    <p:set>
                                      <p:cBhvr>
                                        <p:cTn id="157" dur="1" fill="hold">
                                          <p:stCondLst>
                                            <p:cond delay="0"/>
                                          </p:stCondLst>
                                        </p:cTn>
                                        <p:tgtEl>
                                          <p:spTgt spid="46"/>
                                        </p:tgtEl>
                                        <p:attrNameLst>
                                          <p:attrName>style.visibility</p:attrName>
                                        </p:attrNameLst>
                                      </p:cBhvr>
                                      <p:to>
                                        <p:strVal val="visible"/>
                                      </p:to>
                                    </p:set>
                                    <p:animEffect transition="in" filter="fade">
                                      <p:cBhvr>
                                        <p:cTn id="158" dur="300"/>
                                        <p:tgtEl>
                                          <p:spTgt spid="46"/>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47"/>
                                        </p:tgtEl>
                                        <p:attrNameLst>
                                          <p:attrName>style.visibility</p:attrName>
                                        </p:attrNameLst>
                                      </p:cBhvr>
                                      <p:to>
                                        <p:strVal val="visible"/>
                                      </p:to>
                                    </p:set>
                                    <p:animEffect transition="in" filter="fade">
                                      <p:cBhvr>
                                        <p:cTn id="161" dur="3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xt_661"/>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STAGE 05: CONCLUSION</a:t>
            </a:r>
            <a:endParaRPr lang="en-US" sz="1100" dirty="0"/>
          </a:p>
        </p:txBody>
      </p:sp>
      <p:sp>
        <p:nvSpPr>
          <p:cNvPr id="3" name="kicker_662"/>
          <p:cNvSpPr txBox="1"/>
          <p:nvPr/>
        </p:nvSpPr>
        <p:spPr>
          <a:xfrm>
            <a:off x="457200" y="548640"/>
            <a:ext cx="275463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CONCLUSION · Q&amp;A</a:t>
            </a:r>
            <a:endParaRPr lang="en-US" sz="1400" dirty="0"/>
          </a:p>
        </p:txBody>
      </p:sp>
      <p:sp>
        <p:nvSpPr>
          <p:cNvPr id="4" name="Text 0"/>
          <p:cNvSpPr>
            <a:spLocks noGrp="1"/>
          </p:cNvSpPr>
          <p:nvPr>
            <p:ph type="title" idx="100" hasCustomPrompt="1"/>
          </p:nvPr>
        </p:nvSpPr>
        <p:spPr>
          <a:xfrm>
            <a:off x="457200" y="914400"/>
            <a:ext cx="11277295" cy="1143000"/>
          </a:xfrm>
          <a:prstGeom prst="rect">
            <a:avLst/>
          </a:prstGeom>
          <a:noFill/>
          <a:ln/>
        </p:spPr>
        <p:txBody>
          <a:bodyPr wrap="square" lIns="0" tIns="0" rIns="0" bIns="0" rtlCol="0" anchor="t"/>
          <a:lstStyle/>
          <a:p>
            <a:pPr marL="0" indent="0" algn="l">
              <a:lnSpc>
                <a:spcPct val="92000"/>
              </a:lnSpc>
              <a:buNone/>
            </a:pPr>
            <a:r>
              <a:rPr lang="en-US" sz="4000" b="1" kern="0" spc="-50" dirty="0">
                <a:solidFill>
                  <a:srgbClr val="F8FAFC"/>
                </a:solidFill>
                <a:latin typeface="Space Grotesk" pitchFamily="34" charset="0"/>
                <a:ea typeface="Space Grotesk" pitchFamily="34" charset="-122"/>
                <a:cs typeface="Space Grotesk" pitchFamily="34" charset="-120"/>
              </a:rPr>
              <a:t>Next evidence comes from integration and controlled trials</a:t>
            </a:r>
            <a:endParaRPr lang="en-US" sz="4000" dirty="0"/>
          </a:p>
        </p:txBody>
      </p:sp>
      <p:sp>
        <p:nvSpPr>
          <p:cNvPr id="5" name="txt_663"/>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DESIGN &amp; SIMULATION ONLY · NO FLIGHT RESULTS CLAIMED</a:t>
            </a:r>
            <a:endParaRPr lang="en-US" sz="1000" dirty="0"/>
          </a:p>
        </p:txBody>
      </p:sp>
      <p:sp>
        <p:nvSpPr>
          <p:cNvPr id="6" name="txt_664"/>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§16–17 pp13–14; §15 p12</a:t>
            </a:r>
            <a:endParaRPr lang="en-US" sz="1000" dirty="0"/>
          </a:p>
        </p:txBody>
      </p:sp>
      <p:sp>
        <p:nvSpPr>
          <p:cNvPr id="7" name="txt_665"/>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[ 18 / 18 ]</a:t>
            </a:r>
            <a:endParaRPr lang="en-US" sz="1200" dirty="0"/>
          </a:p>
        </p:txBody>
      </p:sp>
      <p:sp>
        <p:nvSpPr>
          <p:cNvPr id="9" name="box_666"/>
          <p:cNvSpPr/>
          <p:nvPr/>
        </p:nvSpPr>
        <p:spPr>
          <a:xfrm>
            <a:off x="457200" y="2148840"/>
            <a:ext cx="3637178" cy="2743200"/>
          </a:xfrm>
          <a:prstGeom prst="roundRect">
            <a:avLst>
              <a:gd name="adj" fmla="val 2000"/>
            </a:avLst>
          </a:prstGeom>
          <a:solidFill>
            <a:srgbClr val="131C2E">
              <a:alpha val="82000"/>
            </a:srgbClr>
          </a:solidFill>
          <a:ln w="9525">
            <a:solidFill>
              <a:srgbClr val="10B981">
                <a:alpha val="55000"/>
              </a:srgbClr>
            </a:solidFill>
            <a:prstDash val="solid"/>
          </a:ln>
        </p:spPr>
      </p:sp>
      <p:sp>
        <p:nvSpPr>
          <p:cNvPr id="10" name="txt_667"/>
          <p:cNvSpPr txBox="1"/>
          <p:nvPr/>
        </p:nvSpPr>
        <p:spPr>
          <a:xfrm>
            <a:off x="621792" y="2286000"/>
            <a:ext cx="3307994" cy="2514600"/>
          </a:xfrm>
          <a:prstGeom prst="rect">
            <a:avLst/>
          </a:prstGeom>
          <a:noFill/>
          <a:ln/>
        </p:spPr>
        <p:txBody>
          <a:bodyPr wrap="square" lIns="0" tIns="0" rIns="0" bIns="0" rtlCol="0" anchor="t"/>
          <a:lstStyle/>
          <a:p>
            <a:pPr marL="0" indent="0">
              <a:spcAft>
                <a:spcPts val="600"/>
              </a:spcAft>
              <a:buNone/>
            </a:pPr>
            <a:r>
              <a:rPr lang="en-US" sz="1200" b="1" dirty="0">
                <a:solidFill>
                  <a:srgbClr val="10B981"/>
                </a:solidFill>
                <a:latin typeface="JetBrains Mono" pitchFamily="34" charset="0"/>
                <a:ea typeface="JetBrains Mono" pitchFamily="34" charset="-122"/>
                <a:cs typeface="JetBrains Mono" pitchFamily="34" charset="-120"/>
              </a:rPr>
              <a:t>WHAT THE 20% REVIEW SHOWS</a:t>
            </a:r>
            <a:endParaRPr lang="en-US" sz="1500" dirty="0"/>
          </a:p>
          <a:p>
            <a:pPr marL="0" indent="0">
              <a:spcAft>
                <a:spcPts val="600"/>
              </a:spcAft>
              <a:buNone/>
            </a:pPr>
            <a:r>
              <a:rPr lang="en-US" sz="1600" dirty="0">
                <a:solidFill>
                  <a:srgbClr val="F8FAFC"/>
                </a:solidFill>
                <a:latin typeface="Inter" pitchFamily="34" charset="0"/>
                <a:ea typeface="Inter" pitchFamily="34" charset="-122"/>
                <a:cs typeface="Inter" pitchFamily="34" charset="-120"/>
              </a:rPr>
              <a:t>Computed route graph and six-pad coverage · four interfaces in simulation · fault-driven state machine · F450 design model and BOM</a:t>
            </a:r>
            <a:endParaRPr lang="en-US" sz="1500" dirty="0"/>
          </a:p>
        </p:txBody>
      </p:sp>
      <p:sp>
        <p:nvSpPr>
          <p:cNvPr id="11" name="box_668"/>
          <p:cNvSpPr/>
          <p:nvPr/>
        </p:nvSpPr>
        <p:spPr>
          <a:xfrm>
            <a:off x="4277258" y="2148840"/>
            <a:ext cx="3637178" cy="2743200"/>
          </a:xfrm>
          <a:prstGeom prst="roundRect">
            <a:avLst>
              <a:gd name="adj" fmla="val 2000"/>
            </a:avLst>
          </a:prstGeom>
          <a:solidFill>
            <a:srgbClr val="131C2E">
              <a:alpha val="82000"/>
            </a:srgbClr>
          </a:solidFill>
          <a:ln w="9525">
            <a:solidFill>
              <a:srgbClr val="F59E0B">
                <a:alpha val="55000"/>
              </a:srgbClr>
            </a:solidFill>
            <a:prstDash val="solid"/>
          </a:ln>
        </p:spPr>
      </p:sp>
      <p:sp>
        <p:nvSpPr>
          <p:cNvPr id="12" name="txt_669"/>
          <p:cNvSpPr txBox="1"/>
          <p:nvPr/>
        </p:nvSpPr>
        <p:spPr>
          <a:xfrm>
            <a:off x="4441850" y="2286000"/>
            <a:ext cx="3307994" cy="2514600"/>
          </a:xfrm>
          <a:prstGeom prst="rect">
            <a:avLst/>
          </a:prstGeom>
          <a:noFill/>
          <a:ln/>
        </p:spPr>
        <p:txBody>
          <a:bodyPr wrap="square" lIns="0" tIns="0" rIns="0" bIns="0" rtlCol="0" anchor="t"/>
          <a:lstStyle/>
          <a:p>
            <a:pPr marL="0" indent="0">
              <a:spcAft>
                <a:spcPts val="600"/>
              </a:spcAft>
              <a:buNone/>
            </a:pPr>
            <a:r>
              <a:rPr lang="en-US" sz="1200" b="1" dirty="0">
                <a:solidFill>
                  <a:srgbClr val="F59E0B"/>
                </a:solidFill>
                <a:latin typeface="JetBrains Mono" pitchFamily="34" charset="0"/>
                <a:ea typeface="JetBrains Mono" pitchFamily="34" charset="-122"/>
                <a:cs typeface="JetBrains Mono" pitchFamily="34" charset="-120"/>
              </a:rPr>
              <a:t>NEAREST VALIDATION GATES</a:t>
            </a:r>
            <a:endParaRPr lang="en-US" sz="1500" dirty="0"/>
          </a:p>
          <a:p>
            <a:pPr marL="0" indent="0">
              <a:spcAft>
                <a:spcPts val="600"/>
              </a:spcAft>
              <a:buNone/>
            </a:pPr>
            <a:r>
              <a:rPr lang="en-US" sz="1600" dirty="0">
                <a:solidFill>
                  <a:srgbClr val="F8FAFC"/>
                </a:solidFill>
                <a:latin typeface="Inter" pitchFamily="34" charset="0"/>
                <a:ea typeface="Inter" pitchFamily="34" charset="-122"/>
                <a:cs typeface="Inter" pitchFamily="34" charset="-120"/>
              </a:rPr>
              <a:t>Written permission and Stage 1 purchase · assembly and props-off failsafe tests · timed hover → recompute 350 m limit and pads</a:t>
            </a:r>
            <a:endParaRPr lang="en-US" sz="1500" dirty="0"/>
          </a:p>
        </p:txBody>
      </p:sp>
      <p:sp>
        <p:nvSpPr>
          <p:cNvPr id="13" name="box_670"/>
          <p:cNvSpPr/>
          <p:nvPr/>
        </p:nvSpPr>
        <p:spPr>
          <a:xfrm>
            <a:off x="8097317" y="2148840"/>
            <a:ext cx="3637178" cy="2743200"/>
          </a:xfrm>
          <a:prstGeom prst="roundRect">
            <a:avLst>
              <a:gd name="adj" fmla="val 2000"/>
            </a:avLst>
          </a:prstGeom>
          <a:solidFill>
            <a:srgbClr val="131C2E">
              <a:alpha val="82000"/>
            </a:srgbClr>
          </a:solidFill>
          <a:ln w="9525">
            <a:solidFill>
              <a:srgbClr val="00F0FF">
                <a:alpha val="55000"/>
              </a:srgbClr>
            </a:solidFill>
            <a:prstDash val="solid"/>
          </a:ln>
        </p:spPr>
      </p:sp>
      <p:sp>
        <p:nvSpPr>
          <p:cNvPr id="14" name="txt_671"/>
          <p:cNvSpPr txBox="1"/>
          <p:nvPr/>
        </p:nvSpPr>
        <p:spPr>
          <a:xfrm>
            <a:off x="8261909" y="2286000"/>
            <a:ext cx="3307994" cy="2514600"/>
          </a:xfrm>
          <a:prstGeom prst="rect">
            <a:avLst/>
          </a:prstGeom>
          <a:noFill/>
          <a:ln/>
        </p:spPr>
        <p:txBody>
          <a:bodyPr wrap="square" lIns="0" tIns="0" rIns="0" bIns="0" rtlCol="0" anchor="t"/>
          <a:lstStyle/>
          <a:p>
            <a:pPr marL="0" indent="0">
              <a:spcAft>
                <a:spcPts val="600"/>
              </a:spcAft>
              <a:buNone/>
            </a:pPr>
            <a:r>
              <a:rPr lang="en-US" sz="1200" b="1" dirty="0">
                <a:solidFill>
                  <a:srgbClr val="00F0FF"/>
                </a:solidFill>
                <a:latin typeface="JetBrains Mono" pitchFamily="34" charset="0"/>
                <a:ea typeface="JetBrains Mono" pitchFamily="34" charset="-122"/>
                <a:cs typeface="JetBrains Mono" pitchFamily="34" charset="-120"/>
              </a:rPr>
              <a:t>EXPECTED DEMONSTRATION</a:t>
            </a:r>
            <a:endParaRPr lang="en-US" sz="1500" dirty="0"/>
          </a:p>
          <a:p>
            <a:pPr marL="0" indent="0">
              <a:spcAft>
                <a:spcPts val="600"/>
              </a:spcAft>
              <a:buNone/>
            </a:pPr>
            <a:r>
              <a:rPr lang="en-US" sz="1600" dirty="0">
                <a:solidFill>
                  <a:srgbClr val="F8FAFC"/>
                </a:solidFill>
                <a:latin typeface="Inter" pitchFamily="34" charset="0"/>
                <a:ea typeface="Inter" pitchFamily="34" charset="-122"/>
                <a:cs typeface="Inter" pitchFamily="34" charset="-120"/>
              </a:rPr>
              <a:t>Supervised guided trip on an inspected route once gates pass; ground robot runs the same software as a backup</a:t>
            </a:r>
            <a:endParaRPr lang="en-US" sz="1500" dirty="0"/>
          </a:p>
        </p:txBody>
      </p:sp>
      <p:sp>
        <p:nvSpPr>
          <p:cNvPr id="15" name="box_672"/>
          <p:cNvSpPr/>
          <p:nvPr/>
        </p:nvSpPr>
        <p:spPr>
          <a:xfrm>
            <a:off x="457200" y="5074920"/>
            <a:ext cx="11277295" cy="566928"/>
          </a:xfrm>
          <a:prstGeom prst="roundRect">
            <a:avLst>
              <a:gd name="adj" fmla="val 9677"/>
            </a:avLst>
          </a:prstGeom>
          <a:solidFill>
            <a:srgbClr val="F59E0B">
              <a:alpha val="8000"/>
            </a:srgbClr>
          </a:solidFill>
          <a:ln w="9525">
            <a:solidFill>
              <a:srgbClr val="F59E0B">
                <a:alpha val="50000"/>
              </a:srgbClr>
            </a:solidFill>
            <a:prstDash val="solid"/>
          </a:ln>
        </p:spPr>
      </p:sp>
      <p:sp>
        <p:nvSpPr>
          <p:cNvPr id="16" name="txt_673"/>
          <p:cNvSpPr txBox="1"/>
          <p:nvPr/>
        </p:nvSpPr>
        <p:spPr>
          <a:xfrm>
            <a:off x="621792" y="5111496"/>
            <a:ext cx="10948111" cy="502920"/>
          </a:xfrm>
          <a:prstGeom prst="rect">
            <a:avLst/>
          </a:prstGeom>
          <a:noFill/>
          <a:ln/>
        </p:spPr>
        <p:txBody>
          <a:bodyPr wrap="square" lIns="0" tIns="0" rIns="0" bIns="0" rtlCol="0" anchor="ctr"/>
          <a:lstStyle/>
          <a:p>
            <a:pPr marL="0" indent="0">
              <a:buNone/>
            </a:pPr>
            <a:r>
              <a:rPr lang="en-US" sz="1200" b="1" dirty="0">
                <a:solidFill>
                  <a:srgbClr val="F59E0B"/>
                </a:solidFill>
                <a:latin typeface="JetBrains Mono" pitchFamily="34" charset="0"/>
                <a:ea typeface="JetBrains Mono" pitchFamily="34" charset="-122"/>
                <a:cs typeface="JetBrains Mono" pitchFamily="34" charset="-120"/>
              </a:rPr>
              <a:t>LIMITS STAY VISIBLE  </a:t>
            </a:r>
            <a:r>
              <a:rPr lang="en-US" sz="1400" dirty="0">
                <a:solidFill>
                  <a:srgbClr val="F8FAFC"/>
                </a:solidFill>
                <a:latin typeface="Inter" pitchFamily="34" charset="0"/>
                <a:ea typeface="Inter" pitchFamily="34" charset="-122"/>
                <a:cs typeface="Inter" pitchFamily="34" charset="-120"/>
              </a:rPr>
              <a:t>No flight has been performed. Lead distance, speed and pad size are design targets; endurance, budget and GNSS error are estimates.</a:t>
            </a:r>
            <a:endParaRPr lang="en-US" sz="1500" dirty="0"/>
          </a:p>
        </p:txBody>
      </p:sp>
      <p:sp>
        <p:nvSpPr>
          <p:cNvPr id="17" name="txt_674"/>
          <p:cNvSpPr txBox="1"/>
          <p:nvPr/>
        </p:nvSpPr>
        <p:spPr>
          <a:xfrm>
            <a:off x="457200" y="5760720"/>
            <a:ext cx="5486400" cy="640080"/>
          </a:xfrm>
          <a:prstGeom prst="rect">
            <a:avLst/>
          </a:prstGeom>
          <a:noFill/>
          <a:ln/>
        </p:spPr>
        <p:txBody>
          <a:bodyPr wrap="square" lIns="0" tIns="0" rIns="0" bIns="0" rtlCol="0" anchor="t"/>
          <a:lstStyle/>
          <a:p>
            <a:pPr marL="0" indent="0">
              <a:buNone/>
            </a:pPr>
            <a:r>
              <a:rPr lang="en-US" sz="4000" b="1" dirty="0">
                <a:solidFill>
                  <a:srgbClr val="00F0FF"/>
                </a:solidFill>
                <a:latin typeface="Space Grotesk" pitchFamily="34" charset="0"/>
                <a:ea typeface="Space Grotesk" pitchFamily="34" charset="-122"/>
                <a:cs typeface="Space Grotesk" pitchFamily="34" charset="-120"/>
              </a:rPr>
              <a:t>Questions</a:t>
            </a:r>
            <a:endParaRPr lang="en-US" sz="4000" dirty="0"/>
          </a:p>
        </p:txBody>
      </p:sp>
      <p:sp>
        <p:nvSpPr>
          <p:cNvPr id="18" name="txt_675"/>
          <p:cNvSpPr txBox="1"/>
          <p:nvPr/>
        </p:nvSpPr>
        <p:spPr>
          <a:xfrm>
            <a:off x="457200" y="5852160"/>
            <a:ext cx="11277295" cy="457200"/>
          </a:xfrm>
          <a:prstGeom prst="rect">
            <a:avLst/>
          </a:prstGeom>
          <a:noFill/>
          <a:ln/>
        </p:spPr>
        <p:txBody>
          <a:bodyPr wrap="square" lIns="0" tIns="0" rIns="0" bIns="0" rtlCol="0" anchor="ctr"/>
          <a:lstStyle/>
          <a:p>
            <a:pPr marL="0" indent="0" algn="r">
              <a:buNone/>
            </a:pPr>
            <a:r>
              <a:rPr lang="en-US" sz="1300" dirty="0">
                <a:solidFill>
                  <a:srgbClr val="94A3B8"/>
                </a:solidFill>
                <a:latin typeface="JetBrains Mono" pitchFamily="34" charset="0"/>
                <a:ea typeface="JetBrains Mono" pitchFamily="34" charset="-122"/>
                <a:cs typeface="JetBrains Mono" pitchFamily="34" charset="-120"/>
              </a:rPr>
              <a:t>Prepared answers and evidence: backup A09–A21</a:t>
            </a:r>
            <a:endParaRPr lang="en-US" sz="1300" dirty="0"/>
          </a:p>
        </p:txBody>
      </p:sp>
    </p:spTree>
  </p:cSld>
  <p:clrMapOvr>
    <a:masterClrMapping/>
  </p:clrMapOvr>
  <mc:AlternateContent xmlns:mc="http://schemas.openxmlformats.org/markup-compatibility/2006" xmlns:p14="http://schemas.microsoft.com/office/powerpoint/2010/main">
    <mc:Choice Requires="p14">
      <p:transition p14:dur="400">
        <p:push/>
      </p:transition>
    </mc:Choice>
    <mc:Fallback xmlns="">
      <p:transition spd="fast">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anim calcmode="lin" valueType="num">
                                      <p:cBhvr>
                                        <p:cTn id="8" dur="400" decel="100000" fill="hold"/>
                                        <p:tgtEl>
                                          <p:spTgt spid="9"/>
                                        </p:tgtEl>
                                        <p:attrNameLst>
                                          <p:attrName>ppt_x</p:attrName>
                                        </p:attrNameLst>
                                      </p:cBhvr>
                                      <p:tavLst>
                                        <p:tav tm="0">
                                          <p:val>
                                            <p:strVal val="#ppt_x"/>
                                          </p:val>
                                        </p:tav>
                                        <p:tav tm="100000">
                                          <p:val>
                                            <p:strVal val="#ppt_x"/>
                                          </p:val>
                                        </p:tav>
                                      </p:tavLst>
                                    </p:anim>
                                    <p:anim calcmode="lin" valueType="num">
                                      <p:cBhvr>
                                        <p:cTn id="9" dur="400" decel="100000" fill="hold"/>
                                        <p:tgtEl>
                                          <p:spTgt spid="9"/>
                                        </p:tgtEl>
                                        <p:attrNameLst>
                                          <p:attrName>ppt_y</p:attrName>
                                        </p:attrNameLst>
                                      </p:cBhvr>
                                      <p:tavLst>
                                        <p:tav tm="0">
                                          <p:val>
                                            <p:strVal val="#ppt_y+0.01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anim calcmode="lin" valueType="num">
                                      <p:cBhvr>
                                        <p:cTn id="13" dur="400" decel="100000" fill="hold"/>
                                        <p:tgtEl>
                                          <p:spTgt spid="10"/>
                                        </p:tgtEl>
                                        <p:attrNameLst>
                                          <p:attrName>ppt_x</p:attrName>
                                        </p:attrNameLst>
                                      </p:cBhvr>
                                      <p:tavLst>
                                        <p:tav tm="0">
                                          <p:val>
                                            <p:strVal val="#ppt_x"/>
                                          </p:val>
                                        </p:tav>
                                        <p:tav tm="100000">
                                          <p:val>
                                            <p:strVal val="#ppt_x"/>
                                          </p:val>
                                        </p:tav>
                                      </p:tavLst>
                                    </p:anim>
                                    <p:anim calcmode="lin" valueType="num">
                                      <p:cBhvr>
                                        <p:cTn id="14" dur="400" decel="100000" fill="hold"/>
                                        <p:tgtEl>
                                          <p:spTgt spid="10"/>
                                        </p:tgtEl>
                                        <p:attrNameLst>
                                          <p:attrName>ppt_y</p:attrName>
                                        </p:attrNameLst>
                                      </p:cBhvr>
                                      <p:tavLst>
                                        <p:tav tm="0">
                                          <p:val>
                                            <p:strVal val="#ppt_y+0.016"/>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anim calcmode="lin" valueType="num">
                                      <p:cBhvr>
                                        <p:cTn id="18" dur="400" decel="100000" fill="hold"/>
                                        <p:tgtEl>
                                          <p:spTgt spid="11"/>
                                        </p:tgtEl>
                                        <p:attrNameLst>
                                          <p:attrName>ppt_x</p:attrName>
                                        </p:attrNameLst>
                                      </p:cBhvr>
                                      <p:tavLst>
                                        <p:tav tm="0">
                                          <p:val>
                                            <p:strVal val="#ppt_x"/>
                                          </p:val>
                                        </p:tav>
                                        <p:tav tm="100000">
                                          <p:val>
                                            <p:strVal val="#ppt_x"/>
                                          </p:val>
                                        </p:tav>
                                      </p:tavLst>
                                    </p:anim>
                                    <p:anim calcmode="lin" valueType="num">
                                      <p:cBhvr>
                                        <p:cTn id="19" dur="400" decel="100000" fill="hold"/>
                                        <p:tgtEl>
                                          <p:spTgt spid="11"/>
                                        </p:tgtEl>
                                        <p:attrNameLst>
                                          <p:attrName>ppt_y</p:attrName>
                                        </p:attrNameLst>
                                      </p:cBhvr>
                                      <p:tavLst>
                                        <p:tav tm="0">
                                          <p:val>
                                            <p:strVal val="#ppt_y+0.01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anim calcmode="lin" valueType="num">
                                      <p:cBhvr>
                                        <p:cTn id="23" dur="400" decel="100000" fill="hold"/>
                                        <p:tgtEl>
                                          <p:spTgt spid="12"/>
                                        </p:tgtEl>
                                        <p:attrNameLst>
                                          <p:attrName>ppt_x</p:attrName>
                                        </p:attrNameLst>
                                      </p:cBhvr>
                                      <p:tavLst>
                                        <p:tav tm="0">
                                          <p:val>
                                            <p:strVal val="#ppt_x"/>
                                          </p:val>
                                        </p:tav>
                                        <p:tav tm="100000">
                                          <p:val>
                                            <p:strVal val="#ppt_x"/>
                                          </p:val>
                                        </p:tav>
                                      </p:tavLst>
                                    </p:anim>
                                    <p:anim calcmode="lin" valueType="num">
                                      <p:cBhvr>
                                        <p:cTn id="24" dur="400" decel="100000" fill="hold"/>
                                        <p:tgtEl>
                                          <p:spTgt spid="12"/>
                                        </p:tgtEl>
                                        <p:attrNameLst>
                                          <p:attrName>ppt_y</p:attrName>
                                        </p:attrNameLst>
                                      </p:cBhvr>
                                      <p:tavLst>
                                        <p:tav tm="0">
                                          <p:val>
                                            <p:strVal val="#ppt_y+0.016"/>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anim calcmode="lin" valueType="num">
                                      <p:cBhvr>
                                        <p:cTn id="28" dur="400" decel="100000" fill="hold"/>
                                        <p:tgtEl>
                                          <p:spTgt spid="13"/>
                                        </p:tgtEl>
                                        <p:attrNameLst>
                                          <p:attrName>ppt_x</p:attrName>
                                        </p:attrNameLst>
                                      </p:cBhvr>
                                      <p:tavLst>
                                        <p:tav tm="0">
                                          <p:val>
                                            <p:strVal val="#ppt_x"/>
                                          </p:val>
                                        </p:tav>
                                        <p:tav tm="100000">
                                          <p:val>
                                            <p:strVal val="#ppt_x"/>
                                          </p:val>
                                        </p:tav>
                                      </p:tavLst>
                                    </p:anim>
                                    <p:anim calcmode="lin" valueType="num">
                                      <p:cBhvr>
                                        <p:cTn id="29" dur="400" decel="100000" fill="hold"/>
                                        <p:tgtEl>
                                          <p:spTgt spid="13"/>
                                        </p:tgtEl>
                                        <p:attrNameLst>
                                          <p:attrName>ppt_y</p:attrName>
                                        </p:attrNameLst>
                                      </p:cBhvr>
                                      <p:tavLst>
                                        <p:tav tm="0">
                                          <p:val>
                                            <p:strVal val="#ppt_y+0.01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anim calcmode="lin" valueType="num">
                                      <p:cBhvr>
                                        <p:cTn id="33" dur="400" decel="100000" fill="hold"/>
                                        <p:tgtEl>
                                          <p:spTgt spid="14"/>
                                        </p:tgtEl>
                                        <p:attrNameLst>
                                          <p:attrName>ppt_x</p:attrName>
                                        </p:attrNameLst>
                                      </p:cBhvr>
                                      <p:tavLst>
                                        <p:tav tm="0">
                                          <p:val>
                                            <p:strVal val="#ppt_x"/>
                                          </p:val>
                                        </p:tav>
                                        <p:tav tm="100000">
                                          <p:val>
                                            <p:strVal val="#ppt_x"/>
                                          </p:val>
                                        </p:tav>
                                      </p:tavLst>
                                    </p:anim>
                                    <p:anim calcmode="lin" valueType="num">
                                      <p:cBhvr>
                                        <p:cTn id="34" dur="400" decel="100000" fill="hold"/>
                                        <p:tgtEl>
                                          <p:spTgt spid="14"/>
                                        </p:tgtEl>
                                        <p:attrNameLst>
                                          <p:attrName>ppt_y</p:attrName>
                                        </p:attrNameLst>
                                      </p:cBhvr>
                                      <p:tavLst>
                                        <p:tav tm="0">
                                          <p:val>
                                            <p:strVal val="#ppt_y+0.01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xt_676"/>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A01</a:t>
            </a:r>
            <a:endParaRPr lang="en-US" sz="1100" dirty="0"/>
          </a:p>
        </p:txBody>
      </p:sp>
      <p:sp>
        <p:nvSpPr>
          <p:cNvPr id="3" name="kicker_677"/>
          <p:cNvSpPr txBox="1"/>
          <p:nvPr/>
        </p:nvSpPr>
        <p:spPr>
          <a:xfrm>
            <a:off x="457200" y="548640"/>
            <a:ext cx="250317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REFERENCES 1/2</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References: uploaded works</a:t>
            </a:r>
            <a:endParaRPr lang="en-US" sz="3000" dirty="0"/>
          </a:p>
        </p:txBody>
      </p:sp>
      <p:sp>
        <p:nvSpPr>
          <p:cNvPr id="5" name="txt_678"/>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BIBLIOGRAPHY · UPLOADED PDFs</a:t>
            </a:r>
            <a:endParaRPr lang="en-US" sz="1000" dirty="0"/>
          </a:p>
        </p:txBody>
      </p:sp>
      <p:sp>
        <p:nvSpPr>
          <p:cNvPr id="6" name="txt_679"/>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mdp folder PDFs</a:t>
            </a:r>
            <a:endParaRPr lang="en-US" sz="1000" dirty="0"/>
          </a:p>
        </p:txBody>
      </p:sp>
      <p:sp>
        <p:nvSpPr>
          <p:cNvPr id="7" name="txt_680"/>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A01 ]</a:t>
            </a:r>
            <a:endParaRPr lang="en-US" sz="1200" dirty="0"/>
          </a:p>
        </p:txBody>
      </p:sp>
      <p:sp>
        <p:nvSpPr>
          <p:cNvPr id="9" name="txt_681"/>
          <p:cNvSpPr txBox="1"/>
          <p:nvPr/>
        </p:nvSpPr>
        <p:spPr>
          <a:xfrm>
            <a:off x="457200" y="1691640"/>
            <a:ext cx="11277295" cy="4526280"/>
          </a:xfrm>
          <a:prstGeom prst="rect">
            <a:avLst/>
          </a:prstGeom>
          <a:noFill/>
          <a:ln/>
        </p:spPr>
        <p:txBody>
          <a:bodyPr wrap="square" lIns="0" tIns="0" rIns="0" bIns="0" rtlCol="0" anchor="t"/>
          <a:lstStyle/>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U01  </a:t>
            </a:r>
            <a:r>
              <a:rPr lang="en-US" sz="1400" dirty="0">
                <a:solidFill>
                  <a:srgbClr val="F8FAFC"/>
                </a:solidFill>
                <a:latin typeface="Inter" pitchFamily="34" charset="0"/>
                <a:ea typeface="Inter" pitchFamily="34" charset="-122"/>
                <a:cs typeface="Inter" pitchFamily="34" charset="-120"/>
              </a:rPr>
              <a:t>Kuys, B., Haig, A., Mridha, M. (2024). Exploring the Use of Landmarks to Aid Pedestrian Wayfinding. Applied Sciences 14(17), 7814. doi:10.3390/app14177814</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U02  </a:t>
            </a:r>
            <a:r>
              <a:rPr lang="en-US" sz="1400" dirty="0">
                <a:solidFill>
                  <a:srgbClr val="F8FAFC"/>
                </a:solidFill>
                <a:latin typeface="Inter" pitchFamily="34" charset="0"/>
                <a:ea typeface="Inter" pitchFamily="34" charset="-122"/>
                <a:cs typeface="Inter" pitchFamily="34" charset="-120"/>
              </a:rPr>
              <a:t>Merei, A., Mcheick, H., Ghaddar, A., Rebaine, D. (2025). A Survey on Obstacle Detection and Avoidance Methods for UAVs. Drones 9(3), 203. doi:10.3390/drones9030203</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U03  </a:t>
            </a:r>
            <a:r>
              <a:rPr lang="en-US" sz="1400" dirty="0">
                <a:solidFill>
                  <a:srgbClr val="F8FAFC"/>
                </a:solidFill>
                <a:latin typeface="Inter" pitchFamily="34" charset="0"/>
                <a:ea typeface="Inter" pitchFamily="34" charset="-122"/>
                <a:cs typeface="Inter" pitchFamily="34" charset="-120"/>
              </a:rPr>
              <a:t>Son, S.J., Kim, H.S., Kim, D.H. (2022). Waypoint and Autonomous Flying Control of an Indoor Drone for GPS-Denied Environments. IAES Int. J. Robotics &amp; Automation 11(3), 233–249. doi:10.11591/ijra.v11i3.pp233-249</a:t>
            </a:r>
            <a:endParaRPr lang="en-US" sz="1500" dirty="0"/>
          </a:p>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U04  </a:t>
            </a:r>
            <a:r>
              <a:rPr lang="en-US" sz="1400" dirty="0">
                <a:solidFill>
                  <a:srgbClr val="F8FAFC"/>
                </a:solidFill>
                <a:latin typeface="Inter" pitchFamily="34" charset="0"/>
                <a:ea typeface="Inter" pitchFamily="34" charset="-122"/>
                <a:cs typeface="Inter" pitchFamily="34" charset="-120"/>
              </a:rPr>
              <a:t>Tezza, D., Andujar, M. (2019). The State-of-the-Art of Human–Drone Interaction: A Survey. IEEE Access 7, 167438–167454. doi:10.1109/ACCESS.2019.2953900</a:t>
            </a:r>
            <a:endParaRPr lang="en-US" sz="1500" dirty="0"/>
          </a:p>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U05  </a:t>
            </a:r>
            <a:r>
              <a:rPr lang="en-US" sz="1400" dirty="0">
                <a:solidFill>
                  <a:srgbClr val="F8FAFC"/>
                </a:solidFill>
                <a:latin typeface="Inter" pitchFamily="34" charset="0"/>
                <a:ea typeface="Inter" pitchFamily="34" charset="-122"/>
                <a:cs typeface="Inter" pitchFamily="34" charset="-120"/>
              </a:rPr>
              <a:t>Avila Soto, M., Funk, M., Hoppe, M., Boldt, R., Wolf, K., Henze, N. (2017). DroneNavigator: Using Leashed and Free-Floating Quadcopters to Navigate Visually Impaired Travelers. Proc. ASSETS ’17. doi:10.1145/3132525.3132556</a:t>
            </a:r>
            <a:endParaRPr lang="en-US" sz="1500" dirty="0"/>
          </a:p>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U06  </a:t>
            </a:r>
            <a:r>
              <a:rPr lang="en-US" sz="1400" dirty="0">
                <a:solidFill>
                  <a:srgbClr val="F8FAFC"/>
                </a:solidFill>
                <a:latin typeface="Inter" pitchFamily="34" charset="0"/>
                <a:ea typeface="Inter" pitchFamily="34" charset="-122"/>
                <a:cs typeface="Inter" pitchFamily="34" charset="-120"/>
              </a:rPr>
              <a:t>Kruse, T., Pandey, A.K., Alami, R., Kirsch, A. (2013). Human-Aware Robot Navigation: A Survey. Robotics and Autonomous Systems 61(12), 1726–1743. doi:10.1016/j.robot.2013.05.007</a:t>
            </a:r>
            <a:endParaRPr lang="en-US" sz="1500" dirty="0"/>
          </a:p>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U07  </a:t>
            </a:r>
            <a:r>
              <a:rPr lang="en-US" sz="1400" dirty="0">
                <a:solidFill>
                  <a:srgbClr val="F8FAFC"/>
                </a:solidFill>
                <a:latin typeface="Inter" pitchFamily="34" charset="0"/>
                <a:ea typeface="Inter" pitchFamily="34" charset="-122"/>
                <a:cs typeface="Inter" pitchFamily="34" charset="-120"/>
              </a:rPr>
              <a:t>Rousell, A., Zipf, A. (2017). Towards a Landmark-Based Pedestrian Navigation Service Using OSM Data. ISPRS Int. J. Geo-Information 6(3), 64. doi:10.3390/ijgi6030064</a:t>
            </a:r>
            <a:endParaRPr lang="en-US" sz="1500" dirty="0"/>
          </a:p>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U08  </a:t>
            </a:r>
            <a:r>
              <a:rPr lang="en-US" sz="1400" dirty="0">
                <a:solidFill>
                  <a:srgbClr val="F8FAFC"/>
                </a:solidFill>
                <a:latin typeface="Inter" pitchFamily="34" charset="0"/>
                <a:ea typeface="Inter" pitchFamily="34" charset="-122"/>
                <a:cs typeface="Inter" pitchFamily="34" charset="-120"/>
              </a:rPr>
              <a:t>Selvi, H.Z., Bildirici, I.O., Ulugtekin, N. (2016). Landmark Orientation and Map Design for Pedestrians: Prototype of a Selcuk University Campus Area Pedestrian Navigation System. IOP Conf. Ser.: Earth Environ. Sci. 44, 042027. doi:10.1088/1755-1315/44/4/042027</a:t>
            </a:r>
            <a:endParaRPr lang="en-US" sz="1500" dirty="0"/>
          </a:p>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U09  </a:t>
            </a:r>
            <a:r>
              <a:rPr lang="en-US" sz="1400" dirty="0">
                <a:solidFill>
                  <a:srgbClr val="F8FAFC"/>
                </a:solidFill>
                <a:latin typeface="Inter" pitchFamily="34" charset="0"/>
                <a:ea typeface="Inter" pitchFamily="34" charset="-122"/>
                <a:cs typeface="Inter" pitchFamily="34" charset="-120"/>
              </a:rPr>
              <a:t>Newson, P., Krumm, J. (2009). Hidden Markov Map Matching Through Noise and Sparseness. Proc. ACM SIGSPATIAL GIS ’09, 336–343. doi:10.1145/1653771.1653818</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xt_682"/>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A02</a:t>
            </a:r>
            <a:endParaRPr lang="en-US" sz="1100" dirty="0"/>
          </a:p>
        </p:txBody>
      </p:sp>
      <p:sp>
        <p:nvSpPr>
          <p:cNvPr id="3" name="kicker_683"/>
          <p:cNvSpPr txBox="1"/>
          <p:nvPr/>
        </p:nvSpPr>
        <p:spPr>
          <a:xfrm>
            <a:off x="457200" y="548640"/>
            <a:ext cx="250317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REFERENCES 2/2</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References: U10 and supplemental recent works</a:t>
            </a:r>
            <a:endParaRPr lang="en-US" sz="3000" dirty="0"/>
          </a:p>
        </p:txBody>
      </p:sp>
      <p:sp>
        <p:nvSpPr>
          <p:cNvPr id="5" name="txt_684"/>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BIBLIOGRAPHY · S01–S07 READ ONLINE</a:t>
            </a:r>
            <a:endParaRPr lang="en-US" sz="1000" dirty="0"/>
          </a:p>
        </p:txBody>
      </p:sp>
      <p:sp>
        <p:nvSpPr>
          <p:cNvPr id="6" name="txt_685"/>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Publisher pages; arXiv; UniPD repository</a:t>
            </a:r>
            <a:endParaRPr lang="en-US" sz="1000" dirty="0"/>
          </a:p>
        </p:txBody>
      </p:sp>
      <p:sp>
        <p:nvSpPr>
          <p:cNvPr id="7" name="txt_686"/>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A02 ]</a:t>
            </a:r>
            <a:endParaRPr lang="en-US" sz="1200" dirty="0"/>
          </a:p>
        </p:txBody>
      </p:sp>
      <p:sp>
        <p:nvSpPr>
          <p:cNvPr id="9" name="txt_687"/>
          <p:cNvSpPr txBox="1"/>
          <p:nvPr/>
        </p:nvSpPr>
        <p:spPr>
          <a:xfrm>
            <a:off x="457200" y="1691640"/>
            <a:ext cx="11277295" cy="4526280"/>
          </a:xfrm>
          <a:prstGeom prst="rect">
            <a:avLst/>
          </a:prstGeom>
          <a:noFill/>
          <a:ln/>
        </p:spPr>
        <p:txBody>
          <a:bodyPr wrap="square" lIns="0" tIns="0" rIns="0" bIns="0" rtlCol="0" anchor="t"/>
          <a:lstStyle/>
          <a:p>
            <a:pPr marL="0" indent="0">
              <a:spcAft>
                <a:spcPts val="500"/>
              </a:spcAft>
              <a:buNone/>
            </a:pPr>
            <a:r>
              <a:rPr lang="en-US" sz="1200" b="1" dirty="0">
                <a:solidFill>
                  <a:srgbClr val="94A3B8"/>
                </a:solidFill>
                <a:latin typeface="JetBrains Mono" pitchFamily="34" charset="0"/>
                <a:ea typeface="JetBrains Mono" pitchFamily="34" charset="-122"/>
                <a:cs typeface="JetBrains Mono" pitchFamily="34" charset="-120"/>
              </a:rPr>
              <a:t>U10  </a:t>
            </a:r>
            <a:r>
              <a:rPr lang="en-US" sz="1400" dirty="0">
                <a:solidFill>
                  <a:srgbClr val="F8FAFC"/>
                </a:solidFill>
                <a:latin typeface="Inter" pitchFamily="34" charset="0"/>
                <a:ea typeface="Inter" pitchFamily="34" charset="-122"/>
                <a:cs typeface="Inter" pitchFamily="34" charset="-120"/>
              </a:rPr>
              <a:t>Ebeid, E., Skriver, M., Jin, J. (2017). A Survey on Open-Source Flight Control Platforms of Unmanned Aerial Vehicle. Proc. Euromicro DSD 2017, 396–402. doi:10.1109/DSD.2017.30</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S01  </a:t>
            </a:r>
            <a:r>
              <a:rPr lang="en-US" sz="1400" dirty="0">
                <a:solidFill>
                  <a:srgbClr val="F8FAFC"/>
                </a:solidFill>
                <a:latin typeface="Inter" pitchFamily="34" charset="0"/>
                <a:ea typeface="Inter" pitchFamily="34" charset="-122"/>
                <a:cs typeface="Inter" pitchFamily="34" charset="-120"/>
              </a:rPr>
              <a:t>Wögerbauer, E.M., von Castell, C., Welsch, R., Hecht, H. (2024). Preferred Distance in Human–Drone Interaction. Vision 8(4), 59. doi:10.3390/vision8040059</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S02  </a:t>
            </a:r>
            <a:r>
              <a:rPr lang="en-US" sz="1400" dirty="0">
                <a:solidFill>
                  <a:srgbClr val="F8FAFC"/>
                </a:solidFill>
                <a:latin typeface="Inter" pitchFamily="34" charset="0"/>
                <a:ea typeface="Inter" pitchFamily="34" charset="-122"/>
                <a:cs typeface="Inter" pitchFamily="34" charset="-120"/>
              </a:rPr>
              <a:t>Gómez-López, A., Maya-López, Y., Olivos-Jara, P., Morales, R. (2026). Human-Drone Interaction in Older Adults: A Systematic Review. Drones 10(5), 389. doi:10.3390/drones10050389</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S03  </a:t>
            </a:r>
            <a:r>
              <a:rPr lang="en-US" sz="1400" dirty="0">
                <a:solidFill>
                  <a:srgbClr val="F8FAFC"/>
                </a:solidFill>
                <a:latin typeface="Inter" pitchFamily="34" charset="0"/>
                <a:ea typeface="Inter" pitchFamily="34" charset="-122"/>
                <a:cs typeface="Inter" pitchFamily="34" charset="-120"/>
              </a:rPr>
              <a:t>Singamaneni, P.T., Bachiller-Burgos, P., Manso, L.J., Garrell, A., Sanfeliu, A., Spalanzani, A., Alami, R. (2024). A Survey on Socially Aware Robot Navigation: Taxonomy and Future Challenges. Int. J. Robotics Research. doi:10.1177/02783649241230562</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S04  </a:t>
            </a:r>
            <a:r>
              <a:rPr lang="en-US" sz="1400" dirty="0">
                <a:solidFill>
                  <a:srgbClr val="F8FAFC"/>
                </a:solidFill>
                <a:latin typeface="Inter" pitchFamily="34" charset="0"/>
                <a:ea typeface="Inter" pitchFamily="34" charset="-122"/>
                <a:cs typeface="Inter" pitchFamily="34" charset="-120"/>
              </a:rPr>
              <a:t>Karwowski, J., Szynkiewicz, W., Niewiadomska-Szynkiewicz, E. (2024). Bridging Requirements, Planning, and Evaluation: A Review of Social Robot Navigation. Sensors 24(9), 2794. doi:10.3390/s24092794</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S05  </a:t>
            </a:r>
            <a:r>
              <a:rPr lang="en-US" sz="1400" dirty="0">
                <a:solidFill>
                  <a:srgbClr val="F8FAFC"/>
                </a:solidFill>
                <a:latin typeface="Inter" pitchFamily="34" charset="0"/>
                <a:ea typeface="Inter" pitchFamily="34" charset="-122"/>
                <a:cs typeface="Inter" pitchFamily="34" charset="-120"/>
              </a:rPr>
              <a:t>Ghambari, S., Golabi, M., Jourdan, L., Lepagnot, J., Idoumghar, L. (2024). UAV Path Planning Techniques: A Survey. RAIRO-Operations Research 58, 2951–2989. doi:10.1051/ro/2024073</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S06  </a:t>
            </a:r>
            <a:r>
              <a:rPr lang="en-US" sz="1400" dirty="0">
                <a:solidFill>
                  <a:srgbClr val="F8FAFC"/>
                </a:solidFill>
                <a:latin typeface="Inter" pitchFamily="34" charset="0"/>
                <a:ea typeface="Inter" pitchFamily="34" charset="-122"/>
                <a:cs typeface="Inter" pitchFamily="34" charset="-120"/>
              </a:rPr>
              <a:t>Yi, S., Zorzi, M., Jin, X., Su, T. (2024). A Switched Approach for Smartphone-Based Pedestrian Navigation. Sensors 24(16), 5247. doi:10.3390/s24165247</a:t>
            </a:r>
            <a:endParaRPr lang="en-US" sz="1500" dirty="0"/>
          </a:p>
          <a:p>
            <a:pPr marL="0" indent="0">
              <a:spcAft>
                <a:spcPts val="500"/>
              </a:spcAft>
              <a:buNone/>
            </a:pPr>
            <a:r>
              <a:rPr lang="en-US" sz="1200" b="1" dirty="0">
                <a:solidFill>
                  <a:srgbClr val="00F0FF"/>
                </a:solidFill>
                <a:latin typeface="JetBrains Mono" pitchFamily="34" charset="0"/>
                <a:ea typeface="JetBrains Mono" pitchFamily="34" charset="-122"/>
                <a:cs typeface="JetBrains Mono" pitchFamily="34" charset="-120"/>
              </a:rPr>
              <a:t>S07  </a:t>
            </a:r>
            <a:r>
              <a:rPr lang="en-US" sz="1400" dirty="0">
                <a:solidFill>
                  <a:srgbClr val="F8FAFC"/>
                </a:solidFill>
                <a:latin typeface="Inter" pitchFamily="34" charset="0"/>
                <a:ea typeface="Inter" pitchFamily="34" charset="-122"/>
                <a:cs typeface="Inter" pitchFamily="34" charset="-120"/>
              </a:rPr>
              <a:t>Zhang, J., Yu, B., Ge, Y., Gao, J., Sheng, C. (2024). An Effective GNSS/PDR Fusion Positioning Algorithm on Smartphones for Challenging Scenarios. Sensors 24(5), 1452. doi:10.3390/s24051452</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xt_688"/>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A03</a:t>
            </a:r>
            <a:endParaRPr lang="en-US" sz="1100" dirty="0"/>
          </a:p>
        </p:txBody>
      </p:sp>
      <p:sp>
        <p:nvSpPr>
          <p:cNvPr id="3" name="kicker_689"/>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EVIDENCE MATRIX 1/6</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Evidence matrix: U01–U03</a:t>
            </a:r>
            <a:endParaRPr lang="en-US" sz="3000" dirty="0"/>
          </a:p>
        </p:txBody>
      </p:sp>
      <p:sp>
        <p:nvSpPr>
          <p:cNvPr id="5" name="txt_690"/>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FINDINGS QUOTED WITH CONDITIONS</a:t>
            </a:r>
            <a:endParaRPr lang="en-US" sz="1000" dirty="0"/>
          </a:p>
        </p:txBody>
      </p:sp>
      <p:sp>
        <p:nvSpPr>
          <p:cNvPr id="6" name="txt_691"/>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See A01–A02 for full citations</a:t>
            </a:r>
            <a:endParaRPr lang="en-US" sz="1000" dirty="0"/>
          </a:p>
        </p:txBody>
      </p:sp>
      <p:sp>
        <p:nvSpPr>
          <p:cNvPr id="7" name="txt_692"/>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A03 ]</a:t>
            </a:r>
            <a:endParaRPr lang="en-US" sz="1200" dirty="0"/>
          </a:p>
        </p:txBody>
      </p:sp>
      <p:graphicFrame>
        <p:nvGraphicFramePr>
          <p:cNvPr id="22" name="tbl_693"/>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65176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WORK</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VENUE · TYPE</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METHOD &amp; CONTEXT</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FINDINGS (AS REPORTED)</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LIMITS</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NAVI IMPLICATION</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READ DEPTH</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U01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Applied Sci. · study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30 adults; landmark booklet vs map screenshots vs paper map; 1.7 km route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Landmark group: more initial survey knowledge; route-drawing weaker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Small N; paper aids; data from 2016 ethics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Arrival cue should name entrance/landmark (proposed)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discussion, conclusions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U02 2025</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Drones ·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ODA methods compared by obstacle, environment, sensors, maps, path status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66% 3D; 47% static+dynamic; 7.35% energy-aware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Survey; no campus guidance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Obstacle detection out of scope; inspected routes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conclusions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U03 2022</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IJRA · experiment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Indoor UWB trilateration + altimeter; CNN corridor flight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Position error within 0.12 m; 90% corridor success at 1.4 m/s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Indoor anchors; GPS-denied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UWB accuracy not transferred to M8N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results, conclusion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xt_694"/>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A04</a:t>
            </a:r>
            <a:endParaRPr lang="en-US" sz="1100" dirty="0"/>
          </a:p>
        </p:txBody>
      </p:sp>
      <p:sp>
        <p:nvSpPr>
          <p:cNvPr id="3" name="kicker_695"/>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EVIDENCE MATRIX 2/6</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Evidence matrix: U04–U06</a:t>
            </a:r>
            <a:endParaRPr lang="en-US" sz="3000" dirty="0"/>
          </a:p>
        </p:txBody>
      </p:sp>
      <p:sp>
        <p:nvSpPr>
          <p:cNvPr id="5" name="txt_696"/>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FINDINGS QUOTED WITH CONDITIONS</a:t>
            </a:r>
            <a:endParaRPr lang="en-US" sz="1000" dirty="0"/>
          </a:p>
        </p:txBody>
      </p:sp>
      <p:sp>
        <p:nvSpPr>
          <p:cNvPr id="6" name="txt_697"/>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See A01–A02 for full citations</a:t>
            </a:r>
            <a:endParaRPr lang="en-US" sz="1000" dirty="0"/>
          </a:p>
        </p:txBody>
      </p:sp>
      <p:sp>
        <p:nvSpPr>
          <p:cNvPr id="7" name="txt_698"/>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A04 ]</a:t>
            </a:r>
            <a:endParaRPr lang="en-US" sz="1200" dirty="0"/>
          </a:p>
        </p:txBody>
      </p:sp>
      <p:graphicFrame>
        <p:nvGraphicFramePr>
          <p:cNvPr id="23" name="tbl_699"/>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43840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WORK</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VENUE · TYPE</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METHOD &amp; CONTEXT</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FINDINGS (AS REPORTED)</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LIMITS</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NAVI IMPLICATION</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READ DEPTH</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U04 2019</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IEEE Access ·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HDI survey: control, communication, proxemics, prototypes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Distance depends on culture, design; safety &amp; flight time limits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Pre-2021; few outdoor guide studies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Measure comfort distance &amp; noise in trials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proxemics, conclusion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U05 2017</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ASSETS · user study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14 visually impaired; free-floating vs leashed vs audio; indoor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Free-floating faster (82 vs 99 s); fewer errors with drones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Wizard-of-Oz; 1 m; 20 g drone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Aerial lead is credible; outdoor case untested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results, conclusion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U06 2013</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RAS ·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Human-aware navigation: comfort, naturalness, sociability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Evaluation via discomfort models or questionnaires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Wheeled robots; 2013</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Hysteresis; collect comfort ratings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evaluation, conclusion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xt_700"/>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A05</a:t>
            </a:r>
            <a:endParaRPr lang="en-US" sz="1100" dirty="0"/>
          </a:p>
        </p:txBody>
      </p:sp>
      <p:sp>
        <p:nvSpPr>
          <p:cNvPr id="3" name="kicker_701"/>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EVIDENCE MATRIX 3/6</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Evidence matrix: U07–U09</a:t>
            </a:r>
            <a:endParaRPr lang="en-US" sz="3000" dirty="0"/>
          </a:p>
        </p:txBody>
      </p:sp>
      <p:sp>
        <p:nvSpPr>
          <p:cNvPr id="5" name="txt_702"/>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FINDINGS QUOTED WITH CONDITIONS</a:t>
            </a:r>
            <a:endParaRPr lang="en-US" sz="1000" dirty="0"/>
          </a:p>
        </p:txBody>
      </p:sp>
      <p:sp>
        <p:nvSpPr>
          <p:cNvPr id="6" name="txt_703"/>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See A01–A02 for full citations</a:t>
            </a:r>
            <a:endParaRPr lang="en-US" sz="1000" dirty="0"/>
          </a:p>
        </p:txBody>
      </p:sp>
      <p:sp>
        <p:nvSpPr>
          <p:cNvPr id="7" name="txt_704"/>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A05 ]</a:t>
            </a:r>
            <a:endParaRPr lang="en-US" sz="1200" dirty="0"/>
          </a:p>
        </p:txBody>
      </p:sp>
      <p:graphicFrame>
        <p:nvGraphicFramePr>
          <p:cNvPr id="24" name="tbl_705"/>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43840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WORK</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VENUE · TYPE</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METHOD &amp; CONTEXT</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FINDINGS (AS REPORTED)</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LIMITS</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NAVI IMPLICATION</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READ DEPTH</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U07 2017</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IJGI · prototype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OSM landmark extraction server + Android instructions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Feasible where OSM complete; weaker where sparse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Short suitability check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OSM only for boundary; wayfinder graph for routes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intro, conclusions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U08 2016</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IOP · prototype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Campus app, Voronoi landmark orientation; 14 first-time visitors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Judged useful; landmarks recognised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Questionnaire; one route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Recruit first-time visitors for trials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Full (short paper)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U09 2009</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ACM GIS · algorithm</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HMM map matching; 80 km drive ground truth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Perfect at 1 s; robust to 30 s gaps &amp; noise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Vehicle, roads, offline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Sequence-aware snapping if projection unstable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results, conclusions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xt_706"/>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A06</a:t>
            </a:r>
            <a:endParaRPr lang="en-US" sz="1100" dirty="0"/>
          </a:p>
        </p:txBody>
      </p:sp>
      <p:sp>
        <p:nvSpPr>
          <p:cNvPr id="3" name="kicker_707"/>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EVIDENCE MATRIX 4/6</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Evidence matrix: U10–S02</a:t>
            </a:r>
            <a:endParaRPr lang="en-US" sz="3000" dirty="0"/>
          </a:p>
        </p:txBody>
      </p:sp>
      <p:sp>
        <p:nvSpPr>
          <p:cNvPr id="5" name="txt_708"/>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FINDINGS QUOTED WITH CONDITIONS</a:t>
            </a:r>
            <a:endParaRPr lang="en-US" sz="1000" dirty="0"/>
          </a:p>
        </p:txBody>
      </p:sp>
      <p:sp>
        <p:nvSpPr>
          <p:cNvPr id="6" name="txt_709"/>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See A01–A02 for full citations</a:t>
            </a:r>
            <a:endParaRPr lang="en-US" sz="1000" dirty="0"/>
          </a:p>
        </p:txBody>
      </p:sp>
      <p:sp>
        <p:nvSpPr>
          <p:cNvPr id="7" name="txt_710"/>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A06 ]</a:t>
            </a:r>
            <a:endParaRPr lang="en-US" sz="1200" dirty="0"/>
          </a:p>
        </p:txBody>
      </p:sp>
      <p:graphicFrame>
        <p:nvGraphicFramePr>
          <p:cNvPr id="25" name="tbl_711"/>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43840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WORK</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VENUE · TYPE</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METHOD &amp; CONTEXT</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FINDINGS (AS REPORTED)</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LIMITS</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NAVI IMPLICATION</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READ DEPTH</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U10 2017</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DSD ·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15+ open hardware/software flight platforms compared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ArduPilot/PX4 mature open stacks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2017 board list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Open stack + MAVLink; verify F405 V3 support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Abstract, comparison, conclusion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S01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Vision · 2 experiments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AR/VR, N=28 &amp; N=20; virtual 25 cm drone; height, angle, look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Means 1.84 m / 1.62 m; larger above eye level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Virtual drone; young samples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Does not validate 15 m; measure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Full text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S02 2026</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Drones · systematic review</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PRISMA; 13 studies 2016–2025; adults 65+</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Acceptance ↔ usability, safety, familiarity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Health/home contexts; heterogeneous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Include older visitors; simple UI</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Methods, results, conclusions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xt_712"/>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A07</a:t>
            </a:r>
            <a:endParaRPr lang="en-US" sz="1100" dirty="0"/>
          </a:p>
        </p:txBody>
      </p:sp>
      <p:sp>
        <p:nvSpPr>
          <p:cNvPr id="3" name="kicker_713"/>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EVIDENCE MATRIX 5/6</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Evidence matrix: S03–S05</a:t>
            </a:r>
            <a:endParaRPr lang="en-US" sz="3000" dirty="0"/>
          </a:p>
        </p:txBody>
      </p:sp>
      <p:sp>
        <p:nvSpPr>
          <p:cNvPr id="5" name="txt_714"/>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FINDINGS QUOTED WITH CONDITIONS</a:t>
            </a:r>
            <a:endParaRPr lang="en-US" sz="1000" dirty="0"/>
          </a:p>
        </p:txBody>
      </p:sp>
      <p:sp>
        <p:nvSpPr>
          <p:cNvPr id="6" name="txt_715"/>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See A01–A02 for full citations</a:t>
            </a:r>
            <a:endParaRPr lang="en-US" sz="1000" dirty="0"/>
          </a:p>
        </p:txBody>
      </p:sp>
      <p:sp>
        <p:nvSpPr>
          <p:cNvPr id="7" name="txt_716"/>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A07 ]</a:t>
            </a:r>
            <a:endParaRPr lang="en-US" sz="1200" dirty="0"/>
          </a:p>
        </p:txBody>
      </p:sp>
      <p:graphicFrame>
        <p:nvGraphicFramePr>
          <p:cNvPr id="26" name="tbl_717"/>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43840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WORK</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VENUE · TYPE</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METHOD &amp; CONTEXT</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FINDINGS (AS REPORTED)</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LIMITS</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NAVI IMPLICATION</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READ DEPTH</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S03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IJRR ·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Four taxonomies: robot, planning, awareness, evaluation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~18 aerial works; rotor noise affects perceived safety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Ground-robot dominated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Altitude &amp; noise as comfort variables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PARTIAL: taxonomy sections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S04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Sensors · review</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Requirements grounded in user studies → planners &amp; metrics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Physical &amp; perceived safety, naturalness, norms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Ground robots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Map acceptance targets to requirements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PARTIAL: §1–3.5</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S05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RAIRO-OR ·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Classical/exact vs soft-computing vs hybrid planners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No planner optimal in all scenarios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Generic UAV survey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Dijkstra on static inspected graph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Full PDF</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xt_718"/>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A08</a:t>
            </a:r>
            <a:endParaRPr lang="en-US" sz="1100" dirty="0"/>
          </a:p>
        </p:txBody>
      </p:sp>
      <p:sp>
        <p:nvSpPr>
          <p:cNvPr id="3" name="kicker_719"/>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LITERATURE EVIDENCE MATRIX 6/6</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Evidence matrix: S06–S07</a:t>
            </a:r>
            <a:endParaRPr lang="en-US" sz="3000" dirty="0"/>
          </a:p>
        </p:txBody>
      </p:sp>
      <p:sp>
        <p:nvSpPr>
          <p:cNvPr id="5" name="txt_720"/>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LITERATURE · FINDINGS QUOTED WITH CONDITIONS</a:t>
            </a:r>
            <a:endParaRPr lang="en-US" sz="1000" dirty="0"/>
          </a:p>
        </p:txBody>
      </p:sp>
      <p:sp>
        <p:nvSpPr>
          <p:cNvPr id="6" name="txt_721"/>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See A01–A02 for full citations</a:t>
            </a:r>
            <a:endParaRPr lang="en-US" sz="1000" dirty="0"/>
          </a:p>
        </p:txBody>
      </p:sp>
      <p:sp>
        <p:nvSpPr>
          <p:cNvPr id="7" name="txt_722"/>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A08 ]</a:t>
            </a:r>
            <a:endParaRPr lang="en-US" sz="1200" dirty="0"/>
          </a:p>
        </p:txBody>
      </p:sp>
      <p:graphicFrame>
        <p:nvGraphicFramePr>
          <p:cNvPr id="27" name="tbl_723"/>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149352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WORK</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VENUE · TYPE</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METHOD &amp; CONTEXT</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FINDINGS (AS REPORTED)</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LIMITS</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NAVI IMPLICATION</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000" b="1" dirty="0">
                          <a:solidFill>
                            <a:srgbClr val="00F0FF"/>
                          </a:solidFill>
                          <a:latin typeface="JetBrains Mono" pitchFamily="34" charset="0"/>
                          <a:ea typeface="JetBrains Mono" pitchFamily="34" charset="-122"/>
                          <a:cs typeface="JetBrains Mono" pitchFamily="34" charset="-120"/>
                        </a:rPr>
                        <a:t>READ DEPTH</a:t>
                      </a:r>
                      <a:endParaRPr lang="en-US" sz="10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S06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Sensors · method + test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Switched adaptive KF, phone IMU + GNSS; 150 m, one phone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2D RMSE 0.78 / 0.89 m (GNSS lost), 0.31 m whole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Planned-path reference; raw data logging</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Browser API lacks raw IMU; measure handsets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Authors’ manuscript (full)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00F0FF"/>
                          </a:solidFill>
                          <a:latin typeface="Inter" pitchFamily="34" charset="0"/>
                          <a:ea typeface="Inter" pitchFamily="34" charset="-122"/>
                          <a:cs typeface="Inter" pitchFamily="34" charset="-120"/>
                        </a:rPr>
                        <a:t>S07 2024</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Sensors · method + test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Android GNSS/PDR fusion; open, semi-open, blocked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PDR parts: steps &gt;96%, heading 5.25°</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Fusion results NOT accessed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Native app needed; logged option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94A3B8"/>
                          </a:solidFill>
                          <a:latin typeface="Inter" pitchFamily="34" charset="0"/>
                          <a:ea typeface="Inter" pitchFamily="34" charset="-122"/>
                          <a:cs typeface="Inter" pitchFamily="34" charset="-120"/>
                        </a:rPr>
                        <a:t>PARTIAL: §1–2 only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xt_724"/>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A09</a:t>
            </a:r>
            <a:endParaRPr lang="en-US" sz="1100" dirty="0"/>
          </a:p>
        </p:txBody>
      </p:sp>
      <p:sp>
        <p:nvSpPr>
          <p:cNvPr id="3" name="kicker_725"/>
          <p:cNvSpPr txBox="1"/>
          <p:nvPr/>
        </p:nvSpPr>
        <p:spPr>
          <a:xfrm>
            <a:off x="457200" y="548640"/>
            <a:ext cx="401193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TEAM · PROPOSED ALLOCATION</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Team responsibilities: proposed allocation</a:t>
            </a:r>
            <a:endParaRPr lang="en-US" sz="3000" dirty="0"/>
          </a:p>
        </p:txBody>
      </p:sp>
      <p:sp>
        <p:nvSpPr>
          <p:cNvPr id="5" name="txt_726"/>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PROPOSED ALLOCATION · NOT COMPLETED INDIVIDUAL ACHIEVEMENTS</a:t>
            </a:r>
            <a:endParaRPr lang="en-US" sz="1000" dirty="0"/>
          </a:p>
        </p:txBody>
      </p:sp>
      <p:sp>
        <p:nvSpPr>
          <p:cNvPr id="6" name="txt_727"/>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§2 pp3–4</a:t>
            </a:r>
            <a:endParaRPr lang="en-US" sz="1000" dirty="0"/>
          </a:p>
        </p:txBody>
      </p:sp>
      <p:sp>
        <p:nvSpPr>
          <p:cNvPr id="7" name="txt_728"/>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A09 ]</a:t>
            </a:r>
            <a:endParaRPr lang="en-US" sz="1200" dirty="0"/>
          </a:p>
        </p:txBody>
      </p:sp>
      <p:graphicFrame>
        <p:nvGraphicFramePr>
          <p:cNvPr id="28" name="tbl_729"/>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636520"/>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gridCol w="1581912">
                  <a:extLst>
                    <a:ext uri="{9D8B030D-6E8A-4147-A177-3AD203B41FA5}">
                      <a16:colId xmlns:a16="http://schemas.microsoft.com/office/drawing/2014/main" val="20004"/>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MEMBER</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REG. NO.</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SCHOOL</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PROPOSED RESPONSIBILITY</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SUGGESTED SLIDES</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Carollo Aradhan V</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26BMH1173</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SMEC</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Airframe integration, propulsion mounting, landing gear, vibration isolation, weight and thrust budget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11–12</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Utkarsh Dilipkumar Ghorpade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26BEC1215</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SENSE</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Power and wiring, GPS/compass, telemetry, battery and charging</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10, 17</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N Arun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26BCE1550</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SCOPE</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ArduPilot setup, MAVLink integration, pacing controller, failsafes, SITL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7–8, 10, 13, 18</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Muhammed Farhan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26BCE1551</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SCOPE</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Campus graph, route planning, leg splitting, pad placement, geofence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6, 9, 13, 15</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Sayanjeet Das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26BCE5502</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SCOPE</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Visitor interface, kiosk, validation planning, documentation, budget tracking</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JetBrains Mono" pitchFamily="34" charset="0"/>
                          <a:ea typeface="JetBrains Mono" pitchFamily="34" charset="-122"/>
                          <a:cs typeface="JetBrains Mono" pitchFamily="34" charset="-120"/>
                        </a:rPr>
                        <a:t>1–5, 14, 16</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xt_730"/>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A10</a:t>
            </a:r>
            <a:endParaRPr lang="en-US" sz="1100" dirty="0"/>
          </a:p>
        </p:txBody>
      </p:sp>
      <p:sp>
        <p:nvSpPr>
          <p:cNvPr id="3" name="kicker_731"/>
          <p:cNvSpPr txBox="1"/>
          <p:nvPr/>
        </p:nvSpPr>
        <p:spPr>
          <a:xfrm>
            <a:off x="457200" y="548640"/>
            <a:ext cx="438912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REFERENCE PHOTOS · MISMATCHES</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Reference photos with mismatches flagged</a:t>
            </a:r>
            <a:endParaRPr lang="en-US" sz="3000" dirty="0"/>
          </a:p>
        </p:txBody>
      </p:sp>
      <p:sp>
        <p:nvSpPr>
          <p:cNvPr id="5" name="txt_732"/>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REFERENCE IMAGES · NOT PHOTOS OF TEAM HARDWARE</a:t>
            </a:r>
            <a:endParaRPr lang="en-US" sz="1000" dirty="0"/>
          </a:p>
        </p:txBody>
      </p:sp>
      <p:sp>
        <p:nvSpPr>
          <p:cNvPr id="6" name="txt_733"/>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User-supplied photos; Summary §7</a:t>
            </a:r>
            <a:endParaRPr lang="en-US" sz="1000" dirty="0"/>
          </a:p>
        </p:txBody>
      </p:sp>
      <p:sp>
        <p:nvSpPr>
          <p:cNvPr id="7" name="txt_734"/>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A10 ]</a:t>
            </a:r>
            <a:endParaRPr lang="en-US" sz="1200" dirty="0"/>
          </a:p>
        </p:txBody>
      </p:sp>
      <p:sp>
        <p:nvSpPr>
          <p:cNvPr id="9" name="txt_735"/>
          <p:cNvSpPr txBox="1"/>
          <p:nvPr/>
        </p:nvSpPr>
        <p:spPr>
          <a:xfrm>
            <a:off x="457200" y="1645920"/>
            <a:ext cx="11277295" cy="274320"/>
          </a:xfrm>
          <a:prstGeom prst="rect">
            <a:avLst/>
          </a:prstGeom>
          <a:noFill/>
          <a:ln/>
        </p:spPr>
        <p:txBody>
          <a:bodyPr wrap="square" lIns="0" tIns="0" rIns="0" bIns="0" rtlCol="0" anchor="t"/>
          <a:lstStyle/>
          <a:p>
            <a:pPr marL="0" indent="0">
              <a:buNone/>
            </a:pPr>
            <a:r>
              <a:rPr lang="en-US" sz="1400" dirty="0">
                <a:solidFill>
                  <a:srgbClr val="94A3B8"/>
                </a:solidFill>
                <a:latin typeface="Inter" pitchFamily="34" charset="0"/>
                <a:ea typeface="Inter" pitchFamily="34" charset="-122"/>
                <a:cs typeface="Inter" pitchFamily="34" charset="-120"/>
              </a:rPr>
              <a:t>User-supplied component reference images. Supplier not identifiable from the files. Printed markings are not retouched.</a:t>
            </a:r>
            <a:endParaRPr lang="en-US" sz="1400" dirty="0"/>
          </a:p>
        </p:txBody>
      </p:sp>
      <p:sp>
        <p:nvSpPr>
          <p:cNvPr id="10" name="box_736"/>
          <p:cNvSpPr/>
          <p:nvPr/>
        </p:nvSpPr>
        <p:spPr>
          <a:xfrm>
            <a:off x="457200" y="1965960"/>
            <a:ext cx="1516990" cy="1516990"/>
          </a:xfrm>
          <a:prstGeom prst="roundRect">
            <a:avLst>
              <a:gd name="adj" fmla="val 2411"/>
            </a:avLst>
          </a:prstGeom>
          <a:solidFill>
            <a:srgbClr val="FFFFFF"/>
          </a:solidFill>
          <a:ln/>
        </p:spPr>
      </p:sp>
      <p:pic>
        <p:nvPicPr>
          <p:cNvPr id="11" name="img_737" descr="p_kit.jpg"/>
          <p:cNvPicPr>
            <a:picLocks noChangeAspect="1"/>
          </p:cNvPicPr>
          <p:nvPr/>
        </p:nvPicPr>
        <p:blipFill>
          <a:blip r:embed="rId3"/>
          <a:srcRect/>
          <a:stretch/>
        </p:blipFill>
        <p:spPr>
          <a:xfrm>
            <a:off x="512064" y="2020824"/>
            <a:ext cx="1407262" cy="1407262"/>
          </a:xfrm>
          <a:prstGeom prst="rect">
            <a:avLst/>
          </a:prstGeom>
        </p:spPr>
      </p:pic>
      <p:sp>
        <p:nvSpPr>
          <p:cNvPr id="12" name="txt_738"/>
          <p:cNvSpPr txBox="1"/>
          <p:nvPr/>
        </p:nvSpPr>
        <p:spPr>
          <a:xfrm>
            <a:off x="457200"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F450 KIT</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Frame, 4 motors, 4 separate ESCs, props</a:t>
            </a:r>
            <a:endParaRPr lang="en-US" sz="1500" dirty="0"/>
          </a:p>
        </p:txBody>
      </p:sp>
      <p:sp>
        <p:nvSpPr>
          <p:cNvPr id="13" name="box_739"/>
          <p:cNvSpPr/>
          <p:nvPr/>
        </p:nvSpPr>
        <p:spPr>
          <a:xfrm>
            <a:off x="2083918" y="1965960"/>
            <a:ext cx="1516990" cy="1516990"/>
          </a:xfrm>
          <a:prstGeom prst="roundRect">
            <a:avLst>
              <a:gd name="adj" fmla="val 2411"/>
            </a:avLst>
          </a:prstGeom>
          <a:solidFill>
            <a:srgbClr val="FFFFFF"/>
          </a:solidFill>
          <a:ln/>
        </p:spPr>
      </p:sp>
      <p:pic>
        <p:nvPicPr>
          <p:cNvPr id="14" name="img_740" descr="p_fc_full.jpg"/>
          <p:cNvPicPr>
            <a:picLocks noChangeAspect="1"/>
          </p:cNvPicPr>
          <p:nvPr/>
        </p:nvPicPr>
        <p:blipFill>
          <a:blip r:embed="rId4"/>
          <a:srcRect/>
          <a:stretch/>
        </p:blipFill>
        <p:spPr>
          <a:xfrm>
            <a:off x="2138782" y="2020824"/>
            <a:ext cx="1407262" cy="1407262"/>
          </a:xfrm>
          <a:prstGeom prst="rect">
            <a:avLst/>
          </a:prstGeom>
        </p:spPr>
      </p:pic>
      <p:sp>
        <p:nvSpPr>
          <p:cNvPr id="15" name="txt_741"/>
          <p:cNvSpPr txBox="1"/>
          <p:nvPr/>
        </p:nvSpPr>
        <p:spPr>
          <a:xfrm>
            <a:off x="2083918"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F405 V3 FC</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FC only</a:t>
            </a:r>
            <a:endParaRPr lang="en-US" sz="1500" dirty="0"/>
          </a:p>
        </p:txBody>
      </p:sp>
      <p:sp>
        <p:nvSpPr>
          <p:cNvPr id="16" name="txt_742"/>
          <p:cNvSpPr txBox="1"/>
          <p:nvPr/>
        </p:nvSpPr>
        <p:spPr>
          <a:xfrm>
            <a:off x="2083918" y="4214470"/>
            <a:ext cx="1516990" cy="1097280"/>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4-IN-1 ESC SHOWN IN REFERENCE ONLY</a:t>
            </a:r>
            <a:endParaRPr lang="en-US" sz="1100" dirty="0"/>
          </a:p>
        </p:txBody>
      </p:sp>
      <p:sp>
        <p:nvSpPr>
          <p:cNvPr id="17" name="box_743"/>
          <p:cNvSpPr/>
          <p:nvPr/>
        </p:nvSpPr>
        <p:spPr>
          <a:xfrm>
            <a:off x="3710635" y="1965960"/>
            <a:ext cx="1516990" cy="1516990"/>
          </a:xfrm>
          <a:prstGeom prst="roundRect">
            <a:avLst>
              <a:gd name="adj" fmla="val 2411"/>
            </a:avLst>
          </a:prstGeom>
          <a:solidFill>
            <a:srgbClr val="FFFFFF"/>
          </a:solidFill>
          <a:ln/>
        </p:spPr>
      </p:sp>
      <p:pic>
        <p:nvPicPr>
          <p:cNvPr id="18" name="img_744" descr="p_gps.jpg"/>
          <p:cNvPicPr>
            <a:picLocks noChangeAspect="1"/>
          </p:cNvPicPr>
          <p:nvPr/>
        </p:nvPicPr>
        <p:blipFill>
          <a:blip r:embed="rId5"/>
          <a:srcRect/>
          <a:stretch/>
        </p:blipFill>
        <p:spPr>
          <a:xfrm>
            <a:off x="3765499" y="2020824"/>
            <a:ext cx="1407262" cy="1407262"/>
          </a:xfrm>
          <a:prstGeom prst="rect">
            <a:avLst/>
          </a:prstGeom>
        </p:spPr>
      </p:pic>
      <p:sp>
        <p:nvSpPr>
          <p:cNvPr id="19" name="txt_745"/>
          <p:cNvSpPr txBox="1"/>
          <p:nvPr/>
        </p:nvSpPr>
        <p:spPr>
          <a:xfrm>
            <a:off x="3710635"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M8N GPS + COMPASS</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On mast</a:t>
            </a:r>
            <a:endParaRPr lang="en-US" sz="1500" dirty="0"/>
          </a:p>
        </p:txBody>
      </p:sp>
      <p:sp>
        <p:nvSpPr>
          <p:cNvPr id="20" name="box_746"/>
          <p:cNvSpPr/>
          <p:nvPr/>
        </p:nvSpPr>
        <p:spPr>
          <a:xfrm>
            <a:off x="5337353" y="1965960"/>
            <a:ext cx="1516990" cy="1516990"/>
          </a:xfrm>
          <a:prstGeom prst="roundRect">
            <a:avLst>
              <a:gd name="adj" fmla="val 2411"/>
            </a:avLst>
          </a:prstGeom>
          <a:solidFill>
            <a:srgbClr val="FFFFFF"/>
          </a:solidFill>
          <a:ln/>
        </p:spPr>
      </p:sp>
      <p:pic>
        <p:nvPicPr>
          <p:cNvPr id="21" name="img_747" descr="p_battery.jpg"/>
          <p:cNvPicPr>
            <a:picLocks noChangeAspect="1"/>
          </p:cNvPicPr>
          <p:nvPr/>
        </p:nvPicPr>
        <p:blipFill>
          <a:blip r:embed="rId6"/>
          <a:srcRect/>
          <a:stretch/>
        </p:blipFill>
        <p:spPr>
          <a:xfrm>
            <a:off x="5392217" y="2020824"/>
            <a:ext cx="1407262" cy="1407262"/>
          </a:xfrm>
          <a:prstGeom prst="rect">
            <a:avLst/>
          </a:prstGeom>
        </p:spPr>
      </p:pic>
      <p:sp>
        <p:nvSpPr>
          <p:cNvPr id="22" name="txt_748"/>
          <p:cNvSpPr txBox="1"/>
          <p:nvPr/>
        </p:nvSpPr>
        <p:spPr>
          <a:xfrm>
            <a:off x="5337353"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3S 3300 mAh LiPo</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Planned pack</a:t>
            </a:r>
            <a:endParaRPr lang="en-US" sz="1500" dirty="0"/>
          </a:p>
        </p:txBody>
      </p:sp>
      <p:sp>
        <p:nvSpPr>
          <p:cNvPr id="23" name="txt_749"/>
          <p:cNvSpPr txBox="1"/>
          <p:nvPr/>
        </p:nvSpPr>
        <p:spPr>
          <a:xfrm>
            <a:off x="5337353" y="4214470"/>
            <a:ext cx="1516990" cy="1097280"/>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REFERENCE IMAGE. FINAL PACK TO USE XT60</a:t>
            </a:r>
            <a:endParaRPr lang="en-US" sz="1100" dirty="0"/>
          </a:p>
        </p:txBody>
      </p:sp>
      <p:sp>
        <p:nvSpPr>
          <p:cNvPr id="24" name="box_750"/>
          <p:cNvSpPr/>
          <p:nvPr/>
        </p:nvSpPr>
        <p:spPr>
          <a:xfrm>
            <a:off x="6964070" y="1965960"/>
            <a:ext cx="1516990" cy="1516990"/>
          </a:xfrm>
          <a:prstGeom prst="roundRect">
            <a:avLst>
              <a:gd name="adj" fmla="val 2411"/>
            </a:avLst>
          </a:prstGeom>
          <a:solidFill>
            <a:srgbClr val="FFFFFF"/>
          </a:solidFill>
          <a:ln/>
        </p:spPr>
      </p:sp>
      <p:pic>
        <p:nvPicPr>
          <p:cNvPr id="25" name="img_751" descr="p_sik.jpg"/>
          <p:cNvPicPr>
            <a:picLocks noChangeAspect="1"/>
          </p:cNvPicPr>
          <p:nvPr/>
        </p:nvPicPr>
        <p:blipFill>
          <a:blip r:embed="rId7"/>
          <a:srcRect/>
          <a:stretch/>
        </p:blipFill>
        <p:spPr>
          <a:xfrm>
            <a:off x="7018934" y="2020824"/>
            <a:ext cx="1407262" cy="1407262"/>
          </a:xfrm>
          <a:prstGeom prst="rect">
            <a:avLst/>
          </a:prstGeom>
        </p:spPr>
      </p:pic>
      <p:sp>
        <p:nvSpPr>
          <p:cNvPr id="26" name="txt_752"/>
          <p:cNvSpPr txBox="1"/>
          <p:nvPr/>
        </p:nvSpPr>
        <p:spPr>
          <a:xfrm>
            <a:off x="6964070"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SiK TELEMETRY PAIR</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Onboard + ground</a:t>
            </a:r>
            <a:endParaRPr lang="en-US" sz="1500" dirty="0"/>
          </a:p>
        </p:txBody>
      </p:sp>
      <p:sp>
        <p:nvSpPr>
          <p:cNvPr id="27" name="txt_753"/>
          <p:cNvSpPr txBox="1"/>
          <p:nvPr/>
        </p:nvSpPr>
        <p:spPr>
          <a:xfrm>
            <a:off x="6964070" y="4214470"/>
            <a:ext cx="1516990" cy="1097280"/>
          </a:xfrm>
          <a:prstGeom prst="rect">
            <a:avLst/>
          </a:prstGeom>
          <a:noFill/>
          <a:ln/>
        </p:spPr>
        <p:txBody>
          <a:bodyPr wrap="square" lIns="0" tIns="0" rIns="0" bIns="0" rtlCol="0" anchor="t"/>
          <a:lstStyle/>
          <a:p>
            <a:pPr marL="0" indent="0">
              <a:buNone/>
            </a:pPr>
            <a:r>
              <a:rPr lang="en-US" sz="1100" b="1" dirty="0">
                <a:solidFill>
                  <a:srgbClr val="F59E0B"/>
                </a:solidFill>
                <a:latin typeface="JetBrains Mono" pitchFamily="34" charset="0"/>
                <a:ea typeface="JetBrains Mono" pitchFamily="34" charset="-122"/>
                <a:cs typeface="JetBrains Mono" pitchFamily="34" charset="-120"/>
              </a:rPr>
              <a:t>REFERENCE PHOTO: 915 MHz UNIT. PLANNED LINK: 433 MHz</a:t>
            </a:r>
            <a:endParaRPr lang="en-US" sz="1100" dirty="0"/>
          </a:p>
        </p:txBody>
      </p:sp>
      <p:sp>
        <p:nvSpPr>
          <p:cNvPr id="28" name="box_754"/>
          <p:cNvSpPr/>
          <p:nvPr/>
        </p:nvSpPr>
        <p:spPr>
          <a:xfrm>
            <a:off x="8590788" y="1965960"/>
            <a:ext cx="1516990" cy="1516990"/>
          </a:xfrm>
          <a:prstGeom prst="roundRect">
            <a:avLst>
              <a:gd name="adj" fmla="val 2411"/>
            </a:avLst>
          </a:prstGeom>
          <a:solidFill>
            <a:srgbClr val="FFFFFF"/>
          </a:solidFill>
          <a:ln/>
        </p:spPr>
      </p:sp>
      <p:pic>
        <p:nvPicPr>
          <p:cNvPr id="29" name="img_755" descr="p_b6ac.jpg"/>
          <p:cNvPicPr>
            <a:picLocks noChangeAspect="1"/>
          </p:cNvPicPr>
          <p:nvPr/>
        </p:nvPicPr>
        <p:blipFill>
          <a:blip r:embed="rId8"/>
          <a:srcRect/>
          <a:stretch/>
        </p:blipFill>
        <p:spPr>
          <a:xfrm>
            <a:off x="8645652" y="2020824"/>
            <a:ext cx="1407262" cy="1407262"/>
          </a:xfrm>
          <a:prstGeom prst="rect">
            <a:avLst/>
          </a:prstGeom>
        </p:spPr>
      </p:pic>
      <p:sp>
        <p:nvSpPr>
          <p:cNvPr id="30" name="txt_756"/>
          <p:cNvSpPr txBox="1"/>
          <p:nvPr/>
        </p:nvSpPr>
        <p:spPr>
          <a:xfrm>
            <a:off x="8590788"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iMAX B6AC</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Ground charger</a:t>
            </a:r>
            <a:endParaRPr lang="en-US" sz="1500" dirty="0"/>
          </a:p>
        </p:txBody>
      </p:sp>
      <p:sp>
        <p:nvSpPr>
          <p:cNvPr id="31" name="box_757"/>
          <p:cNvSpPr/>
          <p:nvPr/>
        </p:nvSpPr>
        <p:spPr>
          <a:xfrm>
            <a:off x="10217506" y="1965960"/>
            <a:ext cx="1516990" cy="1516990"/>
          </a:xfrm>
          <a:prstGeom prst="roundRect">
            <a:avLst>
              <a:gd name="adj" fmla="val 2411"/>
            </a:avLst>
          </a:prstGeom>
          <a:solidFill>
            <a:srgbClr val="FFFFFF"/>
          </a:solidFill>
          <a:ln/>
        </p:spPr>
      </p:sp>
      <p:pic>
        <p:nvPicPr>
          <p:cNvPr id="32" name="img_758" descr="p_esp32.jpg"/>
          <p:cNvPicPr>
            <a:picLocks noChangeAspect="1"/>
          </p:cNvPicPr>
          <p:nvPr/>
        </p:nvPicPr>
        <p:blipFill>
          <a:blip r:embed="rId9"/>
          <a:srcRect/>
          <a:stretch/>
        </p:blipFill>
        <p:spPr>
          <a:xfrm>
            <a:off x="10272370" y="2020824"/>
            <a:ext cx="1407262" cy="1407262"/>
          </a:xfrm>
          <a:prstGeom prst="rect">
            <a:avLst/>
          </a:prstGeom>
        </p:spPr>
      </p:pic>
      <p:sp>
        <p:nvSpPr>
          <p:cNvPr id="33" name="txt_759"/>
          <p:cNvSpPr txBox="1"/>
          <p:nvPr/>
        </p:nvSpPr>
        <p:spPr>
          <a:xfrm>
            <a:off x="10217506" y="3556102"/>
            <a:ext cx="1516990" cy="640080"/>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ESP32 DevKit</a:t>
            </a:r>
            <a:endParaRPr lang="en-US" sz="1500" dirty="0"/>
          </a:p>
          <a:p>
            <a:pPr marL="0" indent="0">
              <a:buNone/>
            </a:pPr>
            <a:r>
              <a:rPr lang="en-US" sz="1400" dirty="0">
                <a:solidFill>
                  <a:srgbClr val="94A3B8"/>
                </a:solidFill>
                <a:latin typeface="Inter" pitchFamily="34" charset="0"/>
                <a:ea typeface="Inter" pitchFamily="34" charset="-122"/>
                <a:cs typeface="Inter" pitchFamily="34" charset="-120"/>
              </a:rPr>
              <a:t>Optional Wi-Fi bridge</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xt_760"/>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A11</a:t>
            </a:r>
            <a:endParaRPr lang="en-US" sz="1100" dirty="0"/>
          </a:p>
        </p:txBody>
      </p:sp>
      <p:sp>
        <p:nvSpPr>
          <p:cNvPr id="3" name="kicker_761"/>
          <p:cNvSpPr txBox="1"/>
          <p:nvPr/>
        </p:nvSpPr>
        <p:spPr>
          <a:xfrm>
            <a:off x="457200" y="548640"/>
            <a:ext cx="501777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COMPONENT BOM · PLANNING ESTIMATES</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Bill of materials: planning estimates by stage</a:t>
            </a:r>
            <a:endParaRPr lang="en-US" sz="3000" dirty="0"/>
          </a:p>
        </p:txBody>
      </p:sp>
      <p:sp>
        <p:nvSpPr>
          <p:cNvPr id="5" name="txt_762"/>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PLANNING ESTIMATE · ONLY AIRFRAME KIT PRICE CONFIRMED</a:t>
            </a:r>
            <a:endParaRPr lang="en-US" sz="1000" dirty="0"/>
          </a:p>
        </p:txBody>
      </p:sp>
      <p:sp>
        <p:nvSpPr>
          <p:cNvPr id="6" name="txt_763"/>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§6 pp5–7; §7 p7</a:t>
            </a:r>
            <a:endParaRPr lang="en-US" sz="1000" dirty="0"/>
          </a:p>
        </p:txBody>
      </p:sp>
      <p:sp>
        <p:nvSpPr>
          <p:cNvPr id="7" name="txt_764"/>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A11 ]</a:t>
            </a:r>
            <a:endParaRPr lang="en-US" sz="1200" dirty="0"/>
          </a:p>
        </p:txBody>
      </p:sp>
      <p:graphicFrame>
        <p:nvGraphicFramePr>
          <p:cNvPr id="30" name="tbl_765"/>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514600"/>
        </p:xfrm>
        <a:graphic>
          <a:graphicData uri="http://schemas.openxmlformats.org/drawingml/2006/table">
            <a:tbl>
              <a:tblPr/>
              <a:tblGrid>
                <a:gridCol w="3566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ITEM</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SPEC</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APPROX. PRICE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STAGE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F450 kit (frame, 4× A2212 1000KV, 4× 30A ESC, props)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Untick KK2.1.5 board in combo</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₹4,059 (confirmed listing)</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Airframe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Flight controller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SpeedyBee F405 V3, FC only; on ArduPilot list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₹3,000–4,500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RC radio</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FlySky FS-i6X + iA6B (iBUS)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₹3,500–4,500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Battery · charger · power module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3S 3300 mAh XT60 · iMAX B6AC · V/I + 5 V</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₹1,500–2,200 · ₹1,200–2,500 · ₹500–800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GPS + 2nd battery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NEO-M8N/M10 with compass, mast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₹1,200–2,000 · ₹1,500–2,200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Ground link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SiK 433 MHz pair (or ESP32 bridge ₹400–500)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₹2,500–4,000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xt_766"/>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A12</a:t>
            </a:r>
            <a:endParaRPr lang="en-US" sz="1100" dirty="0"/>
          </a:p>
        </p:txBody>
      </p:sp>
      <p:sp>
        <p:nvSpPr>
          <p:cNvPr id="3" name="kicker_767"/>
          <p:cNvSpPr txBox="1"/>
          <p:nvPr/>
        </p:nvSpPr>
        <p:spPr>
          <a:xfrm>
            <a:off x="457200" y="548640"/>
            <a:ext cx="413766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BUDGET · STAGED PROCUREMENT</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Budget ranges sit around, not inside, the ₹25,000 pool</a:t>
            </a:r>
            <a:endParaRPr lang="en-US" sz="3000" dirty="0"/>
          </a:p>
        </p:txBody>
      </p:sp>
      <p:sp>
        <p:nvSpPr>
          <p:cNvPr id="5" name="txt_768"/>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PLANNING ESTIMATE · PRICES MUST BE RECHECKED BEFORE ORDERING</a:t>
            </a:r>
            <a:endParaRPr lang="en-US" sz="1000" dirty="0"/>
          </a:p>
        </p:txBody>
      </p:sp>
      <p:sp>
        <p:nvSpPr>
          <p:cNvPr id="6" name="txt_769"/>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§6 pp5–7</a:t>
            </a:r>
            <a:endParaRPr lang="en-US" sz="1000" dirty="0"/>
          </a:p>
        </p:txBody>
      </p:sp>
      <p:sp>
        <p:nvSpPr>
          <p:cNvPr id="7" name="txt_770"/>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A12 ]</a:t>
            </a:r>
            <a:endParaRPr lang="en-US" sz="1200" dirty="0"/>
          </a:p>
        </p:txBody>
      </p:sp>
      <p:graphicFrame>
        <p:nvGraphicFramePr>
          <p:cNvPr id="31" name="tbl_771"/>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179320"/>
        </p:xfrm>
        <a:graphic>
          <a:graphicData uri="http://schemas.openxmlformats.org/drawingml/2006/table">
            <a:tbl>
              <a:tblPr/>
              <a:tblGrid>
                <a:gridCol w="51206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CONFIGURATION</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RANGE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AT MID PRICES</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500" b="1" dirty="0">
                          <a:solidFill>
                            <a:srgbClr val="F8FAFC"/>
                          </a:solidFill>
                          <a:latin typeface="Inter" pitchFamily="34" charset="0"/>
                          <a:ea typeface="Inter" pitchFamily="34" charset="-122"/>
                          <a:cs typeface="Inter" pitchFamily="34" charset="-120"/>
                        </a:rPr>
                        <a:t>Airframe (identified)</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 ₹4,600 incl. spare motor &amp; XT60 pairs</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500" b="1" dirty="0">
                          <a:solidFill>
                            <a:srgbClr val="F8FAFC"/>
                          </a:solidFill>
                          <a:latin typeface="Inter" pitchFamily="34" charset="0"/>
                          <a:ea typeface="Inter" pitchFamily="34" charset="-122"/>
                          <a:cs typeface="Inter" pitchFamily="34" charset="-120"/>
                        </a:rPr>
                        <a:t>Stage 1: get it hovering</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₹11,300–17,100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500" b="1" dirty="0">
                          <a:solidFill>
                            <a:srgbClr val="F8FAFC"/>
                          </a:solidFill>
                          <a:latin typeface="Inter" pitchFamily="34" charset="0"/>
                          <a:ea typeface="Inter" pitchFamily="34" charset="-122"/>
                          <a:cs typeface="Inter" pitchFamily="34" charset="-120"/>
                        </a:rPr>
                        <a:t>Airframe + Stage 1 + Stage 2 (supervised autonomy)</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₹18,600–25,900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 ₹20,000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500" b="1" dirty="0">
                          <a:solidFill>
                            <a:srgbClr val="F8FAFC"/>
                          </a:solidFill>
                          <a:latin typeface="Inter" pitchFamily="34" charset="0"/>
                          <a:ea typeface="Inter" pitchFamily="34" charset="-122"/>
                          <a:cs typeface="Inter" pitchFamily="34" charset="-120"/>
                        </a:rPr>
                        <a:t>+ SiK telemetry (unattended-capable)</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₹21,100–29,900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 ₹23,500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500" b="1" dirty="0">
                          <a:solidFill>
                            <a:srgbClr val="F8FAFC"/>
                          </a:solidFill>
                          <a:latin typeface="Inter" pitchFamily="34" charset="0"/>
                          <a:ea typeface="Inter" pitchFamily="34" charset="-122"/>
                          <a:cs typeface="Inter" pitchFamily="34" charset="-120"/>
                        </a:rPr>
                        <a:t>Team pool</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5 × ₹5,000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₹25,000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r h="0">
                <a:tc>
                  <a:txBody>
                    <a:bodyPr/>
                    <a:lstStyle/>
                    <a:p>
                      <a:pPr marL="0" indent="0">
                        <a:buNone/>
                      </a:pPr>
                      <a:r>
                        <a:rPr lang="en-US" sz="1500" b="1" dirty="0">
                          <a:solidFill>
                            <a:srgbClr val="F8FAFC"/>
                          </a:solidFill>
                          <a:latin typeface="Inter" pitchFamily="34" charset="0"/>
                          <a:ea typeface="Inter" pitchFamily="34" charset="-122"/>
                          <a:cs typeface="Inter" pitchFamily="34" charset="-120"/>
                        </a:rPr>
                        <a:t>Crash reserve to hold back</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₹1,500–2,000</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Inter" pitchFamily="34" charset="0"/>
                          <a:ea typeface="Inter" pitchFamily="34" charset="-122"/>
                          <a:cs typeface="Inter" pitchFamily="34" charset="-120"/>
                        </a:rPr>
                        <a:t>until proper flight</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6"/>
                  </a:ext>
                </a:extLst>
              </a:tr>
            </a:tbl>
          </a:graphicData>
        </a:graphic>
      </p:graphicFrame>
      <p:sp>
        <p:nvSpPr>
          <p:cNvPr id="10" name="box_772"/>
          <p:cNvSpPr/>
          <p:nvPr/>
        </p:nvSpPr>
        <p:spPr>
          <a:xfrm>
            <a:off x="457200" y="4846320"/>
            <a:ext cx="11277295" cy="1188720"/>
          </a:xfrm>
          <a:prstGeom prst="roundRect">
            <a:avLst>
              <a:gd name="adj" fmla="val 4615"/>
            </a:avLst>
          </a:prstGeom>
          <a:solidFill>
            <a:srgbClr val="131C2E">
              <a:alpha val="82000"/>
            </a:srgbClr>
          </a:solidFill>
          <a:ln w="9525">
            <a:solidFill>
              <a:srgbClr val="F59E0B">
                <a:alpha val="50000"/>
              </a:srgbClr>
            </a:solidFill>
            <a:prstDash val="solid"/>
          </a:ln>
        </p:spPr>
      </p:sp>
      <p:sp>
        <p:nvSpPr>
          <p:cNvPr id="11" name="txt_773"/>
          <p:cNvSpPr txBox="1"/>
          <p:nvPr/>
        </p:nvSpPr>
        <p:spPr>
          <a:xfrm>
            <a:off x="594360" y="4937760"/>
            <a:ext cx="11002975" cy="1051560"/>
          </a:xfrm>
          <a:prstGeom prst="rect">
            <a:avLst/>
          </a:prstGeom>
          <a:noFill/>
          <a:ln/>
        </p:spPr>
        <p:txBody>
          <a:bodyPr wrap="square" lIns="0" tIns="0" rIns="0" bIns="0" rtlCol="0" anchor="t"/>
          <a:lstStyle/>
          <a:p>
            <a:pPr marL="0" indent="0">
              <a:buNone/>
            </a:pPr>
            <a:r>
              <a:rPr lang="en-US" sz="1200" b="1" dirty="0">
                <a:solidFill>
                  <a:srgbClr val="F59E0B"/>
                </a:solidFill>
                <a:latin typeface="JetBrains Mono" pitchFamily="34" charset="0"/>
                <a:ea typeface="JetBrains Mono" pitchFamily="34" charset="-122"/>
                <a:cs typeface="JetBrains Mono" pitchFamily="34" charset="-120"/>
              </a:rPr>
              <a:t>BUYING RULES (SUMMARY §7)  </a:t>
            </a:r>
            <a:endParaRPr lang="en-US" sz="1500" dirty="0"/>
          </a:p>
          <a:p>
            <a:pPr marL="0" indent="0">
              <a:buNone/>
            </a:pPr>
            <a:r>
              <a:rPr lang="en-US" sz="1400" dirty="0">
                <a:solidFill>
                  <a:srgbClr val="F8FAFC"/>
                </a:solidFill>
                <a:latin typeface="Inter" pitchFamily="34" charset="0"/>
                <a:ea typeface="Inter" pitchFamily="34" charset="-122"/>
                <a:cs typeface="Inter" pitchFamily="34" charset="-120"/>
              </a:rPr>
              <a:t>FC must appear on firmware.ardupilot.org under its exact name · buy the FC alone, not an FC + 4-in-1 ESC stack · no KK2.1 / APM 2.8 boards · GPS must include a compass · receiver must output iBUS, SBUS or PPM · check motor KV and kit contents against photos · radio band legality to be checked against current official rules</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xt_774"/>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A13</a:t>
            </a:r>
            <a:endParaRPr lang="en-US" sz="1100" dirty="0"/>
          </a:p>
        </p:txBody>
      </p:sp>
      <p:sp>
        <p:nvSpPr>
          <p:cNvPr id="3" name="kicker_775"/>
          <p:cNvSpPr txBox="1"/>
          <p:nvPr/>
        </p:nvSpPr>
        <p:spPr>
          <a:xfrm>
            <a:off x="457200" y="548640"/>
            <a:ext cx="552069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POSITIONING · SEPARATION · MEASUREMENT</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A 15 m lead is a design target, not proof of safe separation</a:t>
            </a:r>
            <a:endParaRPr lang="en-US" sz="3000" dirty="0"/>
          </a:p>
        </p:txBody>
      </p:sp>
      <p:sp>
        <p:nvSpPr>
          <p:cNvPr id="5" name="txt_776"/>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PLANNING ESTIMATES · CONTEXTUAL, NOT CERTIFIED BOUNDS</a:t>
            </a:r>
            <a:endParaRPr lang="en-US" sz="1000" dirty="0"/>
          </a:p>
        </p:txBody>
      </p:sp>
      <p:sp>
        <p:nvSpPr>
          <p:cNvPr id="6" name="txt_777"/>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§8 p8; §14 p12; §17 pp13–14</a:t>
            </a:r>
            <a:endParaRPr lang="en-US" sz="1000" dirty="0"/>
          </a:p>
        </p:txBody>
      </p:sp>
      <p:sp>
        <p:nvSpPr>
          <p:cNvPr id="7" name="txt_778"/>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A13 ]</a:t>
            </a:r>
            <a:endParaRPr lang="en-US" sz="1200" dirty="0"/>
          </a:p>
        </p:txBody>
      </p:sp>
      <p:sp>
        <p:nvSpPr>
          <p:cNvPr id="9" name="box_779"/>
          <p:cNvSpPr/>
          <p:nvPr/>
        </p:nvSpPr>
        <p:spPr>
          <a:xfrm>
            <a:off x="457200" y="1691640"/>
            <a:ext cx="2737028" cy="1371600"/>
          </a:xfrm>
          <a:prstGeom prst="roundRect">
            <a:avLst>
              <a:gd name="adj" fmla="val 4000"/>
            </a:avLst>
          </a:prstGeom>
          <a:solidFill>
            <a:srgbClr val="131C2E">
              <a:alpha val="82000"/>
            </a:srgbClr>
          </a:solidFill>
          <a:ln w="9525">
            <a:solidFill>
              <a:srgbClr val="F59E0B">
                <a:alpha val="45000"/>
              </a:srgbClr>
            </a:solidFill>
            <a:prstDash val="solid"/>
          </a:ln>
        </p:spPr>
      </p:sp>
      <p:sp>
        <p:nvSpPr>
          <p:cNvPr id="10" name="txt_780"/>
          <p:cNvSpPr txBox="1"/>
          <p:nvPr/>
        </p:nvSpPr>
        <p:spPr>
          <a:xfrm>
            <a:off x="594360" y="1783080"/>
            <a:ext cx="2462708" cy="1234440"/>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AIRCRAFT GNSS</a:t>
            </a:r>
            <a:endParaRPr lang="en-US" sz="1500" dirty="0"/>
          </a:p>
          <a:p>
            <a:pPr marL="0" indent="0">
              <a:buNone/>
            </a:pPr>
            <a:r>
              <a:rPr lang="en-US" sz="3600" b="1" dirty="0">
                <a:solidFill>
                  <a:srgbClr val="F59E0B"/>
                </a:solidFill>
                <a:latin typeface="Space Grotesk" pitchFamily="34" charset="0"/>
                <a:ea typeface="Space Grotesk" pitchFamily="34" charset="-122"/>
                <a:cs typeface="Space Grotesk" pitchFamily="34" charset="-120"/>
              </a:rPr>
              <a:t>2.5–5 m</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M8N, no RTK · estimate</a:t>
            </a:r>
            <a:endParaRPr lang="en-US" sz="1500" dirty="0"/>
          </a:p>
        </p:txBody>
      </p:sp>
      <p:sp>
        <p:nvSpPr>
          <p:cNvPr id="11" name="box_781"/>
          <p:cNvSpPr/>
          <p:nvPr/>
        </p:nvSpPr>
        <p:spPr>
          <a:xfrm>
            <a:off x="3303956" y="1691640"/>
            <a:ext cx="2737028" cy="1371600"/>
          </a:xfrm>
          <a:prstGeom prst="roundRect">
            <a:avLst>
              <a:gd name="adj" fmla="val 4000"/>
            </a:avLst>
          </a:prstGeom>
          <a:solidFill>
            <a:srgbClr val="131C2E">
              <a:alpha val="82000"/>
            </a:srgbClr>
          </a:solidFill>
          <a:ln w="9525">
            <a:solidFill>
              <a:srgbClr val="F59E0B">
                <a:alpha val="45000"/>
              </a:srgbClr>
            </a:solidFill>
            <a:prstDash val="solid"/>
          </a:ln>
        </p:spPr>
      </p:sp>
      <p:sp>
        <p:nvSpPr>
          <p:cNvPr id="12" name="txt_782"/>
          <p:cNvSpPr txBox="1"/>
          <p:nvPr/>
        </p:nvSpPr>
        <p:spPr>
          <a:xfrm>
            <a:off x="3441116" y="1783080"/>
            <a:ext cx="2462708" cy="1234440"/>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VISITOR PHONE</a:t>
            </a:r>
            <a:endParaRPr lang="en-US" sz="1500" dirty="0"/>
          </a:p>
          <a:p>
            <a:pPr marL="0" indent="0">
              <a:buNone/>
            </a:pPr>
            <a:r>
              <a:rPr lang="en-US" sz="3600" b="1" dirty="0">
                <a:solidFill>
                  <a:srgbClr val="F59E0B"/>
                </a:solidFill>
                <a:latin typeface="Space Grotesk" pitchFamily="34" charset="0"/>
                <a:ea typeface="Space Grotesk" pitchFamily="34" charset="-122"/>
                <a:cs typeface="Space Grotesk" pitchFamily="34" charset="-120"/>
              </a:rPr>
              <a:t>7–13 m</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Browser geolocation · estimate</a:t>
            </a:r>
            <a:endParaRPr lang="en-US" sz="1500" dirty="0"/>
          </a:p>
        </p:txBody>
      </p:sp>
      <p:sp>
        <p:nvSpPr>
          <p:cNvPr id="13" name="box_783"/>
          <p:cNvSpPr/>
          <p:nvPr/>
        </p:nvSpPr>
        <p:spPr>
          <a:xfrm>
            <a:off x="6150712" y="1691640"/>
            <a:ext cx="2737028" cy="1371600"/>
          </a:xfrm>
          <a:prstGeom prst="roundRect">
            <a:avLst>
              <a:gd name="adj" fmla="val 4000"/>
            </a:avLst>
          </a:prstGeom>
          <a:solidFill>
            <a:srgbClr val="131C2E">
              <a:alpha val="82000"/>
            </a:srgbClr>
          </a:solidFill>
          <a:ln w="9525">
            <a:solidFill>
              <a:srgbClr val="00F0FF">
                <a:alpha val="45000"/>
              </a:srgbClr>
            </a:solidFill>
            <a:prstDash val="solid"/>
          </a:ln>
        </p:spPr>
      </p:sp>
      <p:sp>
        <p:nvSpPr>
          <p:cNvPr id="14" name="txt_784"/>
          <p:cNvSpPr txBox="1"/>
          <p:nvPr/>
        </p:nvSpPr>
        <p:spPr>
          <a:xfrm>
            <a:off x="6287872" y="1783080"/>
            <a:ext cx="2462708" cy="1234440"/>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LEAD TARGET</a:t>
            </a:r>
            <a:endParaRPr lang="en-US" sz="1500" dirty="0"/>
          </a:p>
          <a:p>
            <a:pPr marL="0" indent="0">
              <a:buNone/>
            </a:pPr>
            <a:r>
              <a:rPr lang="en-US" sz="3600" b="1" dirty="0">
                <a:solidFill>
                  <a:srgbClr val="00F0FF"/>
                </a:solidFill>
                <a:latin typeface="Space Grotesk" pitchFamily="34" charset="0"/>
                <a:ea typeface="Space Grotesk" pitchFamily="34" charset="-122"/>
                <a:cs typeface="Space Grotesk" pitchFamily="34" charset="-120"/>
              </a:rPr>
              <a:t>≈15 m</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Design target (was 10–12 m)</a:t>
            </a:r>
            <a:endParaRPr lang="en-US" sz="1500" dirty="0"/>
          </a:p>
        </p:txBody>
      </p:sp>
      <p:sp>
        <p:nvSpPr>
          <p:cNvPr id="15" name="box_785"/>
          <p:cNvSpPr/>
          <p:nvPr/>
        </p:nvSpPr>
        <p:spPr>
          <a:xfrm>
            <a:off x="8997467" y="1691640"/>
            <a:ext cx="2737028" cy="1371600"/>
          </a:xfrm>
          <a:prstGeom prst="roundRect">
            <a:avLst>
              <a:gd name="adj" fmla="val 4000"/>
            </a:avLst>
          </a:prstGeom>
          <a:solidFill>
            <a:srgbClr val="131C2E">
              <a:alpha val="82000"/>
            </a:srgbClr>
          </a:solidFill>
          <a:ln w="9525">
            <a:solidFill>
              <a:srgbClr val="00F0FF">
                <a:alpha val="45000"/>
              </a:srgbClr>
            </a:solidFill>
            <a:prstDash val="solid"/>
          </a:ln>
        </p:spPr>
      </p:sp>
      <p:sp>
        <p:nvSpPr>
          <p:cNvPr id="16" name="txt_786"/>
          <p:cNvSpPr txBox="1"/>
          <p:nvPr/>
        </p:nvSpPr>
        <p:spPr>
          <a:xfrm>
            <a:off x="9134627" y="1783080"/>
            <a:ext cx="2462708" cy="1234440"/>
          </a:xfrm>
          <a:prstGeom prst="rect">
            <a:avLst/>
          </a:prstGeom>
          <a:noFill/>
          <a:ln/>
        </p:spPr>
        <p:txBody>
          <a:bodyPr wrap="square" lIns="0" tIns="0" rIns="0" bIns="0" rtlCol="0" anchor="t"/>
          <a:lstStyle/>
          <a:p>
            <a:pPr marL="0" indent="0">
              <a:buNone/>
            </a:pPr>
            <a:r>
              <a:rPr lang="en-US" sz="1100" b="1" dirty="0">
                <a:solidFill>
                  <a:srgbClr val="94A3B8"/>
                </a:solidFill>
                <a:latin typeface="JetBrains Mono" pitchFamily="34" charset="0"/>
                <a:ea typeface="JetBrains Mono" pitchFamily="34" charset="-122"/>
                <a:cs typeface="JetBrains Mono" pitchFamily="34" charset="-120"/>
              </a:rPr>
              <a:t>PAD CLEAR AREA</a:t>
            </a:r>
            <a:endParaRPr lang="en-US" sz="1500" dirty="0"/>
          </a:p>
          <a:p>
            <a:pPr marL="0" indent="0">
              <a:buNone/>
            </a:pPr>
            <a:r>
              <a:rPr lang="en-US" sz="3600" b="1" dirty="0">
                <a:solidFill>
                  <a:srgbClr val="00F0FF"/>
                </a:solidFill>
                <a:latin typeface="Space Grotesk" pitchFamily="34" charset="0"/>
                <a:ea typeface="Space Grotesk" pitchFamily="34" charset="-122"/>
                <a:cs typeface="Space Grotesk" pitchFamily="34" charset="-120"/>
              </a:rPr>
              <a:t>≈5 × 5 m</a:t>
            </a:r>
            <a:endParaRPr lang="en-US" sz="1500" dirty="0"/>
          </a:p>
          <a:p>
            <a:pPr marL="0" indent="0">
              <a:buNone/>
            </a:pPr>
            <a:r>
              <a:rPr lang="en-US" sz="1300" dirty="0">
                <a:solidFill>
                  <a:srgbClr val="94A3B8"/>
                </a:solidFill>
                <a:latin typeface="Inter" pitchFamily="34" charset="0"/>
                <a:ea typeface="Inter" pitchFamily="34" charset="-122"/>
                <a:cs typeface="Inter" pitchFamily="34" charset="-120"/>
              </a:rPr>
              <a:t>Design target · GPS scatter</a:t>
            </a:r>
            <a:endParaRPr lang="en-US" sz="1500" dirty="0"/>
          </a:p>
        </p:txBody>
      </p:sp>
      <p:graphicFrame>
        <p:nvGraphicFramePr>
          <p:cNvPr id="32" name="tbl_787"/>
          <p:cNvGraphicFramePr>
            <a:graphicFrameLocks noGrp="1"/>
          </p:cNvGraphicFramePr>
          <p:nvPr>
            <p:extLst>
              <p:ext uri="{D42A27DB-BD31-4B8C-83A1-F6EECF244321}">
                <p14:modId xmlns:p14="http://schemas.microsoft.com/office/powerpoint/2010/main" val="1579011935"/>
              </p:ext>
            </p:extLst>
          </p:nvPr>
        </p:nvGraphicFramePr>
        <p:xfrm>
          <a:off x="457200" y="3246120"/>
          <a:ext cx="11274552" cy="1691640"/>
        </p:xfrm>
        <a:graphic>
          <a:graphicData uri="http://schemas.openxmlformats.org/drawingml/2006/table">
            <a:tbl>
              <a:tblPr/>
              <a:tblGrid>
                <a:gridCol w="5852160">
                  <a:extLst>
                    <a:ext uri="{9D8B030D-6E8A-4147-A177-3AD203B41FA5}">
                      <a16:colId xmlns:a16="http://schemas.microsoft.com/office/drawing/2014/main" val="20000"/>
                    </a:ext>
                  </a:extLst>
                </a:gridCol>
                <a:gridCol w="5422392">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PROPOSED MITIGATION (DESIGN INTENT)</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MEASUREMENT THAT RESOLVES IT</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Reject samples implying impossible walking speed; require several consistent samples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Log several handsets on a known route; derive error distribution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Project visitor onto the route graph; hysteresis on hold/resume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Tune L_hold / L_resume in SITL, then with a walking volunteer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Operator phone or dedicated tracker if visitor phone locks or degrades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Test screen-lock throttling on target handsets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Hold whenever readings disagree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GPS spot-check at 5–6 known nodes; hover error vs wind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xt_788"/>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A14</a:t>
            </a:r>
            <a:endParaRPr lang="en-US" sz="1100" dirty="0"/>
          </a:p>
        </p:txBody>
      </p:sp>
      <p:sp>
        <p:nvSpPr>
          <p:cNvPr id="3" name="kicker_789"/>
          <p:cNvSpPr txBox="1"/>
          <p:nvPr/>
        </p:nvSpPr>
        <p:spPr>
          <a:xfrm>
            <a:off x="457200" y="548640"/>
            <a:ext cx="526923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ENDURANCE · WALKING TIME · LEG LIMIT</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350 m stays provisional until endurance is measured</a:t>
            </a:r>
            <a:endParaRPr lang="en-US" sz="3000" dirty="0"/>
          </a:p>
        </p:txBody>
      </p:sp>
      <p:sp>
        <p:nvSpPr>
          <p:cNvPr id="5" name="txt_790"/>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RECALCULATED FROM SUMMARY ASSUMPTIONS · NOT MEASURED</a:t>
            </a:r>
            <a:endParaRPr lang="en-US" sz="1000" dirty="0"/>
          </a:p>
        </p:txBody>
      </p:sp>
      <p:sp>
        <p:nvSpPr>
          <p:cNvPr id="6" name="txt_791"/>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§8 p8; §10 p9</a:t>
            </a:r>
            <a:endParaRPr lang="en-US" sz="1000" dirty="0"/>
          </a:p>
        </p:txBody>
      </p:sp>
      <p:sp>
        <p:nvSpPr>
          <p:cNvPr id="7" name="txt_792"/>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A14 ]</a:t>
            </a:r>
            <a:endParaRPr lang="en-US" sz="1200" dirty="0"/>
          </a:p>
        </p:txBody>
      </p:sp>
      <p:graphicFrame>
        <p:nvGraphicFramePr>
          <p:cNvPr id="33" name="tbl_793"/>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1539240"/>
        </p:xfrm>
        <a:graphic>
          <a:graphicData uri="http://schemas.openxmlformats.org/drawingml/2006/table">
            <a:tbl>
              <a:tblPr/>
              <a:tblGrid>
                <a:gridCol w="33832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724912">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ROUTE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t_walk = d / 0.8 m/s</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+15% STOP ALLOWANCE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 0.8 IF 25% RESERVE HELD BACK</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500" dirty="0">
                          <a:solidFill>
                            <a:srgbClr val="F8FAFC"/>
                          </a:solidFill>
                          <a:latin typeface="Inter" pitchFamily="34" charset="0"/>
                          <a:ea typeface="Inter" pitchFamily="34" charset="-122"/>
                          <a:cs typeface="Inter" pitchFamily="34" charset="-120"/>
                        </a:rPr>
                        <a:t>157 m · Gazebo (UI example)</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00F0FF"/>
                          </a:solidFill>
                          <a:latin typeface="JetBrains Mono" pitchFamily="34" charset="0"/>
                          <a:ea typeface="JetBrains Mono" pitchFamily="34" charset="-122"/>
                          <a:cs typeface="JetBrains Mono" pitchFamily="34" charset="-120"/>
                        </a:rPr>
                        <a:t>3.27 min (3 m 16 s)</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3.76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4.70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500" dirty="0">
                          <a:solidFill>
                            <a:srgbClr val="F8FAFC"/>
                          </a:solidFill>
                          <a:latin typeface="Inter" pitchFamily="34" charset="0"/>
                          <a:ea typeface="Inter" pitchFamily="34" charset="-122"/>
                          <a:cs typeface="Inter" pitchFamily="34" charset="-120"/>
                        </a:rPr>
                        <a:t>316 m · longest pad leg</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00F0FF"/>
                          </a:solidFill>
                          <a:latin typeface="JetBrains Mono" pitchFamily="34" charset="0"/>
                          <a:ea typeface="JetBrains Mono" pitchFamily="34" charset="-122"/>
                          <a:cs typeface="JetBrains Mono" pitchFamily="34" charset="-120"/>
                        </a:rPr>
                        <a:t>6.58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7.57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9.46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500" dirty="0">
                          <a:solidFill>
                            <a:srgbClr val="F8FAFC"/>
                          </a:solidFill>
                          <a:latin typeface="Inter" pitchFamily="34" charset="0"/>
                          <a:ea typeface="Inter" pitchFamily="34" charset="-122"/>
                          <a:cs typeface="Inter" pitchFamily="34" charset="-120"/>
                        </a:rPr>
                        <a:t>350 m · provisional limit</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00F0FF"/>
                          </a:solidFill>
                          <a:latin typeface="JetBrains Mono" pitchFamily="34" charset="0"/>
                          <a:ea typeface="JetBrains Mono" pitchFamily="34" charset="-122"/>
                          <a:cs typeface="JetBrains Mono" pitchFamily="34" charset="-120"/>
                        </a:rPr>
                        <a:t>7.29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8.39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10.48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500" dirty="0">
                          <a:solidFill>
                            <a:srgbClr val="F8FAFC"/>
                          </a:solidFill>
                          <a:latin typeface="Inter" pitchFamily="34" charset="0"/>
                          <a:ea typeface="Inter" pitchFamily="34" charset="-122"/>
                          <a:cs typeface="Inter" pitchFamily="34" charset="-120"/>
                        </a:rPr>
                        <a:t>700 m</a:t>
                      </a:r>
                      <a:endParaRPr lang="en-US" sz="15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00F0FF"/>
                          </a:solidFill>
                          <a:latin typeface="JetBrains Mono" pitchFamily="34" charset="0"/>
                          <a:ea typeface="JetBrains Mono" pitchFamily="34" charset="-122"/>
                          <a:cs typeface="JetBrains Mono" pitchFamily="34" charset="-120"/>
                        </a:rPr>
                        <a:t>14.58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16.77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500" dirty="0">
                          <a:solidFill>
                            <a:srgbClr val="F59E0B"/>
                          </a:solidFill>
                          <a:latin typeface="JetBrains Mono" pitchFamily="34" charset="0"/>
                          <a:ea typeface="JetBrains Mono" pitchFamily="34" charset="-122"/>
                          <a:cs typeface="JetBrains Mono" pitchFamily="34" charset="-120"/>
                        </a:rPr>
                        <a:t>20.96 min</a:t>
                      </a:r>
                      <a:endParaRPr lang="en-US" sz="15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bl>
          </a:graphicData>
        </a:graphic>
      </p:graphicFrame>
      <p:sp>
        <p:nvSpPr>
          <p:cNvPr id="10" name="txt_794"/>
          <p:cNvSpPr txBox="1"/>
          <p:nvPr/>
        </p:nvSpPr>
        <p:spPr>
          <a:xfrm>
            <a:off x="457200" y="3886200"/>
            <a:ext cx="11277295" cy="237744"/>
          </a:xfrm>
          <a:prstGeom prst="rect">
            <a:avLst/>
          </a:prstGeom>
          <a:noFill/>
          <a:ln/>
        </p:spPr>
        <p:txBody>
          <a:bodyPr wrap="square" lIns="0" tIns="0" rIns="0" bIns="0" rtlCol="0" anchor="t"/>
          <a:lstStyle/>
          <a:p>
            <a:pPr marL="0" indent="0">
              <a:buNone/>
            </a:pPr>
            <a:r>
              <a:rPr lang="en-US" sz="1200" b="1" dirty="0">
                <a:solidFill>
                  <a:srgbClr val="EF4444"/>
                </a:solidFill>
                <a:latin typeface="JetBrains Mono" pitchFamily="34" charset="0"/>
                <a:ea typeface="JetBrains Mono" pitchFamily="34" charset="-122"/>
                <a:cs typeface="JetBrains Mono" pitchFamily="34" charset="-120"/>
              </a:rPr>
              <a:t>NOT INCLUDED IN ANY COLUMN: launch, climb, landing, return leg</a:t>
            </a:r>
            <a:endParaRPr lang="en-US" sz="1200" dirty="0"/>
          </a:p>
        </p:txBody>
      </p:sp>
      <p:sp>
        <p:nvSpPr>
          <p:cNvPr id="11" name="box_795"/>
          <p:cNvSpPr/>
          <p:nvPr/>
        </p:nvSpPr>
        <p:spPr>
          <a:xfrm>
            <a:off x="457200" y="4251960"/>
            <a:ext cx="11277295" cy="1874520"/>
          </a:xfrm>
          <a:prstGeom prst="roundRect">
            <a:avLst>
              <a:gd name="adj" fmla="val 2927"/>
            </a:avLst>
          </a:prstGeom>
          <a:solidFill>
            <a:srgbClr val="131C2E">
              <a:alpha val="82000"/>
            </a:srgbClr>
          </a:solidFill>
          <a:ln w="9525">
            <a:solidFill>
              <a:srgbClr val="00F0FF">
                <a:alpha val="45000"/>
              </a:srgbClr>
            </a:solidFill>
            <a:prstDash val="solid"/>
          </a:ln>
        </p:spPr>
      </p:sp>
      <p:sp>
        <p:nvSpPr>
          <p:cNvPr id="12" name="txt_796"/>
          <p:cNvSpPr txBox="1"/>
          <p:nvPr/>
        </p:nvSpPr>
        <p:spPr>
          <a:xfrm>
            <a:off x="594360" y="4343400"/>
            <a:ext cx="11002975" cy="173736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RULES FOR FUTURE LEG SIZING</a:t>
            </a:r>
            <a:endParaRPr lang="en-US" sz="1500" dirty="0"/>
          </a:p>
          <a:p>
            <a:pPr marL="0" indent="0">
              <a:buNone/>
            </a:pPr>
            <a:r>
              <a:rPr lang="en-US" sz="1500" dirty="0">
                <a:solidFill>
                  <a:srgbClr val="F8FAFC"/>
                </a:solidFill>
                <a:latin typeface="Inter" pitchFamily="34" charset="0"/>
                <a:ea typeface="Inter" pitchFamily="34" charset="-122"/>
                <a:cs typeface="Inter" pitchFamily="34" charset="-120"/>
              </a:rPr>
              <a:t>1. Define usable endurance explicitly, measured by a timed hover to failsafe with the real payload.  2. State whether reserve is already deducted; apply it once.  3. Add launch, climb, landing and stop allowances separately.  4. Include any return leg.  5. Re-run greedy set cover and re-check every destination after measurement.</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xt_797"/>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A15</a:t>
            </a:r>
            <a:endParaRPr lang="en-US" sz="1100" dirty="0"/>
          </a:p>
        </p:txBody>
      </p:sp>
      <p:sp>
        <p:nvSpPr>
          <p:cNvPr id="3" name="kicker_798"/>
          <p:cNvSpPr txBox="1"/>
          <p:nvPr/>
        </p:nvSpPr>
        <p:spPr>
          <a:xfrm>
            <a:off x="457200" y="548640"/>
            <a:ext cx="413766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SAFETY · DESIGNED RESPONSES</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Failsafe matrix: designed responses, verification pending</a:t>
            </a:r>
            <a:endParaRPr lang="en-US" sz="3000" dirty="0"/>
          </a:p>
        </p:txBody>
      </p:sp>
      <p:sp>
        <p:nvSpPr>
          <p:cNvPr id="5" name="txt_799"/>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DESIGNED RESPONSES · FIRMWARE CONFIG &amp; FIELD VERIFICATION PENDING</a:t>
            </a:r>
            <a:endParaRPr lang="en-US" sz="1000" dirty="0"/>
          </a:p>
        </p:txBody>
      </p:sp>
      <p:sp>
        <p:nvSpPr>
          <p:cNvPr id="6" name="txt_800"/>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§12 p11; §13 p11</a:t>
            </a:r>
            <a:endParaRPr lang="en-US" sz="1000" dirty="0"/>
          </a:p>
        </p:txBody>
      </p:sp>
      <p:sp>
        <p:nvSpPr>
          <p:cNvPr id="7" name="txt_801"/>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A15 ]</a:t>
            </a:r>
            <a:endParaRPr lang="en-US" sz="1200" dirty="0"/>
          </a:p>
        </p:txBody>
      </p:sp>
      <p:graphicFrame>
        <p:nvGraphicFramePr>
          <p:cNvPr id="34" name="tbl_802"/>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2606040"/>
        </p:xfrm>
        <a:graphic>
          <a:graphicData uri="http://schemas.openxmlformats.org/drawingml/2006/table">
            <a:tbl>
              <a:tblPr/>
              <a:tblGrid>
                <a:gridCol w="3108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685032">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CONDITION</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DESIGNED RESPONSE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SEVERITY</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VERIFICATION (PENDING)</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GPS fix degraded or lost (EKF failsafe)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Hold if possible, otherwise land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HIGH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Bench props-off; GPS-denied test; RC takeover drill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Telemetry link lost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Return to launch (or land at nearest pad)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HIGH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Unplug ground radio in SITL, then in field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RC link lost (when in use)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Return to launch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HIGH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Transmitter-off test, props-off first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Visitor position stale &gt; 30 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Hold position, then return to launch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MEDIUM</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Simulation now; SITL; walking volunteer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Battery below reserve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Return to launch immediately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HIGH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Bench voltage threshold; timed hover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Geofence breach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Stop and hold, then return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HIGH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Fence export to ArduPilot; SITL breach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6"/>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Wind or rain above threshold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Do not launch (pre-trip check)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MEDIUM</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Hover error vs wind sets threshold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7"/>
                  </a:ext>
                </a:extLst>
              </a:tr>
            </a:tbl>
          </a:graphicData>
        </a:graphic>
      </p:graphicFrame>
      <p:sp>
        <p:nvSpPr>
          <p:cNvPr id="10" name="txt_803"/>
          <p:cNvSpPr txBox="1"/>
          <p:nvPr/>
        </p:nvSpPr>
        <p:spPr>
          <a:xfrm>
            <a:off x="457200" y="5806440"/>
            <a:ext cx="11277295" cy="365760"/>
          </a:xfrm>
          <a:prstGeom prst="rect">
            <a:avLst/>
          </a:prstGeom>
          <a:noFill/>
          <a:ln/>
        </p:spPr>
        <p:txBody>
          <a:bodyPr wrap="square" lIns="0" tIns="0" rIns="0" bIns="0" rtlCol="0" anchor="t"/>
          <a:lstStyle/>
          <a:p>
            <a:pPr marL="0" indent="0">
              <a:buNone/>
            </a:pPr>
            <a:r>
              <a:rPr lang="en-US" sz="1200" b="1" dirty="0">
                <a:solidFill>
                  <a:srgbClr val="00F0FF"/>
                </a:solidFill>
                <a:latin typeface="JetBrains Mono" pitchFamily="34" charset="0"/>
                <a:ea typeface="JetBrains Mono" pitchFamily="34" charset="-122"/>
                <a:cs typeface="JetBrains Mono" pitchFamily="34" charset="-120"/>
              </a:rPr>
              <a:t>STATE MACHINE  </a:t>
            </a:r>
            <a:r>
              <a:rPr lang="en-US" sz="1300" dirty="0">
                <a:solidFill>
                  <a:srgbClr val="F8FAFC"/>
                </a:solidFill>
                <a:latin typeface="JetBrains Mono" pitchFamily="34" charset="0"/>
                <a:ea typeface="JetBrains Mono" pitchFamily="34" charset="-122"/>
                <a:cs typeface="JetBrains Mono" pitchFamily="34" charset="-120"/>
              </a:rPr>
              <a:t>SAFE → WARNING → HOLD → RETURN_TO_LAUNCH → EMERGENCY · six faults injected in simulation today</a:t>
            </a:r>
            <a:endParaRPr lang="en-US" sz="15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xt_804"/>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A16</a:t>
            </a:r>
            <a:endParaRPr lang="en-US" sz="1100" dirty="0"/>
          </a:p>
        </p:txBody>
      </p:sp>
      <p:sp>
        <p:nvSpPr>
          <p:cNvPr id="3" name="kicker_805"/>
          <p:cNvSpPr txBox="1"/>
          <p:nvPr/>
        </p:nvSpPr>
        <p:spPr>
          <a:xfrm>
            <a:off x="457200" y="548640"/>
            <a:ext cx="451485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WORK PLAN · VERIFICATION GATES</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Six phases, each closed by a definition-of-done gate</a:t>
            </a:r>
            <a:endParaRPr lang="en-US" sz="3000" dirty="0"/>
          </a:p>
        </p:txBody>
      </p:sp>
      <p:sp>
        <p:nvSpPr>
          <p:cNvPr id="5" name="txt_806"/>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PROPOSED PLAN · RELATIVE PHASES · NO DATES SUPPLIED</a:t>
            </a:r>
            <a:endParaRPr lang="en-US" sz="1000" dirty="0"/>
          </a:p>
        </p:txBody>
      </p:sp>
      <p:sp>
        <p:nvSpPr>
          <p:cNvPr id="6" name="txt_807"/>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§16 p13; §17 pp13–14</a:t>
            </a:r>
            <a:endParaRPr lang="en-US" sz="1000" dirty="0"/>
          </a:p>
        </p:txBody>
      </p:sp>
      <p:sp>
        <p:nvSpPr>
          <p:cNvPr id="7" name="txt_808"/>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A16 ]</a:t>
            </a:r>
            <a:endParaRPr lang="en-US" sz="1200" dirty="0"/>
          </a:p>
        </p:txBody>
      </p:sp>
      <p:graphicFrame>
        <p:nvGraphicFramePr>
          <p:cNvPr id="35" name="tbl_809"/>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3368040"/>
        </p:xfrm>
        <a:graphic>
          <a:graphicData uri="http://schemas.openxmlformats.org/drawingml/2006/table">
            <a:tbl>
              <a:tblPr/>
              <a:tblGrid>
                <a:gridCol w="23774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PHASE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WORK</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GATE (DEFINITION OF DONE)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F59E0B"/>
                          </a:solidFill>
                          <a:latin typeface="Inter" pitchFamily="34" charset="0"/>
                          <a:ea typeface="Inter" pitchFamily="34" charset="-122"/>
                          <a:cs typeface="Inter" pitchFamily="34" charset="-120"/>
                        </a:rPr>
                        <a:t>0 · Permissions &amp; purchase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Written campus permission; check registration needs; order airframe, FC, radio, battery, charger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Permission letter held; Stage 1 parts in hand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F59E0B"/>
                          </a:solidFill>
                          <a:latin typeface="Inter" pitchFamily="34" charset="0"/>
                          <a:ea typeface="Inter" pitchFamily="34" charset="-122"/>
                          <a:cs typeface="Inter" pitchFamily="34" charset="-120"/>
                        </a:rPr>
                        <a:t>1 · Assembly &amp; bench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Build F450, wire power and FC, flash ArduPilot, calibrate sensors, ESCs and radio; failsafes props-off</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All calibrations pass; failsafes verified on bench</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F59E0B"/>
                          </a:solidFill>
                          <a:latin typeface="Inter" pitchFamily="34" charset="0"/>
                          <a:ea typeface="Inter" pitchFamily="34" charset="-122"/>
                          <a:cs typeface="Inter" pitchFamily="34" charset="-120"/>
                        </a:rPr>
                        <a:t>2 · Manual flight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Hover in open ground, tune, check vibration logs, timed hover to failsafe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Steady hover; acceptable vibration; measured flight time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b="1" dirty="0">
                          <a:solidFill>
                            <a:srgbClr val="F59E0B"/>
                          </a:solidFill>
                          <a:latin typeface="Inter" pitchFamily="34" charset="0"/>
                          <a:ea typeface="Inter" pitchFamily="34" charset="-122"/>
                          <a:cs typeface="Inter" pitchFamily="34" charset="-120"/>
                        </a:rPr>
                        <a:t>3 · GPS autonomy</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Add GPS; position hold, RTL, then node-to-node routes with no visitor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Repeatable route flight without intervention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400" b="1" dirty="0">
                          <a:solidFill>
                            <a:srgbClr val="F59E0B"/>
                          </a:solidFill>
                          <a:latin typeface="Inter" pitchFamily="34" charset="0"/>
                          <a:ea typeface="Inter" pitchFamily="34" charset="-122"/>
                          <a:cs typeface="Inter" pitchFamily="34" charset="-120"/>
                        </a:rPr>
                        <a:t>4 · Human pacing</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Pacing controller in SITL first, then with a walking volunteer; tune lead and hold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Pacing validated in SITL before any live trial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r h="0">
                <a:tc>
                  <a:txBody>
                    <a:bodyPr/>
                    <a:lstStyle/>
                    <a:p>
                      <a:pPr marL="0" indent="0">
                        <a:buNone/>
                      </a:pPr>
                      <a:r>
                        <a:rPr lang="en-US" sz="1400" b="1" dirty="0">
                          <a:solidFill>
                            <a:srgbClr val="F59E0B"/>
                          </a:solidFill>
                          <a:latin typeface="Inter" pitchFamily="34" charset="0"/>
                          <a:ea typeface="Inter" pitchFamily="34" charset="-122"/>
                          <a:cs typeface="Inter" pitchFamily="34" charset="-120"/>
                        </a:rPr>
                        <a:t>5 · Integration &amp; trials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Kiosk, phone intake, SiK link, failsafe drills, guided volunteer trials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Every failsafe triggered and observed; successful guided trips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xt_810"/>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A17</a:t>
            </a:r>
            <a:endParaRPr lang="en-US" sz="1100" dirty="0"/>
          </a:p>
        </p:txBody>
      </p:sp>
      <p:sp>
        <p:nvSpPr>
          <p:cNvPr id="3" name="kicker_811"/>
          <p:cNvSpPr txBox="1"/>
          <p:nvPr/>
        </p:nvSpPr>
        <p:spPr>
          <a:xfrm>
            <a:off x="457200" y="548640"/>
            <a:ext cx="464058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CAD · ORIENTATION · LIMITATIONS</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CAD views show orientation, not measured dimensions</a:t>
            </a:r>
            <a:endParaRPr lang="en-US" sz="3000" dirty="0"/>
          </a:p>
        </p:txBody>
      </p:sp>
      <p:sp>
        <p:nvSpPr>
          <p:cNvPr id="5" name="txt_812"/>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DESIGN MODEL · NOMINAL DIMENSIONS · NOT MEASURED</a:t>
            </a:r>
            <a:endParaRPr lang="en-US" sz="1000" dirty="0"/>
          </a:p>
        </p:txBody>
      </p:sp>
      <p:sp>
        <p:nvSpPr>
          <p:cNvPr id="6" name="txt_813"/>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NAVI_CAD/README.txt; navi_drone.py</a:t>
            </a:r>
            <a:endParaRPr lang="en-US" sz="1000" dirty="0"/>
          </a:p>
        </p:txBody>
      </p:sp>
      <p:sp>
        <p:nvSpPr>
          <p:cNvPr id="7" name="txt_814"/>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A17 ]</a:t>
            </a:r>
            <a:endParaRPr lang="en-US" sz="1200" dirty="0"/>
          </a:p>
        </p:txBody>
      </p:sp>
      <p:pic>
        <p:nvPicPr>
          <p:cNvPr id="9" name="img_815" descr="navi_front.jpg"/>
          <p:cNvPicPr>
            <a:picLocks noChangeAspect="1"/>
          </p:cNvPicPr>
          <p:nvPr/>
        </p:nvPicPr>
        <p:blipFill>
          <a:blip r:embed="rId3"/>
          <a:srcRect/>
          <a:stretch/>
        </p:blipFill>
        <p:spPr>
          <a:xfrm>
            <a:off x="457200" y="1691640"/>
            <a:ext cx="3667658" cy="1783080"/>
          </a:xfrm>
          <a:prstGeom prst="rect">
            <a:avLst/>
          </a:prstGeom>
        </p:spPr>
      </p:pic>
      <p:sp>
        <p:nvSpPr>
          <p:cNvPr id="10" name="txt_816"/>
          <p:cNvSpPr txBox="1"/>
          <p:nvPr/>
        </p:nvSpPr>
        <p:spPr>
          <a:xfrm>
            <a:off x="457200" y="3520440"/>
            <a:ext cx="3667658"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FRONT</a:t>
            </a:r>
            <a:endParaRPr lang="en-US" sz="1100" dirty="0"/>
          </a:p>
        </p:txBody>
      </p:sp>
      <p:pic>
        <p:nvPicPr>
          <p:cNvPr id="11" name="img_817" descr="navi_side.jpg"/>
          <p:cNvPicPr>
            <a:picLocks noChangeAspect="1"/>
          </p:cNvPicPr>
          <p:nvPr/>
        </p:nvPicPr>
        <p:blipFill>
          <a:blip r:embed="rId4"/>
          <a:srcRect/>
          <a:stretch/>
        </p:blipFill>
        <p:spPr>
          <a:xfrm>
            <a:off x="4262018" y="1691640"/>
            <a:ext cx="3667658" cy="1783080"/>
          </a:xfrm>
          <a:prstGeom prst="rect">
            <a:avLst/>
          </a:prstGeom>
        </p:spPr>
      </p:pic>
      <p:sp>
        <p:nvSpPr>
          <p:cNvPr id="12" name="txt_818"/>
          <p:cNvSpPr txBox="1"/>
          <p:nvPr/>
        </p:nvSpPr>
        <p:spPr>
          <a:xfrm>
            <a:off x="4262018" y="3520440"/>
            <a:ext cx="3667658"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SIDE</a:t>
            </a:r>
            <a:endParaRPr lang="en-US" sz="1100" dirty="0"/>
          </a:p>
        </p:txBody>
      </p:sp>
      <p:pic>
        <p:nvPicPr>
          <p:cNvPr id="13" name="img_819" descr="navi_top.jpg"/>
          <p:cNvPicPr>
            <a:picLocks noChangeAspect="1"/>
          </p:cNvPicPr>
          <p:nvPr/>
        </p:nvPicPr>
        <p:blipFill>
          <a:blip r:embed="rId5"/>
          <a:srcRect/>
          <a:stretch/>
        </p:blipFill>
        <p:spPr>
          <a:xfrm>
            <a:off x="8066837" y="1691640"/>
            <a:ext cx="3667658" cy="1783080"/>
          </a:xfrm>
          <a:prstGeom prst="rect">
            <a:avLst/>
          </a:prstGeom>
        </p:spPr>
      </p:pic>
      <p:sp>
        <p:nvSpPr>
          <p:cNvPr id="14" name="txt_820"/>
          <p:cNvSpPr txBox="1"/>
          <p:nvPr/>
        </p:nvSpPr>
        <p:spPr>
          <a:xfrm>
            <a:off x="8066837" y="3520440"/>
            <a:ext cx="3667658" cy="237744"/>
          </a:xfrm>
          <a:prstGeom prst="rect">
            <a:avLst/>
          </a:prstGeom>
          <a:noFill/>
          <a:ln/>
        </p:spPr>
        <p:txBody>
          <a:bodyPr wrap="square" lIns="0" tIns="0" rIns="0" bIns="0" rtlCol="0" anchor="t"/>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TOP</a:t>
            </a:r>
            <a:endParaRPr lang="en-US" sz="1100" dirty="0"/>
          </a:p>
        </p:txBody>
      </p:sp>
      <p:graphicFrame>
        <p:nvGraphicFramePr>
          <p:cNvPr id="36" name="tbl_821"/>
          <p:cNvGraphicFramePr>
            <a:graphicFrameLocks noGrp="1"/>
          </p:cNvGraphicFramePr>
          <p:nvPr>
            <p:extLst>
              <p:ext uri="{D42A27DB-BD31-4B8C-83A1-F6EECF244321}">
                <p14:modId xmlns:p14="http://schemas.microsoft.com/office/powerpoint/2010/main" val="1579011935"/>
              </p:ext>
            </p:extLst>
          </p:nvPr>
        </p:nvGraphicFramePr>
        <p:xfrm>
          <a:off x="457200" y="3840480"/>
          <a:ext cx="11274552" cy="1783080"/>
        </p:xfrm>
        <a:graphic>
          <a:graphicData uri="http://schemas.openxmlformats.org/drawingml/2006/table">
            <a:tbl>
              <a:tblPr/>
              <a:tblGrid>
                <a:gridCol w="40233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NOMINAL PARAMETER (CAD SOURCE)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VALUE</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STATUS</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Wheelbase (motor-to-motor diagonal)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450 mm</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Nominal F450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Propeller diameter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254 mm (1045)</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Nominal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Landing gear below bottom plate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150 mm</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Nominal · clearance to measure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Battery block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138 × 43 × 25 mm</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Approximate · exact pack pending</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F8FAFC"/>
                          </a:solidFill>
                          <a:latin typeface="Inter" pitchFamily="34" charset="0"/>
                          <a:ea typeface="Inter" pitchFamily="34" charset="-122"/>
                          <a:cs typeface="Inter" pitchFamily="34" charset="-120"/>
                        </a:rPr>
                        <a:t>Orientation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00F0FF"/>
                          </a:solidFill>
                          <a:latin typeface="JetBrains Mono" pitchFamily="34" charset="0"/>
                          <a:ea typeface="JetBrains Mono" pitchFamily="34" charset="-122"/>
                          <a:cs typeface="JetBrains Mono" pitchFamily="34" charset="-120"/>
                        </a:rPr>
                        <a:t>+X forward (red arms, orange props), Z up</a:t>
                      </a:r>
                      <a:endParaRPr lang="en-US" sz="14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CAD convention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xt_822"/>
          <p:cNvSpPr txBox="1"/>
          <p:nvPr/>
        </p:nvSpPr>
        <p:spPr>
          <a:xfrm>
            <a:off x="457200" y="274320"/>
            <a:ext cx="8686800" cy="219456"/>
          </a:xfrm>
          <a:prstGeom prst="rect">
            <a:avLst/>
          </a:prstGeom>
          <a:noFill/>
          <a:ln/>
        </p:spPr>
        <p:txBody>
          <a:bodyPr wrap="square" lIns="0" tIns="0" rIns="0" bIns="0" rtlCol="0" anchor="t"/>
          <a:lstStyle/>
          <a:p>
            <a:pPr marL="0" indent="0">
              <a:buNone/>
            </a:pPr>
            <a:r>
              <a:rPr lang="en-US" sz="1100" kern="0" spc="100" dirty="0">
                <a:solidFill>
                  <a:srgbClr val="94A3B8"/>
                </a:solidFill>
                <a:latin typeface="JetBrains Mono" pitchFamily="34" charset="0"/>
                <a:ea typeface="JetBrains Mono" pitchFamily="34" charset="-122"/>
                <a:cs typeface="JetBrains Mono" pitchFamily="34" charset="-120"/>
              </a:rPr>
              <a:t>PROJECT NAVI // VIT CHENNAI [SCOPE • SENSE • SMEC] // BACKUP A18</a:t>
            </a:r>
            <a:endParaRPr lang="en-US" sz="1100" dirty="0"/>
          </a:p>
        </p:txBody>
      </p:sp>
      <p:sp>
        <p:nvSpPr>
          <p:cNvPr id="3" name="kicker_823"/>
          <p:cNvSpPr txBox="1"/>
          <p:nvPr/>
        </p:nvSpPr>
        <p:spPr>
          <a:xfrm>
            <a:off x="457200" y="548640"/>
            <a:ext cx="5520690" cy="310896"/>
          </a:xfrm>
          <a:prstGeom prst="roundRect">
            <a:avLst>
              <a:gd name="adj" fmla="val 50000"/>
            </a:avLst>
          </a:prstGeom>
          <a:solidFill>
            <a:srgbClr val="00F0FF">
              <a:alpha val="10000"/>
            </a:srgbClr>
          </a:solidFill>
          <a:ln w="9525">
            <a:solidFill>
              <a:srgbClr val="00F0FF">
                <a:alpha val="30000"/>
              </a:srgbClr>
            </a:solidFill>
          </a:ln>
        </p:spPr>
        <p:txBody>
          <a:bodyPr wrap="square" lIns="0" tIns="0" rIns="0" bIns="0" rtlCol="0" anchor="ctr"/>
          <a:lstStyle/>
          <a:p>
            <a:pPr marL="0" indent="0" algn="ctr">
              <a:buNone/>
            </a:pPr>
            <a:r>
              <a:rPr lang="en-US" sz="1400" b="1" kern="0" spc="150" dirty="0">
                <a:solidFill>
                  <a:srgbClr val="00F0FF"/>
                </a:solidFill>
                <a:latin typeface="JetBrains Mono" pitchFamily="34" charset="0"/>
                <a:ea typeface="JetBrains Mono" pitchFamily="34" charset="-122"/>
                <a:cs typeface="JetBrains Mono" pitchFamily="34" charset="-120"/>
              </a:rPr>
              <a:t>// HARDWARE ALTERNATIVES · VERDICT MATRIX</a:t>
            </a:r>
            <a:endParaRPr lang="en-US" sz="1400" dirty="0"/>
          </a:p>
        </p:txBody>
      </p:sp>
      <p:sp>
        <p:nvSpPr>
          <p:cNvPr id="4" name="Text 0"/>
          <p:cNvSpPr>
            <a:spLocks noGrp="1"/>
          </p:cNvSpPr>
          <p:nvPr>
            <p:ph type="title" idx="100" hasCustomPrompt="1"/>
          </p:nvPr>
        </p:nvSpPr>
        <p:spPr>
          <a:xfrm>
            <a:off x="457200" y="960120"/>
            <a:ext cx="11277295" cy="566928"/>
          </a:xfrm>
          <a:prstGeom prst="rect">
            <a:avLst/>
          </a:prstGeom>
          <a:noFill/>
          <a:ln/>
        </p:spPr>
        <p:txBody>
          <a:bodyPr wrap="square" lIns="0" tIns="0" rIns="0" bIns="0" rtlCol="0" anchor="t"/>
          <a:lstStyle/>
          <a:p>
            <a:pPr marL="0" indent="0" algn="l">
              <a:buNone/>
            </a:pPr>
            <a:r>
              <a:rPr lang="en-US" sz="3000" b="1" dirty="0">
                <a:solidFill>
                  <a:srgbClr val="F8FAFC"/>
                </a:solidFill>
                <a:latin typeface="Space Grotesk" pitchFamily="34" charset="0"/>
                <a:ea typeface="Space Grotesk" pitchFamily="34" charset="-122"/>
                <a:cs typeface="Space Grotesk" pitchFamily="34" charset="-120"/>
              </a:rPr>
              <a:t>Ready-made options failed the MAVLink or budget test</a:t>
            </a:r>
            <a:endParaRPr lang="en-US" sz="3000" dirty="0"/>
          </a:p>
        </p:txBody>
      </p:sp>
      <p:sp>
        <p:nvSpPr>
          <p:cNvPr id="5" name="txt_824"/>
          <p:cNvSpPr txBox="1"/>
          <p:nvPr/>
        </p:nvSpPr>
        <p:spPr>
          <a:xfrm>
            <a:off x="457200" y="6419088"/>
            <a:ext cx="6355080" cy="237744"/>
          </a:xfrm>
          <a:prstGeom prst="rect">
            <a:avLst/>
          </a:prstGeom>
          <a:noFill/>
          <a:ln/>
        </p:spPr>
        <p:txBody>
          <a:bodyPr wrap="square" lIns="0" tIns="0" rIns="0" bIns="0" rtlCol="0" anchor="ctr"/>
          <a:lstStyle/>
          <a:p>
            <a:pPr marL="0" indent="0">
              <a:buNone/>
            </a:pPr>
            <a:r>
              <a:rPr lang="en-US" sz="1000" dirty="0">
                <a:solidFill>
                  <a:srgbClr val="94A3B8"/>
                </a:solidFill>
                <a:latin typeface="JetBrains Mono" pitchFamily="34" charset="0"/>
                <a:ea typeface="JetBrains Mono" pitchFamily="34" charset="-122"/>
                <a:cs typeface="JetBrains Mono" pitchFamily="34" charset="-120"/>
              </a:rPr>
              <a:t>STATUS // DECISION RECORD · SOURCE-REPORTED</a:t>
            </a:r>
            <a:endParaRPr lang="en-US" sz="1000" dirty="0"/>
          </a:p>
        </p:txBody>
      </p:sp>
      <p:sp>
        <p:nvSpPr>
          <p:cNvPr id="6" name="txt_825"/>
          <p:cNvSpPr txBox="1"/>
          <p:nvPr/>
        </p:nvSpPr>
        <p:spPr>
          <a:xfrm>
            <a:off x="6858000" y="6419088"/>
            <a:ext cx="3566160" cy="237744"/>
          </a:xfrm>
          <a:prstGeom prst="rect">
            <a:avLst/>
          </a:prstGeom>
          <a:noFill/>
          <a:ln/>
        </p:spPr>
        <p:txBody>
          <a:bodyPr wrap="square" lIns="0" tIns="0" rIns="0" bIns="0" rtlCol="0" anchor="ctr"/>
          <a:lstStyle/>
          <a:p>
            <a:pPr marL="0" indent="0" algn="r">
              <a:buNone/>
            </a:pPr>
            <a:r>
              <a:rPr lang="en-US" sz="1000" dirty="0">
                <a:solidFill>
                  <a:srgbClr val="94A3B8"/>
                </a:solidFill>
                <a:latin typeface="JetBrains Mono" pitchFamily="34" charset="0"/>
                <a:ea typeface="JetBrains Mono" pitchFamily="34" charset="-122"/>
                <a:cs typeface="JetBrains Mono" pitchFamily="34" charset="-120"/>
              </a:rPr>
              <a:t>SRC: Summary §3 p4</a:t>
            </a:r>
            <a:endParaRPr lang="en-US" sz="1000" dirty="0"/>
          </a:p>
        </p:txBody>
      </p:sp>
      <p:sp>
        <p:nvSpPr>
          <p:cNvPr id="7" name="txt_826"/>
          <p:cNvSpPr txBox="1"/>
          <p:nvPr/>
        </p:nvSpPr>
        <p:spPr>
          <a:xfrm>
            <a:off x="10561320" y="6419088"/>
            <a:ext cx="1170432" cy="237744"/>
          </a:xfrm>
          <a:prstGeom prst="rect">
            <a:avLst/>
          </a:prstGeom>
          <a:noFill/>
          <a:ln/>
        </p:spPr>
        <p:txBody>
          <a:bodyPr wrap="square" lIns="0" tIns="0" rIns="0" bIns="0" rtlCol="0" anchor="ctr"/>
          <a:lstStyle/>
          <a:p>
            <a:pPr marL="0" indent="0" algn="r">
              <a:buNone/>
            </a:pPr>
            <a:r>
              <a:rPr lang="en-US" sz="1200" b="1" dirty="0">
                <a:solidFill>
                  <a:srgbClr val="00F0FF"/>
                </a:solidFill>
                <a:latin typeface="JetBrains Mono" pitchFamily="34" charset="0"/>
                <a:ea typeface="JetBrains Mono" pitchFamily="34" charset="-122"/>
                <a:cs typeface="JetBrains Mono" pitchFamily="34" charset="-120"/>
              </a:rPr>
              <a:t>[ A18 ]</a:t>
            </a:r>
            <a:endParaRPr lang="en-US" sz="1200" dirty="0"/>
          </a:p>
        </p:txBody>
      </p:sp>
      <p:graphicFrame>
        <p:nvGraphicFramePr>
          <p:cNvPr id="37" name="tbl_827"/>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3307080"/>
        </p:xfrm>
        <a:graphic>
          <a:graphicData uri="http://schemas.openxmlformats.org/drawingml/2006/table">
            <a:tbl>
              <a:tblPr/>
              <a:tblGrid>
                <a:gridCol w="4114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OPTION CONSIDERED</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VERDICT</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tc>
                  <a:txBody>
                    <a:bodyPr/>
                    <a:lstStyle/>
                    <a:p>
                      <a:pPr marL="0" indent="0">
                        <a:buNone/>
                      </a:pPr>
                      <a:r>
                        <a:rPr lang="en-US" sz="1100" b="1" dirty="0">
                          <a:solidFill>
                            <a:srgbClr val="00F0FF"/>
                          </a:solidFill>
                          <a:latin typeface="JetBrains Mono" pitchFamily="34" charset="0"/>
                          <a:ea typeface="JetBrains Mono" pitchFamily="34" charset="-122"/>
                          <a:cs typeface="JetBrains Mono" pitchFamily="34" charset="-120"/>
                        </a:rPr>
                        <a:t>REASON</a:t>
                      </a:r>
                      <a:endParaRPr lang="en-US" sz="1100" dirty="0">
                        <a:latin typeface="JetBrains Mono" charset="0"/>
                        <a:ea typeface="JetBrains Mono" charset="0"/>
                        <a:cs typeface="JetBrains Mono"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ADAPT lab hardware (S500, Pixhawk, RTK F9P)</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Unavailable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Not obtainable by the team</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MDP / IDP component store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Unavailable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Team cannot draw components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LiteWing ESP32 micro drone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Rejected (main)</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~45 g, no GPS, indoor firmware, short range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Indoor drone or robot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Rejected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No GPS indoors; weakens the problem; discards campus work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4"/>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Outdoor ground robot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Kept as backup</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Cheapest; same software; team prefers aerial</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5"/>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ESP32 as flight controller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Rejected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ArduPilot ESP32 port experimental; used only as bridge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6"/>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Toy camera drone / GPS camera drone</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Rejected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Closed firmware, no MAVLink; follow-me follows</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7"/>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Pixhawk 2.4.8 full combo (₹15,599)</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Rejected on cost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Build would reach ₹27,000–31,000</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08"/>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FlyRobo kit / Amazon F450 kit</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Rejected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KK2.1.5 cannot run ArduPilot / ~₹3,000 dearer</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131C2E"/>
                    </a:solidFill>
                  </a:tcPr>
                </a:tc>
                <a:extLst>
                  <a:ext uri="{0D108BD9-81ED-4DB2-BD59-A6C34878D82A}">
                    <a16:rowId xmlns:a16="http://schemas.microsoft.com/office/drawing/2014/main" val="10009"/>
                  </a:ext>
                </a:extLst>
              </a:tr>
              <a:tr h="0">
                <a:tc>
                  <a:txBody>
                    <a:bodyPr/>
                    <a:lstStyle/>
                    <a:p>
                      <a:pPr marL="0" indent="0">
                        <a:buNone/>
                      </a:pPr>
                      <a:r>
                        <a:rPr lang="en-US" sz="1400" b="1" dirty="0">
                          <a:solidFill>
                            <a:srgbClr val="F8FAFC"/>
                          </a:solidFill>
                          <a:latin typeface="Inter" pitchFamily="34" charset="0"/>
                          <a:ea typeface="Inter" pitchFamily="34" charset="-122"/>
                          <a:cs typeface="Inter" pitchFamily="34" charset="-120"/>
                        </a:rPr>
                        <a:t>F450 kit from RC store (₹4,059)</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59E0B"/>
                          </a:solidFill>
                          <a:latin typeface="Inter" pitchFamily="34" charset="0"/>
                          <a:ea typeface="Inter" pitchFamily="34" charset="-122"/>
                          <a:cs typeface="Inter" pitchFamily="34" charset="-120"/>
                        </a:rPr>
                        <a:t>SELECTED (PLANNED)</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tc>
                  <a:txBody>
                    <a:bodyPr/>
                    <a:lstStyle/>
                    <a:p>
                      <a:pPr marL="0" indent="0">
                        <a:buNone/>
                      </a:pPr>
                      <a:r>
                        <a:rPr lang="en-US" sz="1400" dirty="0">
                          <a:solidFill>
                            <a:srgbClr val="F8FAFC"/>
                          </a:solidFill>
                          <a:latin typeface="Inter" pitchFamily="34" charset="0"/>
                          <a:ea typeface="Inter" pitchFamily="34" charset="-122"/>
                          <a:cs typeface="Inter" pitchFamily="34" charset="-120"/>
                        </a:rPr>
                        <a:t>Same parts, lowest price found, in stock</a:t>
                      </a:r>
                      <a:endParaRPr lang="en-US" sz="1400" dirty="0">
                        <a:latin typeface="Inter" charset="0"/>
                        <a:ea typeface="Inter" charset="0"/>
                        <a:cs typeface="Inter" charset="0"/>
                      </a:endParaRPr>
                    </a:p>
                  </a:txBody>
                  <a:tcPr marL="73152" marR="73152">
                    <a:lnL w="6350" cap="flat" cmpd="sng" algn="ctr">
                      <a:solidFill>
                        <a:srgbClr val="263449"/>
                      </a:solidFill>
                      <a:prstDash val="solid"/>
                      <a:round/>
                      <a:headEnd type="none" w="med" len="med"/>
                      <a:tailEnd type="none" w="med" len="med"/>
                    </a:lnL>
                    <a:lnR w="6350" cap="flat" cmpd="sng" algn="ctr">
                      <a:solidFill>
                        <a:srgbClr val="263449"/>
                      </a:solidFill>
                      <a:prstDash val="solid"/>
                      <a:round/>
                      <a:headEnd type="none" w="med" len="med"/>
                      <a:tailEnd type="none" w="med" len="med"/>
                    </a:lnR>
                    <a:lnT w="6350" cap="flat" cmpd="sng" algn="ctr">
                      <a:solidFill>
                        <a:srgbClr val="263449"/>
                      </a:solidFill>
                      <a:prstDash val="solid"/>
                      <a:round/>
                      <a:headEnd type="none" w="med" len="med"/>
                      <a:tailEnd type="none" w="med" len="med"/>
                    </a:lnT>
                    <a:lnB w="6350" cap="flat" cmpd="sng" algn="ctr">
                      <a:solidFill>
                        <a:srgbClr val="263449"/>
                      </a:solidFill>
                      <a:prstDash val="solid"/>
                      <a:round/>
                      <a:headEnd type="none" w="med" len="med"/>
                      <a:tailEnd type="none" w="med" len="med"/>
                    </a:lnB>
                    <a:solidFill>
                      <a:srgbClr val="0D1424"/>
                    </a:solidFill>
                  </a:tcP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spd="fast">
        <p:fade/>
      </p:transition>
    </mc:Fallback>
  </mc:AlternateContent>
</p:sld>
</file>

<file path=ppt/theme/theme1.xml><?xml version="1.0" encoding="utf-8"?>
<a:theme xmlns:a="http://schemas.openxmlformats.org/drawingml/2006/main" name="NAVI Avionics">
  <a:themeElements>
    <a:clrScheme name="NAVI Avionics">
      <a:dk1>
        <a:srgbClr val="090D16"/>
      </a:dk1>
      <a:lt1>
        <a:srgbClr val="F8FAFC"/>
      </a:lt1>
      <a:dk2>
        <a:srgbClr val="131C2E"/>
      </a:dk2>
      <a:lt2>
        <a:srgbClr val="94A3B8"/>
      </a:lt2>
      <a:accent1>
        <a:srgbClr val="00F0FF"/>
      </a:accent1>
      <a:accent2>
        <a:srgbClr val="3B82F6"/>
      </a:accent2>
      <a:accent3>
        <a:srgbClr val="F59E0B"/>
      </a:accent3>
      <a:accent4>
        <a:srgbClr val="10B981"/>
      </a:accent4>
      <a:accent5>
        <a:srgbClr val="EF4444"/>
      </a:accent5>
      <a:accent6>
        <a:srgbClr val="1E293B"/>
      </a:accent6>
      <a:hlink>
        <a:srgbClr val="00F0FF"/>
      </a:hlink>
      <a:folHlink>
        <a:srgbClr val="3B82F6"/>
      </a:folHlink>
    </a:clrScheme>
    <a:fontScheme name="NAVI Avionic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15871</Words>
  <Application>Microsoft Macintosh PowerPoint</Application>
  <PresentationFormat>Widescreen</PresentationFormat>
  <Paragraphs>1173</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Inter</vt:lpstr>
      <vt:lpstr>JetBrains Mono</vt:lpstr>
      <vt:lpstr>Space Grotesk</vt:lpstr>
      <vt:lpstr>NAVI Avionics</vt:lpstr>
      <vt:lpstr>PowerPoint Presentation</vt:lpstr>
      <vt:lpstr>First-time visitors must translate maps into movement</vt:lpstr>
      <vt:lpstr>NAVI adds a physical guide to existing wayfinding</vt:lpstr>
      <vt:lpstr>The problem is safe guidance at a visitor's walking pace</vt:lpstr>
      <vt:lpstr>Research frames aerial guidance and human comfort</vt:lpstr>
      <vt:lpstr>Navigation research connects human needs to route decisions</vt:lpstr>
      <vt:lpstr>Positioning and control research exposes implementation limits</vt:lpstr>
      <vt:lpstr>Recent planning and evaluation work defines the validation task</vt:lpstr>
      <vt:lpstr>NAVI combines routing, pacing, and a visible aerial guide</vt:lpstr>
      <vt:lpstr>Ground-station planning keeps onboard computation simple</vt:lpstr>
      <vt:lpstr>The planned F450 platform uses separate propulsion ESCs</vt:lpstr>
      <vt:lpstr>The exploded design model makes integration visible</vt:lpstr>
      <vt:lpstr>Routing and pacing operate as distinct modules</vt:lpstr>
      <vt:lpstr>The interfaces exist while aircraft integration remains pending</vt:lpstr>
      <vt:lpstr>Six proposed pads cover 36 destinations under the current limit</vt:lpstr>
      <vt:lpstr>The 20% milestone establishes a design and software foundation</vt:lpstr>
      <vt:lpstr>Hardware access changed the plan and validation gates</vt:lpstr>
      <vt:lpstr>Next evidence comes from integration and controlled trials</vt:lpstr>
      <vt:lpstr>References: uploaded works</vt:lpstr>
      <vt:lpstr>References: U10 and supplemental recent works</vt:lpstr>
      <vt:lpstr>Evidence matrix: U01–U03</vt:lpstr>
      <vt:lpstr>Evidence matrix: U04–U06</vt:lpstr>
      <vt:lpstr>Evidence matrix: U07–U09</vt:lpstr>
      <vt:lpstr>Evidence matrix: U10–S02</vt:lpstr>
      <vt:lpstr>Evidence matrix: S03–S05</vt:lpstr>
      <vt:lpstr>Evidence matrix: S06–S07</vt:lpstr>
      <vt:lpstr>Team responsibilities: proposed allocation</vt:lpstr>
      <vt:lpstr>Reference photos with mismatches flagged</vt:lpstr>
      <vt:lpstr>Bill of materials: planning estimates by stage</vt:lpstr>
      <vt:lpstr>Budget ranges sit around, not inside, the ₹25,000 pool</vt:lpstr>
      <vt:lpstr>A 15 m lead is a design target, not proof of safe separation</vt:lpstr>
      <vt:lpstr>350 m stays provisional until endurance is measured</vt:lpstr>
      <vt:lpstr>Failsafe matrix: designed responses, verification pending</vt:lpstr>
      <vt:lpstr>Six phases, each closed by a definition-of-done gate</vt:lpstr>
      <vt:lpstr>CAD views show orientation, not measured dimensions</vt:lpstr>
      <vt:lpstr>Ready-made options failed the MAVLink or budget test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 20% Work Completion Review</dc:title>
  <dc:subject>Navigation Assistant for Visitor Interaction</dc:subject>
  <dc:creator>NAVI project team (VIT Chennai)</dc:creator>
  <cp:lastModifiedBy>Sayanjeet Das</cp:lastModifiedBy>
  <cp:revision>3</cp:revision>
  <dcterms:created xsi:type="dcterms:W3CDTF">2026-10-12T18:14:00Z</dcterms:created>
  <dcterms:modified xsi:type="dcterms:W3CDTF">2026-10-12T18:36:30Z</dcterms:modified>
</cp:coreProperties>
</file>