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 drone that physically leads campus visitors to their destination. Review 1 covers problem, objectives, scope, outcomes and team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first, then justify the aerial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this before the panel does. Acknowledging existing work and explaining the gap is far stronger than being caught unaware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and human factors are not add-ons; they constrain the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statement aloud once. The novelty is the human-pacing coupling, not the drone.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each independently demonstrable. O1 to O3 alone constitute a complete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this as a story before showing any architecture. Step 4 is highlighted because it is the technical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on why not computer vision. The phone-GPS answer converts a research problem into an engineering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'how do you guarantee it will not fly somewhere unexpected'. The drone can only ever compose surveyed segments, and a whitelist check rejects any waypoint not in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eight-minute figure is an estimate until the packs are capacity-tested with the SkyRC BD250. Say so if asked; do not quote it as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ready for the inevitable 'what is novel' question. Conceding that the flight stack is off-the-shelf makes the real claim more credible, not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tightly bounded scope is a strength at Review 1. Be ready to defend each exclusion on safety or feasibility 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respond well to a failure table. It shows the team has thought past the happy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project is not blocked on purchasing, and that the RTK hardware is what makes the outdoor approach viable.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Demonstrating working software at Review 1 is unusual and worth showing. Be clear that the campus data is placeholder until the survey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three members are from Computer Science: the software workload splits cleanly into flight autonomy, mapping and planning, and the visitor-facing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campus map and safety report have value independent of whether the full leading demo succeeds.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Gates matter more than dates at Review 1. They show the team knows what 'done' means for each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risks unprompted is what separates a Review 1 that lands from one that gets picked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single-sentence version of the project and invite questions on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Interdisciplinary project · Review 1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722376" y="18288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10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Assistant for Visitor Interaction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3774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2245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autonomous follow-me micro aerial vehicle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outdoor campus wayfinding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 ·  SENSE  ·  SMEC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742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Vellore Institute of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Visitors get lost on a large campus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8132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First-time visitors to a large campus routinely get lost. Static signage assumes you already know the layout, and asking for directions depends on finding someone free to help.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32888"/>
            <a:ext cx="640080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6791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Signage is passive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30083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Boards show a map, not a route. Visitors must self-localise before they can use them.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666744"/>
            <a:ext cx="640080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31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38130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guides do not scale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4142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and volunteers are finite, and demand spikes on event days.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800600"/>
            <a:ext cx="640080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965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49469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maps stop at the gate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527608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navigation apps carry little internal campus pathway detail.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18120" y="1481328"/>
            <a:ext cx="10973" cy="416052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481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 drone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18745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removes the localisation step entirely.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visitor does not read a map, orient themselves, or translate directions.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follow something visible, moving and unambiguous.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aerial guide is unobstructed by crowds, parked vehicles and ground clutter.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 work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campus already has a wayfinder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 Chennai operates an official 2D/3D interactive navigator at chennaiwayfinder.vit.ac.in.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 well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complete, maintained database of campus buildings and facilities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3D geometry and search across academic, hostel and facility categories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from any browser, already known to the campus community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011680"/>
            <a:ext cx="10973" cy="274320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0574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 it leaves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50592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map still requires the visitor to work out where they currently are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must then translate a route on screen into what they see around them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precisely the self-localisation step that NAVI removes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5138928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37667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 is complementary, not a replacement. The wayfinder's destination database is a natural data source for our route graph, and we are in the process of requesting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is a multidisciplinary problem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discipline can deliver a drone that safely leads a human being across a live campus.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291840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68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Mechanical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706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Airframe integration, propulsion, vibration isolation, weight and thrust budget.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291840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2368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Electronics &amp; Comm.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7706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RTK GNSS correction link, telemetry, sensor integration, power distribution.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2148840"/>
            <a:ext cx="3291840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0" y="2368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Science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7706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graph, path planning, MAVLink mission logic, pacing controller, web interface.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32918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342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Factors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3659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stranger reads a flying guide: pacing, lead distance, arrival cues, trust.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0" y="4114800"/>
            <a:ext cx="32918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43342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&amp; Regulation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473659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Geofencing, failsafe design, risk assessment for shared campus roads.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4114800"/>
            <a:ext cx="32918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43342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&amp; Mapping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73659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Pathway and road surveying, junction geo-referencing, overhead obstruction logging.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250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design and demonstrate an autonomous micro aerial vehicle that receives a destination from a campus visitor, plans a route over a geo-referenced map of campus roads and pathways, and physically leads that visitor to the destination at walking pace while maintaining safe separation from people and traffic.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solved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731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navigation apps, which lack internal campus pathway data and still require self-localisation.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4348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challenge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47731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Coupling an autonomous aerial vehicle to the unpredictable pace of a walking human.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44348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looks like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47731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visitor with no prior knowledge reaches an unfamiliar building without asking anyone.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objectives, each independently demonstrable.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93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385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and model the campus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38528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geo-referenced graph of campus roads and pathways using RTK GNSS, including per-segment altitude constraints and launch pad siting.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79192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254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8346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 autonomous waypoint flight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83464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 a planned route between any two nodes using shortest-path planning, with centimetre-level RTK positioning.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575304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21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O3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7307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human-paced leading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7307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a configurable lead distance ahead of the visitor, adapting speed and holding position when they stop.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47141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617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O4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6268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visitor-facing interface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626864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a guest to select a destination and share position from their own phone, with no app installation.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367528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513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O5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5229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a safety envelope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5522976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and test geofencing, altitude floor, return-to-launch, low-battery and guest-lost failsafes.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works, from the visitor's side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212848"/>
            <a:ext cx="1033272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093976"/>
            <a:ext cx="237744" cy="237744"/>
          </a:xfrm>
          <a:prstGeom prst="ellipse">
            <a:avLst/>
          </a:prstGeom>
          <a:solidFill>
            <a:srgbClr val="0C0F13"/>
          </a:solidFill>
          <a:ln w="19050">
            <a:solidFill>
              <a:srgbClr val="5C68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7556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 reaches the campus gate and finds the kiosk.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53512" y="2093976"/>
            <a:ext cx="237744" cy="237744"/>
          </a:xfrm>
          <a:prstGeom prst="ellipse">
            <a:avLst/>
          </a:prstGeom>
          <a:solidFill>
            <a:srgbClr val="0C0F13"/>
          </a:solidFill>
          <a:ln w="19050">
            <a:solidFill>
              <a:srgbClr val="5C68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16936" y="17556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25420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29260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Chooses a destination on the touchscreen, scans a QR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1496" y="2093976"/>
            <a:ext cx="237744" cy="237744"/>
          </a:xfrm>
          <a:prstGeom prst="ellipse">
            <a:avLst/>
          </a:prstGeom>
          <a:solidFill>
            <a:srgbClr val="0C0F13"/>
          </a:solidFill>
          <a:ln w="19050">
            <a:solidFill>
              <a:srgbClr val="5C687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17556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25420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093208" y="29260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browser asks permission and begins sharing position. No app to install.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2093976"/>
            <a:ext cx="237744" cy="237744"/>
          </a:xfrm>
          <a:prstGeom prst="ellipse">
            <a:avLst/>
          </a:prstGeom>
          <a:solidFill>
            <a:srgbClr val="4FA9DC"/>
          </a:solidFill>
          <a:ln w="19050">
            <a:solidFill>
              <a:srgbClr val="4FA9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32904" y="17556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25420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29260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Drone launches, holds a lead ahead, and paces to the visitor's walking speed.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27464" y="2093976"/>
            <a:ext cx="237744" cy="237744"/>
          </a:xfrm>
          <a:prstGeom prst="ellipse">
            <a:avLst/>
          </a:prstGeom>
          <a:solidFill>
            <a:srgbClr val="0C0F13"/>
          </a:solidFill>
          <a:ln w="19050">
            <a:solidFill>
              <a:srgbClr val="5C68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90888" y="17556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09176" y="25420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409176" y="29260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Drone signals arrival at the building and returns to the launch point.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617720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864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installation required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4846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sharing uses the browser Geolocation API on a page served from the ground station, so the visitor needs only a phone and a browser. This removes the largest adoption barrier for a guest who is on campus once.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2395728" cy="2057400"/>
          </a:xfrm>
          <a:prstGeom prst="rect">
            <a:avLst/>
          </a:prstGeom>
          <a:solidFill>
            <a:srgbClr val="151A21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2395728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 phone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404872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 choice and live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over the browser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Geolocation API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2715768"/>
            <a:ext cx="374904" cy="0"/>
          </a:xfrm>
          <a:prstGeom prst="line">
            <a:avLst/>
          </a:prstGeom>
          <a:noFill/>
          <a:ln w="15875">
            <a:solidFill>
              <a:srgbClr val="5C687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47872" y="1691640"/>
            <a:ext cx="2395728" cy="2057400"/>
          </a:xfrm>
          <a:prstGeom prst="rect">
            <a:avLst/>
          </a:prstGeom>
          <a:solidFill>
            <a:srgbClr val="151A21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1691640"/>
            <a:ext cx="2395728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7328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station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2404872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planning over the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graph; RTK base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corrections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2715768"/>
            <a:ext cx="374904" cy="0"/>
          </a:xfrm>
          <a:prstGeom prst="line">
            <a:avLst/>
          </a:prstGeom>
          <a:noFill/>
          <a:ln w="15875">
            <a:solidFill>
              <a:srgbClr val="5C68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18504" y="1691640"/>
            <a:ext cx="2395728" cy="2057400"/>
          </a:xfrm>
          <a:prstGeom prst="rect">
            <a:avLst/>
          </a:prstGeom>
          <a:solidFill>
            <a:srgbClr val="151A21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1691640"/>
            <a:ext cx="2395728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Companion computer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404872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 logic and pacing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controller; talks MAVLink to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flight controller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14232" y="2715768"/>
            <a:ext cx="374904" cy="0"/>
          </a:xfrm>
          <a:prstGeom prst="line">
            <a:avLst/>
          </a:prstGeom>
          <a:noFill/>
          <a:ln w="15875">
            <a:solidFill>
              <a:srgbClr val="5C68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89136" y="1691640"/>
            <a:ext cx="2395728" cy="2057400"/>
          </a:xfrm>
          <a:prstGeom prst="rect">
            <a:avLst/>
          </a:prstGeom>
          <a:solidFill>
            <a:srgbClr val="1B222B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89136" y="1691640"/>
            <a:ext cx="2395728" cy="10973"/>
          </a:xfrm>
          <a:prstGeom prst="rect">
            <a:avLst/>
          </a:prstGeom>
          <a:solidFill>
            <a:srgbClr val="4FA9DC"/>
          </a:solidFill>
          <a:ln w="12700">
            <a:solidFill>
              <a:srgbClr val="4FA9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8592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Pixhawk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2404872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position targets,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stabilisation and all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failsafes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4224528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480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decision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73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GPS, not onboard vision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1389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Re-identifying one pedestrian from altitude is an open research problem. Phone GPS is accurate to a few metres, which is sufficient for pacing.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480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decision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4773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Altitude set per segment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51389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Cruise height comes from the surveyed worst overhead obstruction on each segment, not one campus-wide value.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graph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campus route graph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flight path is composed only of segments the team has surveyed on foot.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17320" y="2606040"/>
            <a:ext cx="1828800" cy="0"/>
          </a:xfrm>
          <a:prstGeom prst="line">
            <a:avLst/>
          </a:prstGeom>
          <a:noFill/>
          <a:ln w="38100">
            <a:solidFill>
              <a:srgbClr val="4FA9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2606040"/>
            <a:ext cx="1828800" cy="0"/>
          </a:xfrm>
          <a:prstGeom prst="line">
            <a:avLst/>
          </a:prstGeom>
          <a:noFill/>
          <a:ln w="15875">
            <a:solidFill>
              <a:srgbClr val="394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606040"/>
            <a:ext cx="1828800" cy="1645920"/>
          </a:xfrm>
          <a:prstGeom prst="line">
            <a:avLst/>
          </a:prstGeom>
          <a:noFill/>
          <a:ln w="15875">
            <a:solidFill>
              <a:srgbClr val="394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4251960"/>
            <a:ext cx="1828800" cy="0"/>
          </a:xfrm>
          <a:prstGeom prst="line">
            <a:avLst/>
          </a:prstGeom>
          <a:noFill/>
          <a:ln w="38100">
            <a:solidFill>
              <a:srgbClr val="4FA9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4251960"/>
            <a:ext cx="1645920" cy="0"/>
          </a:xfrm>
          <a:prstGeom prst="line">
            <a:avLst/>
          </a:prstGeom>
          <a:noFill/>
          <a:ln w="38100">
            <a:solidFill>
              <a:srgbClr val="4FA9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606040"/>
            <a:ext cx="0" cy="1645920"/>
          </a:xfrm>
          <a:prstGeom prst="line">
            <a:avLst/>
          </a:prstGeom>
          <a:noFill/>
          <a:ln w="38100">
            <a:solidFill>
              <a:srgbClr val="4FA9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606040"/>
            <a:ext cx="0" cy="1645920"/>
          </a:xfrm>
          <a:prstGeom prst="line">
            <a:avLst/>
          </a:prstGeom>
          <a:noFill/>
          <a:ln w="15875">
            <a:solidFill>
              <a:srgbClr val="394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468880"/>
            <a:ext cx="274320" cy="274320"/>
          </a:xfrm>
          <a:prstGeom prst="ellipse">
            <a:avLst/>
          </a:prstGeom>
          <a:solidFill>
            <a:srgbClr val="4FA9DC"/>
          </a:solidFill>
          <a:ln w="19050">
            <a:solidFill>
              <a:srgbClr val="4FA9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468880"/>
            <a:ext cx="274320" cy="274320"/>
          </a:xfrm>
          <a:prstGeom prst="ellipse">
            <a:avLst/>
          </a:prstGeom>
          <a:solidFill>
            <a:srgbClr val="0C0F13"/>
          </a:solidFill>
          <a:ln w="19050">
            <a:solidFill>
              <a:srgbClr val="6C78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468880"/>
            <a:ext cx="274320" cy="274320"/>
          </a:xfrm>
          <a:prstGeom prst="ellipse">
            <a:avLst/>
          </a:prstGeom>
          <a:solidFill>
            <a:srgbClr val="0C0F13"/>
          </a:solidFill>
          <a:ln w="19050">
            <a:solidFill>
              <a:srgbClr val="6C78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4114800"/>
            <a:ext cx="274320" cy="274320"/>
          </a:xfrm>
          <a:prstGeom prst="ellipse">
            <a:avLst/>
          </a:prstGeom>
          <a:solidFill>
            <a:srgbClr val="0C0F13"/>
          </a:solidFill>
          <a:ln w="19050">
            <a:solidFill>
              <a:srgbClr val="6C78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4114800"/>
            <a:ext cx="274320" cy="274320"/>
          </a:xfrm>
          <a:prstGeom prst="ellipse">
            <a:avLst/>
          </a:prstGeom>
          <a:solidFill>
            <a:srgbClr val="0C0F13"/>
          </a:solidFill>
          <a:ln w="19050">
            <a:solidFill>
              <a:srgbClr val="6C78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4114800"/>
            <a:ext cx="274320" cy="274320"/>
          </a:xfrm>
          <a:prstGeom prst="ellipse">
            <a:avLst/>
          </a:prstGeom>
          <a:solidFill>
            <a:srgbClr val="4FA9DC"/>
          </a:solidFill>
          <a:ln w="19050">
            <a:solidFill>
              <a:srgbClr val="4FA9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gate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4498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block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5349240"/>
            <a:ext cx="384048" cy="0"/>
          </a:xfrm>
          <a:prstGeom prst="line">
            <a:avLst/>
          </a:prstGeom>
          <a:noFill/>
          <a:ln w="38100">
            <a:solidFill>
              <a:srgbClr val="4FA9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07592" y="5221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route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34640" y="5349240"/>
            <a:ext cx="384048" cy="0"/>
          </a:xfrm>
          <a:prstGeom prst="line">
            <a:avLst/>
          </a:prstGeom>
          <a:noFill/>
          <a:ln w="15875">
            <a:solidFill>
              <a:srgbClr val="394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64992" y="5221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surveyed segments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2011680"/>
            <a:ext cx="10973" cy="361188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3880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stored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2395728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— a surveyed point: junction, entrance or bend, with RTK coordinates.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— a walkable connection, storing length, minimum safe altitude and surface type.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— Dijkstra over the graph, penalising road surfaces so verge routes are preferred.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pad — a surveyed take-off and landing point; routes are composed of legs between pads.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route is pre-generated and human-inspected before it is ever flown.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Endurance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Endurance sets the leg limit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maximum guided distance is derived from measured flight time, not chosen arbitrarily.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2918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 min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S500 flight time with payload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2918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2286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 m/s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walking speed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2103120"/>
            <a:ext cx="3291840" cy="10973"/>
          </a:xfrm>
          <a:prstGeom prst="rect">
            <a:avLst/>
          </a:prstGeom>
          <a:solidFill>
            <a:srgbClr val="4FA9DC"/>
          </a:solidFill>
          <a:ln w="12700">
            <a:solidFill>
              <a:srgbClr val="4FA9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0" y="2286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350 m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maximum leg length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0.8 m/s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72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primary users are visiting parents and guests, not students. Typical adult walking speed falls with age, and designing to a median would leave roughly half of them short of battery mid-route. We size the endurance budget for the slower walker, so a typical visitor simply arrives with reserve to spare.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160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Longer routes: staged legs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572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Destinations beyond 350 m are reached by chaining legs between surveyed launch pads, with a battery swap at each handoff. Total guided distance is therefore bounded by pad placement rather than by battery capacity, and coverage extends by adding a pad rather than by changing the aircraft.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actually new here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waypoint flight is a solved problem, and we use it off the shelf. The contribution lies elsewhere.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10637215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311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5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pacing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331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Coupling an autonomous aerial vehicle to the unpredictable speed of a walking person, including stop, lag and loss recovery.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83280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958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5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Surveyed altitude model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6301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Per-segment cruise height derived from logged overhead cabling and canopy, rather than a single campus-wide number.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681728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8280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5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9011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Zero-install guidance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92861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visitor is guided using only their existing phone browser, removing the adoption barrier of a dedicated app.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72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scope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Outdoor flight over surveyed campus roads and pathways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legs of at most 350 m, sized for a 0.8 m/s walking speed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fixed set of pre-mapped destinations, every route pre-generated and inspected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visitor, or one small group, guided at a time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Daytime operation in fair weather, below a defined wind threshold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Longer routes staged across surveyed launch pads with battery swaps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autonomous flight under ADAPT institutional clearance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flight directly over occupied vehicles or live traffic lanes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53328" y="1554480"/>
            <a:ext cx="10973" cy="448056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572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2024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Indoor navigation and building interiors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Beyond-visual-line-of-sight operation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simultaneous guided visitors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Night flight and adverse weather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charging docks with precision landing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Carrying luggage or any payload for the visitor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obstacle detection and dynamic re-routing in flight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envelope and failsafes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condition has a defined action, and each is tested deliberately rather than assumed.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22576"/>
            <a:ext cx="69494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RTK fix lost beyond timeout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450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position, then return to launch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980944"/>
            <a:ext cx="69494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 link lost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to launch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639312"/>
            <a:ext cx="69494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 position stale beyond 30 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767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position, then return to launch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297680"/>
            <a:ext cx="69494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25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Battery below reserve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4256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to launch immediately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956048"/>
            <a:ext cx="694944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084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Geofence breach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084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and hold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75320" y="2011680"/>
            <a:ext cx="10973" cy="356616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41080" y="2011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2395728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safe default is always to hold, then return — never to continue on stale data.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Waypoints are whitelisted: any target not matching a surveyed node is rejected before upload.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prefers verges and open ground over carriageway wherever an alternative exists.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laboratory inventory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significant procurement required. All primary hardware is available in the ADAPT laboratory (AB3-710).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5681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848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Airframe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084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S500 quadcopter with Pixhawk 2.4.8, or X500 V2 build kit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50545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334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Helical H-RTK F9P base and rover pair; Here4 multiband RTK GNSS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05409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182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821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Pixhawk 6X + Jetson Orin NX bundle; Raspberry Pi 5 as alternative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360273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30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7307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RealSense D455 depth camera; SIYI A8 gimbal with object tracking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" y="415137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2793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42793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SiK telemetry 915 MHz; Skydroid T12 / H12 control link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470001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8280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8280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LiPo packs, SkyRC charger, discharger and battery analyser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7240" y="524865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376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 interface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53766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Raspberry Pi 7" touchscreen for the gate kiosk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" y="579729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is limited to propeller guards and consumables. Campus flight clearance is granted for all campus coverage, and the project operates under ADAPT's existing registration.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developed so far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working applications, both running on placeholder data pending the RTK survey.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937760" cy="10973"/>
          </a:xfrm>
          <a:prstGeom prst="rect">
            <a:avLst/>
          </a:prstGeom>
          <a:solidFill>
            <a:srgbClr val="4FA9DC"/>
          </a:solidFill>
          <a:ln w="12700">
            <a:solidFill>
              <a:srgbClr val="4FA9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 kiosk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70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on the gate touchscreen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27248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 search and selection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routing over the campus graph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splitting into legs at the 350 m limit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Walking distance and time shown at 0.8 m/s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the waypoint mission for the ground station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057400"/>
            <a:ext cx="4937760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 control dashboard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70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on the ground station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127248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Waypoint planning: place, drag, reorder, set altitude and speed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distance, duration, altitude range and battery estimate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Restricted and no-fly zone conflict detection along each leg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Flight simulation with live telemetry and flown trail</a:t>
            </a:r>
            <a:endParaRPr lang="en-US" sz="12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 abstraction ready for a MAVLink provider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roles and contributions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members across three schools: Mechanical (SMEC), Electronics (SENSE) and Computer Science (SCOPE).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86537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Carollo Aradhan V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95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26BMH1173  SMEC, Mechanical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Flight platform lead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3042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Airframe assembly and integration, propulsion and payload mounting, vibration isolation, weight and thrust budget.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Utkarsh Dilipkumar Ghorpade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91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26BEC1215  SENSE, Electronics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8895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Positioning and electronics lead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RTK base and rover setup, correction link, telemetry, sensor integration, power distribution.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03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Arun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87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26BCE1550  SCOPE, Computer Science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3785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Autonomy and flight software lead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4096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MAVLink mission scripting, companion computer integration, pacing controller, failsafe logic.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553712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00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Muhammed Farhan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83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26BCE1551  SCOPE, Computer Science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and path planning lead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4992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route graph, RTK survey data processing, shortest-path planner, per-segment altitude model.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5449824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596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Sayanjeet Das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879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26BCE5502  SCOPE, Computer Science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9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and validation lead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58887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 web interface and kiosk, destination database, guided trials, documentation and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93776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90472" y="18562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Geo-referenced campus map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90472" y="22402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surveyed graph of roads and pathways with RTK-logged coordinates, per-segment altitude limits and sited launch pads, reusable by other projects.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493776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892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18562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autonomous guide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14032" y="22402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drone that flies a pre-inspected route from the gate kiosk to a selected building without manual input.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264408"/>
            <a:ext cx="493776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65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90472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Human-paced leading demo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90472" y="381304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Demonstrated lead-distance maintenance, hold-on-stop, and recovery when the visitor falls behind.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264408"/>
            <a:ext cx="493776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465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and failsafe report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381304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Documented geofence, altitude floor, return-to-launch and battery-reserve behaviour, with test evidence.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837176"/>
            <a:ext cx="493776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038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90472" y="5001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Zero-install visitor interface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90472" y="53858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phone-accessible destination picker and position share requiring no app.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837176"/>
            <a:ext cx="4937760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5038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5001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documentation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53858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architecture, wiring, configuration and operating procedure for reproducibility.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plan and verification gates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phase must pass its gate before the next begins.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00200" y="2084832"/>
            <a:ext cx="10973" cy="361188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9616" y="2176272"/>
            <a:ext cx="219456" cy="219456"/>
          </a:xfrm>
          <a:prstGeom prst="ellipse">
            <a:avLst/>
          </a:prstGeom>
          <a:solidFill>
            <a:srgbClr val="4FA9DC"/>
          </a:solidFill>
          <a:ln w="12700">
            <a:solidFill>
              <a:srgbClr val="4FA9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579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103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and mapping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468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RTK walkthrough of roads and pathways; build and validate the graph.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1214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covers every destination; pads sited so no leg exceeds 350 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499616" y="3236976"/>
            <a:ext cx="219456" cy="219456"/>
          </a:xfrm>
          <a:prstGeom prst="ellipse">
            <a:avLst/>
          </a:prstGeom>
          <a:solidFill>
            <a:srgbClr val="4FA9DC"/>
          </a:solidFill>
          <a:ln w="12700">
            <a:solidFill>
              <a:srgbClr val="4FA9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186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1638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waypoint flight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5295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Node-to-node routes flown on command, open ground, no visitor.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182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1638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 hover, then repeatable route flight without intervention.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499616" y="4297680"/>
            <a:ext cx="219456" cy="219456"/>
          </a:xfrm>
          <a:prstGeom prst="ellipse">
            <a:avLst/>
          </a:prstGeom>
          <a:solidFill>
            <a:srgbClr val="4FA9DC"/>
          </a:solidFill>
          <a:ln w="12700">
            <a:solidFill>
              <a:srgbClr val="4FA9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279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224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Human-paced leading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45902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visitor position; tune lead distance and hold behaviour.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2428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42245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Pacing validated in simulation before any live flight.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499616" y="5358384"/>
            <a:ext cx="219456" cy="219456"/>
          </a:xfrm>
          <a:prstGeom prst="ellipse">
            <a:avLst/>
          </a:prstGeom>
          <a:solidFill>
            <a:srgbClr val="4FA9DC"/>
          </a:solidFill>
          <a:ln w="12700">
            <a:solidFill>
              <a:srgbClr val="4FA9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3400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5285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and validation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56509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Kiosk and web page, failsafe testing, guided trials.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5303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5285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failsafe triggered deliberately and observed.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13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Identified risks and mitigation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72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572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A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810512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Endurance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85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Roughly ten minutes of flight limits route length.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956816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short routes; stage battery swaps between guided runs.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523744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RTK fix loss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898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degrades near tall blocks and dense canopy.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670048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fix quality per segment during the survey; route around dead zones.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236976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64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Overhead obstructions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Cabling and tree canopy above road corridors.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38328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every span during survey; set cruise altitude per segment.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950208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below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25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roads carry vehicles and two-wheelers.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09651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over verges and open ground; never over live lanes.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663440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791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 sensitivity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038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lead flight is the worst case for an S500.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480974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Characterise position-hold error against wind; set an operating threshold.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5376672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504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position noise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751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Handset GPS varies by device and sky view.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5522976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the error distribution; apply filtering and threshold hysteresis.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6089904"/>
            <a:ext cx="10637215" cy="10973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6309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clearance is not listed as a risk: campus flight permission is granted and the project operates under ADAPT's existing registration.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377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E9E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777240" y="3611880"/>
            <a:ext cx="2377440" cy="10973"/>
          </a:xfrm>
          <a:prstGeom prst="rect">
            <a:avLst/>
          </a:prstGeom>
          <a:solidFill>
            <a:srgbClr val="1F5C80"/>
          </a:solidFill>
          <a:ln w="12700">
            <a:solidFill>
              <a:srgbClr val="1F5C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  ·  Navigation Assistant for Visitor Interaction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and feedback welcome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2026-09-12T12:32:50Z</dcterms:created>
  <dcterms:modified xsi:type="dcterms:W3CDTF">2026-09-12T12:32:50Z</dcterms:modified>
</cp:coreProperties>
</file>